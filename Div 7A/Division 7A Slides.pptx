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72" r:id="rId2"/>
    <p:sldId id="395" r:id="rId3"/>
    <p:sldId id="393" r:id="rId4"/>
    <p:sldId id="394" r:id="rId5"/>
    <p:sldId id="415" r:id="rId6"/>
    <p:sldId id="396" r:id="rId7"/>
    <p:sldId id="406" r:id="rId8"/>
    <p:sldId id="397" r:id="rId9"/>
    <p:sldId id="419" r:id="rId10"/>
    <p:sldId id="398" r:id="rId11"/>
    <p:sldId id="401" r:id="rId12"/>
    <p:sldId id="402" r:id="rId13"/>
    <p:sldId id="400" r:id="rId14"/>
    <p:sldId id="399" r:id="rId15"/>
    <p:sldId id="417" r:id="rId16"/>
    <p:sldId id="418" r:id="rId17"/>
    <p:sldId id="407" r:id="rId18"/>
    <p:sldId id="416" r:id="rId19"/>
    <p:sldId id="403" r:id="rId20"/>
    <p:sldId id="410" r:id="rId21"/>
    <p:sldId id="411" r:id="rId22"/>
    <p:sldId id="413" r:id="rId23"/>
    <p:sldId id="414" r:id="rId24"/>
    <p:sldId id="412" r:id="rId25"/>
    <p:sldId id="409" r:id="rId26"/>
    <p:sldId id="404" r:id="rId27"/>
    <p:sldId id="420" r:id="rId28"/>
    <p:sldId id="421" r:id="rId29"/>
    <p:sldId id="422" r:id="rId30"/>
    <p:sldId id="405" r:id="rId31"/>
  </p:sldIdLst>
  <p:sldSz cx="9144000" cy="6858000" type="screen4x3"/>
  <p:notesSz cx="9926638" cy="6797675"/>
  <p:defaultTextStyle>
    <a:defPPr>
      <a:defRPr lang="en-AU"/>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41">
          <p15:clr>
            <a:srgbClr val="A4A3A4"/>
          </p15:clr>
        </p15:guide>
        <p15:guide id="2" pos="31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88354D"/>
    <a:srgbClr val="5D7E95"/>
    <a:srgbClr val="766B61"/>
    <a:srgbClr val="AE9E3B"/>
    <a:srgbClr val="AD9C3E"/>
    <a:srgbClr val="818EA0"/>
    <a:srgbClr val="F48F2D"/>
    <a:srgbClr val="041E41"/>
    <a:srgbClr val="FDB9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1" autoAdjust="0"/>
    <p:restoredTop sz="76244" autoAdjust="0"/>
  </p:normalViewPr>
  <p:slideViewPr>
    <p:cSldViewPr snapToGrid="0">
      <p:cViewPr varScale="1">
        <p:scale>
          <a:sx n="107" d="100"/>
          <a:sy n="107" d="100"/>
        </p:scale>
        <p:origin x="1194" y="10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44"/>
    </p:cViewPr>
  </p:sorterViewPr>
  <p:notesViewPr>
    <p:cSldViewPr>
      <p:cViewPr varScale="1">
        <p:scale>
          <a:sx n="52" d="100"/>
          <a:sy n="52" d="100"/>
        </p:scale>
        <p:origin x="-2108" y="-52"/>
      </p:cViewPr>
      <p:guideLst>
        <p:guide orient="horz" pos="2141"/>
        <p:guide pos="312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2"/>
            <a:ext cx="4301975" cy="339435"/>
          </a:xfrm>
          <a:prstGeom prst="rect">
            <a:avLst/>
          </a:prstGeom>
          <a:noFill/>
          <a:ln w="9525">
            <a:noFill/>
            <a:miter lim="800000"/>
            <a:headEnd/>
            <a:tailEnd/>
          </a:ln>
          <a:effectLst/>
        </p:spPr>
        <p:txBody>
          <a:bodyPr vert="horz" wrap="square" lIns="93557" tIns="46777" rIns="93557" bIns="46777" numCol="1" anchor="t" anchorCtr="0" compatLnSpc="1">
            <a:prstTxWarp prst="textNoShape">
              <a:avLst/>
            </a:prstTxWarp>
          </a:bodyPr>
          <a:lstStyle>
            <a:lvl1pPr defTabSz="935785">
              <a:defRPr sz="1200"/>
            </a:lvl1pPr>
          </a:lstStyle>
          <a:p>
            <a:endParaRPr lang="en-US"/>
          </a:p>
        </p:txBody>
      </p:sp>
      <p:sp>
        <p:nvSpPr>
          <p:cNvPr id="5123" name="Rectangle 3"/>
          <p:cNvSpPr>
            <a:spLocks noGrp="1" noChangeArrowheads="1"/>
          </p:cNvSpPr>
          <p:nvPr>
            <p:ph type="dt" sz="quarter" idx="1"/>
          </p:nvPr>
        </p:nvSpPr>
        <p:spPr bwMode="auto">
          <a:xfrm>
            <a:off x="5624666" y="2"/>
            <a:ext cx="4301974" cy="339435"/>
          </a:xfrm>
          <a:prstGeom prst="rect">
            <a:avLst/>
          </a:prstGeom>
          <a:noFill/>
          <a:ln w="9525">
            <a:noFill/>
            <a:miter lim="800000"/>
            <a:headEnd/>
            <a:tailEnd/>
          </a:ln>
          <a:effectLst/>
        </p:spPr>
        <p:txBody>
          <a:bodyPr vert="horz" wrap="square" lIns="93557" tIns="46777" rIns="93557" bIns="46777" numCol="1" anchor="t" anchorCtr="0" compatLnSpc="1">
            <a:prstTxWarp prst="textNoShape">
              <a:avLst/>
            </a:prstTxWarp>
          </a:bodyPr>
          <a:lstStyle>
            <a:lvl1pPr algn="r" defTabSz="935785">
              <a:defRPr sz="1200"/>
            </a:lvl1pPr>
          </a:lstStyle>
          <a:p>
            <a:endParaRPr lang="en-US"/>
          </a:p>
        </p:txBody>
      </p:sp>
      <p:sp>
        <p:nvSpPr>
          <p:cNvPr id="5124" name="Rectangle 4"/>
          <p:cNvSpPr>
            <a:spLocks noGrp="1" noChangeArrowheads="1"/>
          </p:cNvSpPr>
          <p:nvPr>
            <p:ph type="ftr" sz="quarter" idx="2"/>
          </p:nvPr>
        </p:nvSpPr>
        <p:spPr bwMode="auto">
          <a:xfrm>
            <a:off x="1" y="6458243"/>
            <a:ext cx="4301975" cy="339435"/>
          </a:xfrm>
          <a:prstGeom prst="rect">
            <a:avLst/>
          </a:prstGeom>
          <a:noFill/>
          <a:ln w="9525">
            <a:noFill/>
            <a:miter lim="800000"/>
            <a:headEnd/>
            <a:tailEnd/>
          </a:ln>
          <a:effectLst/>
        </p:spPr>
        <p:txBody>
          <a:bodyPr vert="horz" wrap="square" lIns="93557" tIns="46777" rIns="93557" bIns="46777" numCol="1" anchor="b" anchorCtr="0" compatLnSpc="1">
            <a:prstTxWarp prst="textNoShape">
              <a:avLst/>
            </a:prstTxWarp>
          </a:bodyPr>
          <a:lstStyle>
            <a:lvl1pPr defTabSz="935785">
              <a:defRPr sz="1200"/>
            </a:lvl1pPr>
          </a:lstStyle>
          <a:p>
            <a:endParaRPr lang="en-US"/>
          </a:p>
        </p:txBody>
      </p:sp>
      <p:sp>
        <p:nvSpPr>
          <p:cNvPr id="5125" name="Rectangle 5"/>
          <p:cNvSpPr>
            <a:spLocks noGrp="1" noChangeArrowheads="1"/>
          </p:cNvSpPr>
          <p:nvPr>
            <p:ph type="sldNum" sz="quarter" idx="3"/>
          </p:nvPr>
        </p:nvSpPr>
        <p:spPr bwMode="auto">
          <a:xfrm>
            <a:off x="5624666" y="6458243"/>
            <a:ext cx="4301974" cy="339435"/>
          </a:xfrm>
          <a:prstGeom prst="rect">
            <a:avLst/>
          </a:prstGeom>
          <a:noFill/>
          <a:ln w="9525">
            <a:noFill/>
            <a:miter lim="800000"/>
            <a:headEnd/>
            <a:tailEnd/>
          </a:ln>
          <a:effectLst/>
        </p:spPr>
        <p:txBody>
          <a:bodyPr vert="horz" wrap="square" lIns="93557" tIns="46777" rIns="93557" bIns="46777" numCol="1" anchor="b" anchorCtr="0" compatLnSpc="1">
            <a:prstTxWarp prst="textNoShape">
              <a:avLst/>
            </a:prstTxWarp>
          </a:bodyPr>
          <a:lstStyle>
            <a:lvl1pPr algn="r" defTabSz="935785">
              <a:defRPr sz="1200"/>
            </a:lvl1pPr>
          </a:lstStyle>
          <a:p>
            <a:fld id="{D83BE8A6-F074-4631-BE00-AF43DBB782B9}" type="slidenum">
              <a:rPr lang="en-US"/>
              <a:pPr/>
              <a:t>‹#›</a:t>
            </a:fld>
            <a:endParaRPr lang="en-US"/>
          </a:p>
        </p:txBody>
      </p:sp>
    </p:spTree>
    <p:extLst>
      <p:ext uri="{BB962C8B-B14F-4D97-AF65-F5344CB8AC3E}">
        <p14:creationId xmlns:p14="http://schemas.microsoft.com/office/powerpoint/2010/main" val="22919705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1" y="2"/>
            <a:ext cx="4301975" cy="339435"/>
          </a:xfrm>
          <a:prstGeom prst="rect">
            <a:avLst/>
          </a:prstGeom>
          <a:noFill/>
          <a:ln w="9525">
            <a:noFill/>
            <a:miter lim="800000"/>
            <a:headEnd/>
            <a:tailEnd/>
          </a:ln>
          <a:effectLst/>
        </p:spPr>
        <p:txBody>
          <a:bodyPr vert="horz" wrap="square" lIns="93561" tIns="46781" rIns="93561" bIns="46781" numCol="1" anchor="t" anchorCtr="0" compatLnSpc="1">
            <a:prstTxWarp prst="textNoShape">
              <a:avLst/>
            </a:prstTxWarp>
          </a:bodyPr>
          <a:lstStyle>
            <a:lvl1pPr defTabSz="935785">
              <a:defRPr sz="1200"/>
            </a:lvl1pPr>
          </a:lstStyle>
          <a:p>
            <a:endParaRPr lang="en-US"/>
          </a:p>
        </p:txBody>
      </p:sp>
      <p:sp>
        <p:nvSpPr>
          <p:cNvPr id="26627" name="Rectangle 3"/>
          <p:cNvSpPr>
            <a:spLocks noGrp="1" noChangeArrowheads="1"/>
          </p:cNvSpPr>
          <p:nvPr>
            <p:ph type="dt" idx="1"/>
          </p:nvPr>
        </p:nvSpPr>
        <p:spPr bwMode="auto">
          <a:xfrm>
            <a:off x="5622511" y="2"/>
            <a:ext cx="4301975" cy="339435"/>
          </a:xfrm>
          <a:prstGeom prst="rect">
            <a:avLst/>
          </a:prstGeom>
          <a:noFill/>
          <a:ln w="9525">
            <a:noFill/>
            <a:miter lim="800000"/>
            <a:headEnd/>
            <a:tailEnd/>
          </a:ln>
          <a:effectLst/>
        </p:spPr>
        <p:txBody>
          <a:bodyPr vert="horz" wrap="square" lIns="93561" tIns="46781" rIns="93561" bIns="46781" numCol="1" anchor="t" anchorCtr="0" compatLnSpc="1">
            <a:prstTxWarp prst="textNoShape">
              <a:avLst/>
            </a:prstTxWarp>
          </a:bodyPr>
          <a:lstStyle>
            <a:lvl1pPr algn="r" defTabSz="935785">
              <a:defRPr sz="1200"/>
            </a:lvl1pPr>
          </a:lstStyle>
          <a:p>
            <a:endParaRPr lang="en-US"/>
          </a:p>
        </p:txBody>
      </p:sp>
      <p:sp>
        <p:nvSpPr>
          <p:cNvPr id="4100" name="Rectangle 4"/>
          <p:cNvSpPr>
            <a:spLocks noGrp="1" noRot="1" noChangeAspect="1" noChangeArrowheads="1" noTextEdit="1"/>
          </p:cNvSpPr>
          <p:nvPr>
            <p:ph type="sldImg" idx="2"/>
          </p:nvPr>
        </p:nvSpPr>
        <p:spPr bwMode="auto">
          <a:xfrm>
            <a:off x="3262313" y="509588"/>
            <a:ext cx="3402012" cy="25511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p:cNvSpPr>
            <a:spLocks noGrp="1" noChangeArrowheads="1"/>
          </p:cNvSpPr>
          <p:nvPr>
            <p:ph type="body" sz="quarter" idx="3"/>
          </p:nvPr>
        </p:nvSpPr>
        <p:spPr bwMode="auto">
          <a:xfrm>
            <a:off x="993097" y="3229124"/>
            <a:ext cx="7940449" cy="3058279"/>
          </a:xfrm>
          <a:prstGeom prst="rect">
            <a:avLst/>
          </a:prstGeom>
          <a:noFill/>
          <a:ln w="9525">
            <a:noFill/>
            <a:miter lim="800000"/>
            <a:headEnd/>
            <a:tailEnd/>
          </a:ln>
          <a:effectLst/>
        </p:spPr>
        <p:txBody>
          <a:bodyPr vert="horz" wrap="square" lIns="93561" tIns="46781" rIns="93561" bIns="4678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630" name="Rectangle 6"/>
          <p:cNvSpPr>
            <a:spLocks noGrp="1" noChangeArrowheads="1"/>
          </p:cNvSpPr>
          <p:nvPr>
            <p:ph type="ftr" sz="quarter" idx="4"/>
          </p:nvPr>
        </p:nvSpPr>
        <p:spPr bwMode="auto">
          <a:xfrm>
            <a:off x="1" y="6457120"/>
            <a:ext cx="4301975" cy="339435"/>
          </a:xfrm>
          <a:prstGeom prst="rect">
            <a:avLst/>
          </a:prstGeom>
          <a:noFill/>
          <a:ln w="9525">
            <a:noFill/>
            <a:miter lim="800000"/>
            <a:headEnd/>
            <a:tailEnd/>
          </a:ln>
          <a:effectLst/>
        </p:spPr>
        <p:txBody>
          <a:bodyPr vert="horz" wrap="square" lIns="93561" tIns="46781" rIns="93561" bIns="46781" numCol="1" anchor="b" anchorCtr="0" compatLnSpc="1">
            <a:prstTxWarp prst="textNoShape">
              <a:avLst/>
            </a:prstTxWarp>
          </a:bodyPr>
          <a:lstStyle>
            <a:lvl1pPr defTabSz="935785">
              <a:defRPr sz="1200"/>
            </a:lvl1pPr>
          </a:lstStyle>
          <a:p>
            <a:endParaRPr lang="en-US"/>
          </a:p>
        </p:txBody>
      </p:sp>
      <p:sp>
        <p:nvSpPr>
          <p:cNvPr id="26631" name="Rectangle 7"/>
          <p:cNvSpPr>
            <a:spLocks noGrp="1" noChangeArrowheads="1"/>
          </p:cNvSpPr>
          <p:nvPr>
            <p:ph type="sldNum" sz="quarter" idx="5"/>
          </p:nvPr>
        </p:nvSpPr>
        <p:spPr bwMode="auto">
          <a:xfrm>
            <a:off x="5622511" y="6457120"/>
            <a:ext cx="4301975" cy="339435"/>
          </a:xfrm>
          <a:prstGeom prst="rect">
            <a:avLst/>
          </a:prstGeom>
          <a:noFill/>
          <a:ln w="9525">
            <a:noFill/>
            <a:miter lim="800000"/>
            <a:headEnd/>
            <a:tailEnd/>
          </a:ln>
          <a:effectLst/>
        </p:spPr>
        <p:txBody>
          <a:bodyPr vert="horz" wrap="square" lIns="93561" tIns="46781" rIns="93561" bIns="46781" numCol="1" anchor="b" anchorCtr="0" compatLnSpc="1">
            <a:prstTxWarp prst="textNoShape">
              <a:avLst/>
            </a:prstTxWarp>
          </a:bodyPr>
          <a:lstStyle>
            <a:lvl1pPr algn="r" defTabSz="935785">
              <a:defRPr sz="1200"/>
            </a:lvl1pPr>
          </a:lstStyle>
          <a:p>
            <a:fld id="{477BE376-D33B-4A97-9705-7AF1E7D58675}" type="slidenum">
              <a:rPr lang="en-US"/>
              <a:pPr/>
              <a:t>‹#›</a:t>
            </a:fld>
            <a:endParaRPr lang="en-US"/>
          </a:p>
        </p:txBody>
      </p:sp>
    </p:spTree>
    <p:extLst>
      <p:ext uri="{BB962C8B-B14F-4D97-AF65-F5344CB8AC3E}">
        <p14:creationId xmlns:p14="http://schemas.microsoft.com/office/powerpoint/2010/main" val="13739193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p:txBody>
          <a:bodyPr/>
          <a:lstStyle>
            <a:lvl1pPr defTabSz="935785" eaLnBrk="0" hangingPunct="0">
              <a:defRPr sz="2300">
                <a:solidFill>
                  <a:schemeClr val="tx1"/>
                </a:solidFill>
                <a:latin typeface="Times New Roman" pitchFamily="18" charset="0"/>
                <a:cs typeface="Arial" charset="0"/>
              </a:defRPr>
            </a:lvl1pPr>
            <a:lvl2pPr marL="719124" indent="-276586" defTabSz="935785" eaLnBrk="0" hangingPunct="0">
              <a:defRPr sz="2300">
                <a:solidFill>
                  <a:schemeClr val="tx1"/>
                </a:solidFill>
                <a:latin typeface="Times New Roman" pitchFamily="18" charset="0"/>
                <a:cs typeface="Arial" charset="0"/>
              </a:defRPr>
            </a:lvl2pPr>
            <a:lvl3pPr marL="1106345" indent="-221269" defTabSz="935785" eaLnBrk="0" hangingPunct="0">
              <a:defRPr sz="2300">
                <a:solidFill>
                  <a:schemeClr val="tx1"/>
                </a:solidFill>
                <a:latin typeface="Times New Roman" pitchFamily="18" charset="0"/>
                <a:cs typeface="Arial" charset="0"/>
              </a:defRPr>
            </a:lvl3pPr>
            <a:lvl4pPr marL="1548883" indent="-221269" defTabSz="935785" eaLnBrk="0" hangingPunct="0">
              <a:defRPr sz="2300">
                <a:solidFill>
                  <a:schemeClr val="tx1"/>
                </a:solidFill>
                <a:latin typeface="Times New Roman" pitchFamily="18" charset="0"/>
                <a:cs typeface="Arial" charset="0"/>
              </a:defRPr>
            </a:lvl4pPr>
            <a:lvl5pPr marL="1991422" indent="-221269" defTabSz="935785" eaLnBrk="0" hangingPunct="0">
              <a:defRPr sz="2300">
                <a:solidFill>
                  <a:schemeClr val="tx1"/>
                </a:solidFill>
                <a:latin typeface="Times New Roman" pitchFamily="18" charset="0"/>
                <a:cs typeface="Arial" charset="0"/>
              </a:defRPr>
            </a:lvl5pPr>
            <a:lvl6pPr marL="2433960" indent="-221269" defTabSz="935785" eaLnBrk="0" fontAlgn="base" hangingPunct="0">
              <a:spcBef>
                <a:spcPct val="0"/>
              </a:spcBef>
              <a:spcAft>
                <a:spcPct val="0"/>
              </a:spcAft>
              <a:defRPr sz="2300">
                <a:solidFill>
                  <a:schemeClr val="tx1"/>
                </a:solidFill>
                <a:latin typeface="Times New Roman" pitchFamily="18" charset="0"/>
                <a:cs typeface="Arial" charset="0"/>
              </a:defRPr>
            </a:lvl6pPr>
            <a:lvl7pPr marL="2876498" indent="-221269" defTabSz="935785" eaLnBrk="0" fontAlgn="base" hangingPunct="0">
              <a:spcBef>
                <a:spcPct val="0"/>
              </a:spcBef>
              <a:spcAft>
                <a:spcPct val="0"/>
              </a:spcAft>
              <a:defRPr sz="2300">
                <a:solidFill>
                  <a:schemeClr val="tx1"/>
                </a:solidFill>
                <a:latin typeface="Times New Roman" pitchFamily="18" charset="0"/>
                <a:cs typeface="Arial" charset="0"/>
              </a:defRPr>
            </a:lvl7pPr>
            <a:lvl8pPr marL="3319037" indent="-221269" defTabSz="935785" eaLnBrk="0" fontAlgn="base" hangingPunct="0">
              <a:spcBef>
                <a:spcPct val="0"/>
              </a:spcBef>
              <a:spcAft>
                <a:spcPct val="0"/>
              </a:spcAft>
              <a:defRPr sz="2300">
                <a:solidFill>
                  <a:schemeClr val="tx1"/>
                </a:solidFill>
                <a:latin typeface="Times New Roman" pitchFamily="18" charset="0"/>
                <a:cs typeface="Arial" charset="0"/>
              </a:defRPr>
            </a:lvl8pPr>
            <a:lvl9pPr marL="3761575" indent="-221269" defTabSz="935785" eaLnBrk="0" fontAlgn="base" hangingPunct="0">
              <a:spcBef>
                <a:spcPct val="0"/>
              </a:spcBef>
              <a:spcAft>
                <a:spcPct val="0"/>
              </a:spcAft>
              <a:defRPr sz="2300">
                <a:solidFill>
                  <a:schemeClr val="tx1"/>
                </a:solidFill>
                <a:latin typeface="Times New Roman" pitchFamily="18" charset="0"/>
                <a:cs typeface="Arial" charset="0"/>
              </a:defRPr>
            </a:lvl9pPr>
          </a:lstStyle>
          <a:p>
            <a:pPr eaLnBrk="1" hangingPunct="1"/>
            <a:fld id="{075B5E2B-396F-46F7-9EC5-58F15308F058}" type="slidenum">
              <a:rPr lang="en-US" sz="1200"/>
              <a:pPr eaLnBrk="1" hangingPunct="1"/>
              <a:t>1</a:t>
            </a:fld>
            <a:endParaRPr lang="en-US" sz="1200" dirty="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noProof="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sz="1800"/>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AU" noProof="0"/>
              <a:t>Click to edit Master subtitle style</a:t>
            </a:r>
          </a:p>
        </p:txBody>
      </p:sp>
    </p:spTree>
    <p:extLst>
      <p:ext uri="{BB962C8B-B14F-4D97-AF65-F5344CB8AC3E}">
        <p14:creationId xmlns:p14="http://schemas.microsoft.com/office/powerpoint/2010/main" val="4022863909"/>
      </p:ext>
    </p:extLst>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a:t>Click to edit Master title style</a:t>
            </a:r>
          </a:p>
        </p:txBody>
      </p:sp>
      <p:sp>
        <p:nvSpPr>
          <p:cNvPr id="3" name="Content Placeholder 2"/>
          <p:cNvSpPr>
            <a:spLocks noGrp="1"/>
          </p:cNvSpPr>
          <p:nvPr>
            <p:ph idx="1"/>
          </p:nvPr>
        </p:nvSpPr>
        <p:spPr/>
        <p:txBody>
          <a:bodyPr/>
          <a:lstStyle>
            <a:lvl1pPr>
              <a:defRPr sz="1800"/>
            </a:lvl1pPr>
            <a:lvl2pPr>
              <a:lnSpc>
                <a:spcPct val="150000"/>
              </a:lnSpc>
              <a:defRPr sz="1400"/>
            </a:lvl2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Tree>
    <p:extLst>
      <p:ext uri="{BB962C8B-B14F-4D97-AF65-F5344CB8AC3E}">
        <p14:creationId xmlns:p14="http://schemas.microsoft.com/office/powerpoint/2010/main" val="2535346921"/>
      </p:ext>
    </p:extLst>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a:t>Click to edit Master title style</a:t>
            </a:r>
          </a:p>
        </p:txBody>
      </p:sp>
      <p:sp>
        <p:nvSpPr>
          <p:cNvPr id="3" name="Content Placeholder 2"/>
          <p:cNvSpPr>
            <a:spLocks noGrp="1"/>
          </p:cNvSpPr>
          <p:nvPr>
            <p:ph sz="half" idx="1"/>
          </p:nvPr>
        </p:nvSpPr>
        <p:spPr>
          <a:xfrm>
            <a:off x="395536" y="1916832"/>
            <a:ext cx="4239964" cy="4506193"/>
          </a:xfrm>
        </p:spPr>
        <p:txBody>
          <a:bodyPr/>
          <a:lstStyle>
            <a:lvl1pPr marL="228600" indent="-228600">
              <a:lnSpc>
                <a:spcPct val="150000"/>
              </a:lnSpc>
              <a:buFont typeface="Wingdings" charset="2"/>
              <a:buChar char="§"/>
              <a:defRPr sz="1800"/>
            </a:lvl1pPr>
            <a:lvl2pPr marL="571500" indent="-228600">
              <a:lnSpc>
                <a:spcPct val="150000"/>
              </a:lnSpc>
              <a:buFont typeface="Wingdings" charset="2"/>
              <a:buChar char="§"/>
              <a:defRPr sz="1400"/>
            </a:lvl2pPr>
            <a:lvl3pPr marL="1028700" indent="-228600">
              <a:lnSpc>
                <a:spcPct val="150000"/>
              </a:lnSpc>
              <a:buFont typeface="Wingdings" charset="2"/>
              <a:buChar char="§"/>
              <a:defRPr sz="1400"/>
            </a:lvl3pPr>
            <a:lvl4pPr marL="1485900" indent="-228600">
              <a:lnSpc>
                <a:spcPct val="150000"/>
              </a:lnSpc>
              <a:buFont typeface="Wingdings" charset="2"/>
              <a:buChar char="§"/>
              <a:defRPr sz="1400"/>
            </a:lvl4pPr>
            <a:lvl5pPr marL="1943100" indent="-228600">
              <a:lnSpc>
                <a:spcPct val="150000"/>
              </a:lnSpc>
              <a:buFont typeface="Wingdings" charset="2"/>
              <a:buChar char="§"/>
              <a:defRPr sz="1400"/>
            </a:lvl5pPr>
            <a:lvl6pPr>
              <a:defRPr sz="1800"/>
            </a:lvl6pPr>
            <a:lvl7pPr>
              <a:defRPr sz="1800"/>
            </a:lvl7pPr>
            <a:lvl8pPr>
              <a:defRPr sz="1800"/>
            </a:lvl8pPr>
            <a:lvl9pPr>
              <a:defRPr sz="1800"/>
            </a:lvl9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4" name="Content Placeholder 3"/>
          <p:cNvSpPr>
            <a:spLocks noGrp="1"/>
          </p:cNvSpPr>
          <p:nvPr>
            <p:ph sz="half" idx="2"/>
          </p:nvPr>
        </p:nvSpPr>
        <p:spPr>
          <a:xfrm>
            <a:off x="4787900" y="1916832"/>
            <a:ext cx="4203700" cy="4506193"/>
          </a:xfrm>
        </p:spPr>
        <p:txBody>
          <a:bodyPr/>
          <a:lstStyle>
            <a:lvl1pPr>
              <a:lnSpc>
                <a:spcPct val="150000"/>
              </a:lnSpc>
              <a:defRPr sz="1800"/>
            </a:lvl1pPr>
            <a:lvl2pPr>
              <a:lnSpc>
                <a:spcPct val="150000"/>
              </a:lnSpc>
              <a:defRPr sz="1400"/>
            </a:lvl2pPr>
            <a:lvl3pPr>
              <a:lnSpc>
                <a:spcPct val="150000"/>
              </a:lnSpc>
              <a:defRPr sz="1400"/>
            </a:lvl3pPr>
            <a:lvl4pPr>
              <a:lnSpc>
                <a:spcPct val="150000"/>
              </a:lnSpc>
              <a:defRPr sz="1400"/>
            </a:lvl4pPr>
            <a:lvl5pPr>
              <a:lnSpc>
                <a:spcPct val="150000"/>
              </a:lnSpc>
              <a:defRPr sz="1400"/>
            </a:lvl5pPr>
            <a:lvl6pPr>
              <a:defRPr sz="1800"/>
            </a:lvl6pPr>
            <a:lvl7pPr>
              <a:defRPr sz="1800"/>
            </a:lvl7pPr>
            <a:lvl8pPr>
              <a:defRPr sz="1800"/>
            </a:lvl8pPr>
            <a:lvl9pPr>
              <a:defRPr sz="1800"/>
            </a:lvl9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Tree>
    <p:extLst>
      <p:ext uri="{BB962C8B-B14F-4D97-AF65-F5344CB8AC3E}">
        <p14:creationId xmlns:p14="http://schemas.microsoft.com/office/powerpoint/2010/main" val="1974087153"/>
      </p:ext>
    </p:extLst>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noProof="0" dirty="0"/>
              <a:t>Click to edit Master title style</a:t>
            </a:r>
          </a:p>
        </p:txBody>
      </p:sp>
    </p:spTree>
    <p:extLst>
      <p:ext uri="{BB962C8B-B14F-4D97-AF65-F5344CB8AC3E}">
        <p14:creationId xmlns:p14="http://schemas.microsoft.com/office/powerpoint/2010/main" val="865419375"/>
      </p:ext>
    </p:extLst>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8489840"/>
      </p:ext>
    </p:extLst>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3" name="Content Placeholder 2"/>
          <p:cNvSpPr>
            <a:spLocks noGrp="1"/>
          </p:cNvSpPr>
          <p:nvPr>
            <p:ph idx="1"/>
          </p:nvPr>
        </p:nvSpPr>
        <p:spPr>
          <a:xfrm>
            <a:off x="3563888" y="1196752"/>
            <a:ext cx="5122912" cy="1440160"/>
          </a:xfrm>
        </p:spPr>
        <p:txBody>
          <a:bodyPr/>
          <a:lstStyle>
            <a:lvl1pPr marL="0" indent="0">
              <a:lnSpc>
                <a:spcPct val="150000"/>
              </a:lnSpc>
              <a:buNone/>
              <a:defRPr sz="1800"/>
            </a:lvl1pPr>
            <a:lvl2pPr>
              <a:lnSpc>
                <a:spcPct val="150000"/>
              </a:lnSpc>
              <a:defRPr sz="1400"/>
            </a:lvl2pPr>
            <a:lvl3pPr>
              <a:lnSpc>
                <a:spcPct val="150000"/>
              </a:lnSpc>
              <a:defRPr sz="1400"/>
            </a:lvl3pPr>
            <a:lvl4pPr>
              <a:lnSpc>
                <a:spcPct val="150000"/>
              </a:lnSpc>
              <a:defRPr sz="1400"/>
            </a:lvl4pPr>
            <a:lvl5pPr>
              <a:lnSpc>
                <a:spcPct val="150000"/>
              </a:lnSpc>
              <a:defRPr sz="1400"/>
            </a:lvl5pPr>
            <a:lvl6pPr>
              <a:defRPr sz="2000"/>
            </a:lvl6pPr>
            <a:lvl7pPr>
              <a:defRPr sz="2000"/>
            </a:lvl7pPr>
            <a:lvl8pPr>
              <a:defRPr sz="2000"/>
            </a:lvl8pPr>
            <a:lvl9pPr>
              <a:defRPr sz="2000"/>
            </a:lvl9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p:txBody>
      </p:sp>
      <p:sp>
        <p:nvSpPr>
          <p:cNvPr id="7" name="Content Placeholder 2"/>
          <p:cNvSpPr>
            <a:spLocks noGrp="1"/>
          </p:cNvSpPr>
          <p:nvPr>
            <p:ph idx="11" hasCustomPrompt="1"/>
          </p:nvPr>
        </p:nvSpPr>
        <p:spPr>
          <a:xfrm>
            <a:off x="519582" y="1196752"/>
            <a:ext cx="1800200" cy="1440160"/>
          </a:xfrm>
        </p:spPr>
        <p:txBody>
          <a:bodyPr/>
          <a:lstStyle>
            <a:lvl1pPr marL="0" indent="0">
              <a:buNone/>
              <a:defRPr sz="1800"/>
            </a:lvl1pPr>
            <a:lvl2pPr>
              <a:defRPr sz="14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AU" noProof="0"/>
              <a:t>Insert Image</a:t>
            </a:r>
          </a:p>
        </p:txBody>
      </p:sp>
      <p:sp>
        <p:nvSpPr>
          <p:cNvPr id="16" name="Content Placeholder 2"/>
          <p:cNvSpPr>
            <a:spLocks noGrp="1"/>
          </p:cNvSpPr>
          <p:nvPr>
            <p:ph idx="13"/>
          </p:nvPr>
        </p:nvSpPr>
        <p:spPr>
          <a:xfrm>
            <a:off x="517409" y="3068960"/>
            <a:ext cx="8228881" cy="3240360"/>
          </a:xfrm>
        </p:spPr>
        <p:txBody>
          <a:bodyPr/>
          <a:lstStyle>
            <a:lvl1pPr marL="0" indent="0">
              <a:lnSpc>
                <a:spcPct val="150000"/>
              </a:lnSpc>
              <a:buNone/>
              <a:defRPr sz="1800" i="0" baseline="0">
                <a:solidFill>
                  <a:srgbClr val="595959"/>
                </a:solidFill>
              </a:defRPr>
            </a:lvl1pPr>
            <a:lvl2pPr>
              <a:lnSpc>
                <a:spcPct val="150000"/>
              </a:lnSpc>
              <a:defRPr sz="1400"/>
            </a:lvl2pPr>
            <a:lvl3pPr>
              <a:lnSpc>
                <a:spcPct val="150000"/>
              </a:lnSpc>
              <a:defRPr sz="1400"/>
            </a:lvl3pPr>
            <a:lvl4pPr>
              <a:lnSpc>
                <a:spcPct val="150000"/>
              </a:lnSpc>
              <a:defRPr sz="1400"/>
            </a:lvl4pPr>
            <a:lvl5pPr marL="1714500" indent="0">
              <a:buNone/>
              <a:defRPr sz="1400"/>
            </a:lvl5pPr>
            <a:lvl6pPr>
              <a:defRPr sz="2000"/>
            </a:lvl6pPr>
            <a:lvl7pPr>
              <a:defRPr sz="2000"/>
            </a:lvl7pPr>
            <a:lvl8pPr>
              <a:defRPr sz="2000"/>
            </a:lvl8pPr>
            <a:lvl9pPr>
              <a:defRPr sz="2000"/>
            </a:lvl9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p:txBody>
      </p:sp>
    </p:spTree>
    <p:extLst>
      <p:ext uri="{BB962C8B-B14F-4D97-AF65-F5344CB8AC3E}">
        <p14:creationId xmlns:p14="http://schemas.microsoft.com/office/powerpoint/2010/main" val="1308635691"/>
      </p:ext>
    </p:extLst>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 name="Rectangle 24"/>
          <p:cNvSpPr>
            <a:spLocks noGrp="1" noChangeArrowheads="1"/>
          </p:cNvSpPr>
          <p:nvPr>
            <p:ph type="title"/>
          </p:nvPr>
        </p:nvSpPr>
        <p:spPr bwMode="auto">
          <a:xfrm>
            <a:off x="395536" y="901054"/>
            <a:ext cx="8352928" cy="571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AU" noProof="0"/>
              <a:t>Click to edit Master title style</a:t>
            </a:r>
          </a:p>
        </p:txBody>
      </p:sp>
      <p:sp>
        <p:nvSpPr>
          <p:cNvPr id="1049" name="Rectangle 25"/>
          <p:cNvSpPr>
            <a:spLocks noGrp="1" noChangeArrowheads="1"/>
          </p:cNvSpPr>
          <p:nvPr>
            <p:ph type="body" idx="1"/>
          </p:nvPr>
        </p:nvSpPr>
        <p:spPr bwMode="auto">
          <a:xfrm>
            <a:off x="395536" y="1621135"/>
            <a:ext cx="8352928" cy="4817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1059" name="Text Box 35"/>
          <p:cNvSpPr txBox="1">
            <a:spLocks noChangeArrowheads="1"/>
          </p:cNvSpPr>
          <p:nvPr/>
        </p:nvSpPr>
        <p:spPr bwMode="auto">
          <a:xfrm>
            <a:off x="8367464" y="6579642"/>
            <a:ext cx="381000" cy="122237"/>
          </a:xfrm>
          <a:prstGeom prst="rect">
            <a:avLst/>
          </a:prstGeom>
          <a:noFill/>
          <a:ln w="9525">
            <a:noFill/>
            <a:miter lim="800000"/>
            <a:headEnd/>
            <a:tailEnd/>
          </a:ln>
          <a:effectLst/>
        </p:spPr>
        <p:txBody>
          <a:bodyPr lIns="0" tIns="0" rIns="0" bIns="0">
            <a:spAutoFit/>
          </a:bodyPr>
          <a:lstStyle>
            <a:lvl1pPr eaLnBrk="0" hangingPunct="0">
              <a:defRPr sz="2400">
                <a:solidFill>
                  <a:schemeClr val="tx1"/>
                </a:solidFill>
                <a:latin typeface="Times New Roman" pitchFamily="18" charset="0"/>
                <a:cs typeface="Arial" charset="0"/>
              </a:defRPr>
            </a:lvl1pPr>
            <a:lvl2pPr marL="742950" indent="-285750" eaLnBrk="0" hangingPunct="0">
              <a:defRPr sz="2400">
                <a:solidFill>
                  <a:schemeClr val="tx1"/>
                </a:solidFill>
                <a:latin typeface="Times New Roman" pitchFamily="18" charset="0"/>
                <a:cs typeface="Arial" charset="0"/>
              </a:defRPr>
            </a:lvl2pPr>
            <a:lvl3pPr marL="1143000" indent="-228600" eaLnBrk="0" hangingPunct="0">
              <a:defRPr sz="2400">
                <a:solidFill>
                  <a:schemeClr val="tx1"/>
                </a:solidFill>
                <a:latin typeface="Times New Roman" pitchFamily="18" charset="0"/>
                <a:cs typeface="Arial" charset="0"/>
              </a:defRPr>
            </a:lvl3pPr>
            <a:lvl4pPr marL="1600200" indent="-228600" eaLnBrk="0" hangingPunct="0">
              <a:defRPr sz="2400">
                <a:solidFill>
                  <a:schemeClr val="tx1"/>
                </a:solidFill>
                <a:latin typeface="Times New Roman" pitchFamily="18" charset="0"/>
                <a:cs typeface="Arial" charset="0"/>
              </a:defRPr>
            </a:lvl4pPr>
            <a:lvl5pPr marL="2057400" indent="-228600" eaLnBrk="0" hangingPunct="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lgn="r" eaLnBrk="1" hangingPunct="1"/>
            <a:fld id="{97071911-512B-4180-AFC6-C73A8FD5CD42}" type="slidenum">
              <a:rPr lang="en-AU" sz="800" noProof="0" smtClean="0">
                <a:solidFill>
                  <a:srgbClr val="777777"/>
                </a:solidFill>
                <a:latin typeface="Verdana" pitchFamily="34" charset="0"/>
              </a:rPr>
              <a:pPr algn="r" eaLnBrk="1" hangingPunct="1"/>
              <a:t>‹#›</a:t>
            </a:fld>
            <a:endParaRPr lang="en-AU" sz="800" noProof="0">
              <a:solidFill>
                <a:srgbClr val="777777"/>
              </a:solidFill>
              <a:latin typeface="Verdana" pitchFamily="34" charset="0"/>
            </a:endParaRPr>
          </a:p>
        </p:txBody>
      </p:sp>
      <p:sp>
        <p:nvSpPr>
          <p:cNvPr id="11" name="Text Box 7"/>
          <p:cNvSpPr txBox="1">
            <a:spLocks noChangeArrowheads="1"/>
          </p:cNvSpPr>
          <p:nvPr/>
        </p:nvSpPr>
        <p:spPr bwMode="auto">
          <a:xfrm>
            <a:off x="381000" y="6400800"/>
            <a:ext cx="3543300" cy="261938"/>
          </a:xfrm>
          <a:prstGeom prst="rect">
            <a:avLst/>
          </a:prstGeom>
          <a:solidFill>
            <a:schemeClr val="bg1"/>
          </a:solidFill>
          <a:ln w="9525">
            <a:noFill/>
            <a:miter lim="800000"/>
            <a:headEnd/>
            <a:tailEnd/>
          </a:ln>
        </p:spPr>
        <p:txBody>
          <a:bodyPr>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r>
              <a:rPr lang="en-AU" sz="1100" noProof="0">
                <a:solidFill>
                  <a:schemeClr val="bg2"/>
                </a:solidFill>
              </a:rPr>
              <a:t>Audit  |  Tax  |  Advisory  | Wealth Management</a:t>
            </a:r>
          </a:p>
        </p:txBody>
      </p:sp>
      <p:sp>
        <p:nvSpPr>
          <p:cNvPr id="12" name="Text Box 7"/>
          <p:cNvSpPr txBox="1">
            <a:spLocks noChangeArrowheads="1"/>
          </p:cNvSpPr>
          <p:nvPr userDrawn="1"/>
        </p:nvSpPr>
        <p:spPr bwMode="auto">
          <a:xfrm>
            <a:off x="277688" y="6525344"/>
            <a:ext cx="3543300" cy="230832"/>
          </a:xfrm>
          <a:prstGeom prst="rect">
            <a:avLst/>
          </a:prstGeom>
          <a:solidFill>
            <a:srgbClr val="FFFFFF"/>
          </a:solidFill>
          <a:ln w="9525">
            <a:noFill/>
            <a:miter lim="800000"/>
            <a:headEnd/>
            <a:tailEnd/>
          </a:ln>
        </p:spPr>
        <p:txBody>
          <a:bodyPr wrap="square">
            <a:spAutoFit/>
          </a:bodyPr>
          <a:lstStyle>
            <a:lvl1pPr eaLnBrk="0" hangingPunct="0">
              <a:defRPr sz="2400">
                <a:solidFill>
                  <a:schemeClr val="tx1"/>
                </a:solidFill>
                <a:latin typeface="Times New Roman" pitchFamily="18" charset="0"/>
                <a:cs typeface="Arial" charset="0"/>
              </a:defRPr>
            </a:lvl1pPr>
            <a:lvl2pPr marL="37931725" indent="-37474525" eaLnBrk="0" hangingPunct="0">
              <a:defRPr sz="2400">
                <a:solidFill>
                  <a:schemeClr val="tx1"/>
                </a:solidFill>
                <a:latin typeface="Times New Roman" pitchFamily="18" charset="0"/>
                <a:cs typeface="Arial" charset="0"/>
              </a:defRPr>
            </a:lvl2pPr>
            <a:lvl3pPr eaLnBrk="0" hangingPunct="0">
              <a:defRPr sz="2400">
                <a:solidFill>
                  <a:schemeClr val="tx1"/>
                </a:solidFill>
                <a:latin typeface="Times New Roman" pitchFamily="18" charset="0"/>
                <a:cs typeface="Arial" charset="0"/>
              </a:defRPr>
            </a:lvl3pPr>
            <a:lvl4pPr eaLnBrk="0" hangingPunct="0">
              <a:defRPr sz="2400">
                <a:solidFill>
                  <a:schemeClr val="tx1"/>
                </a:solidFill>
                <a:latin typeface="Times New Roman" pitchFamily="18" charset="0"/>
                <a:cs typeface="Arial" charset="0"/>
              </a:defRPr>
            </a:lvl4pPr>
            <a:lvl5pPr eaLnBrk="0" hangingPunct="0">
              <a:defRPr sz="2400">
                <a:solidFill>
                  <a:schemeClr val="tx1"/>
                </a:solidFill>
                <a:latin typeface="Times New Roman" pitchFamily="18" charset="0"/>
                <a:cs typeface="Arial" charset="0"/>
              </a:defRPr>
            </a:lvl5pPr>
            <a:lvl6pPr marL="457200" eaLnBrk="0" fontAlgn="base" hangingPunct="0">
              <a:spcBef>
                <a:spcPct val="0"/>
              </a:spcBef>
              <a:spcAft>
                <a:spcPct val="0"/>
              </a:spcAft>
              <a:defRPr sz="2400">
                <a:solidFill>
                  <a:schemeClr val="tx1"/>
                </a:solidFill>
                <a:latin typeface="Times New Roman" pitchFamily="18" charset="0"/>
                <a:cs typeface="Arial" charset="0"/>
              </a:defRPr>
            </a:lvl6pPr>
            <a:lvl7pPr marL="914400" eaLnBrk="0" fontAlgn="base" hangingPunct="0">
              <a:spcBef>
                <a:spcPct val="0"/>
              </a:spcBef>
              <a:spcAft>
                <a:spcPct val="0"/>
              </a:spcAft>
              <a:defRPr sz="2400">
                <a:solidFill>
                  <a:schemeClr val="tx1"/>
                </a:solidFill>
                <a:latin typeface="Times New Roman" pitchFamily="18" charset="0"/>
                <a:cs typeface="Arial" charset="0"/>
              </a:defRPr>
            </a:lvl7pPr>
            <a:lvl8pPr marL="1371600" eaLnBrk="0" fontAlgn="base" hangingPunct="0">
              <a:spcBef>
                <a:spcPct val="0"/>
              </a:spcBef>
              <a:spcAft>
                <a:spcPct val="0"/>
              </a:spcAft>
              <a:defRPr sz="2400">
                <a:solidFill>
                  <a:schemeClr val="tx1"/>
                </a:solidFill>
                <a:latin typeface="Times New Roman" pitchFamily="18" charset="0"/>
                <a:cs typeface="Arial" charset="0"/>
              </a:defRPr>
            </a:lvl8pPr>
            <a:lvl9pPr marL="1828800" eaLnBrk="0" fontAlgn="base" hangingPunct="0">
              <a:spcBef>
                <a:spcPct val="0"/>
              </a:spcBef>
              <a:spcAft>
                <a:spcPct val="0"/>
              </a:spcAft>
              <a:defRPr sz="2400">
                <a:solidFill>
                  <a:schemeClr val="tx1"/>
                </a:solidFill>
                <a:latin typeface="Times New Roman" pitchFamily="18" charset="0"/>
                <a:cs typeface="Arial"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AU" sz="900" b="0" i="0" u="none" strike="noStrike" kern="0" cap="none" spc="0" normalizeH="0" baseline="0" noProof="0">
                <a:ln>
                  <a:noFill/>
                </a:ln>
                <a:solidFill>
                  <a:srgbClr val="808080"/>
                </a:solidFill>
                <a:effectLst/>
                <a:uLnTx/>
                <a:uFillTx/>
                <a:latin typeface="Arial" charset="0"/>
                <a:cs typeface="Arial" charset="0"/>
              </a:rPr>
              <a:t>Audit  |  Tax  |  Advisory  |  Financial Advice</a:t>
            </a:r>
          </a:p>
        </p:txBody>
      </p:sp>
      <p:pic>
        <p:nvPicPr>
          <p:cNvPr id="3" name="Picture 2" descr="Internal-header_AU.png"/>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0"/>
            <a:ext cx="9144000" cy="987552"/>
          </a:xfrm>
          <a:prstGeom prst="rect">
            <a:avLst/>
          </a:prstGeom>
        </p:spPr>
      </p:pic>
      <p:sp>
        <p:nvSpPr>
          <p:cNvPr id="13" name="TextBox 12"/>
          <p:cNvSpPr txBox="1"/>
          <p:nvPr userDrawn="1"/>
        </p:nvSpPr>
        <p:spPr>
          <a:xfrm>
            <a:off x="9828585" y="0"/>
            <a:ext cx="1994705" cy="1477328"/>
          </a:xfrm>
          <a:prstGeom prst="rect">
            <a:avLst/>
          </a:prstGeom>
          <a:noFill/>
        </p:spPr>
        <p:txBody>
          <a:bodyPr wrap="square" rtlCol="0">
            <a:spAutoFit/>
          </a:bodyPr>
          <a:lstStyle/>
          <a:p>
            <a:pPr algn="ctr"/>
            <a:r>
              <a:rPr lang="en-AU" sz="1800" noProof="0">
                <a:latin typeface="+mn-lt"/>
              </a:rPr>
              <a:t>Colour Scheme for Charts and Banner Bars</a:t>
            </a:r>
          </a:p>
          <a:p>
            <a:pPr algn="ctr"/>
            <a:endParaRPr lang="en-AU" sz="1800" noProof="0">
              <a:latin typeface="+mj-lt"/>
            </a:endParaRPr>
          </a:p>
          <a:p>
            <a:pPr algn="ctr"/>
            <a:endParaRPr lang="en-AU" sz="1800" noProof="0">
              <a:latin typeface="+mj-lt"/>
            </a:endParaRPr>
          </a:p>
        </p:txBody>
      </p:sp>
      <p:sp>
        <p:nvSpPr>
          <p:cNvPr id="14" name="TextBox 13"/>
          <p:cNvSpPr txBox="1"/>
          <p:nvPr userDrawn="1"/>
        </p:nvSpPr>
        <p:spPr>
          <a:xfrm>
            <a:off x="10353277" y="1079051"/>
            <a:ext cx="1008112" cy="923330"/>
          </a:xfrm>
          <a:prstGeom prst="rect">
            <a:avLst/>
          </a:prstGeom>
          <a:solidFill>
            <a:srgbClr val="041E41"/>
          </a:solidFill>
        </p:spPr>
        <p:txBody>
          <a:bodyPr wrap="square" rtlCol="0">
            <a:spAutoFit/>
          </a:bodyPr>
          <a:lstStyle/>
          <a:p>
            <a:pPr algn="ctr"/>
            <a:r>
              <a:rPr lang="en-AU" sz="1800" b="1" noProof="0">
                <a:solidFill>
                  <a:schemeClr val="bg1"/>
                </a:solidFill>
                <a:latin typeface="+mn-lt"/>
              </a:rPr>
              <a:t>R</a:t>
            </a:r>
            <a:r>
              <a:rPr lang="en-AU" sz="1800" b="1" baseline="0" noProof="0">
                <a:solidFill>
                  <a:schemeClr val="bg1"/>
                </a:solidFill>
                <a:latin typeface="+mn-lt"/>
              </a:rPr>
              <a:t> = 4</a:t>
            </a:r>
          </a:p>
          <a:p>
            <a:pPr algn="ctr"/>
            <a:r>
              <a:rPr lang="en-AU" sz="1800" b="1" baseline="0" noProof="0">
                <a:solidFill>
                  <a:schemeClr val="bg1"/>
                </a:solidFill>
                <a:latin typeface="+mn-lt"/>
              </a:rPr>
              <a:t>G = 30</a:t>
            </a:r>
          </a:p>
          <a:p>
            <a:pPr algn="ctr"/>
            <a:r>
              <a:rPr lang="en-AU" sz="1800" b="1" baseline="0" noProof="0">
                <a:solidFill>
                  <a:schemeClr val="bg1"/>
                </a:solidFill>
                <a:latin typeface="+mn-lt"/>
              </a:rPr>
              <a:t>B = 65</a:t>
            </a:r>
            <a:endParaRPr lang="en-AU" sz="1800" b="1" noProof="0">
              <a:solidFill>
                <a:schemeClr val="bg1"/>
              </a:solidFill>
              <a:latin typeface="+mn-lt"/>
            </a:endParaRPr>
          </a:p>
        </p:txBody>
      </p:sp>
      <p:sp>
        <p:nvSpPr>
          <p:cNvPr id="15" name="TextBox 14"/>
          <p:cNvSpPr txBox="1"/>
          <p:nvPr userDrawn="1"/>
        </p:nvSpPr>
        <p:spPr>
          <a:xfrm>
            <a:off x="10353277" y="2347515"/>
            <a:ext cx="1008112" cy="923330"/>
          </a:xfrm>
          <a:prstGeom prst="rect">
            <a:avLst/>
          </a:prstGeom>
          <a:solidFill>
            <a:srgbClr val="FDB913"/>
          </a:solidFill>
        </p:spPr>
        <p:txBody>
          <a:bodyPr wrap="square" rtlCol="0">
            <a:spAutoFit/>
          </a:bodyPr>
          <a:lstStyle/>
          <a:p>
            <a:pPr algn="ctr"/>
            <a:r>
              <a:rPr lang="en-AU" sz="1800" b="1" noProof="0">
                <a:solidFill>
                  <a:schemeClr val="bg1"/>
                </a:solidFill>
                <a:latin typeface="+mn-lt"/>
              </a:rPr>
              <a:t>R</a:t>
            </a:r>
            <a:r>
              <a:rPr lang="en-AU" sz="1800" b="1" baseline="0" noProof="0">
                <a:solidFill>
                  <a:schemeClr val="bg1"/>
                </a:solidFill>
                <a:latin typeface="+mn-lt"/>
              </a:rPr>
              <a:t> = 253</a:t>
            </a:r>
          </a:p>
          <a:p>
            <a:pPr algn="ctr"/>
            <a:r>
              <a:rPr lang="en-AU" sz="1800" b="1" baseline="0" noProof="0">
                <a:solidFill>
                  <a:schemeClr val="bg1"/>
                </a:solidFill>
                <a:latin typeface="+mn-lt"/>
              </a:rPr>
              <a:t>G = 185</a:t>
            </a:r>
          </a:p>
          <a:p>
            <a:pPr algn="ctr"/>
            <a:r>
              <a:rPr lang="en-AU" sz="1800" b="1" baseline="0" noProof="0">
                <a:solidFill>
                  <a:schemeClr val="bg1"/>
                </a:solidFill>
                <a:latin typeface="+mn-lt"/>
              </a:rPr>
              <a:t>B = 19</a:t>
            </a:r>
            <a:endParaRPr lang="en-AU" sz="1800" b="1" noProof="0">
              <a:solidFill>
                <a:schemeClr val="bg1"/>
              </a:solidFill>
              <a:latin typeface="+mn-lt"/>
            </a:endParaRPr>
          </a:p>
        </p:txBody>
      </p:sp>
      <p:sp>
        <p:nvSpPr>
          <p:cNvPr id="16" name="TextBox 15"/>
          <p:cNvSpPr txBox="1"/>
          <p:nvPr userDrawn="1"/>
        </p:nvSpPr>
        <p:spPr>
          <a:xfrm>
            <a:off x="10353277" y="3615979"/>
            <a:ext cx="1008112" cy="646331"/>
          </a:xfrm>
          <a:prstGeom prst="rect">
            <a:avLst/>
          </a:prstGeom>
          <a:solidFill>
            <a:schemeClr val="tx1">
              <a:lumMod val="50000"/>
              <a:lumOff val="50000"/>
            </a:schemeClr>
          </a:solidFill>
        </p:spPr>
        <p:txBody>
          <a:bodyPr wrap="square" rtlCol="0">
            <a:spAutoFit/>
          </a:bodyPr>
          <a:lstStyle/>
          <a:p>
            <a:pPr algn="ctr"/>
            <a:r>
              <a:rPr lang="en-AU" sz="1800" b="1" noProof="0">
                <a:solidFill>
                  <a:schemeClr val="bg1"/>
                </a:solidFill>
                <a:latin typeface="+mn-lt"/>
              </a:rPr>
              <a:t>Tones of grey</a:t>
            </a:r>
          </a:p>
        </p:txBody>
      </p:sp>
      <p:sp>
        <p:nvSpPr>
          <p:cNvPr id="17" name="TextBox 16"/>
          <p:cNvSpPr txBox="1"/>
          <p:nvPr userDrawn="1"/>
        </p:nvSpPr>
        <p:spPr>
          <a:xfrm>
            <a:off x="10353277" y="4607443"/>
            <a:ext cx="1008112" cy="923330"/>
          </a:xfrm>
          <a:prstGeom prst="rect">
            <a:avLst/>
          </a:prstGeom>
          <a:solidFill>
            <a:srgbClr val="818EA0"/>
          </a:solidFill>
        </p:spPr>
        <p:txBody>
          <a:bodyPr wrap="square" rtlCol="0">
            <a:spAutoFit/>
          </a:bodyPr>
          <a:lstStyle/>
          <a:p>
            <a:pPr algn="ctr"/>
            <a:r>
              <a:rPr lang="en-AU" sz="1800" b="1" noProof="0">
                <a:solidFill>
                  <a:schemeClr val="bg1"/>
                </a:solidFill>
                <a:latin typeface="+mn-lt"/>
              </a:rPr>
              <a:t>R</a:t>
            </a:r>
            <a:r>
              <a:rPr lang="en-AU" sz="1800" b="1" baseline="0" noProof="0">
                <a:solidFill>
                  <a:schemeClr val="bg1"/>
                </a:solidFill>
                <a:latin typeface="+mn-lt"/>
              </a:rPr>
              <a:t> = 129</a:t>
            </a:r>
          </a:p>
          <a:p>
            <a:pPr algn="ctr"/>
            <a:r>
              <a:rPr lang="en-AU" sz="1800" b="1" baseline="0" noProof="0">
                <a:solidFill>
                  <a:schemeClr val="bg1"/>
                </a:solidFill>
                <a:latin typeface="+mn-lt"/>
              </a:rPr>
              <a:t>G = 142</a:t>
            </a:r>
          </a:p>
          <a:p>
            <a:pPr algn="ctr"/>
            <a:r>
              <a:rPr lang="en-AU" sz="1800" b="1" baseline="0" noProof="0">
                <a:solidFill>
                  <a:schemeClr val="bg1"/>
                </a:solidFill>
                <a:latin typeface="+mn-lt"/>
              </a:rPr>
              <a:t>B = 160</a:t>
            </a:r>
            <a:endParaRPr lang="en-AU" sz="1800" b="1" noProof="0">
              <a:solidFill>
                <a:schemeClr val="bg1"/>
              </a:solidFill>
              <a:latin typeface="+mn-lt"/>
            </a:endParaRPr>
          </a:p>
        </p:txBody>
      </p:sp>
      <p:cxnSp>
        <p:nvCxnSpPr>
          <p:cNvPr id="4" name="Straight Connector 3"/>
          <p:cNvCxnSpPr/>
          <p:nvPr userDrawn="1"/>
        </p:nvCxnSpPr>
        <p:spPr>
          <a:xfrm>
            <a:off x="395536" y="891828"/>
            <a:ext cx="8352928" cy="0"/>
          </a:xfrm>
          <a:prstGeom prst="line">
            <a:avLst/>
          </a:prstGeom>
          <a:ln w="3175" cmpd="sng">
            <a:solidFill>
              <a:schemeClr val="bg2">
                <a:lumMod val="50000"/>
              </a:schemeClr>
            </a:solidFill>
          </a:ln>
        </p:spPr>
        <p:style>
          <a:lnRef idx="1">
            <a:schemeClr val="dk1"/>
          </a:lnRef>
          <a:fillRef idx="0">
            <a:schemeClr val="dk1"/>
          </a:fillRef>
          <a:effectRef idx="0">
            <a:schemeClr val="dk1"/>
          </a:effectRef>
          <a:fontRef idx="minor">
            <a:schemeClr val="tx1"/>
          </a:fontRef>
        </p:style>
      </p:cxnSp>
      <p:sp>
        <p:nvSpPr>
          <p:cNvPr id="18" name="TextBox 17"/>
          <p:cNvSpPr txBox="1"/>
          <p:nvPr userDrawn="1"/>
        </p:nvSpPr>
        <p:spPr>
          <a:xfrm>
            <a:off x="11832727" y="0"/>
            <a:ext cx="1994705" cy="923330"/>
          </a:xfrm>
          <a:prstGeom prst="rect">
            <a:avLst/>
          </a:prstGeom>
          <a:noFill/>
        </p:spPr>
        <p:txBody>
          <a:bodyPr wrap="square" rtlCol="0">
            <a:spAutoFit/>
          </a:bodyPr>
          <a:lstStyle/>
          <a:p>
            <a:pPr algn="ctr"/>
            <a:r>
              <a:rPr lang="en-AU" sz="1800" noProof="0">
                <a:latin typeface="+mn-lt"/>
              </a:rPr>
              <a:t>Secondary Colour Palette</a:t>
            </a:r>
            <a:endParaRPr lang="en-AU" sz="1800" noProof="0">
              <a:latin typeface="+mj-lt"/>
            </a:endParaRPr>
          </a:p>
          <a:p>
            <a:pPr algn="ctr"/>
            <a:endParaRPr lang="en-AU" sz="1800" noProof="0">
              <a:latin typeface="+mj-lt"/>
            </a:endParaRPr>
          </a:p>
        </p:txBody>
      </p:sp>
      <p:sp>
        <p:nvSpPr>
          <p:cNvPr id="19" name="TextBox 18"/>
          <p:cNvSpPr txBox="1"/>
          <p:nvPr userDrawn="1"/>
        </p:nvSpPr>
        <p:spPr>
          <a:xfrm>
            <a:off x="12208387" y="1079051"/>
            <a:ext cx="1425677" cy="1200329"/>
          </a:xfrm>
          <a:prstGeom prst="rect">
            <a:avLst/>
          </a:prstGeom>
          <a:solidFill>
            <a:srgbClr val="AE9E3B"/>
          </a:solidFill>
        </p:spPr>
        <p:txBody>
          <a:bodyPr wrap="square" rtlCol="0">
            <a:spAutoFit/>
          </a:bodyPr>
          <a:lstStyle/>
          <a:p>
            <a:pPr algn="ctr"/>
            <a:r>
              <a:rPr lang="en-AU" sz="1800" b="1" noProof="0">
                <a:solidFill>
                  <a:schemeClr val="bg1"/>
                </a:solidFill>
                <a:latin typeface="+mn-lt"/>
              </a:rPr>
              <a:t>Audit</a:t>
            </a:r>
          </a:p>
          <a:p>
            <a:pPr algn="ctr"/>
            <a:r>
              <a:rPr lang="en-AU" sz="1800" b="1" noProof="0">
                <a:solidFill>
                  <a:schemeClr val="bg1"/>
                </a:solidFill>
                <a:latin typeface="+mn-lt"/>
              </a:rPr>
              <a:t>R</a:t>
            </a:r>
            <a:r>
              <a:rPr lang="en-AU" sz="1800" b="1" baseline="0" noProof="0">
                <a:solidFill>
                  <a:schemeClr val="bg1"/>
                </a:solidFill>
                <a:latin typeface="+mn-lt"/>
              </a:rPr>
              <a:t> = 174</a:t>
            </a:r>
          </a:p>
          <a:p>
            <a:pPr algn="ctr"/>
            <a:r>
              <a:rPr lang="en-AU" sz="1800" b="1" baseline="0" noProof="0">
                <a:solidFill>
                  <a:schemeClr val="bg1"/>
                </a:solidFill>
                <a:latin typeface="+mn-lt"/>
              </a:rPr>
              <a:t>G = 158</a:t>
            </a:r>
          </a:p>
          <a:p>
            <a:pPr algn="ctr"/>
            <a:r>
              <a:rPr lang="en-AU" sz="1800" b="1" baseline="0" noProof="0">
                <a:solidFill>
                  <a:schemeClr val="bg1"/>
                </a:solidFill>
                <a:latin typeface="+mn-lt"/>
              </a:rPr>
              <a:t>B = 59</a:t>
            </a:r>
            <a:endParaRPr lang="en-AU" sz="1800" b="1" noProof="0">
              <a:solidFill>
                <a:schemeClr val="bg1"/>
              </a:solidFill>
              <a:latin typeface="+mn-lt"/>
            </a:endParaRPr>
          </a:p>
        </p:txBody>
      </p:sp>
      <p:sp>
        <p:nvSpPr>
          <p:cNvPr id="20" name="TextBox 19"/>
          <p:cNvSpPr txBox="1"/>
          <p:nvPr userDrawn="1"/>
        </p:nvSpPr>
        <p:spPr>
          <a:xfrm>
            <a:off x="12224775" y="2399934"/>
            <a:ext cx="1433870" cy="1200329"/>
          </a:xfrm>
          <a:prstGeom prst="rect">
            <a:avLst/>
          </a:prstGeom>
          <a:solidFill>
            <a:srgbClr val="766B61"/>
          </a:solidFill>
        </p:spPr>
        <p:txBody>
          <a:bodyPr wrap="square" rtlCol="0">
            <a:spAutoFit/>
          </a:bodyPr>
          <a:lstStyle/>
          <a:p>
            <a:pPr algn="ctr"/>
            <a:r>
              <a:rPr lang="en-AU" sz="1800" b="1" noProof="0">
                <a:solidFill>
                  <a:schemeClr val="bg1"/>
                </a:solidFill>
                <a:latin typeface="+mn-lt"/>
              </a:rPr>
              <a:t>Tax</a:t>
            </a:r>
          </a:p>
          <a:p>
            <a:pPr algn="ctr"/>
            <a:r>
              <a:rPr lang="en-AU" sz="1800" b="1" noProof="0">
                <a:solidFill>
                  <a:schemeClr val="bg1"/>
                </a:solidFill>
                <a:latin typeface="+mn-lt"/>
              </a:rPr>
              <a:t>R</a:t>
            </a:r>
            <a:r>
              <a:rPr lang="en-AU" sz="1800" b="1" baseline="0" noProof="0">
                <a:solidFill>
                  <a:schemeClr val="bg1"/>
                </a:solidFill>
                <a:latin typeface="+mn-lt"/>
              </a:rPr>
              <a:t> = 118</a:t>
            </a:r>
          </a:p>
          <a:p>
            <a:pPr algn="ctr"/>
            <a:r>
              <a:rPr lang="en-AU" sz="1800" b="1" baseline="0" noProof="0">
                <a:solidFill>
                  <a:schemeClr val="bg1"/>
                </a:solidFill>
                <a:latin typeface="+mn-lt"/>
              </a:rPr>
              <a:t>G = 107</a:t>
            </a:r>
          </a:p>
          <a:p>
            <a:pPr algn="ctr"/>
            <a:r>
              <a:rPr lang="en-AU" sz="1800" b="1" baseline="0" noProof="0">
                <a:solidFill>
                  <a:schemeClr val="bg1"/>
                </a:solidFill>
                <a:latin typeface="+mn-lt"/>
              </a:rPr>
              <a:t>B = 97</a:t>
            </a:r>
            <a:endParaRPr lang="en-AU" sz="1800" b="1" noProof="0">
              <a:solidFill>
                <a:schemeClr val="bg1"/>
              </a:solidFill>
              <a:latin typeface="+mn-lt"/>
            </a:endParaRPr>
          </a:p>
        </p:txBody>
      </p:sp>
      <p:sp>
        <p:nvSpPr>
          <p:cNvPr id="22" name="TextBox 21"/>
          <p:cNvSpPr txBox="1"/>
          <p:nvPr userDrawn="1"/>
        </p:nvSpPr>
        <p:spPr>
          <a:xfrm>
            <a:off x="12224775" y="5041701"/>
            <a:ext cx="1433870" cy="1477328"/>
          </a:xfrm>
          <a:prstGeom prst="rect">
            <a:avLst/>
          </a:prstGeom>
          <a:solidFill>
            <a:srgbClr val="88354D"/>
          </a:solidFill>
        </p:spPr>
        <p:txBody>
          <a:bodyPr wrap="square" rtlCol="0">
            <a:spAutoFit/>
          </a:bodyPr>
          <a:lstStyle/>
          <a:p>
            <a:pPr algn="ctr"/>
            <a:r>
              <a:rPr lang="en-AU" sz="1800" b="1" noProof="0">
                <a:solidFill>
                  <a:schemeClr val="bg1"/>
                </a:solidFill>
                <a:latin typeface="+mn-lt"/>
              </a:rPr>
              <a:t>Financial Advice</a:t>
            </a:r>
          </a:p>
          <a:p>
            <a:pPr algn="ctr"/>
            <a:r>
              <a:rPr lang="en-AU" sz="1800" b="1" noProof="0">
                <a:solidFill>
                  <a:schemeClr val="bg1"/>
                </a:solidFill>
                <a:latin typeface="+mn-lt"/>
              </a:rPr>
              <a:t>R</a:t>
            </a:r>
            <a:r>
              <a:rPr lang="en-AU" sz="1800" b="1" baseline="0" noProof="0">
                <a:solidFill>
                  <a:schemeClr val="bg1"/>
                </a:solidFill>
                <a:latin typeface="+mn-lt"/>
              </a:rPr>
              <a:t> = 136</a:t>
            </a:r>
          </a:p>
          <a:p>
            <a:pPr algn="ctr"/>
            <a:r>
              <a:rPr lang="en-AU" sz="1800" b="1" baseline="0" noProof="0">
                <a:solidFill>
                  <a:schemeClr val="bg1"/>
                </a:solidFill>
                <a:latin typeface="+mn-lt"/>
              </a:rPr>
              <a:t>G = 53</a:t>
            </a:r>
          </a:p>
          <a:p>
            <a:pPr algn="ctr"/>
            <a:r>
              <a:rPr lang="en-AU" sz="1800" b="1" baseline="0" noProof="0">
                <a:solidFill>
                  <a:schemeClr val="bg1"/>
                </a:solidFill>
                <a:latin typeface="+mn-lt"/>
              </a:rPr>
              <a:t>B = 77</a:t>
            </a:r>
            <a:endParaRPr lang="en-AU" sz="1800" b="1" noProof="0">
              <a:solidFill>
                <a:schemeClr val="bg1"/>
              </a:solidFill>
              <a:latin typeface="+mn-lt"/>
            </a:endParaRPr>
          </a:p>
        </p:txBody>
      </p:sp>
      <p:sp>
        <p:nvSpPr>
          <p:cNvPr id="23" name="TextBox 22"/>
          <p:cNvSpPr txBox="1"/>
          <p:nvPr userDrawn="1"/>
        </p:nvSpPr>
        <p:spPr>
          <a:xfrm>
            <a:off x="12224775" y="3720817"/>
            <a:ext cx="1425678" cy="1200329"/>
          </a:xfrm>
          <a:prstGeom prst="rect">
            <a:avLst/>
          </a:prstGeom>
          <a:solidFill>
            <a:srgbClr val="5D7E95"/>
          </a:solidFill>
        </p:spPr>
        <p:txBody>
          <a:bodyPr wrap="square" rtlCol="0">
            <a:spAutoFit/>
          </a:bodyPr>
          <a:lstStyle/>
          <a:p>
            <a:pPr algn="ctr"/>
            <a:r>
              <a:rPr lang="en-AU" sz="1800" b="1" noProof="0">
                <a:solidFill>
                  <a:schemeClr val="bg1"/>
                </a:solidFill>
                <a:latin typeface="+mn-lt"/>
              </a:rPr>
              <a:t>Advisory</a:t>
            </a:r>
          </a:p>
          <a:p>
            <a:pPr algn="ctr"/>
            <a:r>
              <a:rPr lang="en-AU" sz="1800" b="1" noProof="0">
                <a:solidFill>
                  <a:schemeClr val="bg1"/>
                </a:solidFill>
                <a:latin typeface="+mn-lt"/>
              </a:rPr>
              <a:t>R</a:t>
            </a:r>
            <a:r>
              <a:rPr lang="en-AU" sz="1800" b="1" baseline="0" noProof="0">
                <a:solidFill>
                  <a:schemeClr val="bg1"/>
                </a:solidFill>
                <a:latin typeface="+mn-lt"/>
              </a:rPr>
              <a:t> = 93</a:t>
            </a:r>
          </a:p>
          <a:p>
            <a:pPr algn="ctr"/>
            <a:r>
              <a:rPr lang="en-AU" sz="1800" b="1" baseline="0" noProof="0">
                <a:solidFill>
                  <a:schemeClr val="bg1"/>
                </a:solidFill>
                <a:latin typeface="+mn-lt"/>
              </a:rPr>
              <a:t>G = 126</a:t>
            </a:r>
          </a:p>
          <a:p>
            <a:pPr algn="ctr"/>
            <a:r>
              <a:rPr lang="en-AU" sz="1800" b="1" baseline="0" noProof="0">
                <a:solidFill>
                  <a:schemeClr val="bg1"/>
                </a:solidFill>
                <a:latin typeface="+mn-lt"/>
              </a:rPr>
              <a:t>B = 149</a:t>
            </a:r>
            <a:endParaRPr lang="en-AU" sz="1800" b="1" noProof="0">
              <a:solidFill>
                <a:schemeClr val="bg1"/>
              </a:solidFill>
              <a:latin typeface="+mn-l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60" r:id="rId6"/>
  </p:sldLayoutIdLst>
  <p:transition advClick="0"/>
  <p:txStyles>
    <p:titleStyle>
      <a:lvl1pPr algn="l" rtl="0" eaLnBrk="1" fontAlgn="base" hangingPunct="1">
        <a:lnSpc>
          <a:spcPct val="150000"/>
        </a:lnSpc>
        <a:spcBef>
          <a:spcPct val="0"/>
        </a:spcBef>
        <a:spcAft>
          <a:spcPct val="0"/>
        </a:spcAft>
        <a:defRPr sz="2400">
          <a:solidFill>
            <a:srgbClr val="041E41"/>
          </a:solidFill>
          <a:latin typeface="+mj-lt"/>
          <a:ea typeface="+mj-ea"/>
          <a:cs typeface="+mj-cs"/>
        </a:defRPr>
      </a:lvl1pPr>
      <a:lvl2pPr algn="l" rtl="0" eaLnBrk="1" fontAlgn="base" hangingPunct="1">
        <a:spcBef>
          <a:spcPct val="0"/>
        </a:spcBef>
        <a:spcAft>
          <a:spcPct val="0"/>
        </a:spcAft>
        <a:defRPr sz="2400">
          <a:solidFill>
            <a:schemeClr val="tx1"/>
          </a:solidFill>
          <a:latin typeface="Arial" charset="0"/>
        </a:defRPr>
      </a:lvl2pPr>
      <a:lvl3pPr algn="l" rtl="0" eaLnBrk="1" fontAlgn="base" hangingPunct="1">
        <a:spcBef>
          <a:spcPct val="0"/>
        </a:spcBef>
        <a:spcAft>
          <a:spcPct val="0"/>
        </a:spcAft>
        <a:defRPr sz="2400">
          <a:solidFill>
            <a:schemeClr val="tx1"/>
          </a:solidFill>
          <a:latin typeface="Arial" charset="0"/>
        </a:defRPr>
      </a:lvl3pPr>
      <a:lvl4pPr algn="l" rtl="0" eaLnBrk="1" fontAlgn="base" hangingPunct="1">
        <a:spcBef>
          <a:spcPct val="0"/>
        </a:spcBef>
        <a:spcAft>
          <a:spcPct val="0"/>
        </a:spcAft>
        <a:defRPr sz="2400">
          <a:solidFill>
            <a:schemeClr val="tx1"/>
          </a:solidFill>
          <a:latin typeface="Arial" charset="0"/>
        </a:defRPr>
      </a:lvl4pPr>
      <a:lvl5pPr algn="l" rtl="0" eaLnBrk="1" fontAlgn="base" hangingPunct="1">
        <a:spcBef>
          <a:spcPct val="0"/>
        </a:spcBef>
        <a:spcAft>
          <a:spcPct val="0"/>
        </a:spcAft>
        <a:defRPr sz="2400">
          <a:solidFill>
            <a:schemeClr val="tx1"/>
          </a:solidFill>
          <a:latin typeface="Arial" charset="0"/>
        </a:defRPr>
      </a:lvl5pPr>
      <a:lvl6pPr marL="457200" algn="l" rtl="0" eaLnBrk="1" fontAlgn="base" hangingPunct="1">
        <a:spcBef>
          <a:spcPct val="0"/>
        </a:spcBef>
        <a:spcAft>
          <a:spcPct val="0"/>
        </a:spcAft>
        <a:defRPr sz="2400">
          <a:solidFill>
            <a:schemeClr val="tx1"/>
          </a:solidFill>
          <a:latin typeface="Arial" charset="0"/>
        </a:defRPr>
      </a:lvl6pPr>
      <a:lvl7pPr marL="914400" algn="l" rtl="0" eaLnBrk="1" fontAlgn="base" hangingPunct="1">
        <a:spcBef>
          <a:spcPct val="0"/>
        </a:spcBef>
        <a:spcAft>
          <a:spcPct val="0"/>
        </a:spcAft>
        <a:defRPr sz="2400">
          <a:solidFill>
            <a:schemeClr val="tx1"/>
          </a:solidFill>
          <a:latin typeface="Arial" charset="0"/>
        </a:defRPr>
      </a:lvl7pPr>
      <a:lvl8pPr marL="1371600" algn="l" rtl="0" eaLnBrk="1" fontAlgn="base" hangingPunct="1">
        <a:spcBef>
          <a:spcPct val="0"/>
        </a:spcBef>
        <a:spcAft>
          <a:spcPct val="0"/>
        </a:spcAft>
        <a:defRPr sz="2400">
          <a:solidFill>
            <a:schemeClr val="tx1"/>
          </a:solidFill>
          <a:latin typeface="Arial" charset="0"/>
        </a:defRPr>
      </a:lvl8pPr>
      <a:lvl9pPr marL="1828800" algn="l" rtl="0" eaLnBrk="1" fontAlgn="base" hangingPunct="1">
        <a:spcBef>
          <a:spcPct val="0"/>
        </a:spcBef>
        <a:spcAft>
          <a:spcPct val="0"/>
        </a:spcAft>
        <a:defRPr sz="2400">
          <a:solidFill>
            <a:schemeClr val="tx1"/>
          </a:solidFill>
          <a:latin typeface="Arial" charset="0"/>
        </a:defRPr>
      </a:lvl9pPr>
    </p:titleStyle>
    <p:bodyStyle>
      <a:lvl1pPr marL="228600" indent="-228600" algn="l" rtl="0" eaLnBrk="1" fontAlgn="base" hangingPunct="1">
        <a:lnSpc>
          <a:spcPct val="150000"/>
        </a:lnSpc>
        <a:spcBef>
          <a:spcPct val="20000"/>
        </a:spcBef>
        <a:spcAft>
          <a:spcPct val="0"/>
        </a:spcAft>
        <a:buClr>
          <a:srgbClr val="FFCC00"/>
        </a:buClr>
        <a:buFont typeface="Wingdings" pitchFamily="2" charset="2"/>
        <a:buChar char="§"/>
        <a:defRPr sz="1800">
          <a:solidFill>
            <a:srgbClr val="595959"/>
          </a:solidFill>
          <a:latin typeface="+mn-lt"/>
          <a:ea typeface="+mn-ea"/>
          <a:cs typeface="+mn-cs"/>
        </a:defRPr>
      </a:lvl1pPr>
      <a:lvl2pPr marL="571500" indent="-228600" algn="l" rtl="0" eaLnBrk="1" fontAlgn="base" hangingPunct="1">
        <a:spcBef>
          <a:spcPct val="20000"/>
        </a:spcBef>
        <a:spcAft>
          <a:spcPct val="0"/>
        </a:spcAft>
        <a:buClr>
          <a:srgbClr val="FFCC00"/>
        </a:buClr>
        <a:buFont typeface="Wingdings" pitchFamily="2" charset="2"/>
        <a:buChar char="§"/>
        <a:defRPr sz="1400">
          <a:solidFill>
            <a:srgbClr val="595959"/>
          </a:solidFill>
          <a:latin typeface="+mn-lt"/>
        </a:defRPr>
      </a:lvl2pPr>
      <a:lvl3pPr marL="1028700" indent="-228600" algn="l" rtl="0" eaLnBrk="1" fontAlgn="base" hangingPunct="1">
        <a:spcBef>
          <a:spcPct val="20000"/>
        </a:spcBef>
        <a:spcAft>
          <a:spcPct val="0"/>
        </a:spcAft>
        <a:buClr>
          <a:srgbClr val="FFCC00"/>
        </a:buClr>
        <a:buFont typeface="Wingdings" pitchFamily="2" charset="2"/>
        <a:buChar char="§"/>
        <a:defRPr sz="1400">
          <a:solidFill>
            <a:srgbClr val="595959"/>
          </a:solidFill>
          <a:latin typeface="+mn-lt"/>
        </a:defRPr>
      </a:lvl3pPr>
      <a:lvl4pPr marL="1485900" indent="-228600" algn="l" rtl="0" eaLnBrk="1" fontAlgn="base" hangingPunct="1">
        <a:spcBef>
          <a:spcPct val="20000"/>
        </a:spcBef>
        <a:spcAft>
          <a:spcPct val="0"/>
        </a:spcAft>
        <a:buClr>
          <a:srgbClr val="FFCC00"/>
        </a:buClr>
        <a:buFont typeface="Wingdings" pitchFamily="2" charset="2"/>
        <a:buChar char="§"/>
        <a:defRPr sz="1400">
          <a:solidFill>
            <a:srgbClr val="595959"/>
          </a:solidFill>
          <a:latin typeface="+mn-lt"/>
        </a:defRPr>
      </a:lvl4pPr>
      <a:lvl5pPr marL="1943100" indent="-228600" algn="l" rtl="0" eaLnBrk="1" fontAlgn="base" hangingPunct="1">
        <a:spcBef>
          <a:spcPct val="20000"/>
        </a:spcBef>
        <a:spcAft>
          <a:spcPct val="0"/>
        </a:spcAft>
        <a:buClr>
          <a:srgbClr val="FFCC00"/>
        </a:buClr>
        <a:buFont typeface="Wingdings" pitchFamily="2" charset="2"/>
        <a:buChar char="§"/>
        <a:defRPr sz="1400">
          <a:solidFill>
            <a:srgbClr val="595959"/>
          </a:solidFill>
          <a:latin typeface="+mn-lt"/>
        </a:defRPr>
      </a:lvl5pPr>
      <a:lvl6pPr marL="2400300" indent="-228600" algn="l" rtl="0" eaLnBrk="1" fontAlgn="base" hangingPunct="1">
        <a:spcBef>
          <a:spcPct val="20000"/>
        </a:spcBef>
        <a:spcAft>
          <a:spcPct val="0"/>
        </a:spcAft>
        <a:buClr>
          <a:srgbClr val="FFCC00"/>
        </a:buClr>
        <a:buChar char="•"/>
        <a:defRPr sz="1200">
          <a:solidFill>
            <a:schemeClr val="tx1"/>
          </a:solidFill>
          <a:latin typeface="+mn-lt"/>
        </a:defRPr>
      </a:lvl6pPr>
      <a:lvl7pPr marL="2857500" indent="-228600" algn="l" rtl="0" eaLnBrk="1" fontAlgn="base" hangingPunct="1">
        <a:spcBef>
          <a:spcPct val="20000"/>
        </a:spcBef>
        <a:spcAft>
          <a:spcPct val="0"/>
        </a:spcAft>
        <a:buClr>
          <a:srgbClr val="FFCC00"/>
        </a:buClr>
        <a:buChar char="•"/>
        <a:defRPr sz="1200">
          <a:solidFill>
            <a:schemeClr val="tx1"/>
          </a:solidFill>
          <a:latin typeface="+mn-lt"/>
        </a:defRPr>
      </a:lvl7pPr>
      <a:lvl8pPr marL="3314700" indent="-228600" algn="l" rtl="0" eaLnBrk="1" fontAlgn="base" hangingPunct="1">
        <a:spcBef>
          <a:spcPct val="20000"/>
        </a:spcBef>
        <a:spcAft>
          <a:spcPct val="0"/>
        </a:spcAft>
        <a:buClr>
          <a:srgbClr val="FFCC00"/>
        </a:buClr>
        <a:buChar char="•"/>
        <a:defRPr sz="1200">
          <a:solidFill>
            <a:schemeClr val="tx1"/>
          </a:solidFill>
          <a:latin typeface="+mn-lt"/>
        </a:defRPr>
      </a:lvl8pPr>
      <a:lvl9pPr marL="3771900" indent="-228600" algn="l" rtl="0" eaLnBrk="1" fontAlgn="base" hangingPunct="1">
        <a:spcBef>
          <a:spcPct val="20000"/>
        </a:spcBef>
        <a:spcAft>
          <a:spcPct val="0"/>
        </a:spcAft>
        <a:buClr>
          <a:srgbClr val="FFCC00"/>
        </a:buClr>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hyperlink" Target="http://www.austlii.edu.au/au/legis/cth/consol_act/itaa1936240/s109y.html" TargetMode="External"/><Relationship Id="rId3" Type="http://schemas.openxmlformats.org/officeDocument/2006/relationships/hyperlink" Target="http://www.austlii.edu.au/au/legis/cth/consol_act/itaa1936240/s109c.html" TargetMode="External"/><Relationship Id="rId7" Type="http://schemas.openxmlformats.org/officeDocument/2006/relationships/hyperlink" Target="http://www.austlii.edu.au/au/legis/cth/consol_act/itaa1936240/s44.html" TargetMode="External"/><Relationship Id="rId2" Type="http://schemas.openxmlformats.org/officeDocument/2006/relationships/hyperlink" Target="http://www.austlii.edu.au/au/legis/cth/consol_act/itaa1936240/s128f.html#company" TargetMode="External"/><Relationship Id="rId1" Type="http://schemas.openxmlformats.org/officeDocument/2006/relationships/slideLayout" Target="../slideLayouts/slideLayout2.xml"/><Relationship Id="rId6" Type="http://schemas.openxmlformats.org/officeDocument/2006/relationships/hyperlink" Target="http://www.austlii.edu.au/au/legis/cth/consol_act/itaa1936240/s109f.html" TargetMode="External"/><Relationship Id="rId5" Type="http://schemas.openxmlformats.org/officeDocument/2006/relationships/hyperlink" Target="http://www.austlii.edu.au/au/legis/cth/consol_act/itaa1936240/s109e.html" TargetMode="External"/><Relationship Id="rId4" Type="http://schemas.openxmlformats.org/officeDocument/2006/relationships/hyperlink" Target="http://www.austlii.edu.au/au/legis/cth/consol_act/itaa1936240/s109d.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iStock_000018491294Large.jpg"/>
          <p:cNvPicPr>
            <a:picLocks noChangeAspect="1"/>
          </p:cNvPicPr>
          <p:nvPr/>
        </p:nvPicPr>
        <p:blipFill rotWithShape="1">
          <a:blip r:embed="rId3" cstate="print">
            <a:extLst>
              <a:ext uri="{28A0092B-C50C-407E-A947-70E740481C1C}">
                <a14:useLocalDpi xmlns:a14="http://schemas.microsoft.com/office/drawing/2010/main" val="0"/>
              </a:ext>
            </a:extLst>
          </a:blip>
          <a:srcRect t="11317" b="50421"/>
          <a:stretch/>
        </p:blipFill>
        <p:spPr>
          <a:xfrm>
            <a:off x="78451" y="1016000"/>
            <a:ext cx="8978904" cy="2695677"/>
          </a:xfrm>
          <a:prstGeom prst="rect">
            <a:avLst/>
          </a:prstGeom>
        </p:spPr>
      </p:pic>
      <p:sp>
        <p:nvSpPr>
          <p:cNvPr id="8" name="Text Box 7"/>
          <p:cNvSpPr txBox="1">
            <a:spLocks noChangeArrowheads="1"/>
          </p:cNvSpPr>
          <p:nvPr/>
        </p:nvSpPr>
        <p:spPr bwMode="auto">
          <a:xfrm>
            <a:off x="277688" y="6525344"/>
            <a:ext cx="3543300" cy="230832"/>
          </a:xfrm>
          <a:prstGeom prst="rect">
            <a:avLst/>
          </a:prstGeom>
          <a:noFill/>
          <a:ln w="9525">
            <a:noFill/>
            <a:miter lim="800000"/>
            <a:headEnd/>
            <a:tailEnd/>
          </a:ln>
        </p:spPr>
        <p:txBody>
          <a:bodyPr wrap="square">
            <a:spAutoFit/>
          </a:bodyPr>
          <a:lstStyle>
            <a:lvl1pPr eaLnBrk="0" hangingPunct="0">
              <a:defRPr sz="2400">
                <a:solidFill>
                  <a:schemeClr val="tx1"/>
                </a:solidFill>
                <a:latin typeface="Times New Roman" pitchFamily="18" charset="0"/>
                <a:cs typeface="Arial" charset="0"/>
              </a:defRPr>
            </a:lvl1pPr>
            <a:lvl2pPr marL="37931725" indent="-37474525" eaLnBrk="0" hangingPunct="0">
              <a:defRPr sz="2400">
                <a:solidFill>
                  <a:schemeClr val="tx1"/>
                </a:solidFill>
                <a:latin typeface="Times New Roman" pitchFamily="18" charset="0"/>
                <a:cs typeface="Arial" charset="0"/>
              </a:defRPr>
            </a:lvl2pPr>
            <a:lvl3pPr eaLnBrk="0" hangingPunct="0">
              <a:defRPr sz="2400">
                <a:solidFill>
                  <a:schemeClr val="tx1"/>
                </a:solidFill>
                <a:latin typeface="Times New Roman" pitchFamily="18" charset="0"/>
                <a:cs typeface="Arial" charset="0"/>
              </a:defRPr>
            </a:lvl3pPr>
            <a:lvl4pPr eaLnBrk="0" hangingPunct="0">
              <a:defRPr sz="2400">
                <a:solidFill>
                  <a:schemeClr val="tx1"/>
                </a:solidFill>
                <a:latin typeface="Times New Roman" pitchFamily="18" charset="0"/>
                <a:cs typeface="Arial" charset="0"/>
              </a:defRPr>
            </a:lvl4pPr>
            <a:lvl5pPr eaLnBrk="0" hangingPunct="0">
              <a:defRPr sz="2400">
                <a:solidFill>
                  <a:schemeClr val="tx1"/>
                </a:solidFill>
                <a:latin typeface="Times New Roman" pitchFamily="18" charset="0"/>
                <a:cs typeface="Arial" charset="0"/>
              </a:defRPr>
            </a:lvl5pPr>
            <a:lvl6pPr marL="457200" eaLnBrk="0" fontAlgn="base" hangingPunct="0">
              <a:spcBef>
                <a:spcPct val="0"/>
              </a:spcBef>
              <a:spcAft>
                <a:spcPct val="0"/>
              </a:spcAft>
              <a:defRPr sz="2400">
                <a:solidFill>
                  <a:schemeClr val="tx1"/>
                </a:solidFill>
                <a:latin typeface="Times New Roman" pitchFamily="18" charset="0"/>
                <a:cs typeface="Arial" charset="0"/>
              </a:defRPr>
            </a:lvl6pPr>
            <a:lvl7pPr marL="914400" eaLnBrk="0" fontAlgn="base" hangingPunct="0">
              <a:spcBef>
                <a:spcPct val="0"/>
              </a:spcBef>
              <a:spcAft>
                <a:spcPct val="0"/>
              </a:spcAft>
              <a:defRPr sz="2400">
                <a:solidFill>
                  <a:schemeClr val="tx1"/>
                </a:solidFill>
                <a:latin typeface="Times New Roman" pitchFamily="18" charset="0"/>
                <a:cs typeface="Arial" charset="0"/>
              </a:defRPr>
            </a:lvl7pPr>
            <a:lvl8pPr marL="1371600" eaLnBrk="0" fontAlgn="base" hangingPunct="0">
              <a:spcBef>
                <a:spcPct val="0"/>
              </a:spcBef>
              <a:spcAft>
                <a:spcPct val="0"/>
              </a:spcAft>
              <a:defRPr sz="2400">
                <a:solidFill>
                  <a:schemeClr val="tx1"/>
                </a:solidFill>
                <a:latin typeface="Times New Roman" pitchFamily="18" charset="0"/>
                <a:cs typeface="Arial" charset="0"/>
              </a:defRPr>
            </a:lvl8pPr>
            <a:lvl9pPr marL="1828800" eaLnBrk="0" fontAlgn="base" hangingPunct="0">
              <a:spcBef>
                <a:spcPct val="0"/>
              </a:spcBef>
              <a:spcAft>
                <a:spcPct val="0"/>
              </a:spcAft>
              <a:defRPr sz="2400">
                <a:solidFill>
                  <a:schemeClr val="tx1"/>
                </a:solidFill>
                <a:latin typeface="Times New Roman" pitchFamily="18" charset="0"/>
                <a:cs typeface="Arial"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AU" sz="900" b="0" i="0" u="none" strike="noStrike" kern="0" cap="none" spc="0" normalizeH="0" baseline="0" dirty="0">
                <a:ln>
                  <a:noFill/>
                </a:ln>
                <a:solidFill>
                  <a:srgbClr val="808080"/>
                </a:solidFill>
                <a:effectLst/>
                <a:uLnTx/>
                <a:uFillTx/>
                <a:latin typeface="Arial" charset="0"/>
                <a:cs typeface="Arial" charset="0"/>
              </a:rPr>
              <a:t>Audit  |  Tax  |  Advisory  |  Financial Advice</a:t>
            </a:r>
          </a:p>
        </p:txBody>
      </p:sp>
      <p:sp>
        <p:nvSpPr>
          <p:cNvPr id="10" name="Rectangle 9"/>
          <p:cNvSpPr/>
          <p:nvPr/>
        </p:nvSpPr>
        <p:spPr>
          <a:xfrm>
            <a:off x="8604250" y="6381750"/>
            <a:ext cx="360363" cy="2873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AU">
              <a:solidFill>
                <a:srgbClr val="FFFFFF"/>
              </a:solidFill>
              <a:cs typeface="Arial" charset="0"/>
            </a:endParaRPr>
          </a:p>
        </p:txBody>
      </p:sp>
      <p:pic>
        <p:nvPicPr>
          <p:cNvPr id="11" name="Picture 10" descr="Internal-header_AU.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9144000" cy="987552"/>
          </a:xfrm>
          <a:prstGeom prst="rect">
            <a:avLst/>
          </a:prstGeom>
        </p:spPr>
      </p:pic>
      <p:pic>
        <p:nvPicPr>
          <p:cNvPr id="12" name="Picture 11" descr="CoverGraphic.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451" y="1971032"/>
            <a:ext cx="8983613" cy="1746000"/>
          </a:xfrm>
          <a:prstGeom prst="rect">
            <a:avLst/>
          </a:prstGeom>
        </p:spPr>
      </p:pic>
      <p:sp>
        <p:nvSpPr>
          <p:cNvPr id="15" name="Rectangle 2"/>
          <p:cNvSpPr>
            <a:spLocks noChangeArrowheads="1"/>
          </p:cNvSpPr>
          <p:nvPr/>
        </p:nvSpPr>
        <p:spPr bwMode="auto">
          <a:xfrm>
            <a:off x="381000" y="3806180"/>
            <a:ext cx="8167936" cy="21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nSpc>
                <a:spcPct val="150000"/>
              </a:lnSpc>
            </a:pPr>
            <a:r>
              <a:rPr lang="en-AU" dirty="0">
                <a:solidFill>
                  <a:srgbClr val="041E41"/>
                </a:solidFill>
                <a:latin typeface="Arial" charset="0"/>
              </a:rPr>
              <a:t>Division 7A </a:t>
            </a:r>
          </a:p>
          <a:p>
            <a:pPr>
              <a:lnSpc>
                <a:spcPct val="150000"/>
              </a:lnSpc>
            </a:pPr>
            <a:endParaRPr lang="en-AU" sz="1400" dirty="0">
              <a:solidFill>
                <a:srgbClr val="969696"/>
              </a:solidFill>
              <a:latin typeface="Arial" charset="0"/>
            </a:endParaRPr>
          </a:p>
        </p:txBody>
      </p:sp>
    </p:spTree>
    <p:extLst>
      <p:ext uri="{BB962C8B-B14F-4D97-AF65-F5344CB8AC3E}">
        <p14:creationId xmlns:p14="http://schemas.microsoft.com/office/powerpoint/2010/main" val="2059951806"/>
      </p:ext>
    </p:extLst>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Division 7A?</a:t>
            </a:r>
          </a:p>
        </p:txBody>
      </p:sp>
      <p:sp>
        <p:nvSpPr>
          <p:cNvPr id="4" name="Content Placeholder 3"/>
          <p:cNvSpPr>
            <a:spLocks noGrp="1"/>
          </p:cNvSpPr>
          <p:nvPr>
            <p:ph idx="1"/>
          </p:nvPr>
        </p:nvSpPr>
        <p:spPr/>
        <p:txBody>
          <a:bodyPr/>
          <a:lstStyle/>
          <a:p>
            <a:pPr marL="0" indent="0">
              <a:buNone/>
            </a:pPr>
            <a:r>
              <a:rPr lang="en-AU" b="1" dirty="0"/>
              <a:t>INCOME TAX ASSESSMENT ACT 1936 - SECT 109B</a:t>
            </a:r>
          </a:p>
          <a:p>
            <a:pPr marL="0" indent="0">
              <a:buNone/>
            </a:pPr>
            <a:r>
              <a:rPr lang="en-AU" sz="1200" b="1" dirty="0"/>
              <a:t>Simplified outline of this Division</a:t>
            </a:r>
          </a:p>
          <a:p>
            <a:pPr marL="0" indent="0">
              <a:buNone/>
            </a:pPr>
            <a:r>
              <a:rPr lang="en-AU" sz="1200" dirty="0">
                <a:solidFill>
                  <a:schemeClr val="tx1"/>
                </a:solidFill>
              </a:rPr>
              <a:t>This Division treats 3 kinds of amounts as dividends paid by a private </a:t>
            </a:r>
            <a:r>
              <a:rPr lang="en-AU" sz="1200" u="sng" dirty="0">
                <a:solidFill>
                  <a:schemeClr val="tx1"/>
                </a:solidFill>
                <a:hlinkClick r:id="rId2"/>
              </a:rPr>
              <a:t>company</a:t>
            </a:r>
            <a:r>
              <a:rPr lang="en-AU" sz="1200" dirty="0">
                <a:solidFill>
                  <a:schemeClr val="tx1"/>
                </a:solidFill>
              </a:rPr>
              <a:t>: </a:t>
            </a:r>
          </a:p>
          <a:p>
            <a:pPr lvl="0"/>
            <a:r>
              <a:rPr lang="en-AU" sz="1200" u="sng" dirty="0">
                <a:solidFill>
                  <a:schemeClr val="tx1"/>
                </a:solidFill>
              </a:rPr>
              <a:t>amounts paid by the </a:t>
            </a:r>
            <a:r>
              <a:rPr lang="en-AU" sz="1200" u="sng" dirty="0">
                <a:solidFill>
                  <a:schemeClr val="tx1"/>
                </a:solidFill>
                <a:hlinkClick r:id="rId2"/>
              </a:rPr>
              <a:t>company</a:t>
            </a:r>
            <a:r>
              <a:rPr lang="en-AU" sz="1200" dirty="0">
                <a:solidFill>
                  <a:schemeClr val="tx1"/>
                </a:solidFill>
              </a:rPr>
              <a:t> to a shareholder or shareholder's associate (see </a:t>
            </a:r>
            <a:r>
              <a:rPr lang="en-AU" sz="1200" u="sng" dirty="0">
                <a:solidFill>
                  <a:schemeClr val="tx1"/>
                </a:solidFill>
                <a:hlinkClick r:id="rId3"/>
              </a:rPr>
              <a:t>section 109C)</a:t>
            </a:r>
            <a:r>
              <a:rPr lang="en-AU" sz="1200" dirty="0">
                <a:solidFill>
                  <a:schemeClr val="tx1"/>
                </a:solidFill>
              </a:rPr>
              <a:t>; </a:t>
            </a:r>
          </a:p>
          <a:p>
            <a:pPr lvl="0"/>
            <a:r>
              <a:rPr lang="en-AU" sz="1200" dirty="0">
                <a:solidFill>
                  <a:schemeClr val="tx1"/>
                </a:solidFill>
              </a:rPr>
              <a:t>amounts lent by the </a:t>
            </a:r>
            <a:r>
              <a:rPr lang="en-AU" sz="1200" u="sng" dirty="0">
                <a:solidFill>
                  <a:schemeClr val="tx1"/>
                </a:solidFill>
                <a:hlinkClick r:id="rId2"/>
              </a:rPr>
              <a:t>company</a:t>
            </a:r>
            <a:r>
              <a:rPr lang="en-AU" sz="1200" dirty="0">
                <a:solidFill>
                  <a:schemeClr val="tx1"/>
                </a:solidFill>
              </a:rPr>
              <a:t> to a shareholder or shareholder's associate (see </a:t>
            </a:r>
            <a:r>
              <a:rPr lang="en-AU" sz="1200" u="sng" dirty="0">
                <a:solidFill>
                  <a:schemeClr val="tx1"/>
                </a:solidFill>
                <a:hlinkClick r:id="rId4"/>
              </a:rPr>
              <a:t>sections 109D</a:t>
            </a:r>
            <a:r>
              <a:rPr lang="en-AU" sz="1200" dirty="0">
                <a:solidFill>
                  <a:schemeClr val="tx1"/>
                </a:solidFill>
              </a:rPr>
              <a:t> and </a:t>
            </a:r>
            <a:r>
              <a:rPr lang="en-AU" sz="1200" u="sng" dirty="0">
                <a:solidFill>
                  <a:schemeClr val="tx1"/>
                </a:solidFill>
                <a:hlinkClick r:id="rId5"/>
              </a:rPr>
              <a:t>109E</a:t>
            </a:r>
            <a:r>
              <a:rPr lang="en-AU" sz="1200" dirty="0">
                <a:solidFill>
                  <a:schemeClr val="tx1"/>
                </a:solidFill>
              </a:rPr>
              <a:t>); </a:t>
            </a:r>
          </a:p>
          <a:p>
            <a:pPr lvl="0"/>
            <a:r>
              <a:rPr lang="en-AU" sz="1200" dirty="0">
                <a:solidFill>
                  <a:schemeClr val="tx1"/>
                </a:solidFill>
              </a:rPr>
              <a:t>amounts of debts owed by a shareholder or shareholder's associate to the </a:t>
            </a:r>
            <a:r>
              <a:rPr lang="en-AU" sz="1200" u="sng" dirty="0">
                <a:solidFill>
                  <a:schemeClr val="tx1"/>
                </a:solidFill>
                <a:hlinkClick r:id="rId2"/>
              </a:rPr>
              <a:t>company</a:t>
            </a:r>
            <a:r>
              <a:rPr lang="en-AU" sz="1200" dirty="0">
                <a:solidFill>
                  <a:schemeClr val="tx1"/>
                </a:solidFill>
              </a:rPr>
              <a:t> that the </a:t>
            </a:r>
            <a:r>
              <a:rPr lang="en-AU" sz="1200" u="sng" dirty="0">
                <a:solidFill>
                  <a:schemeClr val="tx1"/>
                </a:solidFill>
                <a:hlinkClick r:id="rId2"/>
              </a:rPr>
              <a:t>company</a:t>
            </a:r>
            <a:r>
              <a:rPr lang="en-AU" sz="1200" dirty="0">
                <a:solidFill>
                  <a:schemeClr val="tx1"/>
                </a:solidFill>
              </a:rPr>
              <a:t> forgives (see </a:t>
            </a:r>
            <a:r>
              <a:rPr lang="en-AU" sz="1200" u="sng" dirty="0">
                <a:solidFill>
                  <a:schemeClr val="tx1"/>
                </a:solidFill>
                <a:hlinkClick r:id="rId6"/>
              </a:rPr>
              <a:t>section 109F).</a:t>
            </a:r>
            <a:r>
              <a:rPr lang="en-AU" sz="1200" dirty="0">
                <a:solidFill>
                  <a:schemeClr val="tx1"/>
                </a:solidFill>
              </a:rPr>
              <a:t> </a:t>
            </a:r>
          </a:p>
          <a:p>
            <a:r>
              <a:rPr lang="en-AU" sz="1200" dirty="0">
                <a:solidFill>
                  <a:schemeClr val="tx1"/>
                </a:solidFill>
              </a:rPr>
              <a:t>This treatment makes the amounts assessable income of the shareholder or associate (under </a:t>
            </a:r>
            <a:r>
              <a:rPr lang="en-AU" sz="1200" u="sng" dirty="0">
                <a:solidFill>
                  <a:schemeClr val="tx1"/>
                </a:solidFill>
                <a:hlinkClick r:id="rId7"/>
              </a:rPr>
              <a:t>section 44).</a:t>
            </a:r>
            <a:endParaRPr lang="en-AU" sz="1200" u="sng" dirty="0">
              <a:solidFill>
                <a:schemeClr val="tx1"/>
              </a:solidFill>
            </a:endParaRPr>
          </a:p>
          <a:p>
            <a:r>
              <a:rPr lang="en-AU" sz="1200" dirty="0">
                <a:solidFill>
                  <a:schemeClr val="tx1"/>
                </a:solidFill>
              </a:rPr>
              <a:t>An amount may be treated as a dividend even if it is paid or lent by the </a:t>
            </a:r>
            <a:r>
              <a:rPr lang="en-AU" sz="1200" u="sng" dirty="0">
                <a:solidFill>
                  <a:schemeClr val="tx1"/>
                </a:solidFill>
                <a:hlinkClick r:id="rId2"/>
              </a:rPr>
              <a:t>company</a:t>
            </a:r>
            <a:r>
              <a:rPr lang="en-AU" sz="1200" dirty="0">
                <a:solidFill>
                  <a:schemeClr val="tx1"/>
                </a:solidFill>
              </a:rPr>
              <a:t> to the shareholder or associate through one or more interposed entities. (See Subdivision E.) </a:t>
            </a:r>
          </a:p>
          <a:p>
            <a:r>
              <a:rPr lang="en-AU" sz="1200" dirty="0">
                <a:solidFill>
                  <a:schemeClr val="tx1"/>
                </a:solidFill>
              </a:rPr>
              <a:t>An amount may also be included in the assessable income of a shareholder or shareholder's associate if: </a:t>
            </a:r>
          </a:p>
          <a:p>
            <a:r>
              <a:rPr lang="en-AU" sz="1200" dirty="0">
                <a:solidFill>
                  <a:schemeClr val="tx1"/>
                </a:solidFill>
              </a:rPr>
              <a:t>(a)     a </a:t>
            </a:r>
            <a:r>
              <a:rPr lang="en-AU" sz="1200" u="sng" dirty="0">
                <a:solidFill>
                  <a:schemeClr val="tx1"/>
                </a:solidFill>
                <a:hlinkClick r:id="rId2"/>
              </a:rPr>
              <a:t>company</a:t>
            </a:r>
            <a:r>
              <a:rPr lang="en-AU" sz="1200" dirty="0">
                <a:solidFill>
                  <a:schemeClr val="tx1"/>
                </a:solidFill>
              </a:rPr>
              <a:t> has an unpaid present entitlement to income of a trust; and </a:t>
            </a:r>
          </a:p>
          <a:p>
            <a:r>
              <a:rPr lang="en-AU" sz="1200" dirty="0">
                <a:solidFill>
                  <a:schemeClr val="tx1"/>
                </a:solidFill>
              </a:rPr>
              <a:t>(b)     the trustee makes a payment or loan to, or forgives a debt of, the shareholder or associate. </a:t>
            </a:r>
          </a:p>
          <a:p>
            <a:r>
              <a:rPr lang="en-AU" sz="1200" dirty="0">
                <a:solidFill>
                  <a:schemeClr val="tx1"/>
                </a:solidFill>
              </a:rPr>
              <a:t>If the total of the amounts is more than the </a:t>
            </a:r>
            <a:r>
              <a:rPr lang="en-AU" sz="1200" u="sng" dirty="0">
                <a:solidFill>
                  <a:schemeClr val="tx1"/>
                </a:solidFill>
                <a:hlinkClick r:id="rId2"/>
              </a:rPr>
              <a:t>company</a:t>
            </a:r>
            <a:r>
              <a:rPr lang="en-AU" sz="1200" dirty="0">
                <a:solidFill>
                  <a:schemeClr val="tx1"/>
                </a:solidFill>
              </a:rPr>
              <a:t>'s distributable surplus, only the part of the total equal to the distributable surplus is treated as dividends. (See </a:t>
            </a:r>
            <a:r>
              <a:rPr lang="en-AU" sz="1200" u="sng" dirty="0">
                <a:solidFill>
                  <a:schemeClr val="tx1"/>
                </a:solidFill>
                <a:hlinkClick r:id="rId8"/>
              </a:rPr>
              <a:t>section 109Y.)</a:t>
            </a:r>
            <a:endParaRPr lang="en-AU" sz="1200" dirty="0">
              <a:solidFill>
                <a:schemeClr val="tx1"/>
              </a:solidFill>
            </a:endParaRPr>
          </a:p>
        </p:txBody>
      </p:sp>
    </p:spTree>
    <p:extLst>
      <p:ext uri="{BB962C8B-B14F-4D97-AF65-F5344CB8AC3E}">
        <p14:creationId xmlns:p14="http://schemas.microsoft.com/office/powerpoint/2010/main" val="2465827834"/>
      </p:ext>
    </p:extLst>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Division 7A, simply?</a:t>
            </a:r>
          </a:p>
        </p:txBody>
      </p:sp>
      <p:sp>
        <p:nvSpPr>
          <p:cNvPr id="3" name="Content Placeholder 2"/>
          <p:cNvSpPr>
            <a:spLocks noGrp="1"/>
          </p:cNvSpPr>
          <p:nvPr>
            <p:ph idx="1"/>
          </p:nvPr>
        </p:nvSpPr>
        <p:spPr/>
        <p:txBody>
          <a:bodyPr/>
          <a:lstStyle/>
          <a:p>
            <a:r>
              <a:rPr lang="en-AU" dirty="0"/>
              <a:t>Division 7A is a section of the tax act that aims to prevent shareholders or their associates from accessing company profits in a form other than dividends</a:t>
            </a:r>
          </a:p>
          <a:p>
            <a:r>
              <a:rPr lang="en-AU" dirty="0"/>
              <a:t>Essentially accessing profits tax free</a:t>
            </a:r>
          </a:p>
        </p:txBody>
      </p:sp>
    </p:spTree>
    <p:extLst>
      <p:ext uri="{BB962C8B-B14F-4D97-AF65-F5344CB8AC3E}">
        <p14:creationId xmlns:p14="http://schemas.microsoft.com/office/powerpoint/2010/main" val="3382283472"/>
      </p:ext>
    </p:extLst>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Background to Division 7A</a:t>
            </a:r>
          </a:p>
        </p:txBody>
      </p:sp>
      <p:sp>
        <p:nvSpPr>
          <p:cNvPr id="3" name="Content Placeholder 2"/>
          <p:cNvSpPr>
            <a:spLocks noGrp="1"/>
          </p:cNvSpPr>
          <p:nvPr>
            <p:ph idx="1"/>
          </p:nvPr>
        </p:nvSpPr>
        <p:spPr>
          <a:xfrm>
            <a:off x="395536" y="1401511"/>
            <a:ext cx="8352928" cy="5037390"/>
          </a:xfrm>
        </p:spPr>
        <p:txBody>
          <a:bodyPr/>
          <a:lstStyle/>
          <a:p>
            <a:r>
              <a:rPr lang="en-AU" dirty="0"/>
              <a:t>Difference between company tax rate and individual marginal rates incentivised taxpayers to arrange their structures in a way that resulted in profits ending up in a private company</a:t>
            </a:r>
          </a:p>
          <a:p>
            <a:r>
              <a:rPr lang="en-AU" dirty="0"/>
              <a:t>Shareholders then wanted access to the profits/funds that ended up in their private companies</a:t>
            </a:r>
          </a:p>
          <a:p>
            <a:r>
              <a:rPr lang="en-AU" dirty="0"/>
              <a:t>Funds were usually accessed by;</a:t>
            </a:r>
          </a:p>
          <a:p>
            <a:pPr lvl="2"/>
            <a:r>
              <a:rPr lang="en-AU" dirty="0"/>
              <a:t>Payment of shareholder or associate personal expenses</a:t>
            </a:r>
          </a:p>
          <a:p>
            <a:pPr lvl="2"/>
            <a:r>
              <a:rPr lang="en-AU" dirty="0"/>
              <a:t>Borrowing funds from the company with the intention of paying it back in the future; or</a:t>
            </a:r>
          </a:p>
          <a:p>
            <a:pPr lvl="2"/>
            <a:r>
              <a:rPr lang="en-AU" dirty="0"/>
              <a:t>Borrowing funds from the company with no intention of repaying it and writing the loan off in the company</a:t>
            </a:r>
          </a:p>
          <a:p>
            <a:pPr marL="800100" lvl="2" indent="0">
              <a:buNone/>
            </a:pPr>
            <a:endParaRPr lang="en-AU" dirty="0"/>
          </a:p>
          <a:p>
            <a:r>
              <a:rPr lang="en-AU" dirty="0"/>
              <a:t>Division 7A was introduced to negate the effectiveness of these types of arrangements.</a:t>
            </a:r>
          </a:p>
          <a:p>
            <a:pPr marL="0" indent="0">
              <a:buNone/>
            </a:pPr>
            <a:endParaRPr lang="en-AU" dirty="0"/>
          </a:p>
        </p:txBody>
      </p:sp>
    </p:spTree>
    <p:extLst>
      <p:ext uri="{BB962C8B-B14F-4D97-AF65-F5344CB8AC3E}">
        <p14:creationId xmlns:p14="http://schemas.microsoft.com/office/powerpoint/2010/main" val="2500052777"/>
      </p:ext>
    </p:extLst>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Background to Division 7A continued</a:t>
            </a:r>
          </a:p>
        </p:txBody>
      </p:sp>
      <p:sp>
        <p:nvSpPr>
          <p:cNvPr id="3" name="Content Placeholder 2"/>
          <p:cNvSpPr>
            <a:spLocks noGrp="1"/>
          </p:cNvSpPr>
          <p:nvPr>
            <p:ph idx="1"/>
          </p:nvPr>
        </p:nvSpPr>
        <p:spPr/>
        <p:txBody>
          <a:bodyPr/>
          <a:lstStyle/>
          <a:p>
            <a:r>
              <a:rPr lang="en-AU" dirty="0"/>
              <a:t>Section 108 was formerly the main integrity provision relating to private</a:t>
            </a:r>
          </a:p>
          <a:p>
            <a:pPr marL="0" indent="0">
              <a:buNone/>
            </a:pPr>
            <a:r>
              <a:rPr lang="en-AU" dirty="0"/>
              <a:t>company transactions with shareholders.</a:t>
            </a:r>
          </a:p>
          <a:p>
            <a:r>
              <a:rPr lang="en-AU" dirty="0"/>
              <a:t>The operation of s. 108 required that the Commissioner form an opinion as</a:t>
            </a:r>
          </a:p>
          <a:p>
            <a:pPr marL="0" indent="0">
              <a:buNone/>
            </a:pPr>
            <a:r>
              <a:rPr lang="en-AU" dirty="0"/>
              <a:t>to the extent to which an amount paid or credited to a shareholder represented a distribution of profits of a private company.</a:t>
            </a:r>
          </a:p>
          <a:p>
            <a:r>
              <a:rPr lang="en-AU" dirty="0"/>
              <a:t>Division 7A applies automatically to any transaction falling within its provision</a:t>
            </a:r>
          </a:p>
        </p:txBody>
      </p:sp>
    </p:spTree>
    <p:extLst>
      <p:ext uri="{BB962C8B-B14F-4D97-AF65-F5344CB8AC3E}">
        <p14:creationId xmlns:p14="http://schemas.microsoft.com/office/powerpoint/2010/main" val="1150210415"/>
      </p:ext>
    </p:extLst>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does Division 7A do?</a:t>
            </a:r>
          </a:p>
        </p:txBody>
      </p:sp>
      <p:sp>
        <p:nvSpPr>
          <p:cNvPr id="3" name="Content Placeholder 2"/>
          <p:cNvSpPr>
            <a:spLocks noGrp="1"/>
          </p:cNvSpPr>
          <p:nvPr>
            <p:ph idx="1"/>
          </p:nvPr>
        </p:nvSpPr>
        <p:spPr/>
        <p:txBody>
          <a:bodyPr/>
          <a:lstStyle/>
          <a:p>
            <a:r>
              <a:rPr lang="en-AU" dirty="0"/>
              <a:t>Division 7A  will treat the following as payment of an unfranked dividend;</a:t>
            </a:r>
          </a:p>
          <a:p>
            <a:pPr lvl="1"/>
            <a:r>
              <a:rPr lang="en-AU" dirty="0"/>
              <a:t>A loan from a private company to a shareholder/associate (including the provision of an asset)</a:t>
            </a:r>
          </a:p>
          <a:p>
            <a:pPr lvl="1"/>
            <a:r>
              <a:rPr lang="en-AU" dirty="0"/>
              <a:t>Forgiveness of a debt owed to a private company by a shareholder/associate</a:t>
            </a:r>
          </a:p>
          <a:p>
            <a:pPr lvl="1"/>
            <a:r>
              <a:rPr lang="en-AU" dirty="0"/>
              <a:t>A loan or payment from a private company to an interposed entity on the understanding that the interposed entity will lend an amount to a shareholder of the private company</a:t>
            </a:r>
          </a:p>
          <a:p>
            <a:pPr lvl="1"/>
            <a:r>
              <a:rPr lang="en-AU" dirty="0"/>
              <a:t>A payment, loan or debt forgiveness by a trustee to a shareholder/associate of a private company, in circumstances where the private company has an unpaid present entitlement to the net income of the trust</a:t>
            </a:r>
          </a:p>
          <a:p>
            <a:pPr lvl="1"/>
            <a:r>
              <a:rPr lang="en-AU" dirty="0"/>
              <a:t>A payment or a loan that an entity that is interposed between a trustee and the target entity makes to a shareholder (or their associate) under an arrangement involving the trustee</a:t>
            </a:r>
          </a:p>
          <a:p>
            <a:pPr lvl="1"/>
            <a:r>
              <a:rPr lang="en-AU" dirty="0"/>
              <a:t>A guarantee or security given by a private company on behalf of a shareholder/associate</a:t>
            </a:r>
          </a:p>
          <a:p>
            <a:pPr lvl="1"/>
            <a:r>
              <a:rPr lang="en-AU" dirty="0"/>
              <a:t>Private use of an asset</a:t>
            </a:r>
          </a:p>
        </p:txBody>
      </p:sp>
    </p:spTree>
    <p:extLst>
      <p:ext uri="{BB962C8B-B14F-4D97-AF65-F5344CB8AC3E}">
        <p14:creationId xmlns:p14="http://schemas.microsoft.com/office/powerpoint/2010/main" val="3883068340"/>
      </p:ext>
    </p:extLst>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Shareholder/associate</a:t>
            </a:r>
          </a:p>
        </p:txBody>
      </p:sp>
      <p:sp>
        <p:nvSpPr>
          <p:cNvPr id="3" name="Content Placeholder 2"/>
          <p:cNvSpPr>
            <a:spLocks noGrp="1"/>
          </p:cNvSpPr>
          <p:nvPr>
            <p:ph idx="1"/>
          </p:nvPr>
        </p:nvSpPr>
        <p:spPr/>
        <p:txBody>
          <a:bodyPr/>
          <a:lstStyle/>
          <a:p>
            <a:r>
              <a:rPr lang="en-AU" dirty="0"/>
              <a:t>The concept of a shareholder and or associate is important for Division 7A as Division 7A pursues amounts paid, lent or forgiven by a private company to both a shareholder and their associates</a:t>
            </a:r>
          </a:p>
          <a:p>
            <a:r>
              <a:rPr lang="en-AU" dirty="0"/>
              <a:t>The table I have handed around outlines the various associates, depending on the type of shareholder</a:t>
            </a:r>
          </a:p>
          <a:p>
            <a:endParaRPr lang="en-AU" dirty="0"/>
          </a:p>
          <a:p>
            <a:pPr lvl="1"/>
            <a:endParaRPr lang="en-AU" dirty="0"/>
          </a:p>
          <a:p>
            <a:pPr lvl="1"/>
            <a:endParaRPr lang="en-AU" dirty="0"/>
          </a:p>
        </p:txBody>
      </p:sp>
    </p:spTree>
    <p:extLst>
      <p:ext uri="{BB962C8B-B14F-4D97-AF65-F5344CB8AC3E}">
        <p14:creationId xmlns:p14="http://schemas.microsoft.com/office/powerpoint/2010/main" val="2068948591"/>
      </p:ext>
    </p:extLst>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1</a:t>
            </a:r>
          </a:p>
        </p:txBody>
      </p:sp>
      <p:sp>
        <p:nvSpPr>
          <p:cNvPr id="3" name="Content Placeholder 2"/>
          <p:cNvSpPr>
            <a:spLocks noGrp="1"/>
          </p:cNvSpPr>
          <p:nvPr>
            <p:ph idx="1"/>
          </p:nvPr>
        </p:nvSpPr>
        <p:spPr/>
        <p:txBody>
          <a:bodyPr/>
          <a:lstStyle/>
          <a:p>
            <a:r>
              <a:rPr lang="en-AU" dirty="0"/>
              <a:t>ABC Pty Ltd, pays a wage to its director Joe </a:t>
            </a:r>
            <a:r>
              <a:rPr lang="en-AU" dirty="0" err="1"/>
              <a:t>Bloggs</a:t>
            </a:r>
            <a:r>
              <a:rPr lang="en-AU" dirty="0"/>
              <a:t>, of $50,000 and also loans him $100,000 which at the end of the financial year has not been repaid. Joe’s wife is a majority shareholder of ABC Pty Ltd</a:t>
            </a:r>
          </a:p>
          <a:p>
            <a:pPr marL="0" indent="0">
              <a:buNone/>
            </a:pPr>
            <a:endParaRPr lang="en-AU" dirty="0"/>
          </a:p>
          <a:p>
            <a:pPr marL="0" indent="0">
              <a:buNone/>
            </a:pPr>
            <a:r>
              <a:rPr lang="en-AU" dirty="0"/>
              <a:t>	Dr Wages Expense		$50,000</a:t>
            </a:r>
          </a:p>
          <a:p>
            <a:pPr marL="0" indent="0">
              <a:buNone/>
            </a:pPr>
            <a:r>
              <a:rPr lang="en-AU" dirty="0"/>
              <a:t>	Dr Loan To Joe </a:t>
            </a:r>
            <a:r>
              <a:rPr lang="en-AU" dirty="0" err="1"/>
              <a:t>Bloggs</a:t>
            </a:r>
            <a:r>
              <a:rPr lang="en-AU" dirty="0"/>
              <a:t>		$100,000</a:t>
            </a:r>
          </a:p>
          <a:p>
            <a:pPr marL="0" indent="0">
              <a:buNone/>
            </a:pPr>
            <a:r>
              <a:rPr lang="en-AU" dirty="0"/>
              <a:t>	Cr Bank				$150,000</a:t>
            </a:r>
          </a:p>
          <a:p>
            <a:endParaRPr lang="en-AU" dirty="0"/>
          </a:p>
          <a:p>
            <a:r>
              <a:rPr lang="en-AU" dirty="0"/>
              <a:t>Is there a Division 7A issue and what amount is the issue if there is one?</a:t>
            </a:r>
          </a:p>
          <a:p>
            <a:endParaRPr lang="en-AU" dirty="0"/>
          </a:p>
          <a:p>
            <a:pPr marL="0" indent="0">
              <a:buNone/>
            </a:pPr>
            <a:endParaRPr lang="en-AU" dirty="0"/>
          </a:p>
        </p:txBody>
      </p:sp>
    </p:spTree>
    <p:extLst>
      <p:ext uri="{BB962C8B-B14F-4D97-AF65-F5344CB8AC3E}">
        <p14:creationId xmlns:p14="http://schemas.microsoft.com/office/powerpoint/2010/main" val="2644521868"/>
      </p:ext>
    </p:extLst>
  </p:cSld>
  <p:clrMapOvr>
    <a:masterClrMapping/>
  </p:clrMapOvr>
  <p:transition advClick="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2</a:t>
            </a:r>
          </a:p>
        </p:txBody>
      </p:sp>
      <p:sp>
        <p:nvSpPr>
          <p:cNvPr id="3" name="Content Placeholder 2"/>
          <p:cNvSpPr>
            <a:spLocks noGrp="1"/>
          </p:cNvSpPr>
          <p:nvPr>
            <p:ph idx="1"/>
          </p:nvPr>
        </p:nvSpPr>
        <p:spPr/>
        <p:txBody>
          <a:bodyPr/>
          <a:lstStyle/>
          <a:p>
            <a:r>
              <a:rPr lang="en-AU" dirty="0"/>
              <a:t>ABC Pty Ltd, pays a wage to its director Joe </a:t>
            </a:r>
            <a:r>
              <a:rPr lang="en-AU" dirty="0" err="1"/>
              <a:t>Bloggs</a:t>
            </a:r>
            <a:r>
              <a:rPr lang="en-AU" dirty="0"/>
              <a:t>, of $50,000 and also loans $100,000 to DEF Pty Ltd, which at the end of the financial year has not been repaid. ABC Pty Ltd is a majority shareholder of DEF Pty Ltd. There are no other loans on the balance sheets of the companies.</a:t>
            </a:r>
          </a:p>
          <a:p>
            <a:endParaRPr lang="en-AU" dirty="0"/>
          </a:p>
          <a:p>
            <a:endParaRPr lang="en-AU" dirty="0"/>
          </a:p>
          <a:p>
            <a:r>
              <a:rPr lang="en-AU" dirty="0"/>
              <a:t>Is there a Division 7A issue and what amount is the issue if there is one?</a:t>
            </a:r>
          </a:p>
          <a:p>
            <a:endParaRPr lang="en-AU" dirty="0"/>
          </a:p>
        </p:txBody>
      </p:sp>
    </p:spTree>
    <p:extLst>
      <p:ext uri="{BB962C8B-B14F-4D97-AF65-F5344CB8AC3E}">
        <p14:creationId xmlns:p14="http://schemas.microsoft.com/office/powerpoint/2010/main" val="1748353780"/>
      </p:ext>
    </p:extLst>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a loan?</a:t>
            </a:r>
          </a:p>
        </p:txBody>
      </p:sp>
      <p:sp>
        <p:nvSpPr>
          <p:cNvPr id="3" name="Content Placeholder 2"/>
          <p:cNvSpPr>
            <a:spLocks noGrp="1"/>
          </p:cNvSpPr>
          <p:nvPr>
            <p:ph idx="1"/>
          </p:nvPr>
        </p:nvSpPr>
        <p:spPr/>
        <p:txBody>
          <a:bodyPr/>
          <a:lstStyle/>
          <a:p>
            <a:r>
              <a:rPr lang="en-AU" dirty="0"/>
              <a:t>A loan for Division 7A purposes includes;</a:t>
            </a:r>
          </a:p>
          <a:p>
            <a:pPr lvl="1"/>
            <a:r>
              <a:rPr lang="en-AU" dirty="0"/>
              <a:t>An advance of money</a:t>
            </a:r>
          </a:p>
          <a:p>
            <a:pPr lvl="1"/>
            <a:r>
              <a:rPr lang="en-AU" dirty="0"/>
              <a:t>A provision of credit or any other form of financial accommodation</a:t>
            </a:r>
          </a:p>
          <a:p>
            <a:pPr lvl="1"/>
            <a:r>
              <a:rPr lang="en-AU" dirty="0"/>
              <a:t>A payment of an amount to a third party where there is an express or implied obligation to repay that amount; and</a:t>
            </a:r>
          </a:p>
          <a:p>
            <a:pPr lvl="1"/>
            <a:r>
              <a:rPr lang="en-AU" dirty="0"/>
              <a:t>Any transaction which, in substance, effects a loan of money</a:t>
            </a:r>
          </a:p>
          <a:p>
            <a:r>
              <a:rPr lang="en-AU" dirty="0"/>
              <a:t>Division 7A applies to loans made on or after 4</a:t>
            </a:r>
            <a:r>
              <a:rPr lang="en-AU" baseline="30000" dirty="0"/>
              <a:t>th</a:t>
            </a:r>
            <a:r>
              <a:rPr lang="en-AU" dirty="0"/>
              <a:t> of December 1997 – you will have seen loans quarantined in financial statements. It is good practice to separate any loan amounts before and after the 4</a:t>
            </a:r>
            <a:r>
              <a:rPr lang="en-AU" baseline="30000" dirty="0"/>
              <a:t>th</a:t>
            </a:r>
            <a:r>
              <a:rPr lang="en-AU" dirty="0"/>
              <a:t> of December 1997</a:t>
            </a:r>
          </a:p>
          <a:p>
            <a:r>
              <a:rPr lang="en-AU" dirty="0"/>
              <a:t>Example 1 - ABC Pty Ltd has a Division 7A loan of $100,000</a:t>
            </a:r>
          </a:p>
          <a:p>
            <a:r>
              <a:rPr lang="en-AU" dirty="0"/>
              <a:t>Example 2 – ABC Pty Ltd doesn’t have a Division 7A loan</a:t>
            </a:r>
          </a:p>
        </p:txBody>
      </p:sp>
    </p:spTree>
    <p:extLst>
      <p:ext uri="{BB962C8B-B14F-4D97-AF65-F5344CB8AC3E}">
        <p14:creationId xmlns:p14="http://schemas.microsoft.com/office/powerpoint/2010/main" val="723095677"/>
      </p:ext>
    </p:extLst>
  </p:cSld>
  <p:clrMapOvr>
    <a:masterClrMapping/>
  </p:clrMapOvr>
  <p:transition advClick="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3</a:t>
            </a:r>
          </a:p>
        </p:txBody>
      </p:sp>
      <p:sp>
        <p:nvSpPr>
          <p:cNvPr id="3" name="Content Placeholder 2"/>
          <p:cNvSpPr>
            <a:spLocks noGrp="1"/>
          </p:cNvSpPr>
          <p:nvPr>
            <p:ph idx="1"/>
          </p:nvPr>
        </p:nvSpPr>
        <p:spPr/>
        <p:txBody>
          <a:bodyPr/>
          <a:lstStyle/>
          <a:p>
            <a:r>
              <a:rPr lang="en-AU" dirty="0"/>
              <a:t>ABC Pty Ltd has a loan with Josephine </a:t>
            </a:r>
            <a:r>
              <a:rPr lang="en-AU" dirty="0" err="1"/>
              <a:t>Bloggs</a:t>
            </a:r>
            <a:r>
              <a:rPr lang="en-AU" dirty="0"/>
              <a:t> for $50,000. In the current financial year ABC Pty Ltd forgives the loan with Josephine and writes the loan off its balance sheet. Josephine’s sister Jessica is a majority shareholder of the company.</a:t>
            </a:r>
          </a:p>
          <a:p>
            <a:endParaRPr lang="en-AU" dirty="0"/>
          </a:p>
          <a:p>
            <a:r>
              <a:rPr lang="en-AU" dirty="0"/>
              <a:t>Is there a Division 7A issue and what amount is the issue if there is one?</a:t>
            </a:r>
          </a:p>
          <a:p>
            <a:endParaRPr lang="en-AU" dirty="0"/>
          </a:p>
          <a:p>
            <a:endParaRPr lang="en-AU" dirty="0"/>
          </a:p>
        </p:txBody>
      </p:sp>
    </p:spTree>
    <p:extLst>
      <p:ext uri="{BB962C8B-B14F-4D97-AF65-F5344CB8AC3E}">
        <p14:creationId xmlns:p14="http://schemas.microsoft.com/office/powerpoint/2010/main" val="2892418178"/>
      </p:ext>
    </p:extLst>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Debt forgiveness</a:t>
            </a:r>
          </a:p>
        </p:txBody>
      </p:sp>
      <p:sp>
        <p:nvSpPr>
          <p:cNvPr id="3" name="Content Placeholder 2"/>
          <p:cNvSpPr>
            <a:spLocks noGrp="1"/>
          </p:cNvSpPr>
          <p:nvPr>
            <p:ph idx="1"/>
          </p:nvPr>
        </p:nvSpPr>
        <p:spPr/>
        <p:txBody>
          <a:bodyPr/>
          <a:lstStyle/>
          <a:p>
            <a:r>
              <a:rPr lang="en-AU" dirty="0"/>
              <a:t>Division 7A will apply if a private company forgives all or part of a debt owed by a shareholder/associate</a:t>
            </a:r>
          </a:p>
          <a:p>
            <a:r>
              <a:rPr lang="en-AU" dirty="0"/>
              <a:t>The amount of the deemed dividend is equal to the debt forgiven</a:t>
            </a:r>
          </a:p>
          <a:p>
            <a:r>
              <a:rPr lang="en-AU" dirty="0"/>
              <a:t>A debt is forgiven if it is forgiven in substance - </a:t>
            </a:r>
          </a:p>
          <a:p>
            <a:r>
              <a:rPr lang="en-AU" dirty="0"/>
              <a:t>Example 3 - ABC Pty Ltd has paid a deemed dividend of $50,000 to Jessica</a:t>
            </a:r>
          </a:p>
          <a:p>
            <a:endParaRPr lang="en-AU" dirty="0"/>
          </a:p>
        </p:txBody>
      </p:sp>
    </p:spTree>
    <p:extLst>
      <p:ext uri="{BB962C8B-B14F-4D97-AF65-F5344CB8AC3E}">
        <p14:creationId xmlns:p14="http://schemas.microsoft.com/office/powerpoint/2010/main" val="2241195726"/>
      </p:ext>
    </p:extLst>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4</a:t>
            </a:r>
          </a:p>
        </p:txBody>
      </p:sp>
      <p:sp>
        <p:nvSpPr>
          <p:cNvPr id="3" name="Content Placeholder 2"/>
          <p:cNvSpPr>
            <a:spLocks noGrp="1"/>
          </p:cNvSpPr>
          <p:nvPr>
            <p:ph idx="1"/>
          </p:nvPr>
        </p:nvSpPr>
        <p:spPr/>
        <p:txBody>
          <a:bodyPr/>
          <a:lstStyle/>
          <a:p>
            <a:r>
              <a:rPr lang="en-AU" dirty="0"/>
              <a:t>ABC Pty Ltd pays a wage to its director Joe </a:t>
            </a:r>
            <a:r>
              <a:rPr lang="en-AU" dirty="0" err="1"/>
              <a:t>Bloggs</a:t>
            </a:r>
            <a:r>
              <a:rPr lang="en-AU" dirty="0"/>
              <a:t>, of $50,000 and also pays $200,000 to the Jenny </a:t>
            </a:r>
            <a:r>
              <a:rPr lang="en-AU" dirty="0" err="1"/>
              <a:t>Bloggs</a:t>
            </a:r>
            <a:r>
              <a:rPr lang="en-AU" dirty="0"/>
              <a:t> Family Trust, which has not been repaid at the end of the financial year. Jenny </a:t>
            </a:r>
            <a:r>
              <a:rPr lang="en-AU" dirty="0" err="1"/>
              <a:t>Bloggs</a:t>
            </a:r>
            <a:r>
              <a:rPr lang="en-AU" dirty="0"/>
              <a:t> (majority shareholder of ABC Pty Ltd), Joe’s wife, withdrew the funds from the trust into her personal bank account.</a:t>
            </a:r>
          </a:p>
          <a:p>
            <a:pPr marL="0" indent="0">
              <a:buNone/>
            </a:pPr>
            <a:r>
              <a:rPr lang="en-AU" dirty="0"/>
              <a:t>	</a:t>
            </a:r>
            <a:r>
              <a:rPr lang="en-AU" sz="1050" u="sng" dirty="0"/>
              <a:t>ABC Pty Ltd</a:t>
            </a:r>
          </a:p>
          <a:p>
            <a:pPr marL="0" indent="0">
              <a:buNone/>
            </a:pPr>
            <a:r>
              <a:rPr lang="en-AU" sz="1050" dirty="0"/>
              <a:t>	Dr Wages Expense			$50,000</a:t>
            </a:r>
          </a:p>
          <a:p>
            <a:pPr marL="0" indent="0">
              <a:buNone/>
            </a:pPr>
            <a:r>
              <a:rPr lang="en-AU" sz="1050" dirty="0"/>
              <a:t>	Dr Loan To Jenny </a:t>
            </a:r>
            <a:r>
              <a:rPr lang="en-AU" sz="1050" dirty="0" err="1"/>
              <a:t>Bloggs</a:t>
            </a:r>
            <a:r>
              <a:rPr lang="en-AU" sz="1050" dirty="0"/>
              <a:t> Family Trust		$200,000</a:t>
            </a:r>
          </a:p>
          <a:p>
            <a:pPr marL="0" indent="0">
              <a:buNone/>
            </a:pPr>
            <a:r>
              <a:rPr lang="en-AU" sz="1050" dirty="0"/>
              <a:t>	Cr Bank				$250,000</a:t>
            </a:r>
          </a:p>
          <a:p>
            <a:pPr marL="0" indent="0">
              <a:buNone/>
            </a:pPr>
            <a:r>
              <a:rPr lang="en-AU" sz="1050" dirty="0"/>
              <a:t>	</a:t>
            </a:r>
            <a:r>
              <a:rPr lang="en-AU" sz="1050" u="sng" dirty="0"/>
              <a:t>Jenny </a:t>
            </a:r>
            <a:r>
              <a:rPr lang="en-AU" sz="1050" u="sng" dirty="0" err="1"/>
              <a:t>Bloggs</a:t>
            </a:r>
            <a:r>
              <a:rPr lang="en-AU" sz="1050" u="sng" dirty="0"/>
              <a:t> Family Trust</a:t>
            </a:r>
          </a:p>
          <a:p>
            <a:pPr marL="0" indent="0">
              <a:buNone/>
            </a:pPr>
            <a:r>
              <a:rPr lang="en-AU" sz="1050" dirty="0"/>
              <a:t>	Dr Loan To Jenny </a:t>
            </a:r>
            <a:r>
              <a:rPr lang="en-AU" sz="1050" dirty="0" err="1"/>
              <a:t>Bloggs</a:t>
            </a:r>
            <a:r>
              <a:rPr lang="en-AU" sz="1050" dirty="0"/>
              <a:t> 			$200,000</a:t>
            </a:r>
          </a:p>
          <a:p>
            <a:pPr marL="0" indent="0">
              <a:buNone/>
            </a:pPr>
            <a:r>
              <a:rPr lang="en-AU" sz="1050" dirty="0"/>
              <a:t>	Cr Loan From ABC Pty Ltd			$200,000</a:t>
            </a:r>
          </a:p>
          <a:p>
            <a:pPr marL="0" indent="0">
              <a:buNone/>
            </a:pPr>
            <a:endParaRPr lang="en-AU" dirty="0"/>
          </a:p>
          <a:p>
            <a:r>
              <a:rPr lang="en-AU" dirty="0"/>
              <a:t>Is there a Division 7A issue and what amount is the issue if there is one?</a:t>
            </a:r>
          </a:p>
        </p:txBody>
      </p:sp>
    </p:spTree>
    <p:extLst>
      <p:ext uri="{BB962C8B-B14F-4D97-AF65-F5344CB8AC3E}">
        <p14:creationId xmlns:p14="http://schemas.microsoft.com/office/powerpoint/2010/main" val="805396331"/>
      </p:ext>
    </p:extLst>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Payments to interposed entities</a:t>
            </a:r>
          </a:p>
        </p:txBody>
      </p:sp>
      <p:sp>
        <p:nvSpPr>
          <p:cNvPr id="3" name="Content Placeholder 2"/>
          <p:cNvSpPr>
            <a:spLocks noGrp="1"/>
          </p:cNvSpPr>
          <p:nvPr>
            <p:ph idx="1"/>
          </p:nvPr>
        </p:nvSpPr>
        <p:spPr/>
        <p:txBody>
          <a:bodyPr/>
          <a:lstStyle/>
          <a:p>
            <a:r>
              <a:rPr lang="en-AU" dirty="0"/>
              <a:t>Where a payment is made by a private company to a shareholder/associate through an interposed entity, it can be a Division 7A loan. </a:t>
            </a:r>
          </a:p>
          <a:p>
            <a:pPr lvl="1"/>
            <a:r>
              <a:rPr lang="en-AU" dirty="0"/>
              <a:t>A payment or loan is made to an entity between the company and the shareholder</a:t>
            </a:r>
          </a:p>
          <a:p>
            <a:pPr lvl="1"/>
            <a:r>
              <a:rPr lang="en-AU" dirty="0"/>
              <a:t>A reasonable person would conclude that the private company made the payment or loan solely or mainly as part of an arrangement to make the payment or loan to the target entity; and</a:t>
            </a:r>
          </a:p>
          <a:p>
            <a:r>
              <a:rPr lang="en-AU" dirty="0"/>
              <a:t>The time that the interposed entity received the payment or loan from the private company is ignored </a:t>
            </a:r>
          </a:p>
          <a:p>
            <a:r>
              <a:rPr lang="en-AU" dirty="0"/>
              <a:t>It is irrelevant if the amount paid or lent to the interposed entity differs to the amount lent to the shareholder</a:t>
            </a:r>
          </a:p>
          <a:p>
            <a:r>
              <a:rPr lang="en-AU" dirty="0"/>
              <a:t>Example 4 – ABC Pty Ltd has a Division 7A loan of $200,000 </a:t>
            </a:r>
          </a:p>
          <a:p>
            <a:endParaRPr lang="en-AU" dirty="0"/>
          </a:p>
        </p:txBody>
      </p:sp>
    </p:spTree>
    <p:extLst>
      <p:ext uri="{BB962C8B-B14F-4D97-AF65-F5344CB8AC3E}">
        <p14:creationId xmlns:p14="http://schemas.microsoft.com/office/powerpoint/2010/main" val="3300218348"/>
      </p:ext>
    </p:extLst>
  </p:cSld>
  <p:clrMapOvr>
    <a:masterClrMapping/>
  </p:clrMapOvr>
  <p:transition advClick="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5</a:t>
            </a:r>
          </a:p>
        </p:txBody>
      </p:sp>
      <p:sp>
        <p:nvSpPr>
          <p:cNvPr id="3" name="Content Placeholder 2"/>
          <p:cNvSpPr>
            <a:spLocks noGrp="1"/>
          </p:cNvSpPr>
          <p:nvPr>
            <p:ph idx="1"/>
          </p:nvPr>
        </p:nvSpPr>
        <p:spPr/>
        <p:txBody>
          <a:bodyPr/>
          <a:lstStyle/>
          <a:p>
            <a:r>
              <a:rPr lang="en-AU" dirty="0"/>
              <a:t>Jacinta </a:t>
            </a:r>
            <a:r>
              <a:rPr lang="en-AU" dirty="0" err="1"/>
              <a:t>Bloggs</a:t>
            </a:r>
            <a:r>
              <a:rPr lang="en-AU" dirty="0"/>
              <a:t> Family Trust has unpaid present entitlements to the following parties. Jacinta and Joe Snr are shareholders of JKL Pty Ltd</a:t>
            </a:r>
          </a:p>
          <a:p>
            <a:pPr lvl="1"/>
            <a:r>
              <a:rPr lang="en-AU" dirty="0"/>
              <a:t>JKL Pty Ltd – Cr $50,000</a:t>
            </a:r>
          </a:p>
          <a:p>
            <a:pPr lvl="1"/>
            <a:r>
              <a:rPr lang="en-AU" dirty="0"/>
              <a:t>Joe </a:t>
            </a:r>
            <a:r>
              <a:rPr lang="en-AU" dirty="0" err="1"/>
              <a:t>Bloggs</a:t>
            </a:r>
            <a:r>
              <a:rPr lang="en-AU" dirty="0"/>
              <a:t> Jnr – Cr $10,000</a:t>
            </a:r>
          </a:p>
          <a:p>
            <a:pPr lvl="1"/>
            <a:r>
              <a:rPr lang="en-AU" dirty="0"/>
              <a:t>Joe </a:t>
            </a:r>
            <a:r>
              <a:rPr lang="en-AU" dirty="0" err="1"/>
              <a:t>Bloggs</a:t>
            </a:r>
            <a:r>
              <a:rPr lang="en-AU" dirty="0"/>
              <a:t> Snr  - Cr $100,000</a:t>
            </a:r>
          </a:p>
          <a:p>
            <a:pPr lvl="1"/>
            <a:r>
              <a:rPr lang="en-AU" dirty="0"/>
              <a:t>Jacinta </a:t>
            </a:r>
            <a:r>
              <a:rPr lang="en-AU" dirty="0" err="1"/>
              <a:t>Bloggs</a:t>
            </a:r>
            <a:r>
              <a:rPr lang="en-AU" dirty="0"/>
              <a:t> – Cr $100,000</a:t>
            </a:r>
          </a:p>
          <a:p>
            <a:pPr marL="0" indent="0">
              <a:buNone/>
            </a:pPr>
            <a:endParaRPr lang="en-AU" dirty="0"/>
          </a:p>
          <a:p>
            <a:r>
              <a:rPr lang="en-AU" dirty="0"/>
              <a:t>Is there a division 7A issue? What amount is the issue if there is one?</a:t>
            </a:r>
          </a:p>
          <a:p>
            <a:endParaRPr lang="en-AU" dirty="0"/>
          </a:p>
        </p:txBody>
      </p:sp>
    </p:spTree>
    <p:extLst>
      <p:ext uri="{BB962C8B-B14F-4D97-AF65-F5344CB8AC3E}">
        <p14:creationId xmlns:p14="http://schemas.microsoft.com/office/powerpoint/2010/main" val="1882724610"/>
      </p:ext>
    </p:extLst>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Unpaid present entitlements (UPE’s)</a:t>
            </a:r>
          </a:p>
        </p:txBody>
      </p:sp>
      <p:sp>
        <p:nvSpPr>
          <p:cNvPr id="3" name="Content Placeholder 2"/>
          <p:cNvSpPr>
            <a:spLocks noGrp="1"/>
          </p:cNvSpPr>
          <p:nvPr>
            <p:ph idx="1"/>
          </p:nvPr>
        </p:nvSpPr>
        <p:spPr/>
        <p:txBody>
          <a:bodyPr/>
          <a:lstStyle/>
          <a:p>
            <a:r>
              <a:rPr lang="en-AU" dirty="0"/>
              <a:t>UPE’s can be relevant for Division 7A – even if not converted to a loan, a UPE is capable of being ‘the provision of financial accommodation’</a:t>
            </a:r>
          </a:p>
          <a:p>
            <a:r>
              <a:rPr lang="en-AU" dirty="0"/>
              <a:t>Generally not relevant where the UPE is in favour of an individual</a:t>
            </a:r>
          </a:p>
          <a:p>
            <a:r>
              <a:rPr lang="en-AU" dirty="0"/>
              <a:t>If an UPE to a company remains unpaid, Division 7A will apply</a:t>
            </a:r>
          </a:p>
          <a:p>
            <a:r>
              <a:rPr lang="en-AU" dirty="0"/>
              <a:t>Applicable where the company and trust are related entities of the shareholder</a:t>
            </a:r>
          </a:p>
          <a:p>
            <a:r>
              <a:rPr lang="en-AU" dirty="0"/>
              <a:t>From a practical sense, the timing of UPE’s becoming a </a:t>
            </a:r>
            <a:r>
              <a:rPr lang="en-AU" dirty="0" err="1"/>
              <a:t>Div</a:t>
            </a:r>
            <a:r>
              <a:rPr lang="en-AU" dirty="0"/>
              <a:t> 7A loan is as follows;</a:t>
            </a:r>
          </a:p>
          <a:p>
            <a:pPr lvl="1"/>
            <a:r>
              <a:rPr lang="en-AU" dirty="0"/>
              <a:t>30/06/Year 1 = UPE</a:t>
            </a:r>
          </a:p>
          <a:p>
            <a:pPr lvl="1"/>
            <a:r>
              <a:rPr lang="en-AU" dirty="0"/>
              <a:t>30/06/Year2 = Converted to loan</a:t>
            </a:r>
          </a:p>
          <a:p>
            <a:pPr lvl="1"/>
            <a:r>
              <a:rPr lang="en-AU" dirty="0"/>
              <a:t>Due date of tax return or date of lodgement = Division 7A loan</a:t>
            </a:r>
          </a:p>
          <a:p>
            <a:r>
              <a:rPr lang="en-AU" dirty="0"/>
              <a:t>Example 5 – JKL Pty Ltd has a Division 7A loan </a:t>
            </a:r>
          </a:p>
        </p:txBody>
      </p:sp>
    </p:spTree>
    <p:extLst>
      <p:ext uri="{BB962C8B-B14F-4D97-AF65-F5344CB8AC3E}">
        <p14:creationId xmlns:p14="http://schemas.microsoft.com/office/powerpoint/2010/main" val="1220619448"/>
      </p:ext>
    </p:extLst>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901055"/>
            <a:ext cx="8352928" cy="500456"/>
          </a:xfrm>
        </p:spPr>
        <p:txBody>
          <a:bodyPr/>
          <a:lstStyle/>
          <a:p>
            <a:r>
              <a:rPr lang="en-AU" dirty="0"/>
              <a:t>Example 6</a:t>
            </a:r>
          </a:p>
        </p:txBody>
      </p:sp>
      <p:sp>
        <p:nvSpPr>
          <p:cNvPr id="3" name="Content Placeholder 2"/>
          <p:cNvSpPr>
            <a:spLocks noGrp="1"/>
          </p:cNvSpPr>
          <p:nvPr>
            <p:ph idx="1"/>
          </p:nvPr>
        </p:nvSpPr>
        <p:spPr>
          <a:xfrm>
            <a:off x="395536" y="1307507"/>
            <a:ext cx="8352928" cy="5486400"/>
          </a:xfrm>
        </p:spPr>
        <p:txBody>
          <a:bodyPr/>
          <a:lstStyle/>
          <a:p>
            <a:r>
              <a:rPr lang="en-AU" dirty="0"/>
              <a:t>ABC Trust declares a distribution/UPE of $100,000 to DEF Pty Ltd. The amount remains unpaid. ABC Trust then lends $67,500 to GHI Pty Ltd who lend $67,500 to Joanna </a:t>
            </a:r>
            <a:r>
              <a:rPr lang="en-AU" dirty="0" err="1"/>
              <a:t>Bloggs</a:t>
            </a:r>
            <a:r>
              <a:rPr lang="en-AU" dirty="0"/>
              <a:t>, who is a shareholder of DEF Pty Ltd</a:t>
            </a:r>
          </a:p>
          <a:p>
            <a:pPr marL="0" indent="0">
              <a:buNone/>
            </a:pPr>
            <a:r>
              <a:rPr lang="en-AU" dirty="0"/>
              <a:t>			</a:t>
            </a:r>
            <a:r>
              <a:rPr lang="en-AU" sz="1050" u="sng" dirty="0"/>
              <a:t>ABC Trust</a:t>
            </a:r>
          </a:p>
          <a:p>
            <a:pPr marL="0" indent="0">
              <a:buNone/>
            </a:pPr>
            <a:r>
              <a:rPr lang="en-AU" sz="1050" dirty="0"/>
              <a:t>			Dr Profit distribution		$100,000</a:t>
            </a:r>
          </a:p>
          <a:p>
            <a:pPr marL="0" indent="0">
              <a:buNone/>
            </a:pPr>
            <a:r>
              <a:rPr lang="en-AU" sz="1050" dirty="0"/>
              <a:t>			</a:t>
            </a:r>
            <a:r>
              <a:rPr lang="en-AU" sz="1050" u="sng" dirty="0"/>
              <a:t>Cr UPE – DEF Pty Ltd		$100,000</a:t>
            </a:r>
          </a:p>
          <a:p>
            <a:pPr marL="0" indent="0">
              <a:buNone/>
            </a:pPr>
            <a:r>
              <a:rPr lang="en-AU" sz="1050" dirty="0"/>
              <a:t>			Cr Bank			$67,500</a:t>
            </a:r>
          </a:p>
          <a:p>
            <a:pPr marL="0" indent="0">
              <a:buNone/>
            </a:pPr>
            <a:r>
              <a:rPr lang="en-AU" sz="1050" dirty="0"/>
              <a:t>			Dr Loan – GHI Pty Ltd		$67,500</a:t>
            </a:r>
          </a:p>
          <a:p>
            <a:pPr marL="0" indent="0">
              <a:buNone/>
            </a:pPr>
            <a:r>
              <a:rPr lang="en-AU" sz="1050" dirty="0"/>
              <a:t>	</a:t>
            </a:r>
          </a:p>
          <a:p>
            <a:pPr marL="0" indent="0">
              <a:buNone/>
            </a:pPr>
            <a:r>
              <a:rPr lang="en-AU" sz="1050" dirty="0"/>
              <a:t>			</a:t>
            </a:r>
            <a:r>
              <a:rPr lang="en-AU" sz="1050" u="sng" dirty="0"/>
              <a:t>DEF Pty Ltd</a:t>
            </a:r>
          </a:p>
          <a:p>
            <a:pPr marL="0" indent="0">
              <a:buNone/>
            </a:pPr>
            <a:r>
              <a:rPr lang="en-AU" sz="1050" dirty="0"/>
              <a:t>			Cr Income			$100,000</a:t>
            </a:r>
          </a:p>
          <a:p>
            <a:pPr marL="0" indent="0">
              <a:buNone/>
            </a:pPr>
            <a:r>
              <a:rPr lang="en-AU" sz="1050" dirty="0"/>
              <a:t>			Dr UPE – ABC Trust		$100,000</a:t>
            </a:r>
          </a:p>
          <a:p>
            <a:pPr marL="0" indent="0">
              <a:buNone/>
            </a:pPr>
            <a:r>
              <a:rPr lang="en-AU" sz="1050" dirty="0"/>
              <a:t>	</a:t>
            </a:r>
          </a:p>
          <a:p>
            <a:pPr marL="0" indent="0">
              <a:buNone/>
            </a:pPr>
            <a:r>
              <a:rPr lang="en-AU" sz="1050" dirty="0"/>
              <a:t>			</a:t>
            </a:r>
            <a:r>
              <a:rPr lang="en-AU" sz="1050" u="sng" dirty="0"/>
              <a:t>GHI Pty Ltd</a:t>
            </a:r>
          </a:p>
          <a:p>
            <a:pPr marL="0" indent="0">
              <a:buNone/>
            </a:pPr>
            <a:r>
              <a:rPr lang="en-AU" sz="1050" dirty="0"/>
              <a:t>			Dr Bank			$67,500</a:t>
            </a:r>
          </a:p>
          <a:p>
            <a:pPr marL="0" indent="0">
              <a:buNone/>
            </a:pPr>
            <a:r>
              <a:rPr lang="en-AU" sz="1050" dirty="0"/>
              <a:t>			</a:t>
            </a:r>
            <a:r>
              <a:rPr lang="en-AU" sz="1050" u="sng" dirty="0"/>
              <a:t>Cr Loan - ABC Trust		$67,500</a:t>
            </a:r>
          </a:p>
          <a:p>
            <a:pPr marL="0" indent="0">
              <a:buNone/>
            </a:pPr>
            <a:r>
              <a:rPr lang="en-AU" sz="1050" dirty="0"/>
              <a:t>			Cr Bank			$67,500</a:t>
            </a:r>
          </a:p>
          <a:p>
            <a:pPr marL="0" indent="0">
              <a:buNone/>
            </a:pPr>
            <a:r>
              <a:rPr lang="en-AU" sz="1050" dirty="0"/>
              <a:t>			Dr Loan – Joanna </a:t>
            </a:r>
            <a:r>
              <a:rPr lang="en-AU" sz="1050" dirty="0" err="1"/>
              <a:t>Bloggs</a:t>
            </a:r>
            <a:r>
              <a:rPr lang="en-AU" sz="1050" dirty="0"/>
              <a:t>		$67,500</a:t>
            </a:r>
          </a:p>
          <a:p>
            <a:endParaRPr lang="en-AU" dirty="0"/>
          </a:p>
        </p:txBody>
      </p:sp>
    </p:spTree>
    <p:extLst>
      <p:ext uri="{BB962C8B-B14F-4D97-AF65-F5344CB8AC3E}">
        <p14:creationId xmlns:p14="http://schemas.microsoft.com/office/powerpoint/2010/main" val="2592771601"/>
      </p:ext>
    </p:extLst>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‘Look through’ - interposed entities</a:t>
            </a:r>
          </a:p>
        </p:txBody>
      </p:sp>
      <p:sp>
        <p:nvSpPr>
          <p:cNvPr id="3" name="Content Placeholder 2"/>
          <p:cNvSpPr>
            <a:spLocks noGrp="1"/>
          </p:cNvSpPr>
          <p:nvPr>
            <p:ph idx="1"/>
          </p:nvPr>
        </p:nvSpPr>
        <p:spPr/>
        <p:txBody>
          <a:bodyPr/>
          <a:lstStyle/>
          <a:p>
            <a:r>
              <a:rPr lang="en-AU" dirty="0"/>
              <a:t>Section 109T &amp; 109W provide look through rules</a:t>
            </a:r>
          </a:p>
          <a:p>
            <a:r>
              <a:rPr lang="en-AU" dirty="0"/>
              <a:t>They essentially look through an interposed entity to deem a loan or payment to have been made by the private company to the target shareholder</a:t>
            </a:r>
          </a:p>
          <a:p>
            <a:r>
              <a:rPr lang="en-AU" dirty="0"/>
              <a:t>What to look for – UPE’s in a trust where there are also loans made to shareholders/associates of the group</a:t>
            </a:r>
          </a:p>
          <a:p>
            <a:endParaRPr lang="en-AU" dirty="0"/>
          </a:p>
          <a:p>
            <a:endParaRPr lang="en-AU" dirty="0"/>
          </a:p>
        </p:txBody>
      </p:sp>
    </p:spTree>
    <p:extLst>
      <p:ext uri="{BB962C8B-B14F-4D97-AF65-F5344CB8AC3E}">
        <p14:creationId xmlns:p14="http://schemas.microsoft.com/office/powerpoint/2010/main" val="3322960669"/>
      </p:ext>
    </p:extLst>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can be done if Division 7A applies or is going to apply</a:t>
            </a:r>
          </a:p>
        </p:txBody>
      </p:sp>
      <p:sp>
        <p:nvSpPr>
          <p:cNvPr id="3" name="Content Placeholder 2"/>
          <p:cNvSpPr>
            <a:spLocks noGrp="1"/>
          </p:cNvSpPr>
          <p:nvPr>
            <p:ph idx="1"/>
          </p:nvPr>
        </p:nvSpPr>
        <p:spPr/>
        <p:txBody>
          <a:bodyPr/>
          <a:lstStyle/>
          <a:p>
            <a:r>
              <a:rPr lang="en-AU" dirty="0"/>
              <a:t>Repay the loan by the due date of the company tax return for the year in which the loan was made</a:t>
            </a:r>
          </a:p>
          <a:p>
            <a:pPr lvl="1"/>
            <a:r>
              <a:rPr lang="en-AU" dirty="0"/>
              <a:t>Funds advanced in year ending 30/06/2016 – will need to be repaid by the due date of the 2016 financial year tax return</a:t>
            </a:r>
          </a:p>
          <a:p>
            <a:r>
              <a:rPr lang="en-AU" dirty="0"/>
              <a:t>Enter a complying loan agreement. A loan that complies with the criteria in S 109N is explicitly exempt from being a dividend.</a:t>
            </a:r>
          </a:p>
          <a:p>
            <a:pPr lvl="1"/>
            <a:r>
              <a:rPr lang="en-AU" dirty="0"/>
              <a:t>Minimum interest rate</a:t>
            </a:r>
          </a:p>
          <a:p>
            <a:pPr lvl="1"/>
            <a:r>
              <a:rPr lang="en-AU" dirty="0"/>
              <a:t>Maximum term (secured &amp; unsecured)</a:t>
            </a:r>
          </a:p>
          <a:p>
            <a:pPr lvl="1"/>
            <a:r>
              <a:rPr lang="en-AU" dirty="0"/>
              <a:t>Minimum repayments</a:t>
            </a:r>
          </a:p>
          <a:p>
            <a:pPr lvl="1"/>
            <a:r>
              <a:rPr lang="en-AU" dirty="0"/>
              <a:t>Written agreements</a:t>
            </a:r>
          </a:p>
        </p:txBody>
      </p:sp>
    </p:spTree>
    <p:extLst>
      <p:ext uri="{BB962C8B-B14F-4D97-AF65-F5344CB8AC3E}">
        <p14:creationId xmlns:p14="http://schemas.microsoft.com/office/powerpoint/2010/main" val="1253799304"/>
      </p:ext>
    </p:extLst>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Minimum interest rate</a:t>
            </a:r>
          </a:p>
        </p:txBody>
      </p:sp>
      <p:sp>
        <p:nvSpPr>
          <p:cNvPr id="7" name="Content Placeholder 6"/>
          <p:cNvSpPr>
            <a:spLocks noGrp="1"/>
          </p:cNvSpPr>
          <p:nvPr>
            <p:ph idx="1"/>
          </p:nvPr>
        </p:nvSpPr>
        <p:spPr/>
        <p:txBody>
          <a:bodyPr/>
          <a:lstStyle/>
          <a:p>
            <a:r>
              <a:rPr lang="en-AU" dirty="0"/>
              <a:t>The interest rate of the loan for each year after the year in which the loan was made must be greater than or equal to the </a:t>
            </a:r>
            <a:r>
              <a:rPr lang="en-AU" i="1" dirty="0"/>
              <a:t>benchmark interest rate</a:t>
            </a:r>
            <a:r>
              <a:rPr lang="en-AU" dirty="0"/>
              <a:t> for each year.</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4853" y="2827729"/>
            <a:ext cx="2170630" cy="3032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43423253"/>
      </p:ext>
    </p:extLst>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Maximum term – secured and unsecured</a:t>
            </a:r>
          </a:p>
        </p:txBody>
      </p:sp>
      <p:sp>
        <p:nvSpPr>
          <p:cNvPr id="3" name="Content Placeholder 2"/>
          <p:cNvSpPr>
            <a:spLocks noGrp="1"/>
          </p:cNvSpPr>
          <p:nvPr>
            <p:ph idx="1"/>
          </p:nvPr>
        </p:nvSpPr>
        <p:spPr/>
        <p:txBody>
          <a:bodyPr/>
          <a:lstStyle/>
          <a:p>
            <a:r>
              <a:rPr lang="en-AU" dirty="0"/>
              <a:t>Secured</a:t>
            </a:r>
          </a:p>
          <a:p>
            <a:pPr lvl="1"/>
            <a:r>
              <a:rPr lang="en-AU" dirty="0"/>
              <a:t>25 years</a:t>
            </a:r>
          </a:p>
          <a:p>
            <a:pPr lvl="1"/>
            <a:r>
              <a:rPr lang="en-AU" dirty="0"/>
              <a:t>Secured by a mortgage over real property</a:t>
            </a:r>
          </a:p>
          <a:p>
            <a:pPr lvl="1"/>
            <a:r>
              <a:rPr lang="en-AU" dirty="0"/>
              <a:t>The whole loan amount must be secured by a registered mortgage</a:t>
            </a:r>
          </a:p>
          <a:p>
            <a:pPr lvl="1"/>
            <a:r>
              <a:rPr lang="en-AU" dirty="0"/>
              <a:t>When the loan is first made the market value of the property (less other amounts secured in priority) must be at least 110% of the amount of the loan</a:t>
            </a:r>
          </a:p>
          <a:p>
            <a:r>
              <a:rPr lang="en-AU" dirty="0"/>
              <a:t>Unsecured</a:t>
            </a:r>
          </a:p>
          <a:p>
            <a:pPr lvl="1"/>
            <a:r>
              <a:rPr lang="en-AU" dirty="0"/>
              <a:t>7 years</a:t>
            </a:r>
          </a:p>
          <a:p>
            <a:pPr lvl="1"/>
            <a:r>
              <a:rPr lang="en-AU" dirty="0"/>
              <a:t>Most common</a:t>
            </a:r>
          </a:p>
          <a:p>
            <a:pPr lvl="1"/>
            <a:endParaRPr lang="en-AU" dirty="0"/>
          </a:p>
        </p:txBody>
      </p:sp>
    </p:spTree>
    <p:extLst>
      <p:ext uri="{BB962C8B-B14F-4D97-AF65-F5344CB8AC3E}">
        <p14:creationId xmlns:p14="http://schemas.microsoft.com/office/powerpoint/2010/main" val="1206125707"/>
      </p:ext>
    </p:extLst>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Minimum repayments</a:t>
            </a:r>
          </a:p>
        </p:txBody>
      </p:sp>
      <p:sp>
        <p:nvSpPr>
          <p:cNvPr id="3" name="Content Placeholder 2"/>
          <p:cNvSpPr>
            <a:spLocks noGrp="1"/>
          </p:cNvSpPr>
          <p:nvPr>
            <p:ph idx="1"/>
          </p:nvPr>
        </p:nvSpPr>
        <p:spPr/>
        <p:txBody>
          <a:bodyPr/>
          <a:lstStyle/>
          <a:p>
            <a:r>
              <a:rPr lang="en-AU" dirty="0"/>
              <a:t>Minimum repayment amounts need to be worked out for each income year after the year in which the loan is made</a:t>
            </a:r>
          </a:p>
          <a:p>
            <a:r>
              <a:rPr lang="en-AU" dirty="0"/>
              <a:t>The three key concepts in the formula are;</a:t>
            </a:r>
          </a:p>
          <a:p>
            <a:pPr lvl="1"/>
            <a:r>
              <a:rPr lang="en-AU" dirty="0"/>
              <a:t>Amount of loan not repaid by the end of the previous financial year</a:t>
            </a:r>
          </a:p>
          <a:p>
            <a:pPr lvl="1"/>
            <a:r>
              <a:rPr lang="en-AU" dirty="0"/>
              <a:t>Current year’s benchmark interest rate</a:t>
            </a:r>
          </a:p>
          <a:p>
            <a:pPr lvl="1"/>
            <a:r>
              <a:rPr lang="en-AU" dirty="0"/>
              <a:t>Remaining term of the loan</a:t>
            </a:r>
          </a:p>
          <a:p>
            <a:r>
              <a:rPr lang="en-AU" dirty="0"/>
              <a:t>The minimum repayment formula is shown here</a:t>
            </a:r>
          </a:p>
          <a:p>
            <a:r>
              <a:rPr lang="en-AU" dirty="0"/>
              <a:t>A payment will not be considered if;</a:t>
            </a:r>
          </a:p>
          <a:p>
            <a:pPr lvl="1"/>
            <a:r>
              <a:rPr lang="en-AU" dirty="0"/>
              <a:t>A reasonable person would conclude that, when the </a:t>
            </a:r>
          </a:p>
          <a:p>
            <a:pPr marL="342900" lvl="1" indent="0">
              <a:buNone/>
            </a:pPr>
            <a:r>
              <a:rPr lang="en-AU" dirty="0"/>
              <a:t>payment is made the shareholder or associate intended to/or did</a:t>
            </a:r>
          </a:p>
          <a:p>
            <a:pPr marL="342900" lvl="1" indent="0">
              <a:buNone/>
            </a:pPr>
            <a:r>
              <a:rPr lang="en-AU" dirty="0"/>
              <a:t>obtain a loan for a similar amount or more than the payment amount</a:t>
            </a:r>
          </a:p>
          <a:p>
            <a:endParaRPr lang="en-AU"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6221" y="3358497"/>
            <a:ext cx="3375589" cy="2030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3585911"/>
      </p:ext>
    </p:extLst>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Minimum repayments continued</a:t>
            </a:r>
          </a:p>
        </p:txBody>
      </p:sp>
      <p:sp>
        <p:nvSpPr>
          <p:cNvPr id="3" name="Content Placeholder 2"/>
          <p:cNvSpPr>
            <a:spLocks noGrp="1"/>
          </p:cNvSpPr>
          <p:nvPr>
            <p:ph idx="1"/>
          </p:nvPr>
        </p:nvSpPr>
        <p:spPr/>
        <p:txBody>
          <a:bodyPr/>
          <a:lstStyle/>
          <a:p>
            <a:r>
              <a:rPr lang="en-AU" dirty="0"/>
              <a:t>Some payments will ALWAYS be taken into account, even if there is an intention to obtain another loan at the time the payment is made;</a:t>
            </a:r>
          </a:p>
          <a:p>
            <a:pPr lvl="1"/>
            <a:r>
              <a:rPr lang="en-AU" dirty="0"/>
              <a:t>A dividend payable to the shareholder or their associate</a:t>
            </a:r>
          </a:p>
          <a:p>
            <a:pPr lvl="1"/>
            <a:r>
              <a:rPr lang="en-AU" dirty="0"/>
              <a:t>If there is a transfer of property, an amount equal to the difference between the arms length value and the value already paid to the shareholder</a:t>
            </a:r>
          </a:p>
          <a:p>
            <a:endParaRPr lang="en-AU" dirty="0"/>
          </a:p>
        </p:txBody>
      </p:sp>
    </p:spTree>
    <p:extLst>
      <p:ext uri="{BB962C8B-B14F-4D97-AF65-F5344CB8AC3E}">
        <p14:creationId xmlns:p14="http://schemas.microsoft.com/office/powerpoint/2010/main" val="2696737582"/>
      </p:ext>
    </p:extLst>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Written agreements</a:t>
            </a:r>
          </a:p>
        </p:txBody>
      </p:sp>
      <p:sp>
        <p:nvSpPr>
          <p:cNvPr id="3" name="Content Placeholder 2"/>
          <p:cNvSpPr>
            <a:spLocks noGrp="1"/>
          </p:cNvSpPr>
          <p:nvPr>
            <p:ph idx="1"/>
          </p:nvPr>
        </p:nvSpPr>
        <p:spPr/>
        <p:txBody>
          <a:bodyPr/>
          <a:lstStyle/>
          <a:p>
            <a:r>
              <a:rPr lang="en-AU" dirty="0"/>
              <a:t>A written agreement is required to be entered into before the lodgement date of the company tax return</a:t>
            </a:r>
          </a:p>
          <a:p>
            <a:r>
              <a:rPr lang="en-AU" dirty="0"/>
              <a:t>Meet minimum interest rates and maximum term requirements</a:t>
            </a:r>
          </a:p>
          <a:p>
            <a:r>
              <a:rPr lang="en-AU" dirty="0"/>
              <a:t>If the above are satisfied, the loan will not be deemed to be an unfranked dividend</a:t>
            </a:r>
          </a:p>
          <a:p>
            <a:r>
              <a:rPr lang="en-AU" dirty="0"/>
              <a:t>Note that there is no prescribed format for the written agreement. As a minimum it should include the following;</a:t>
            </a:r>
          </a:p>
          <a:p>
            <a:pPr lvl="1"/>
            <a:r>
              <a:rPr lang="en-AU" dirty="0"/>
              <a:t>Parties</a:t>
            </a:r>
          </a:p>
          <a:p>
            <a:pPr lvl="1"/>
            <a:r>
              <a:rPr lang="en-AU" dirty="0"/>
              <a:t>Amount of the loan</a:t>
            </a:r>
          </a:p>
          <a:p>
            <a:pPr lvl="1"/>
            <a:r>
              <a:rPr lang="en-AU" dirty="0"/>
              <a:t>The requirement to repay the loan</a:t>
            </a:r>
          </a:p>
          <a:p>
            <a:pPr lvl="1"/>
            <a:r>
              <a:rPr lang="en-AU" dirty="0"/>
              <a:t>Interest rate payable</a:t>
            </a:r>
          </a:p>
          <a:p>
            <a:pPr lvl="1"/>
            <a:r>
              <a:rPr lang="en-AU" dirty="0"/>
              <a:t>Be signed by the parties </a:t>
            </a:r>
          </a:p>
        </p:txBody>
      </p:sp>
    </p:spTree>
    <p:extLst>
      <p:ext uri="{BB962C8B-B14F-4D97-AF65-F5344CB8AC3E}">
        <p14:creationId xmlns:p14="http://schemas.microsoft.com/office/powerpoint/2010/main" val="658118712"/>
      </p:ext>
    </p:extLst>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Key dates</a:t>
            </a:r>
          </a:p>
        </p:txBody>
      </p:sp>
      <p:sp>
        <p:nvSpPr>
          <p:cNvPr id="3" name="Content Placeholder 2"/>
          <p:cNvSpPr>
            <a:spLocks noGrp="1"/>
          </p:cNvSpPr>
          <p:nvPr>
            <p:ph idx="1"/>
          </p:nvPr>
        </p:nvSpPr>
        <p:spPr/>
        <p:txBody>
          <a:bodyPr/>
          <a:lstStyle/>
          <a:p>
            <a:r>
              <a:rPr lang="en-AU" dirty="0"/>
              <a:t>Loans before 4</a:t>
            </a:r>
            <a:r>
              <a:rPr lang="en-AU" baseline="30000" dirty="0"/>
              <a:t>th</a:t>
            </a:r>
            <a:r>
              <a:rPr lang="en-AU" dirty="0"/>
              <a:t> December 1997</a:t>
            </a:r>
          </a:p>
          <a:p>
            <a:pPr lvl="1"/>
            <a:r>
              <a:rPr lang="en-AU" dirty="0"/>
              <a:t>Generally will not be subject to Division 7A</a:t>
            </a:r>
          </a:p>
          <a:p>
            <a:pPr lvl="1"/>
            <a:r>
              <a:rPr lang="en-AU" dirty="0"/>
              <a:t>Where the loan is varied on or after 4</a:t>
            </a:r>
            <a:r>
              <a:rPr lang="en-AU" baseline="30000" dirty="0"/>
              <a:t>th</a:t>
            </a:r>
            <a:r>
              <a:rPr lang="en-AU" dirty="0"/>
              <a:t> of December 1997 by increasing the loan amount or extending the term the loan, it will be treated as a new loan – subject to Division 7A</a:t>
            </a:r>
          </a:p>
          <a:p>
            <a:r>
              <a:rPr lang="en-AU" dirty="0"/>
              <a:t>UPE before 16</a:t>
            </a:r>
            <a:r>
              <a:rPr lang="en-AU" baseline="30000" dirty="0"/>
              <a:t>th</a:t>
            </a:r>
            <a:r>
              <a:rPr lang="en-AU" dirty="0"/>
              <a:t> December 2009</a:t>
            </a:r>
          </a:p>
          <a:p>
            <a:pPr lvl="1"/>
            <a:r>
              <a:rPr lang="en-AU" dirty="0"/>
              <a:t>Generally will not be subject to Division 7A</a:t>
            </a:r>
          </a:p>
          <a:p>
            <a:pPr lvl="1"/>
            <a:r>
              <a:rPr lang="en-AU" dirty="0"/>
              <a:t>Where there are both pre and post 16</a:t>
            </a:r>
            <a:r>
              <a:rPr lang="en-AU" baseline="30000" dirty="0"/>
              <a:t>th</a:t>
            </a:r>
            <a:r>
              <a:rPr lang="en-AU" dirty="0"/>
              <a:t> December 2009 loan, there is no requirement to pay out a pre 16</a:t>
            </a:r>
            <a:r>
              <a:rPr lang="en-AU" baseline="30000" dirty="0"/>
              <a:t>th</a:t>
            </a:r>
            <a:r>
              <a:rPr lang="en-AU" dirty="0"/>
              <a:t> December 2009 UPE first</a:t>
            </a:r>
          </a:p>
          <a:p>
            <a:r>
              <a:rPr lang="en-AU" dirty="0"/>
              <a:t>Lodgement due date of company – 31</a:t>
            </a:r>
            <a:r>
              <a:rPr lang="en-AU" baseline="30000" dirty="0"/>
              <a:t>st</a:t>
            </a:r>
            <a:r>
              <a:rPr lang="en-AU" dirty="0"/>
              <a:t> March, 15</a:t>
            </a:r>
            <a:r>
              <a:rPr lang="en-AU" baseline="30000" dirty="0"/>
              <a:t>th</a:t>
            </a:r>
            <a:r>
              <a:rPr lang="en-AU" dirty="0"/>
              <a:t> May, others</a:t>
            </a:r>
          </a:p>
          <a:p>
            <a:pPr lvl="1"/>
            <a:r>
              <a:rPr lang="en-AU" dirty="0"/>
              <a:t>Date which Division 7A loans should be repaid to ensure compliance</a:t>
            </a:r>
          </a:p>
        </p:txBody>
      </p:sp>
    </p:spTree>
    <p:extLst>
      <p:ext uri="{BB962C8B-B14F-4D97-AF65-F5344CB8AC3E}">
        <p14:creationId xmlns:p14="http://schemas.microsoft.com/office/powerpoint/2010/main" val="1231648944"/>
      </p:ext>
    </p:extLst>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Crowe Horwath </a:t>
            </a:r>
            <a:r>
              <a:rPr lang="en-AU" dirty="0" err="1"/>
              <a:t>workpapers</a:t>
            </a:r>
            <a:endParaRPr lang="en-AU" dirty="0"/>
          </a:p>
        </p:txBody>
      </p:sp>
      <p:sp>
        <p:nvSpPr>
          <p:cNvPr id="3" name="Content Placeholder 2"/>
          <p:cNvSpPr>
            <a:spLocks noGrp="1"/>
          </p:cNvSpPr>
          <p:nvPr>
            <p:ph idx="1"/>
          </p:nvPr>
        </p:nvSpPr>
        <p:spPr/>
        <p:txBody>
          <a:bodyPr/>
          <a:lstStyle/>
          <a:p>
            <a:r>
              <a:rPr lang="en-AU" dirty="0"/>
              <a:t>Inter-entity loan reconciliation</a:t>
            </a:r>
          </a:p>
          <a:p>
            <a:r>
              <a:rPr lang="en-AU" dirty="0"/>
              <a:t>Division 7A interest calculator and minimum repayments</a:t>
            </a:r>
          </a:p>
          <a:p>
            <a:r>
              <a:rPr lang="en-AU" dirty="0"/>
              <a:t>Written agreements</a:t>
            </a:r>
          </a:p>
          <a:p>
            <a:endParaRPr lang="en-AU" dirty="0"/>
          </a:p>
        </p:txBody>
      </p:sp>
    </p:spTree>
    <p:extLst>
      <p:ext uri="{BB962C8B-B14F-4D97-AF65-F5344CB8AC3E}">
        <p14:creationId xmlns:p14="http://schemas.microsoft.com/office/powerpoint/2010/main" val="3862743201"/>
      </p:ext>
    </p:extLst>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Inter-entity loans reconciliation</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48441" y="1489509"/>
            <a:ext cx="5111488" cy="4949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1378854"/>
      </p:ext>
    </p:extLst>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Interest &amp; minimum repayments</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7922" y="1382388"/>
            <a:ext cx="3770360" cy="505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5848651"/>
      </p:ext>
    </p:extLst>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Written agreement templates</a:t>
            </a:r>
          </a:p>
        </p:txBody>
      </p:sp>
      <p:sp>
        <p:nvSpPr>
          <p:cNvPr id="3" name="Content Placeholder 2"/>
          <p:cNvSpPr>
            <a:spLocks noGrp="1"/>
          </p:cNvSpPr>
          <p:nvPr>
            <p:ph idx="1"/>
          </p:nvPr>
        </p:nvSpPr>
        <p:spPr/>
        <p:txBody>
          <a:bodyPr/>
          <a:lstStyle/>
          <a:p>
            <a:r>
              <a:rPr lang="en-AU" dirty="0"/>
              <a:t>These are a formal legal document and should be prepared by a solicitor</a:t>
            </a:r>
          </a:p>
          <a:p>
            <a:r>
              <a:rPr lang="en-AU" dirty="0"/>
              <a:t>A </a:t>
            </a:r>
            <a:r>
              <a:rPr lang="en-AU" dirty="0" err="1"/>
              <a:t>Cleardocs</a:t>
            </a:r>
            <a:r>
              <a:rPr lang="en-AU" dirty="0"/>
              <a:t> template version can be obtained for around $100</a:t>
            </a:r>
          </a:p>
          <a:p>
            <a:endParaRPr lang="en-AU" dirty="0"/>
          </a:p>
        </p:txBody>
      </p:sp>
    </p:spTree>
    <p:extLst>
      <p:ext uri="{BB962C8B-B14F-4D97-AF65-F5344CB8AC3E}">
        <p14:creationId xmlns:p14="http://schemas.microsoft.com/office/powerpoint/2010/main" val="1133729423"/>
      </p:ext>
    </p:extLst>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lstStyle/>
          <a:p>
            <a:endParaRPr lang="en-AU" dirty="0"/>
          </a:p>
          <a:p>
            <a:pPr marL="0" indent="0" algn="ctr">
              <a:buNone/>
            </a:pPr>
            <a:endParaRPr lang="en-AU" dirty="0"/>
          </a:p>
          <a:p>
            <a:pPr marL="0" indent="0" algn="ctr">
              <a:buNone/>
            </a:pPr>
            <a:r>
              <a:rPr lang="en-AU" sz="4800" dirty="0"/>
              <a:t>Questions?</a:t>
            </a:r>
          </a:p>
        </p:txBody>
      </p:sp>
    </p:spTree>
    <p:extLst>
      <p:ext uri="{BB962C8B-B14F-4D97-AF65-F5344CB8AC3E}">
        <p14:creationId xmlns:p14="http://schemas.microsoft.com/office/powerpoint/2010/main" val="1150064019"/>
      </p:ext>
    </p:extLst>
  </p:cSld>
  <p:clrMapOvr>
    <a:masterClrMapping/>
  </p:clrMapOvr>
  <p:transition advClick="0"/>
</p:sld>
</file>

<file path=ppt/theme/theme1.xml><?xml version="1.0" encoding="utf-8"?>
<a:theme xmlns:a="http://schemas.openxmlformats.org/drawingml/2006/main" name="Crowe_Horwath_PPT_Template White 20101220">
  <a:themeElements>
    <a:clrScheme name="Custom 2">
      <a:dk1>
        <a:srgbClr val="000000"/>
      </a:dk1>
      <a:lt1>
        <a:srgbClr val="FFFFFF"/>
      </a:lt1>
      <a:dk2>
        <a:srgbClr val="000000"/>
      </a:dk2>
      <a:lt2>
        <a:srgbClr val="FFFFFF"/>
      </a:lt2>
      <a:accent1>
        <a:srgbClr val="00204E"/>
      </a:accent1>
      <a:accent2>
        <a:srgbClr val="F1AB00"/>
      </a:accent2>
      <a:accent3>
        <a:srgbClr val="77787B"/>
      </a:accent3>
      <a:accent4>
        <a:srgbClr val="B95915"/>
      </a:accent4>
      <a:accent5>
        <a:srgbClr val="80A1B6"/>
      </a:accent5>
      <a:accent6>
        <a:srgbClr val="000000"/>
      </a:accent6>
      <a:hlink>
        <a:srgbClr val="FDB913"/>
      </a:hlink>
      <a:folHlink>
        <a:srgbClr val="000000"/>
      </a:folHlink>
    </a:clrScheme>
    <a:fontScheme name="Crowe Horwat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a:style>
    </a:spDef>
  </a:objectDefaults>
  <a:extraClrSchemeLst>
    <a:extraClrScheme>
      <a:clrScheme name="Crowe Whi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rowe Whi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rowe Whi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rowe Whi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rowe Whi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rowe Whi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rowe Whi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Crowe_Horwath_PPT_Template White 20101220</Template>
  <TotalTime>4053</TotalTime>
  <Words>2454</Words>
  <Application>Microsoft Office PowerPoint</Application>
  <PresentationFormat>On-screen Show (4:3)</PresentationFormat>
  <Paragraphs>200</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Times New Roman</vt:lpstr>
      <vt:lpstr>Verdana</vt:lpstr>
      <vt:lpstr>Wingdings</vt:lpstr>
      <vt:lpstr>Crowe_Horwath_PPT_Template White 20101220</vt:lpstr>
      <vt:lpstr>PowerPoint Presentation</vt:lpstr>
      <vt:lpstr>What is Division 7A?</vt:lpstr>
      <vt:lpstr>What is Division 7A, simply?</vt:lpstr>
      <vt:lpstr>Background to Division 7A</vt:lpstr>
      <vt:lpstr>Background to Division 7A continued</vt:lpstr>
      <vt:lpstr>What does Division 7A do?</vt:lpstr>
      <vt:lpstr>Shareholder/associate</vt:lpstr>
      <vt:lpstr>Example 1</vt:lpstr>
      <vt:lpstr>Example 2</vt:lpstr>
      <vt:lpstr>What is a loan?</vt:lpstr>
      <vt:lpstr>Example 3</vt:lpstr>
      <vt:lpstr>Debt forgiveness</vt:lpstr>
      <vt:lpstr>Example 4</vt:lpstr>
      <vt:lpstr>Payments to interposed entities</vt:lpstr>
      <vt:lpstr>Example 5</vt:lpstr>
      <vt:lpstr>Unpaid present entitlements (UPE’s)</vt:lpstr>
      <vt:lpstr>Example 6</vt:lpstr>
      <vt:lpstr>‘Look through’ - interposed entities</vt:lpstr>
      <vt:lpstr>What can be done if Division 7A applies or is going to apply</vt:lpstr>
      <vt:lpstr>Minimum interest rate</vt:lpstr>
      <vt:lpstr>Maximum term – secured and unsecured</vt:lpstr>
      <vt:lpstr>Minimum repayments</vt:lpstr>
      <vt:lpstr>Minimum repayments continued</vt:lpstr>
      <vt:lpstr>Written agreements</vt:lpstr>
      <vt:lpstr>Key dates</vt:lpstr>
      <vt:lpstr>Crowe Horwath workpapers</vt:lpstr>
      <vt:lpstr>Inter-entity loans reconciliation</vt:lpstr>
      <vt:lpstr>Interest &amp; minimum repayments</vt:lpstr>
      <vt:lpstr>Written agreement templates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Rochelle</dc:creator>
  <cp:lastModifiedBy>Jordan Edwards</cp:lastModifiedBy>
  <cp:revision>280</cp:revision>
  <cp:lastPrinted>2017-05-02T02:23:32Z</cp:lastPrinted>
  <dcterms:created xsi:type="dcterms:W3CDTF">2010-12-20T22:10:56Z</dcterms:created>
  <dcterms:modified xsi:type="dcterms:W3CDTF">2023-05-15T07:17:44Z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PSDescription">
    <vt:lpwstr/>
  </property>
  <property fmtid="{D5CDD505-2E9C-101B-9397-08002B2CF9AE}" pid="3" name="Owner">
    <vt:lpwstr>MSD</vt:lpwstr>
  </property>
  <property fmtid="{D5CDD505-2E9C-101B-9397-08002B2CF9AE}" pid="4" name="Status">
    <vt:lpwstr>Final</vt:lpwstr>
  </property>
  <property fmtid="{D5CDD505-2E9C-101B-9397-08002B2CF9AE}" pid="5" name="TemplateUrl">
    <vt:lpwstr/>
  </property>
  <property fmtid="{D5CDD505-2E9C-101B-9397-08002B2CF9AE}" pid="6" name="xd_ProgID">
    <vt:lpwstr/>
  </property>
  <property fmtid="{D5CDD505-2E9C-101B-9397-08002B2CF9AE}" pid="7" name="Order">
    <vt:lpwstr>2300.00000000000</vt:lpwstr>
  </property>
  <property fmtid="{D5CDD505-2E9C-101B-9397-08002B2CF9AE}" pid="8" name="Description0">
    <vt:lpwstr>Branded Crowe portrait template for PowerPoint</vt:lpwstr>
  </property>
</Properties>
</file>