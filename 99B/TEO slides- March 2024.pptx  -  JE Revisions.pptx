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52" r:id="rId1"/>
  </p:sldMasterIdLst>
  <p:notesMasterIdLst>
    <p:notesMasterId r:id="rId40"/>
  </p:notesMasterIdLst>
  <p:handoutMasterIdLst>
    <p:handoutMasterId r:id="rId41"/>
  </p:handoutMasterIdLst>
  <p:sldIdLst>
    <p:sldId id="294" r:id="rId2"/>
    <p:sldId id="298" r:id="rId3"/>
    <p:sldId id="300" r:id="rId4"/>
    <p:sldId id="299" r:id="rId5"/>
    <p:sldId id="352" r:id="rId6"/>
    <p:sldId id="323" r:id="rId7"/>
    <p:sldId id="301" r:id="rId8"/>
    <p:sldId id="302" r:id="rId9"/>
    <p:sldId id="303" r:id="rId10"/>
    <p:sldId id="311" r:id="rId11"/>
    <p:sldId id="345" r:id="rId12"/>
    <p:sldId id="326" r:id="rId13"/>
    <p:sldId id="346" r:id="rId14"/>
    <p:sldId id="348" r:id="rId15"/>
    <p:sldId id="327" r:id="rId16"/>
    <p:sldId id="349" r:id="rId17"/>
    <p:sldId id="350" r:id="rId18"/>
    <p:sldId id="328" r:id="rId19"/>
    <p:sldId id="329" r:id="rId20"/>
    <p:sldId id="312" r:id="rId21"/>
    <p:sldId id="331" r:id="rId22"/>
    <p:sldId id="332" r:id="rId23"/>
    <p:sldId id="351" r:id="rId24"/>
    <p:sldId id="330" r:id="rId25"/>
    <p:sldId id="333" r:id="rId26"/>
    <p:sldId id="334" r:id="rId27"/>
    <p:sldId id="335" r:id="rId28"/>
    <p:sldId id="336" r:id="rId29"/>
    <p:sldId id="347" r:id="rId30"/>
    <p:sldId id="337" r:id="rId31"/>
    <p:sldId id="339" r:id="rId32"/>
    <p:sldId id="340" r:id="rId33"/>
    <p:sldId id="341" r:id="rId34"/>
    <p:sldId id="342" r:id="rId35"/>
    <p:sldId id="314" r:id="rId36"/>
    <p:sldId id="343" r:id="rId37"/>
    <p:sldId id="344" r:id="rId38"/>
    <p:sldId id="297" r:id="rId39"/>
  </p:sldIdLst>
  <p:sldSz cx="12192000" cy="6858000"/>
  <p:notesSz cx="6797675" cy="9926638"/>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991B1E"/>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11EF3394-85D6-4F3C-8C51-D04AB339B7B7}" v="11" dt="2024-03-12T22:29:35.991"/>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3919" autoAdjust="0"/>
    <p:restoredTop sz="94762" autoAdjust="0"/>
  </p:normalViewPr>
  <p:slideViewPr>
    <p:cSldViewPr snapToGrid="0">
      <p:cViewPr varScale="1">
        <p:scale>
          <a:sx n="149" d="100"/>
          <a:sy n="149" d="100"/>
        </p:scale>
        <p:origin x="108" y="120"/>
      </p:cViewPr>
      <p:guideLst/>
    </p:cSldViewPr>
  </p:slideViewPr>
  <p:outlineViewPr>
    <p:cViewPr>
      <p:scale>
        <a:sx n="33" d="100"/>
        <a:sy n="33" d="100"/>
      </p:scale>
      <p:origin x="0" y="0"/>
    </p:cViewPr>
  </p:outlineViewPr>
  <p:notesTextViewPr>
    <p:cViewPr>
      <p:scale>
        <a:sx n="3" d="2"/>
        <a:sy n="3" d="2"/>
      </p:scale>
      <p:origin x="0" y="0"/>
    </p:cViewPr>
  </p:notesTextViewPr>
  <p:sorterViewPr>
    <p:cViewPr>
      <p:scale>
        <a:sx n="100" d="100"/>
        <a:sy n="100" d="100"/>
      </p:scale>
      <p:origin x="0" y="0"/>
    </p:cViewPr>
  </p:sorterViewPr>
  <p:notesViewPr>
    <p:cSldViewPr snapToGrid="0">
      <p:cViewPr varScale="1">
        <p:scale>
          <a:sx n="87" d="100"/>
          <a:sy n="87" d="100"/>
        </p:scale>
        <p:origin x="3840" y="90"/>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microsoft.com/office/2015/10/relationships/revisionInfo" Target="revisionInfo.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handoutMaster" Target="handoutMasters/handout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notesMaster" Target="notesMasters/notesMaster1.xml"/><Relationship Id="rId45"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viewProps" Target="view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620E68F4-1707-4634-9B5A-D887ACA82444}"/>
              </a:ext>
            </a:extLst>
          </p:cNvPr>
          <p:cNvSpPr>
            <a:spLocks noGrp="1"/>
          </p:cNvSpPr>
          <p:nvPr>
            <p:ph type="hdr" sz="quarter"/>
          </p:nvPr>
        </p:nvSpPr>
        <p:spPr>
          <a:xfrm>
            <a:off x="0" y="0"/>
            <a:ext cx="2945659" cy="498056"/>
          </a:xfrm>
          <a:prstGeom prst="rect">
            <a:avLst/>
          </a:prstGeom>
        </p:spPr>
        <p:txBody>
          <a:bodyPr vert="horz" lIns="91440" tIns="45720" rIns="91440" bIns="45720" rtlCol="0"/>
          <a:lstStyle>
            <a:lvl1pPr algn="l">
              <a:defRPr sz="1200"/>
            </a:lvl1pPr>
          </a:lstStyle>
          <a:p>
            <a:r>
              <a:rPr lang="en-NZ" dirty="0"/>
              <a:t>Tax Issues for Kiwis working, doing business or investing in Australia 2023</a:t>
            </a:r>
            <a:endParaRPr lang="en-AU" dirty="0"/>
          </a:p>
        </p:txBody>
      </p:sp>
      <p:sp>
        <p:nvSpPr>
          <p:cNvPr id="3" name="Date Placeholder 2">
            <a:extLst>
              <a:ext uri="{FF2B5EF4-FFF2-40B4-BE49-F238E27FC236}">
                <a16:creationId xmlns:a16="http://schemas.microsoft.com/office/drawing/2014/main" id="{3019E6FE-BE4E-4210-A981-5612C9AF28E2}"/>
              </a:ext>
            </a:extLst>
          </p:cNvPr>
          <p:cNvSpPr>
            <a:spLocks noGrp="1"/>
          </p:cNvSpPr>
          <p:nvPr>
            <p:ph type="dt" sz="quarter" idx="1"/>
          </p:nvPr>
        </p:nvSpPr>
        <p:spPr>
          <a:xfrm>
            <a:off x="3850443" y="0"/>
            <a:ext cx="2945659" cy="498056"/>
          </a:xfrm>
          <a:prstGeom prst="rect">
            <a:avLst/>
          </a:prstGeom>
        </p:spPr>
        <p:txBody>
          <a:bodyPr vert="horz" lIns="91440" tIns="45720" rIns="91440" bIns="45720" rtlCol="0"/>
          <a:lstStyle>
            <a:lvl1pPr algn="r">
              <a:defRPr sz="1200"/>
            </a:lvl1pPr>
          </a:lstStyle>
          <a:p>
            <a:r>
              <a:rPr lang="en-AU" dirty="0"/>
              <a:t>8/02/2023</a:t>
            </a:r>
          </a:p>
        </p:txBody>
      </p:sp>
      <p:sp>
        <p:nvSpPr>
          <p:cNvPr id="4" name="Footer Placeholder 3">
            <a:extLst>
              <a:ext uri="{FF2B5EF4-FFF2-40B4-BE49-F238E27FC236}">
                <a16:creationId xmlns:a16="http://schemas.microsoft.com/office/drawing/2014/main" id="{153450EF-5C10-4F25-B8B3-166AADBFD331}"/>
              </a:ext>
            </a:extLst>
          </p:cNvPr>
          <p:cNvSpPr>
            <a:spLocks noGrp="1"/>
          </p:cNvSpPr>
          <p:nvPr>
            <p:ph type="ftr" sz="quarter" idx="2"/>
          </p:nvPr>
        </p:nvSpPr>
        <p:spPr>
          <a:xfrm>
            <a:off x="0" y="9428584"/>
            <a:ext cx="2945659" cy="498055"/>
          </a:xfrm>
          <a:prstGeom prst="rect">
            <a:avLst/>
          </a:prstGeom>
        </p:spPr>
        <p:txBody>
          <a:bodyPr vert="horz" lIns="91440" tIns="45720" rIns="91440" bIns="45720" rtlCol="0" anchor="b"/>
          <a:lstStyle>
            <a:lvl1pPr algn="l">
              <a:defRPr sz="1200"/>
            </a:lvl1pPr>
          </a:lstStyle>
          <a:p>
            <a:endParaRPr lang="en-AU" dirty="0"/>
          </a:p>
        </p:txBody>
      </p:sp>
      <p:sp>
        <p:nvSpPr>
          <p:cNvPr id="5" name="Slide Number Placeholder 4">
            <a:extLst>
              <a:ext uri="{FF2B5EF4-FFF2-40B4-BE49-F238E27FC236}">
                <a16:creationId xmlns:a16="http://schemas.microsoft.com/office/drawing/2014/main" id="{6CDBAD91-5B5B-4485-9AB4-9D56066DC80F}"/>
              </a:ext>
            </a:extLst>
          </p:cNvPr>
          <p:cNvSpPr>
            <a:spLocks noGrp="1"/>
          </p:cNvSpPr>
          <p:nvPr>
            <p:ph type="sldNum" sz="quarter" idx="3"/>
          </p:nvPr>
        </p:nvSpPr>
        <p:spPr>
          <a:xfrm>
            <a:off x="3850443" y="9428584"/>
            <a:ext cx="2945659" cy="498055"/>
          </a:xfrm>
          <a:prstGeom prst="rect">
            <a:avLst/>
          </a:prstGeom>
        </p:spPr>
        <p:txBody>
          <a:bodyPr vert="horz" lIns="91440" tIns="45720" rIns="91440" bIns="45720" rtlCol="0" anchor="b"/>
          <a:lstStyle>
            <a:lvl1pPr algn="r">
              <a:defRPr sz="1200"/>
            </a:lvl1pPr>
          </a:lstStyle>
          <a:p>
            <a:fld id="{D0A8E268-4831-4489-A70C-FB2DE9FB10BD}" type="slidenum">
              <a:rPr lang="en-AU" smtClean="0"/>
              <a:t>‹#›</a:t>
            </a:fld>
            <a:endParaRPr lang="en-AU" dirty="0"/>
          </a:p>
        </p:txBody>
      </p:sp>
    </p:spTree>
    <p:extLst>
      <p:ext uri="{BB962C8B-B14F-4D97-AF65-F5344CB8AC3E}">
        <p14:creationId xmlns:p14="http://schemas.microsoft.com/office/powerpoint/2010/main" val="1574029286"/>
      </p:ext>
    </p:extLst>
  </p:cSld>
  <p:clrMap bg1="lt1" tx1="dk1" bg2="lt2" tx2="dk2" accent1="accent1" accent2="accent2" accent3="accent3" accent4="accent4" accent5="accent5" accent6="accent6" hlink="hlink" folHlink="folHlink"/>
  <p:hf ftr="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45659" cy="498056"/>
          </a:xfrm>
          <a:prstGeom prst="rect">
            <a:avLst/>
          </a:prstGeom>
        </p:spPr>
        <p:txBody>
          <a:bodyPr vert="horz" lIns="91440" tIns="45720" rIns="91440" bIns="45720" rtlCol="0"/>
          <a:lstStyle>
            <a:lvl1pPr algn="l">
              <a:defRPr sz="1200"/>
            </a:lvl1pPr>
          </a:lstStyle>
          <a:p>
            <a:r>
              <a:rPr lang="en-NZ" dirty="0"/>
              <a:t>Tax Issues for Kiwis working, doing business or investing in Australia 2023</a:t>
            </a:r>
            <a:endParaRPr lang="en-AU" dirty="0"/>
          </a:p>
        </p:txBody>
      </p:sp>
      <p:sp>
        <p:nvSpPr>
          <p:cNvPr id="3" name="Date Placeholder 2"/>
          <p:cNvSpPr>
            <a:spLocks noGrp="1"/>
          </p:cNvSpPr>
          <p:nvPr>
            <p:ph type="dt" idx="1"/>
          </p:nvPr>
        </p:nvSpPr>
        <p:spPr>
          <a:xfrm>
            <a:off x="3850443" y="0"/>
            <a:ext cx="2945659" cy="498056"/>
          </a:xfrm>
          <a:prstGeom prst="rect">
            <a:avLst/>
          </a:prstGeom>
        </p:spPr>
        <p:txBody>
          <a:bodyPr vert="horz" lIns="91440" tIns="45720" rIns="91440" bIns="45720" rtlCol="0"/>
          <a:lstStyle>
            <a:lvl1pPr algn="r">
              <a:defRPr sz="1200"/>
            </a:lvl1pPr>
          </a:lstStyle>
          <a:p>
            <a:r>
              <a:rPr lang="en-AU" dirty="0"/>
              <a:t>8/02/2023</a:t>
            </a:r>
          </a:p>
        </p:txBody>
      </p:sp>
      <p:sp>
        <p:nvSpPr>
          <p:cNvPr id="4" name="Slide Image Placeholder 3"/>
          <p:cNvSpPr>
            <a:spLocks noGrp="1" noRot="1" noChangeAspect="1"/>
          </p:cNvSpPr>
          <p:nvPr>
            <p:ph type="sldImg" idx="2"/>
          </p:nvPr>
        </p:nvSpPr>
        <p:spPr>
          <a:xfrm>
            <a:off x="422275" y="1241425"/>
            <a:ext cx="5953125" cy="3349625"/>
          </a:xfrm>
          <a:prstGeom prst="rect">
            <a:avLst/>
          </a:prstGeom>
          <a:noFill/>
          <a:ln w="12700">
            <a:solidFill>
              <a:prstClr val="black"/>
            </a:solidFill>
          </a:ln>
        </p:spPr>
        <p:txBody>
          <a:bodyPr vert="horz" lIns="91440" tIns="45720" rIns="91440" bIns="45720" rtlCol="0" anchor="ctr"/>
          <a:lstStyle/>
          <a:p>
            <a:endParaRPr lang="en-AU" dirty="0"/>
          </a:p>
        </p:txBody>
      </p:sp>
      <p:sp>
        <p:nvSpPr>
          <p:cNvPr id="5" name="Notes Placeholder 4"/>
          <p:cNvSpPr>
            <a:spLocks noGrp="1"/>
          </p:cNvSpPr>
          <p:nvPr>
            <p:ph type="body" sz="quarter" idx="3"/>
          </p:nvPr>
        </p:nvSpPr>
        <p:spPr>
          <a:xfrm>
            <a:off x="679768" y="4777194"/>
            <a:ext cx="5438140" cy="3908614"/>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6" name="Footer Placeholder 5"/>
          <p:cNvSpPr>
            <a:spLocks noGrp="1"/>
          </p:cNvSpPr>
          <p:nvPr>
            <p:ph type="ftr" sz="quarter" idx="4"/>
          </p:nvPr>
        </p:nvSpPr>
        <p:spPr>
          <a:xfrm>
            <a:off x="0" y="9428584"/>
            <a:ext cx="2945659" cy="498055"/>
          </a:xfrm>
          <a:prstGeom prst="rect">
            <a:avLst/>
          </a:prstGeom>
        </p:spPr>
        <p:txBody>
          <a:bodyPr vert="horz" lIns="91440" tIns="45720" rIns="91440" bIns="45720" rtlCol="0" anchor="b"/>
          <a:lstStyle>
            <a:lvl1pPr algn="l">
              <a:defRPr sz="1200"/>
            </a:lvl1pPr>
          </a:lstStyle>
          <a:p>
            <a:endParaRPr lang="en-AU" dirty="0"/>
          </a:p>
        </p:txBody>
      </p:sp>
      <p:sp>
        <p:nvSpPr>
          <p:cNvPr id="7" name="Slide Number Placeholder 6"/>
          <p:cNvSpPr>
            <a:spLocks noGrp="1"/>
          </p:cNvSpPr>
          <p:nvPr>
            <p:ph type="sldNum" sz="quarter" idx="5"/>
          </p:nvPr>
        </p:nvSpPr>
        <p:spPr>
          <a:xfrm>
            <a:off x="3850443" y="9428584"/>
            <a:ext cx="2945659" cy="498055"/>
          </a:xfrm>
          <a:prstGeom prst="rect">
            <a:avLst/>
          </a:prstGeom>
        </p:spPr>
        <p:txBody>
          <a:bodyPr vert="horz" lIns="91440" tIns="45720" rIns="91440" bIns="45720" rtlCol="0" anchor="b"/>
          <a:lstStyle>
            <a:lvl1pPr algn="r">
              <a:defRPr sz="1200"/>
            </a:lvl1pPr>
          </a:lstStyle>
          <a:p>
            <a:fld id="{5C72805F-138B-4FB9-BB6A-6BB00438C459}" type="slidenum">
              <a:rPr lang="en-AU" smtClean="0"/>
              <a:t>‹#›</a:t>
            </a:fld>
            <a:endParaRPr lang="en-AU" dirty="0"/>
          </a:p>
        </p:txBody>
      </p:sp>
    </p:spTree>
    <p:extLst>
      <p:ext uri="{BB962C8B-B14F-4D97-AF65-F5344CB8AC3E}">
        <p14:creationId xmlns:p14="http://schemas.microsoft.com/office/powerpoint/2010/main" val="4052296130"/>
      </p:ext>
    </p:extLst>
  </p:cSld>
  <p:clrMap bg1="lt1" tx1="dk1" bg2="lt2" tx2="dk2" accent1="accent1" accent2="accent2" accent3="accent3" accent4="accent4" accent5="accent5" accent6="accent6" hlink="hlink" folHlink="folHlink"/>
  <p:hf ftr="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4.jpg"/><Relationship Id="rId7" Type="http://schemas.openxmlformats.org/officeDocument/2006/relationships/image" Target="../media/image1.png"/><Relationship Id="rId2" Type="http://schemas.openxmlformats.org/officeDocument/2006/relationships/image" Target="../media/image3.png"/><Relationship Id="rId1" Type="http://schemas.openxmlformats.org/officeDocument/2006/relationships/slideMaster" Target="../slideMasters/slideMaster1.xml"/><Relationship Id="rId6" Type="http://schemas.openxmlformats.org/officeDocument/2006/relationships/image" Target="../media/image6.svg"/><Relationship Id="rId5" Type="http://schemas.openxmlformats.org/officeDocument/2006/relationships/image" Target="../media/image5.png"/><Relationship Id="rId4" Type="http://schemas.openxmlformats.org/officeDocument/2006/relationships/image" Target="../media/image2.png"/></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Standard Content Slide - O">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986C51C0-B4B8-437C-887D-788882365E1D}"/>
              </a:ext>
            </a:extLst>
          </p:cNvPr>
          <p:cNvSpPr>
            <a:spLocks noGrp="1"/>
          </p:cNvSpPr>
          <p:nvPr>
            <p:ph idx="1"/>
          </p:nvPr>
        </p:nvSpPr>
        <p:spPr>
          <a:xfrm>
            <a:off x="628650" y="1264671"/>
            <a:ext cx="10934700" cy="4603878"/>
          </a:xfrm>
          <a:prstGeom prst="rect">
            <a:avLst/>
          </a:prstGeom>
        </p:spPr>
        <p:txBody>
          <a:bodyPr>
            <a:normAutofit/>
          </a:bodyPr>
          <a:lstStyle>
            <a:lvl1pPr>
              <a:defRPr sz="2800">
                <a:latin typeface="Arial" panose="020B0604020202020204" pitchFamily="34" charset="0"/>
                <a:cs typeface="Arial" panose="020B0604020202020204" pitchFamily="34" charset="0"/>
              </a:defRPr>
            </a:lvl1pPr>
            <a:lvl2pPr>
              <a:defRPr sz="2400">
                <a:latin typeface="Arial" panose="020B0604020202020204" pitchFamily="34" charset="0"/>
                <a:cs typeface="Arial" panose="020B0604020202020204" pitchFamily="34" charset="0"/>
              </a:defRPr>
            </a:lvl2pPr>
            <a:lvl3pPr>
              <a:defRPr sz="2000">
                <a:latin typeface="Arial" panose="020B0604020202020204" pitchFamily="34" charset="0"/>
                <a:cs typeface="Arial" panose="020B0604020202020204" pitchFamily="34" charset="0"/>
              </a:defRPr>
            </a:lvl3pPr>
            <a:lvl4pPr>
              <a:defRPr sz="1800">
                <a:latin typeface="Arial" panose="020B0604020202020204" pitchFamily="34" charset="0"/>
                <a:cs typeface="Arial" panose="020B0604020202020204" pitchFamily="34" charset="0"/>
              </a:defRPr>
            </a:lvl4pPr>
            <a:lvl5pPr>
              <a:defRPr sz="1800">
                <a:latin typeface="Arial" panose="020B0604020202020204" pitchFamily="34" charset="0"/>
                <a:cs typeface="Arial" panose="020B0604020202020204" pitchFamily="34" charset="0"/>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AU" dirty="0"/>
          </a:p>
        </p:txBody>
      </p:sp>
      <p:sp>
        <p:nvSpPr>
          <p:cNvPr id="8" name="Title 1">
            <a:extLst>
              <a:ext uri="{FF2B5EF4-FFF2-40B4-BE49-F238E27FC236}">
                <a16:creationId xmlns:a16="http://schemas.microsoft.com/office/drawing/2014/main" id="{DE6A3945-5995-4DCC-BF15-9A1EB44E8594}"/>
              </a:ext>
            </a:extLst>
          </p:cNvPr>
          <p:cNvSpPr>
            <a:spLocks noGrp="1"/>
          </p:cNvSpPr>
          <p:nvPr>
            <p:ph type="title"/>
          </p:nvPr>
        </p:nvSpPr>
        <p:spPr>
          <a:xfrm>
            <a:off x="628650" y="365126"/>
            <a:ext cx="10934700" cy="885628"/>
          </a:xfrm>
          <a:prstGeom prst="rect">
            <a:avLst/>
          </a:prstGeom>
        </p:spPr>
        <p:txBody>
          <a:bodyPr>
            <a:normAutofit/>
          </a:bodyPr>
          <a:lstStyle>
            <a:lvl1pPr>
              <a:defRPr sz="3400">
                <a:solidFill>
                  <a:srgbClr val="991B1E"/>
                </a:solidFill>
                <a:latin typeface="Arial" panose="020B0604020202020204" pitchFamily="34" charset="0"/>
                <a:cs typeface="Arial" panose="020B0604020202020204" pitchFamily="34" charset="0"/>
              </a:defRPr>
            </a:lvl1pPr>
          </a:lstStyle>
          <a:p>
            <a:r>
              <a:rPr lang="en-US" dirty="0"/>
              <a:t>Click to edit Master title style</a:t>
            </a:r>
            <a:endParaRPr lang="en-AU" dirty="0"/>
          </a:p>
        </p:txBody>
      </p:sp>
      <p:grpSp>
        <p:nvGrpSpPr>
          <p:cNvPr id="16" name="Group 15">
            <a:extLst>
              <a:ext uri="{FF2B5EF4-FFF2-40B4-BE49-F238E27FC236}">
                <a16:creationId xmlns:a16="http://schemas.microsoft.com/office/drawing/2014/main" id="{8741056E-76A9-4288-AE98-B51912ABB289}"/>
              </a:ext>
            </a:extLst>
          </p:cNvPr>
          <p:cNvGrpSpPr/>
          <p:nvPr userDrawn="1"/>
        </p:nvGrpSpPr>
        <p:grpSpPr>
          <a:xfrm>
            <a:off x="9194035" y="6143147"/>
            <a:ext cx="2731999" cy="648653"/>
            <a:chOff x="8952495" y="6143147"/>
            <a:chExt cx="2731999" cy="648653"/>
          </a:xfrm>
        </p:grpSpPr>
        <p:pic>
          <p:nvPicPr>
            <p:cNvPr id="18" name="Picture 17">
              <a:extLst>
                <a:ext uri="{FF2B5EF4-FFF2-40B4-BE49-F238E27FC236}">
                  <a16:creationId xmlns:a16="http://schemas.microsoft.com/office/drawing/2014/main" id="{D0C4E77F-8DBA-4EF1-93F1-3ED715883ACF}"/>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9847868" y="6322611"/>
              <a:ext cx="953738" cy="291465"/>
            </a:xfrm>
            <a:prstGeom prst="rect">
              <a:avLst/>
            </a:prstGeom>
          </p:spPr>
        </p:pic>
        <p:pic>
          <p:nvPicPr>
            <p:cNvPr id="19" name="Picture 18">
              <a:extLst>
                <a:ext uri="{FF2B5EF4-FFF2-40B4-BE49-F238E27FC236}">
                  <a16:creationId xmlns:a16="http://schemas.microsoft.com/office/drawing/2014/main" id="{C2A4D3E7-F4D6-4AA1-A902-FCC6A03B4E2E}"/>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8952495" y="6405708"/>
              <a:ext cx="584938" cy="194718"/>
            </a:xfrm>
            <a:prstGeom prst="rect">
              <a:avLst/>
            </a:prstGeom>
          </p:spPr>
        </p:pic>
        <p:pic>
          <p:nvPicPr>
            <p:cNvPr id="20" name="Picture 2">
              <a:extLst>
                <a:ext uri="{FF2B5EF4-FFF2-40B4-BE49-F238E27FC236}">
                  <a16:creationId xmlns:a16="http://schemas.microsoft.com/office/drawing/2014/main" id="{E0A62277-2839-4336-9296-18D6993BBE5B}"/>
                </a:ext>
              </a:extLst>
            </p:cNvPr>
            <p:cNvPicPr>
              <a:picLocks noChangeAspect="1" noChangeArrowheads="1"/>
            </p:cNvPicPr>
            <p:nvPr userDrawn="1"/>
          </p:nvPicPr>
          <p:blipFill>
            <a:blip r:embed="rId4">
              <a:extLst>
                <a:ext uri="{28A0092B-C50C-407E-A947-70E740481C1C}">
                  <a14:useLocalDpi xmlns:a14="http://schemas.microsoft.com/office/drawing/2010/main" val="0"/>
                </a:ext>
              </a:extLst>
            </a:blip>
            <a:srcRect/>
            <a:stretch>
              <a:fillRect/>
            </a:stretch>
          </p:blipFill>
          <p:spPr bwMode="auto">
            <a:xfrm>
              <a:off x="11035841" y="6143147"/>
              <a:ext cx="648653" cy="64865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spTree>
    <p:extLst>
      <p:ext uri="{BB962C8B-B14F-4D97-AF65-F5344CB8AC3E}">
        <p14:creationId xmlns:p14="http://schemas.microsoft.com/office/powerpoint/2010/main" val="4165573577"/>
      </p:ext>
    </p:extLst>
  </p:cSld>
  <p:clrMapOvr>
    <a:masterClrMapping/>
  </p:clrMapOvr>
  <p:extLst>
    <p:ext uri="{DCECCB84-F9BA-43D5-87BE-67443E8EF086}">
      <p15:sldGuideLst xmlns:p15="http://schemas.microsoft.com/office/powerpoint/2012/main">
        <p15:guide id="1" orient="horz" pos="3634">
          <p15:clr>
            <a:srgbClr val="FBAE40"/>
          </p15:clr>
        </p15:guide>
        <p15:guide id="2" pos="3840">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userDrawn="1">
  <p:cSld name="Title Slide">
    <p:spTree>
      <p:nvGrpSpPr>
        <p:cNvPr id="1" name=""/>
        <p:cNvGrpSpPr/>
        <p:nvPr/>
      </p:nvGrpSpPr>
      <p:grpSpPr>
        <a:xfrm>
          <a:off x="0" y="0"/>
          <a:ext cx="0" cy="0"/>
          <a:chOff x="0" y="0"/>
          <a:chExt cx="0" cy="0"/>
        </a:xfrm>
      </p:grpSpPr>
      <p:sp>
        <p:nvSpPr>
          <p:cNvPr id="8" name="Title 1">
            <a:extLst>
              <a:ext uri="{FF2B5EF4-FFF2-40B4-BE49-F238E27FC236}">
                <a16:creationId xmlns:a16="http://schemas.microsoft.com/office/drawing/2014/main" id="{CE38EDBD-8778-4290-948E-0B339569329A}"/>
              </a:ext>
            </a:extLst>
          </p:cNvPr>
          <p:cNvSpPr>
            <a:spLocks noGrp="1"/>
          </p:cNvSpPr>
          <p:nvPr>
            <p:ph type="title" hasCustomPrompt="1"/>
          </p:nvPr>
        </p:nvSpPr>
        <p:spPr>
          <a:xfrm>
            <a:off x="838200" y="2822001"/>
            <a:ext cx="10515600" cy="1325563"/>
          </a:xfrm>
          <a:prstGeom prst="rect">
            <a:avLst/>
          </a:prstGeom>
        </p:spPr>
        <p:txBody>
          <a:bodyPr>
            <a:normAutofit/>
          </a:bodyPr>
          <a:lstStyle>
            <a:lvl1pPr>
              <a:defRPr sz="4000">
                <a:solidFill>
                  <a:schemeClr val="bg1"/>
                </a:solidFill>
                <a:latin typeface="Arial" panose="020B0604020202020204" pitchFamily="34" charset="0"/>
                <a:cs typeface="Arial" panose="020B0604020202020204" pitchFamily="34" charset="0"/>
              </a:defRPr>
            </a:lvl1pPr>
          </a:lstStyle>
          <a:p>
            <a:r>
              <a:rPr lang="en-US" dirty="0"/>
              <a:t>Title here</a:t>
            </a:r>
            <a:endParaRPr lang="en-AU" dirty="0"/>
          </a:p>
        </p:txBody>
      </p:sp>
      <p:sp>
        <p:nvSpPr>
          <p:cNvPr id="4" name="Rectangle 3">
            <a:extLst>
              <a:ext uri="{FF2B5EF4-FFF2-40B4-BE49-F238E27FC236}">
                <a16:creationId xmlns:a16="http://schemas.microsoft.com/office/drawing/2014/main" id="{68C31E7B-1933-4297-88DA-36C8230AD87E}"/>
              </a:ext>
            </a:extLst>
          </p:cNvPr>
          <p:cNvSpPr/>
          <p:nvPr userDrawn="1"/>
        </p:nvSpPr>
        <p:spPr>
          <a:xfrm>
            <a:off x="9735127" y="6642556"/>
            <a:ext cx="5486400" cy="215444"/>
          </a:xfrm>
          <a:prstGeom prst="rect">
            <a:avLst/>
          </a:prstGeom>
        </p:spPr>
        <p:txBody>
          <a:bodyPr wrap="square">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en-AU" sz="800" dirty="0">
                <a:solidFill>
                  <a:schemeClr val="bg1"/>
                </a:solidFill>
                <a:latin typeface="Arial" panose="020B0604020202020204" pitchFamily="34" charset="0"/>
                <a:cs typeface="Arial" panose="020B0604020202020204" pitchFamily="34" charset="0"/>
              </a:rPr>
              <a:t>© Findex Group Limited 2019. All rights reserved.</a:t>
            </a:r>
          </a:p>
        </p:txBody>
      </p:sp>
      <p:pic>
        <p:nvPicPr>
          <p:cNvPr id="5" name="Picture 4">
            <a:extLst>
              <a:ext uri="{FF2B5EF4-FFF2-40B4-BE49-F238E27FC236}">
                <a16:creationId xmlns:a16="http://schemas.microsoft.com/office/drawing/2014/main" id="{620B953B-586E-43AC-A271-75460CB5F62F}"/>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5567754" y="-47779"/>
            <a:ext cx="1056492" cy="1056492"/>
          </a:xfrm>
          <a:prstGeom prst="rect">
            <a:avLst/>
          </a:prstGeom>
        </p:spPr>
      </p:pic>
      <p:pic>
        <p:nvPicPr>
          <p:cNvPr id="6" name="Picture 5">
            <a:extLst>
              <a:ext uri="{FF2B5EF4-FFF2-40B4-BE49-F238E27FC236}">
                <a16:creationId xmlns:a16="http://schemas.microsoft.com/office/drawing/2014/main" id="{348B2C01-4E28-43CD-A700-BDAEBD3364E4}"/>
              </a:ext>
            </a:extLst>
          </p:cNvPr>
          <p:cNvPicPr>
            <a:picLocks noChangeAspect="1"/>
          </p:cNvPicPr>
          <p:nvPr userDrawn="1"/>
        </p:nvPicPr>
        <p:blipFill rotWithShape="1">
          <a:blip r:embed="rId3">
            <a:extLst>
              <a:ext uri="{28A0092B-C50C-407E-A947-70E740481C1C}">
                <a14:useLocalDpi xmlns:a14="http://schemas.microsoft.com/office/drawing/2010/main" val="0"/>
              </a:ext>
            </a:extLst>
          </a:blip>
          <a:srcRect t="25729" b="12383"/>
          <a:stretch/>
        </p:blipFill>
        <p:spPr>
          <a:xfrm>
            <a:off x="1" y="991129"/>
            <a:ext cx="12191996" cy="4927071"/>
          </a:xfrm>
          <a:prstGeom prst="rect">
            <a:avLst/>
          </a:prstGeom>
          <a:solidFill>
            <a:schemeClr val="bg1"/>
          </a:solidFill>
        </p:spPr>
      </p:pic>
      <p:pic>
        <p:nvPicPr>
          <p:cNvPr id="10" name="Picture 9">
            <a:extLst>
              <a:ext uri="{FF2B5EF4-FFF2-40B4-BE49-F238E27FC236}">
                <a16:creationId xmlns:a16="http://schemas.microsoft.com/office/drawing/2014/main" id="{62A51124-5882-4BA2-91AA-3D45130BD8D7}"/>
              </a:ext>
            </a:extLst>
          </p:cNvPr>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838200" y="6325878"/>
            <a:ext cx="951318" cy="316678"/>
          </a:xfrm>
          <a:prstGeom prst="rect">
            <a:avLst/>
          </a:prstGeom>
        </p:spPr>
      </p:pic>
      <p:pic>
        <p:nvPicPr>
          <p:cNvPr id="11" name="Graphic 10">
            <a:extLst>
              <a:ext uri="{FF2B5EF4-FFF2-40B4-BE49-F238E27FC236}">
                <a16:creationId xmlns:a16="http://schemas.microsoft.com/office/drawing/2014/main" id="{9E04E9B3-7DFA-491C-A714-D4089C2963E9}"/>
              </a:ext>
            </a:extLst>
          </p:cNvPr>
          <p:cNvPicPr>
            <a:picLocks noChangeAspect="1"/>
          </p:cNvPicPr>
          <p:nvPr userDrawn="1"/>
        </p:nvPicPr>
        <p:blipFill>
          <a:blip r:embed="rId5">
            <a:extLst>
              <a:ext uri="{96DAC541-7B7A-43D3-8B79-37D633B846F1}">
                <asvg:svgBlip xmlns:asvg="http://schemas.microsoft.com/office/drawing/2016/SVG/main" r:embed="rId6"/>
              </a:ext>
            </a:extLst>
          </a:blip>
          <a:stretch>
            <a:fillRect/>
          </a:stretch>
        </p:blipFill>
        <p:spPr>
          <a:xfrm>
            <a:off x="5472544" y="6224182"/>
            <a:ext cx="1246912" cy="395110"/>
          </a:xfrm>
          <a:prstGeom prst="rect">
            <a:avLst/>
          </a:prstGeom>
        </p:spPr>
      </p:pic>
      <p:pic>
        <p:nvPicPr>
          <p:cNvPr id="12" name="Picture 11">
            <a:extLst>
              <a:ext uri="{FF2B5EF4-FFF2-40B4-BE49-F238E27FC236}">
                <a16:creationId xmlns:a16="http://schemas.microsoft.com/office/drawing/2014/main" id="{ABB328C8-F32A-499B-AB65-CA66563F540B}"/>
              </a:ext>
            </a:extLst>
          </p:cNvPr>
          <p:cNvPicPr>
            <a:picLocks noChangeAspect="1"/>
          </p:cNvPicPr>
          <p:nvPr userDrawn="1"/>
        </p:nvPicPr>
        <p:blipFill>
          <a:blip r:embed="rId7">
            <a:extLst>
              <a:ext uri="{28A0092B-C50C-407E-A947-70E740481C1C}">
                <a14:useLocalDpi xmlns:a14="http://schemas.microsoft.com/office/drawing/2010/main" val="0"/>
              </a:ext>
            </a:extLst>
          </a:blip>
          <a:stretch>
            <a:fillRect/>
          </a:stretch>
        </p:blipFill>
        <p:spPr>
          <a:xfrm>
            <a:off x="10402482" y="6231280"/>
            <a:ext cx="1357838" cy="414958"/>
          </a:xfrm>
          <a:prstGeom prst="rect">
            <a:avLst/>
          </a:prstGeom>
        </p:spPr>
      </p:pic>
      <p:sp>
        <p:nvSpPr>
          <p:cNvPr id="13" name="Title 1">
            <a:extLst>
              <a:ext uri="{FF2B5EF4-FFF2-40B4-BE49-F238E27FC236}">
                <a16:creationId xmlns:a16="http://schemas.microsoft.com/office/drawing/2014/main" id="{D7681B70-FFD6-4442-9ED4-E9761DE8D874}"/>
              </a:ext>
            </a:extLst>
          </p:cNvPr>
          <p:cNvSpPr txBox="1">
            <a:spLocks/>
          </p:cNvSpPr>
          <p:nvPr userDrawn="1"/>
        </p:nvSpPr>
        <p:spPr>
          <a:xfrm>
            <a:off x="4" y="4555243"/>
            <a:ext cx="12209926" cy="1362956"/>
          </a:xfrm>
          <a:prstGeom prst="rect">
            <a:avLst/>
          </a:prstGeom>
          <a:solidFill>
            <a:schemeClr val="dk1">
              <a:alpha val="62000"/>
            </a:schemeClr>
          </a:solidFill>
          <a:ln>
            <a:noFill/>
          </a:ln>
        </p:spPr>
        <p:style>
          <a:lnRef idx="0">
            <a:scrgbClr r="0" g="0" b="0"/>
          </a:lnRef>
          <a:fillRef idx="0">
            <a:scrgbClr r="0" g="0" b="0"/>
          </a:fillRef>
          <a:effectRef idx="0">
            <a:scrgbClr r="0" g="0" b="0"/>
          </a:effectRef>
          <a:fontRef idx="minor">
            <a:schemeClr val="lt1"/>
          </a:fontRef>
        </p:style>
        <p:txBody>
          <a:bodyPr lIns="324000" tIns="72000"/>
          <a:lstStyle>
            <a:lvl1pPr algn="l" defTabSz="914400" rtl="0" eaLnBrk="1" latinLnBrk="0" hangingPunct="1">
              <a:lnSpc>
                <a:spcPct val="90000"/>
              </a:lnSpc>
              <a:spcBef>
                <a:spcPct val="0"/>
              </a:spcBef>
              <a:buNone/>
              <a:defRPr sz="4400" kern="1200">
                <a:solidFill>
                  <a:schemeClr val="bg1"/>
                </a:solidFill>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lang="en-AU" sz="2800" dirty="0">
                <a:effectLst/>
                <a:latin typeface="Calibri" panose="020F0502020204030204" pitchFamily="34" charset="0"/>
                <a:ea typeface="Calibri" panose="020F0502020204030204" pitchFamily="34" charset="0"/>
                <a:cs typeface="Times New Roman" panose="02020603050405020304" pitchFamily="18" charset="0"/>
              </a:rPr>
              <a:t>Tax Issues for Kiwis working, doing business or investing in Australia 2023</a:t>
            </a:r>
            <a:br>
              <a:rPr lang="en-US" sz="2800" dirty="0">
                <a:latin typeface="Arial" panose="020B0604020202020204" pitchFamily="34" charset="0"/>
                <a:cs typeface="Arial" panose="020B0604020202020204" pitchFamily="34" charset="0"/>
              </a:rPr>
            </a:br>
            <a:r>
              <a:rPr lang="en-AU" sz="1600" b="1" dirty="0">
                <a:latin typeface="Arial" panose="020B0604020202020204" pitchFamily="34" charset="0"/>
                <a:cs typeface="Arial" panose="020B0604020202020204" pitchFamily="34" charset="0"/>
              </a:rPr>
              <a:t>Alex Duonis,  </a:t>
            </a:r>
            <a:r>
              <a:rPr lang="en-US" sz="1600" dirty="0">
                <a:latin typeface="Arial" panose="020B0604020202020204" pitchFamily="34" charset="0"/>
                <a:cs typeface="Arial" panose="020B0604020202020204" pitchFamily="34" charset="0"/>
              </a:rPr>
              <a:t>Partner – Tax Advisory</a:t>
            </a:r>
            <a:r>
              <a:rPr lang="en-AU" sz="1600" dirty="0">
                <a:latin typeface="Arial" panose="020B0604020202020204" pitchFamily="34" charset="0"/>
                <a:cs typeface="Arial" panose="020B0604020202020204" pitchFamily="34" charset="0"/>
              </a:rPr>
              <a:t>,  Findex/Crowe</a:t>
            </a:r>
          </a:p>
          <a:p>
            <a:endParaRPr lang="en-AU" sz="1800" dirty="0">
              <a:latin typeface="Arial" panose="020B0604020202020204" pitchFamily="34" charset="0"/>
              <a:cs typeface="Arial" panose="020B0604020202020204" pitchFamily="34" charset="0"/>
            </a:endParaRPr>
          </a:p>
          <a:p>
            <a:r>
              <a:rPr lang="en-AU" sz="1400" dirty="0">
                <a:latin typeface="Arial" panose="020B0604020202020204" pitchFamily="34" charset="0"/>
                <a:cs typeface="Arial" panose="020B0604020202020204" pitchFamily="34" charset="0"/>
              </a:rPr>
              <a:t>08 February 2023</a:t>
            </a:r>
          </a:p>
          <a:p>
            <a:endParaRPr lang="en-AU" sz="1400" dirty="0">
              <a:latin typeface="Arial" panose="020B0604020202020204" pitchFamily="34" charset="0"/>
              <a:cs typeface="Arial" panose="020B0604020202020204" pitchFamily="34" charset="0"/>
            </a:endParaRPr>
          </a:p>
          <a:p>
            <a:endParaRPr lang="en-AU" sz="4400" dirty="0"/>
          </a:p>
          <a:p>
            <a:endParaRPr lang="en-AU" sz="4400" dirty="0"/>
          </a:p>
        </p:txBody>
      </p:sp>
    </p:spTree>
    <p:extLst>
      <p:ext uri="{BB962C8B-B14F-4D97-AF65-F5344CB8AC3E}">
        <p14:creationId xmlns:p14="http://schemas.microsoft.com/office/powerpoint/2010/main" val="3216903529"/>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455030084"/>
      </p:ext>
    </p:extLst>
  </p:cSld>
  <p:clrMap bg1="lt1" tx1="dk1" bg2="lt2" tx2="dk2" accent1="accent1" accent2="accent2" accent3="accent3" accent4="accent4" accent5="accent5" accent6="accent6" hlink="hlink" folHlink="folHlink"/>
  <p:sldLayoutIdLst>
    <p:sldLayoutId id="2147483665" r:id="rId1"/>
    <p:sldLayoutId id="2147483702" r:id="rId2"/>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2" Type="http://schemas.openxmlformats.org/officeDocument/2006/relationships/hyperlink" Target="https://www.austlii.edu.au/cgi-bin/viewdoc/au/cases/cth/AATA/2019/2043.html" TargetMode="External"/><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5FE311-1473-4B2B-889C-7F7CD6B2F617}"/>
              </a:ext>
            </a:extLst>
          </p:cNvPr>
          <p:cNvSpPr>
            <a:spLocks noGrp="1"/>
          </p:cNvSpPr>
          <p:nvPr>
            <p:ph type="title"/>
          </p:nvPr>
        </p:nvSpPr>
        <p:spPr>
          <a:xfrm>
            <a:off x="735889" y="1420984"/>
            <a:ext cx="10515600" cy="1325563"/>
          </a:xfrm>
        </p:spPr>
        <p:txBody>
          <a:bodyPr>
            <a:normAutofit fontScale="90000"/>
          </a:bodyPr>
          <a:lstStyle/>
          <a:p>
            <a:r>
              <a:rPr lang="en-US" dirty="0"/>
              <a:t>Australian kids or relatives? Australian tax considerations Kiwis should be aware of when passing wealth over ditch.</a:t>
            </a:r>
            <a:endParaRPr lang="en-AU" dirty="0"/>
          </a:p>
        </p:txBody>
      </p:sp>
    </p:spTree>
    <p:extLst>
      <p:ext uri="{BB962C8B-B14F-4D97-AF65-F5344CB8AC3E}">
        <p14:creationId xmlns:p14="http://schemas.microsoft.com/office/powerpoint/2010/main" val="255366430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2BCA3495-3D29-417E-BD53-B98E33E44E2E}"/>
              </a:ext>
            </a:extLst>
          </p:cNvPr>
          <p:cNvSpPr>
            <a:spLocks noGrp="1"/>
          </p:cNvSpPr>
          <p:nvPr>
            <p:ph type="sldNum" sz="quarter" idx="4294967295"/>
          </p:nvPr>
        </p:nvSpPr>
        <p:spPr>
          <a:xfrm>
            <a:off x="0" y="0"/>
            <a:ext cx="0" cy="0"/>
          </a:xfrm>
        </p:spPr>
        <p:txBody>
          <a:bodyPr/>
          <a:lstStyle/>
          <a:p>
            <a:fld id="{012B57A3-472B-4DD1-82D5-6C079C044B56}" type="slidenum">
              <a:rPr lang="en-AU" smtClean="0"/>
              <a:pPr/>
              <a:t>2</a:t>
            </a:fld>
            <a:endParaRPr lang="en-AU" dirty="0"/>
          </a:p>
        </p:txBody>
      </p:sp>
      <p:sp>
        <p:nvSpPr>
          <p:cNvPr id="3" name="Title 1">
            <a:extLst>
              <a:ext uri="{FF2B5EF4-FFF2-40B4-BE49-F238E27FC236}">
                <a16:creationId xmlns:a16="http://schemas.microsoft.com/office/drawing/2014/main" id="{D5EF3539-D61B-4A45-8FA1-D1596D4B8E92}"/>
              </a:ext>
            </a:extLst>
          </p:cNvPr>
          <p:cNvSpPr txBox="1">
            <a:spLocks/>
          </p:cNvSpPr>
          <p:nvPr/>
        </p:nvSpPr>
        <p:spPr>
          <a:xfrm>
            <a:off x="478087" y="343095"/>
            <a:ext cx="7886700" cy="1203614"/>
          </a:xfrm>
          <a:prstGeom prst="rect">
            <a:avLst/>
          </a:prstGeom>
        </p:spPr>
        <p:txBody>
          <a:bodyPr>
            <a:noAutofit/>
          </a:bodyPr>
          <a:lstStyle>
            <a:lvl1pPr algn="l" defTabSz="914400" rtl="0" eaLnBrk="1" latinLnBrk="0" hangingPunct="1">
              <a:lnSpc>
                <a:spcPct val="90000"/>
              </a:lnSpc>
              <a:spcBef>
                <a:spcPct val="0"/>
              </a:spcBef>
              <a:buNone/>
              <a:defRPr sz="3000" kern="1200">
                <a:solidFill>
                  <a:schemeClr val="accent2"/>
                </a:solidFill>
                <a:latin typeface="Arial" panose="020B0604020202020204" pitchFamily="34" charset="0"/>
                <a:ea typeface="+mj-ea"/>
                <a:cs typeface="Arial" panose="020B0604020202020204" pitchFamily="34" charset="0"/>
              </a:defRPr>
            </a:lvl1pPr>
          </a:lstStyle>
          <a:p>
            <a:r>
              <a:rPr lang="en-AU" dirty="0">
                <a:solidFill>
                  <a:srgbClr val="991B1E"/>
                </a:solidFill>
              </a:rPr>
              <a:t>Disclaimer</a:t>
            </a:r>
            <a:endParaRPr lang="en-US" dirty="0">
              <a:solidFill>
                <a:srgbClr val="991B1E"/>
              </a:solidFill>
            </a:endParaRPr>
          </a:p>
        </p:txBody>
      </p:sp>
      <p:sp>
        <p:nvSpPr>
          <p:cNvPr id="4" name="Content Placeholder 2">
            <a:extLst>
              <a:ext uri="{FF2B5EF4-FFF2-40B4-BE49-F238E27FC236}">
                <a16:creationId xmlns:a16="http://schemas.microsoft.com/office/drawing/2014/main" id="{6D0A9A2D-89B2-4C5B-809E-16B375ECC1A9}"/>
              </a:ext>
            </a:extLst>
          </p:cNvPr>
          <p:cNvSpPr txBox="1">
            <a:spLocks/>
          </p:cNvSpPr>
          <p:nvPr/>
        </p:nvSpPr>
        <p:spPr>
          <a:xfrm>
            <a:off x="478087" y="1392726"/>
            <a:ext cx="11235826" cy="4072547"/>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Arial" panose="020B0604020202020204" pitchFamily="34" charset="0"/>
                <a:ea typeface="+mn-ea"/>
                <a:cs typeface="Arial" panose="020B060402020202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Arial" panose="020B0604020202020204" pitchFamily="34" charset="0"/>
                <a:ea typeface="+mn-ea"/>
                <a:cs typeface="Arial" panose="020B0604020202020204"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Arial" panose="020B0604020202020204" pitchFamily="34" charset="0"/>
                <a:ea typeface="+mn-ea"/>
                <a:cs typeface="Arial" panose="020B0604020202020204"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4pPr>
            <a:lvl5pPr marL="18288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00000"/>
              </a:lnSpc>
              <a:buNone/>
            </a:pPr>
            <a:r>
              <a:rPr lang="en-AU" sz="1400" dirty="0"/>
              <a:t>Findex NZ Limited is owned by Findex Group Limited (Findex)</a:t>
            </a:r>
          </a:p>
          <a:p>
            <a:pPr marL="0" indent="0">
              <a:lnSpc>
                <a:spcPct val="100000"/>
              </a:lnSpc>
              <a:buNone/>
            </a:pPr>
            <a:r>
              <a:rPr lang="en-AU" sz="1400" dirty="0"/>
              <a:t>While all reasonable care is taken in the preparation of the material in this presentation, to the extent allowed by legislation Findex accept no liability whatsoever for reliance on it. All opinions, conclusions, forecasts or recommendations are reasonably held at the time of compilation but are subject to change without notice. Findex assumes no obligation to update this presentation after it has been issued. You should seek professional advice before acting on any material.</a:t>
            </a:r>
          </a:p>
          <a:p>
            <a:pPr marL="0" indent="0">
              <a:lnSpc>
                <a:spcPct val="100000"/>
              </a:lnSpc>
              <a:buNone/>
            </a:pPr>
            <a:r>
              <a:rPr lang="en-AU" sz="1400" dirty="0"/>
              <a:t>This document contains general information and is also not intended to constitute legal or taxation advice. If you need legal or taxation advice, we recommend you speak to a qualified adviser.</a:t>
            </a:r>
          </a:p>
          <a:p>
            <a:pPr marL="0" indent="0">
              <a:lnSpc>
                <a:spcPct val="100000"/>
              </a:lnSpc>
              <a:buNone/>
            </a:pPr>
            <a:r>
              <a:rPr lang="en-US" sz="1400" dirty="0"/>
              <a:t>The title ‘Partner’ conveys that the person is a senior member within their respective division, and is among the group of persons who hold an equity interest (shareholder) in its parent entity, Findex Group Limited. The only professional service offering which is conducted by a partnership is external audit, conducted via the Crowe Australasia external audit division and Unison SMSF Audit. All other professional services offered by Findex Group Limited are conducted by a privately owned organisation and/or its subsidiaries.</a:t>
            </a:r>
          </a:p>
          <a:p>
            <a:pPr marL="0" indent="0">
              <a:lnSpc>
                <a:spcPct val="100000"/>
              </a:lnSpc>
              <a:buNone/>
            </a:pPr>
            <a:r>
              <a:rPr lang="en-AU" sz="1400" dirty="0"/>
              <a:t>© Findex Group Limited 2024. All rights reserved.</a:t>
            </a:r>
          </a:p>
        </p:txBody>
      </p:sp>
    </p:spTree>
    <p:extLst>
      <p:ext uri="{BB962C8B-B14F-4D97-AF65-F5344CB8AC3E}">
        <p14:creationId xmlns:p14="http://schemas.microsoft.com/office/powerpoint/2010/main" val="333918875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ontent Placeholder 4">
            <a:extLst>
              <a:ext uri="{FF2B5EF4-FFF2-40B4-BE49-F238E27FC236}">
                <a16:creationId xmlns:a16="http://schemas.microsoft.com/office/drawing/2014/main" id="{438060FF-42B3-461E-B1D6-D584FB22774A}"/>
              </a:ext>
            </a:extLst>
          </p:cNvPr>
          <p:cNvSpPr>
            <a:spLocks noGrp="1"/>
          </p:cNvSpPr>
          <p:nvPr>
            <p:ph idx="1"/>
          </p:nvPr>
        </p:nvSpPr>
        <p:spPr/>
        <p:txBody>
          <a:bodyPr/>
          <a:lstStyle/>
          <a:p>
            <a:pPr marL="0" indent="0">
              <a:buNone/>
            </a:pPr>
            <a:endParaRPr lang="en-US" dirty="0"/>
          </a:p>
          <a:p>
            <a:endParaRPr lang="en-US" dirty="0"/>
          </a:p>
        </p:txBody>
      </p:sp>
      <p:sp>
        <p:nvSpPr>
          <p:cNvPr id="4" name="Title 3">
            <a:extLst>
              <a:ext uri="{FF2B5EF4-FFF2-40B4-BE49-F238E27FC236}">
                <a16:creationId xmlns:a16="http://schemas.microsoft.com/office/drawing/2014/main" id="{2E3FF8C0-E639-4F69-898D-3B8BB48CED48}"/>
              </a:ext>
            </a:extLst>
          </p:cNvPr>
          <p:cNvSpPr>
            <a:spLocks noGrp="1"/>
          </p:cNvSpPr>
          <p:nvPr>
            <p:ph type="title"/>
          </p:nvPr>
        </p:nvSpPr>
        <p:spPr/>
        <p:txBody>
          <a:bodyPr>
            <a:normAutofit/>
          </a:bodyPr>
          <a:lstStyle/>
          <a:p>
            <a:r>
              <a:rPr lang="en-US" dirty="0"/>
              <a:t>Australian Individuals</a:t>
            </a:r>
            <a:endParaRPr lang="en-AU" dirty="0"/>
          </a:p>
        </p:txBody>
      </p:sp>
      <p:graphicFrame>
        <p:nvGraphicFramePr>
          <p:cNvPr id="2" name="Table 2">
            <a:extLst>
              <a:ext uri="{FF2B5EF4-FFF2-40B4-BE49-F238E27FC236}">
                <a16:creationId xmlns:a16="http://schemas.microsoft.com/office/drawing/2014/main" id="{5691C227-F9A2-4AB0-9241-CECB81D8750C}"/>
              </a:ext>
            </a:extLst>
          </p:cNvPr>
          <p:cNvGraphicFramePr>
            <a:graphicFrameLocks noGrp="1"/>
          </p:cNvGraphicFramePr>
          <p:nvPr>
            <p:extLst>
              <p:ext uri="{D42A27DB-BD31-4B8C-83A1-F6EECF244321}">
                <p14:modId xmlns:p14="http://schemas.microsoft.com/office/powerpoint/2010/main" val="3410280948"/>
              </p:ext>
            </p:extLst>
          </p:nvPr>
        </p:nvGraphicFramePr>
        <p:xfrm>
          <a:off x="741463" y="1659955"/>
          <a:ext cx="8945876" cy="3027680"/>
        </p:xfrm>
        <a:graphic>
          <a:graphicData uri="http://schemas.openxmlformats.org/drawingml/2006/table">
            <a:tbl>
              <a:tblPr firstRow="1" bandRow="1">
                <a:tableStyleId>{5C22544A-7EE6-4342-B048-85BDC9FD1C3A}</a:tableStyleId>
              </a:tblPr>
              <a:tblGrid>
                <a:gridCol w="4472938">
                  <a:extLst>
                    <a:ext uri="{9D8B030D-6E8A-4147-A177-3AD203B41FA5}">
                      <a16:colId xmlns:a16="http://schemas.microsoft.com/office/drawing/2014/main" val="4160519069"/>
                    </a:ext>
                  </a:extLst>
                </a:gridCol>
                <a:gridCol w="4472938">
                  <a:extLst>
                    <a:ext uri="{9D8B030D-6E8A-4147-A177-3AD203B41FA5}">
                      <a16:colId xmlns:a16="http://schemas.microsoft.com/office/drawing/2014/main" val="1244150786"/>
                    </a:ext>
                  </a:extLst>
                </a:gridCol>
              </a:tblGrid>
              <a:tr h="331980">
                <a:tc>
                  <a:txBody>
                    <a:bodyPr/>
                    <a:lstStyle/>
                    <a:p>
                      <a:r>
                        <a:rPr lang="en-US" dirty="0"/>
                        <a:t>Australian Tax Resident</a:t>
                      </a:r>
                      <a:endParaRPr lang="en-AU" dirty="0"/>
                    </a:p>
                  </a:txBody>
                  <a:tcPr/>
                </a:tc>
                <a:tc>
                  <a:txBody>
                    <a:bodyPr/>
                    <a:lstStyle/>
                    <a:p>
                      <a:r>
                        <a:rPr lang="en-US" dirty="0"/>
                        <a:t>Foreign Resident</a:t>
                      </a:r>
                      <a:endParaRPr lang="en-AU" dirty="0"/>
                    </a:p>
                  </a:txBody>
                  <a:tcPr/>
                </a:tc>
                <a:extLst>
                  <a:ext uri="{0D108BD9-81ED-4DB2-BD59-A6C34878D82A}">
                    <a16:rowId xmlns:a16="http://schemas.microsoft.com/office/drawing/2014/main" val="826334199"/>
                  </a:ext>
                </a:extLst>
              </a:tr>
              <a:tr h="370840">
                <a:tc>
                  <a:txBody>
                    <a:bodyPr/>
                    <a:lstStyle/>
                    <a:p>
                      <a:r>
                        <a:rPr lang="en-US" dirty="0"/>
                        <a:t>Taxed on worldwide income</a:t>
                      </a:r>
                      <a:endParaRPr lang="en-AU" dirty="0"/>
                    </a:p>
                  </a:txBody>
                  <a:tcPr/>
                </a:tc>
                <a:tc>
                  <a:txBody>
                    <a:bodyPr/>
                    <a:lstStyle/>
                    <a:p>
                      <a:r>
                        <a:rPr lang="en-US" dirty="0"/>
                        <a:t>Taxed on Australian sourced income only</a:t>
                      </a:r>
                      <a:endParaRPr lang="en-AU" dirty="0"/>
                    </a:p>
                  </a:txBody>
                  <a:tcPr/>
                </a:tc>
                <a:extLst>
                  <a:ext uri="{0D108BD9-81ED-4DB2-BD59-A6C34878D82A}">
                    <a16:rowId xmlns:a16="http://schemas.microsoft.com/office/drawing/2014/main" val="2453534628"/>
                  </a:ext>
                </a:extLst>
              </a:tr>
              <a:tr h="370840">
                <a:tc>
                  <a:txBody>
                    <a:bodyPr/>
                    <a:lstStyle/>
                    <a:p>
                      <a:r>
                        <a:rPr lang="en-US" dirty="0"/>
                        <a:t>Lower marginal rates of tax (individuals)</a:t>
                      </a:r>
                      <a:endParaRPr lang="en-AU" dirty="0"/>
                    </a:p>
                  </a:txBody>
                  <a:tcPr/>
                </a:tc>
                <a:tc>
                  <a:txBody>
                    <a:bodyPr/>
                    <a:lstStyle/>
                    <a:p>
                      <a:r>
                        <a:rPr lang="en-US" dirty="0"/>
                        <a:t>Higher marginal rate of tax (individuals)</a:t>
                      </a:r>
                      <a:endParaRPr lang="en-AU" dirty="0"/>
                    </a:p>
                  </a:txBody>
                  <a:tcPr/>
                </a:tc>
                <a:extLst>
                  <a:ext uri="{0D108BD9-81ED-4DB2-BD59-A6C34878D82A}">
                    <a16:rowId xmlns:a16="http://schemas.microsoft.com/office/drawing/2014/main" val="1623435983"/>
                  </a:ext>
                </a:extLst>
              </a:tr>
              <a:tr h="370840">
                <a:tc>
                  <a:txBody>
                    <a:bodyPr/>
                    <a:lstStyle/>
                    <a:p>
                      <a:r>
                        <a:rPr lang="en-US" dirty="0"/>
                        <a:t>Subject to Medicare Levy (additional 2% tax)</a:t>
                      </a:r>
                      <a:endParaRPr lang="en-AU" dirty="0"/>
                    </a:p>
                  </a:txBody>
                  <a:tcPr/>
                </a:tc>
                <a:tc>
                  <a:txBody>
                    <a:bodyPr/>
                    <a:lstStyle/>
                    <a:p>
                      <a:r>
                        <a:rPr lang="en-US" dirty="0"/>
                        <a:t>Not liable for Medicare Levy</a:t>
                      </a:r>
                      <a:endParaRPr lang="en-AU" dirty="0"/>
                    </a:p>
                  </a:txBody>
                  <a:tcPr/>
                </a:tc>
                <a:extLst>
                  <a:ext uri="{0D108BD9-81ED-4DB2-BD59-A6C34878D82A}">
                    <a16:rowId xmlns:a16="http://schemas.microsoft.com/office/drawing/2014/main" val="957332942"/>
                  </a:ext>
                </a:extLst>
              </a:tr>
              <a:tr h="370840">
                <a:tc>
                  <a:txBody>
                    <a:bodyPr/>
                    <a:lstStyle/>
                    <a:p>
                      <a:r>
                        <a:rPr lang="en-US" dirty="0"/>
                        <a:t>Subject to CGT on worldwide assets</a:t>
                      </a:r>
                      <a:endParaRPr lang="en-AU" dirty="0"/>
                    </a:p>
                  </a:txBody>
                  <a:tcPr/>
                </a:tc>
                <a:tc>
                  <a:txBody>
                    <a:bodyPr/>
                    <a:lstStyle/>
                    <a:p>
                      <a:r>
                        <a:rPr lang="en-US" dirty="0"/>
                        <a:t>Only subject to CGT on “Taxable Australian Property”</a:t>
                      </a:r>
                      <a:endParaRPr lang="en-AU" dirty="0"/>
                    </a:p>
                  </a:txBody>
                  <a:tcPr/>
                </a:tc>
                <a:extLst>
                  <a:ext uri="{0D108BD9-81ED-4DB2-BD59-A6C34878D82A}">
                    <a16:rowId xmlns:a16="http://schemas.microsoft.com/office/drawing/2014/main" val="3370778792"/>
                  </a:ext>
                </a:extLst>
              </a:tr>
              <a:tr h="370840">
                <a:tc>
                  <a:txBody>
                    <a:bodyPr/>
                    <a:lstStyle/>
                    <a:p>
                      <a:r>
                        <a:rPr lang="en-US" dirty="0"/>
                        <a:t>Not subject to withholding tax on dividends, royalties and interest</a:t>
                      </a:r>
                      <a:endParaRPr lang="en-AU" dirty="0"/>
                    </a:p>
                  </a:txBody>
                  <a:tcPr/>
                </a:tc>
                <a:tc>
                  <a:txBody>
                    <a:bodyPr/>
                    <a:lstStyle/>
                    <a:p>
                      <a:r>
                        <a:rPr lang="en-US" dirty="0"/>
                        <a:t>Subject to withholding tax on dividends, royalties and interest</a:t>
                      </a:r>
                      <a:endParaRPr lang="en-AU" dirty="0"/>
                    </a:p>
                  </a:txBody>
                  <a:tcPr/>
                </a:tc>
                <a:extLst>
                  <a:ext uri="{0D108BD9-81ED-4DB2-BD59-A6C34878D82A}">
                    <a16:rowId xmlns:a16="http://schemas.microsoft.com/office/drawing/2014/main" val="635904738"/>
                  </a:ext>
                </a:extLst>
              </a:tr>
            </a:tbl>
          </a:graphicData>
        </a:graphic>
      </p:graphicFrame>
    </p:spTree>
    <p:extLst>
      <p:ext uri="{BB962C8B-B14F-4D97-AF65-F5344CB8AC3E}">
        <p14:creationId xmlns:p14="http://schemas.microsoft.com/office/powerpoint/2010/main" val="181970250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ontent Placeholder 4">
            <a:extLst>
              <a:ext uri="{FF2B5EF4-FFF2-40B4-BE49-F238E27FC236}">
                <a16:creationId xmlns:a16="http://schemas.microsoft.com/office/drawing/2014/main" id="{438060FF-42B3-461E-B1D6-D584FB22774A}"/>
              </a:ext>
            </a:extLst>
          </p:cNvPr>
          <p:cNvSpPr>
            <a:spLocks noGrp="1"/>
          </p:cNvSpPr>
          <p:nvPr>
            <p:ph idx="1"/>
          </p:nvPr>
        </p:nvSpPr>
        <p:spPr/>
        <p:txBody>
          <a:bodyPr>
            <a:normAutofit/>
          </a:bodyPr>
          <a:lstStyle/>
          <a:p>
            <a:pPr marL="0" indent="0">
              <a:buNone/>
            </a:pPr>
            <a:endParaRPr lang="en-US" sz="2000" dirty="0"/>
          </a:p>
          <a:p>
            <a:endParaRPr lang="en-US" sz="2000" dirty="0"/>
          </a:p>
          <a:p>
            <a:endParaRPr lang="en-US" sz="2000" dirty="0"/>
          </a:p>
          <a:p>
            <a:endParaRPr lang="en-US" sz="2000" dirty="0"/>
          </a:p>
        </p:txBody>
      </p:sp>
      <p:sp>
        <p:nvSpPr>
          <p:cNvPr id="4" name="Title 3">
            <a:extLst>
              <a:ext uri="{FF2B5EF4-FFF2-40B4-BE49-F238E27FC236}">
                <a16:creationId xmlns:a16="http://schemas.microsoft.com/office/drawing/2014/main" id="{2E3FF8C0-E639-4F69-898D-3B8BB48CED48}"/>
              </a:ext>
            </a:extLst>
          </p:cNvPr>
          <p:cNvSpPr>
            <a:spLocks noGrp="1"/>
          </p:cNvSpPr>
          <p:nvPr>
            <p:ph type="title"/>
          </p:nvPr>
        </p:nvSpPr>
        <p:spPr/>
        <p:txBody>
          <a:bodyPr>
            <a:normAutofit/>
          </a:bodyPr>
          <a:lstStyle/>
          <a:p>
            <a:r>
              <a:rPr lang="en-US" dirty="0"/>
              <a:t>Individual Resident Marginal Tax Rates</a:t>
            </a:r>
            <a:endParaRPr lang="en-AU" dirty="0"/>
          </a:p>
        </p:txBody>
      </p:sp>
      <p:graphicFrame>
        <p:nvGraphicFramePr>
          <p:cNvPr id="14" name="Table 13">
            <a:extLst>
              <a:ext uri="{FF2B5EF4-FFF2-40B4-BE49-F238E27FC236}">
                <a16:creationId xmlns:a16="http://schemas.microsoft.com/office/drawing/2014/main" id="{9E70BD59-3BD8-8E8D-03C9-377F9BD5FF3C}"/>
              </a:ext>
            </a:extLst>
          </p:cNvPr>
          <p:cNvGraphicFramePr>
            <a:graphicFrameLocks noGrp="1"/>
          </p:cNvGraphicFramePr>
          <p:nvPr>
            <p:extLst>
              <p:ext uri="{D42A27DB-BD31-4B8C-83A1-F6EECF244321}">
                <p14:modId xmlns:p14="http://schemas.microsoft.com/office/powerpoint/2010/main" val="4110779362"/>
              </p:ext>
            </p:extLst>
          </p:nvPr>
        </p:nvGraphicFramePr>
        <p:xfrm>
          <a:off x="628650" y="1961356"/>
          <a:ext cx="4902200" cy="1666875"/>
        </p:xfrm>
        <a:graphic>
          <a:graphicData uri="http://schemas.openxmlformats.org/drawingml/2006/table">
            <a:tbl>
              <a:tblPr firstRow="1" bandRow="1">
                <a:tableStyleId>{5C22544A-7EE6-4342-B048-85BDC9FD1C3A}</a:tableStyleId>
              </a:tblPr>
              <a:tblGrid>
                <a:gridCol w="2855650">
                  <a:extLst>
                    <a:ext uri="{9D8B030D-6E8A-4147-A177-3AD203B41FA5}">
                      <a16:colId xmlns:a16="http://schemas.microsoft.com/office/drawing/2014/main" val="236163371"/>
                    </a:ext>
                  </a:extLst>
                </a:gridCol>
                <a:gridCol w="2046550">
                  <a:extLst>
                    <a:ext uri="{9D8B030D-6E8A-4147-A177-3AD203B41FA5}">
                      <a16:colId xmlns:a16="http://schemas.microsoft.com/office/drawing/2014/main" val="2112142994"/>
                    </a:ext>
                  </a:extLst>
                </a:gridCol>
              </a:tblGrid>
              <a:tr h="466725">
                <a:tc>
                  <a:txBody>
                    <a:bodyPr/>
                    <a:lstStyle/>
                    <a:p>
                      <a:pPr algn="l" rtl="0" fontAlgn="ctr"/>
                      <a:r>
                        <a:rPr lang="en-AU" sz="1400" b="1" u="none" strike="noStrike" dirty="0">
                          <a:solidFill>
                            <a:srgbClr val="F2F5F6"/>
                          </a:solidFill>
                          <a:effectLst/>
                        </a:rPr>
                        <a:t>Current tax rates ($AUD)</a:t>
                      </a:r>
                      <a:endParaRPr lang="en-AU" sz="1400" b="1" i="0" u="none" strike="noStrike" dirty="0">
                        <a:solidFill>
                          <a:srgbClr val="F2F5F6"/>
                        </a:solidFill>
                        <a:effectLst/>
                        <a:latin typeface="Arial" panose="020B0604020202020204" pitchFamily="34" charset="0"/>
                      </a:endParaRPr>
                    </a:p>
                  </a:txBody>
                  <a:tcPr marL="9525" marR="9525" marT="9525" marB="0" anchor="ctr"/>
                </a:tc>
                <a:tc>
                  <a:txBody>
                    <a:bodyPr/>
                    <a:lstStyle/>
                    <a:p>
                      <a:pPr marL="0" algn="l" defTabSz="914400" rtl="0" eaLnBrk="1" fontAlgn="ctr" latinLnBrk="0" hangingPunct="1"/>
                      <a:r>
                        <a:rPr lang="en-AU" sz="1400" b="1" u="none" strike="noStrike" kern="1200" dirty="0">
                          <a:solidFill>
                            <a:srgbClr val="F2F5F6"/>
                          </a:solidFill>
                          <a:effectLst/>
                        </a:rPr>
                        <a:t>Tax on this income ($AUD)</a:t>
                      </a:r>
                      <a:endParaRPr lang="en-AU" sz="1400" b="1" i="0" u="none" strike="noStrike" kern="1200" dirty="0">
                        <a:solidFill>
                          <a:srgbClr val="F2F5F6"/>
                        </a:solidFill>
                        <a:effectLst/>
                        <a:latin typeface="Arial" panose="020B0604020202020204" pitchFamily="34" charset="0"/>
                        <a:ea typeface="+mn-ea"/>
                        <a:cs typeface="+mn-cs"/>
                      </a:endParaRPr>
                    </a:p>
                  </a:txBody>
                  <a:tcPr marL="9525" marR="9525" marT="9525" marB="0" anchor="ctr"/>
                </a:tc>
                <a:extLst>
                  <a:ext uri="{0D108BD9-81ED-4DB2-BD59-A6C34878D82A}">
                    <a16:rowId xmlns:a16="http://schemas.microsoft.com/office/drawing/2014/main" val="1606159116"/>
                  </a:ext>
                </a:extLst>
              </a:tr>
              <a:tr h="247650">
                <a:tc>
                  <a:txBody>
                    <a:bodyPr/>
                    <a:lstStyle/>
                    <a:p>
                      <a:pPr algn="l" rtl="0" fontAlgn="ctr"/>
                      <a:r>
                        <a:rPr lang="en-AU" sz="1400" b="0" u="none" strike="noStrike">
                          <a:solidFill>
                            <a:srgbClr val="1B1F22"/>
                          </a:solidFill>
                          <a:effectLst/>
                        </a:rPr>
                        <a:t>0 –18,200</a:t>
                      </a:r>
                      <a:endParaRPr lang="en-AU" sz="1400" b="0" i="0" u="none" strike="noStrike">
                        <a:solidFill>
                          <a:srgbClr val="1B1F22"/>
                        </a:solidFill>
                        <a:effectLst/>
                        <a:latin typeface="Arial" panose="020B0604020202020204" pitchFamily="34" charset="0"/>
                      </a:endParaRPr>
                    </a:p>
                  </a:txBody>
                  <a:tcPr marL="9525" marR="9525" marT="9525" marB="0" anchor="ctr"/>
                </a:tc>
                <a:tc>
                  <a:txBody>
                    <a:bodyPr/>
                    <a:lstStyle/>
                    <a:p>
                      <a:pPr marL="0" algn="l" defTabSz="914400" rtl="0" eaLnBrk="1" fontAlgn="ctr" latinLnBrk="0" hangingPunct="1"/>
                      <a:r>
                        <a:rPr lang="en-AU" sz="1400" b="0" u="none" strike="noStrike" kern="1200" dirty="0">
                          <a:solidFill>
                            <a:schemeClr val="tx1"/>
                          </a:solidFill>
                          <a:effectLst/>
                        </a:rPr>
                        <a:t>Tax free</a:t>
                      </a:r>
                      <a:endParaRPr lang="en-AU" sz="1400" b="0" i="0" u="none" strike="noStrike" kern="1200" dirty="0">
                        <a:solidFill>
                          <a:schemeClr val="tx1"/>
                        </a:solidFill>
                        <a:effectLst/>
                        <a:latin typeface="Arial" panose="020B0604020202020204" pitchFamily="34" charset="0"/>
                        <a:ea typeface="+mn-ea"/>
                        <a:cs typeface="+mn-cs"/>
                      </a:endParaRPr>
                    </a:p>
                  </a:txBody>
                  <a:tcPr marL="9525" marR="9525" marT="9525" marB="0" anchor="ctr"/>
                </a:tc>
                <a:extLst>
                  <a:ext uri="{0D108BD9-81ED-4DB2-BD59-A6C34878D82A}">
                    <a16:rowId xmlns:a16="http://schemas.microsoft.com/office/drawing/2014/main" val="2221483938"/>
                  </a:ext>
                </a:extLst>
              </a:tr>
              <a:tr h="238125">
                <a:tc>
                  <a:txBody>
                    <a:bodyPr/>
                    <a:lstStyle/>
                    <a:p>
                      <a:pPr algn="l" rtl="0" fontAlgn="ctr"/>
                      <a:r>
                        <a:rPr lang="en-AU" sz="1400" b="0" u="none" strike="noStrike" dirty="0">
                          <a:solidFill>
                            <a:srgbClr val="1B1F22"/>
                          </a:solidFill>
                          <a:effectLst/>
                        </a:rPr>
                        <a:t>18,201 – 45,000</a:t>
                      </a:r>
                      <a:endParaRPr lang="en-AU" sz="1400" b="0" i="0" u="none" strike="noStrike" dirty="0">
                        <a:solidFill>
                          <a:srgbClr val="1B1F22"/>
                        </a:solidFill>
                        <a:effectLst/>
                        <a:latin typeface="Arial" panose="020B0604020202020204" pitchFamily="34" charset="0"/>
                      </a:endParaRPr>
                    </a:p>
                  </a:txBody>
                  <a:tcPr marL="9525" marR="9525" marT="9525" marB="0" anchor="ctr"/>
                </a:tc>
                <a:tc>
                  <a:txBody>
                    <a:bodyPr/>
                    <a:lstStyle/>
                    <a:p>
                      <a:pPr marL="0" algn="l" defTabSz="914400" rtl="0" eaLnBrk="1" fontAlgn="ctr" latinLnBrk="0" hangingPunct="1"/>
                      <a:r>
                        <a:rPr lang="en-AU" sz="1400" b="0" u="none" strike="noStrike" kern="1200" dirty="0">
                          <a:solidFill>
                            <a:schemeClr val="tx1"/>
                          </a:solidFill>
                          <a:effectLst/>
                        </a:rPr>
                        <a:t>19</a:t>
                      </a:r>
                      <a:endParaRPr lang="en-AU" sz="1400" b="0" i="0" u="none" strike="noStrike" kern="1200" dirty="0">
                        <a:solidFill>
                          <a:schemeClr val="tx1"/>
                        </a:solidFill>
                        <a:effectLst/>
                        <a:latin typeface="Arial" panose="020B0604020202020204" pitchFamily="34" charset="0"/>
                        <a:ea typeface="+mn-ea"/>
                        <a:cs typeface="+mn-cs"/>
                      </a:endParaRPr>
                    </a:p>
                  </a:txBody>
                  <a:tcPr marL="9525" marR="9525" marT="9525" marB="0" anchor="ctr"/>
                </a:tc>
                <a:extLst>
                  <a:ext uri="{0D108BD9-81ED-4DB2-BD59-A6C34878D82A}">
                    <a16:rowId xmlns:a16="http://schemas.microsoft.com/office/drawing/2014/main" val="3958287667"/>
                  </a:ext>
                </a:extLst>
              </a:tr>
              <a:tr h="238125">
                <a:tc>
                  <a:txBody>
                    <a:bodyPr/>
                    <a:lstStyle/>
                    <a:p>
                      <a:pPr algn="l" rtl="0" fontAlgn="ctr"/>
                      <a:r>
                        <a:rPr lang="en-AU" sz="1400" b="0" u="none" strike="noStrike">
                          <a:solidFill>
                            <a:srgbClr val="1B1F22"/>
                          </a:solidFill>
                          <a:effectLst/>
                        </a:rPr>
                        <a:t>45,001 – 120,000</a:t>
                      </a:r>
                      <a:endParaRPr lang="en-AU" sz="1400" b="0" i="0" u="none" strike="noStrike">
                        <a:solidFill>
                          <a:srgbClr val="1B1F22"/>
                        </a:solidFill>
                        <a:effectLst/>
                        <a:latin typeface="Arial" panose="020B0604020202020204" pitchFamily="34" charset="0"/>
                      </a:endParaRPr>
                    </a:p>
                  </a:txBody>
                  <a:tcPr marL="9525" marR="9525" marT="9525" marB="0" anchor="ctr"/>
                </a:tc>
                <a:tc>
                  <a:txBody>
                    <a:bodyPr/>
                    <a:lstStyle/>
                    <a:p>
                      <a:pPr marL="0" algn="l" defTabSz="914400" rtl="0" eaLnBrk="1" fontAlgn="ctr" latinLnBrk="0" hangingPunct="1"/>
                      <a:r>
                        <a:rPr lang="en-AU" sz="1400" b="0" u="none" strike="noStrike" kern="1200" dirty="0">
                          <a:solidFill>
                            <a:schemeClr val="tx1"/>
                          </a:solidFill>
                          <a:effectLst/>
                        </a:rPr>
                        <a:t>32.5</a:t>
                      </a:r>
                      <a:endParaRPr lang="en-AU" sz="1400" b="0" i="0" u="none" strike="noStrike" kern="1200" dirty="0">
                        <a:solidFill>
                          <a:schemeClr val="tx1"/>
                        </a:solidFill>
                        <a:effectLst/>
                        <a:latin typeface="Arial" panose="020B0604020202020204" pitchFamily="34" charset="0"/>
                        <a:ea typeface="+mn-ea"/>
                        <a:cs typeface="+mn-cs"/>
                      </a:endParaRPr>
                    </a:p>
                  </a:txBody>
                  <a:tcPr marL="9525" marR="9525" marT="9525" marB="0" anchor="ctr"/>
                </a:tc>
                <a:extLst>
                  <a:ext uri="{0D108BD9-81ED-4DB2-BD59-A6C34878D82A}">
                    <a16:rowId xmlns:a16="http://schemas.microsoft.com/office/drawing/2014/main" val="1077898193"/>
                  </a:ext>
                </a:extLst>
              </a:tr>
              <a:tr h="238125">
                <a:tc>
                  <a:txBody>
                    <a:bodyPr/>
                    <a:lstStyle/>
                    <a:p>
                      <a:pPr algn="l" rtl="0" fontAlgn="ctr"/>
                      <a:r>
                        <a:rPr lang="en-AU" sz="1400" b="0" u="none" strike="noStrike">
                          <a:solidFill>
                            <a:srgbClr val="1B1F22"/>
                          </a:solidFill>
                          <a:effectLst/>
                        </a:rPr>
                        <a:t>120,001 – 180,000</a:t>
                      </a:r>
                      <a:endParaRPr lang="en-AU" sz="1400" b="0" i="0" u="none" strike="noStrike">
                        <a:solidFill>
                          <a:srgbClr val="1B1F22"/>
                        </a:solidFill>
                        <a:effectLst/>
                        <a:latin typeface="Arial" panose="020B0604020202020204" pitchFamily="34" charset="0"/>
                      </a:endParaRPr>
                    </a:p>
                  </a:txBody>
                  <a:tcPr marL="9525" marR="9525" marT="9525" marB="0" anchor="ctr"/>
                </a:tc>
                <a:tc>
                  <a:txBody>
                    <a:bodyPr/>
                    <a:lstStyle/>
                    <a:p>
                      <a:pPr marL="0" algn="l" defTabSz="914400" rtl="0" eaLnBrk="1" fontAlgn="ctr" latinLnBrk="0" hangingPunct="1"/>
                      <a:r>
                        <a:rPr lang="en-AU" sz="1400" b="0" u="none" strike="noStrike" kern="1200" dirty="0">
                          <a:solidFill>
                            <a:schemeClr val="tx1"/>
                          </a:solidFill>
                          <a:effectLst/>
                        </a:rPr>
                        <a:t>37</a:t>
                      </a:r>
                      <a:endParaRPr lang="en-AU" sz="1400" b="0" i="0" u="none" strike="noStrike" kern="1200" dirty="0">
                        <a:solidFill>
                          <a:schemeClr val="tx1"/>
                        </a:solidFill>
                        <a:effectLst/>
                        <a:latin typeface="Arial" panose="020B0604020202020204" pitchFamily="34" charset="0"/>
                        <a:ea typeface="+mn-ea"/>
                        <a:cs typeface="+mn-cs"/>
                      </a:endParaRPr>
                    </a:p>
                  </a:txBody>
                  <a:tcPr marL="9525" marR="9525" marT="9525" marB="0" anchor="ctr"/>
                </a:tc>
                <a:extLst>
                  <a:ext uri="{0D108BD9-81ED-4DB2-BD59-A6C34878D82A}">
                    <a16:rowId xmlns:a16="http://schemas.microsoft.com/office/drawing/2014/main" val="1464105867"/>
                  </a:ext>
                </a:extLst>
              </a:tr>
              <a:tr h="238125">
                <a:tc>
                  <a:txBody>
                    <a:bodyPr/>
                    <a:lstStyle/>
                    <a:p>
                      <a:pPr algn="l" rtl="0" fontAlgn="ctr"/>
                      <a:r>
                        <a:rPr lang="en-AU" sz="1400" b="0" u="none" strike="noStrike" dirty="0">
                          <a:solidFill>
                            <a:srgbClr val="1B1F22"/>
                          </a:solidFill>
                          <a:effectLst/>
                        </a:rPr>
                        <a:t>&gt;180,001</a:t>
                      </a:r>
                      <a:endParaRPr lang="en-AU" sz="1400" b="0" i="0" u="none" strike="noStrike" dirty="0">
                        <a:solidFill>
                          <a:srgbClr val="1B1F22"/>
                        </a:solidFill>
                        <a:effectLst/>
                        <a:latin typeface="Arial" panose="020B0604020202020204" pitchFamily="34" charset="0"/>
                      </a:endParaRPr>
                    </a:p>
                  </a:txBody>
                  <a:tcPr marL="9525" marR="9525" marT="9525" marB="0" anchor="ctr"/>
                </a:tc>
                <a:tc>
                  <a:txBody>
                    <a:bodyPr/>
                    <a:lstStyle/>
                    <a:p>
                      <a:pPr marL="0" algn="l" defTabSz="914400" rtl="0" eaLnBrk="1" fontAlgn="ctr" latinLnBrk="0" hangingPunct="1"/>
                      <a:r>
                        <a:rPr lang="en-AU" sz="1400" b="0" u="none" strike="noStrike" kern="1200" dirty="0">
                          <a:solidFill>
                            <a:schemeClr val="tx1"/>
                          </a:solidFill>
                          <a:effectLst/>
                        </a:rPr>
                        <a:t>45</a:t>
                      </a:r>
                      <a:endParaRPr lang="en-AU" sz="1400" b="0" i="0" u="none" strike="noStrike" kern="1200" dirty="0">
                        <a:solidFill>
                          <a:schemeClr val="tx1"/>
                        </a:solidFill>
                        <a:effectLst/>
                        <a:latin typeface="Arial" panose="020B0604020202020204" pitchFamily="34" charset="0"/>
                        <a:ea typeface="+mn-ea"/>
                        <a:cs typeface="+mn-cs"/>
                      </a:endParaRPr>
                    </a:p>
                  </a:txBody>
                  <a:tcPr marL="9525" marR="9525" marT="9525" marB="0" anchor="ctr"/>
                </a:tc>
                <a:extLst>
                  <a:ext uri="{0D108BD9-81ED-4DB2-BD59-A6C34878D82A}">
                    <a16:rowId xmlns:a16="http://schemas.microsoft.com/office/drawing/2014/main" val="2032828949"/>
                  </a:ext>
                </a:extLst>
              </a:tr>
            </a:tbl>
          </a:graphicData>
        </a:graphic>
      </p:graphicFrame>
      <p:graphicFrame>
        <p:nvGraphicFramePr>
          <p:cNvPr id="15" name="Table 14">
            <a:extLst>
              <a:ext uri="{FF2B5EF4-FFF2-40B4-BE49-F238E27FC236}">
                <a16:creationId xmlns:a16="http://schemas.microsoft.com/office/drawing/2014/main" id="{1DD3EADA-7446-A97E-7E7D-E2676AC32471}"/>
              </a:ext>
            </a:extLst>
          </p:cNvPr>
          <p:cNvGraphicFramePr>
            <a:graphicFrameLocks noGrp="1"/>
          </p:cNvGraphicFramePr>
          <p:nvPr>
            <p:extLst>
              <p:ext uri="{D42A27DB-BD31-4B8C-83A1-F6EECF244321}">
                <p14:modId xmlns:p14="http://schemas.microsoft.com/office/powerpoint/2010/main" val="2583071584"/>
              </p:ext>
            </p:extLst>
          </p:nvPr>
        </p:nvGraphicFramePr>
        <p:xfrm>
          <a:off x="5886450" y="1961356"/>
          <a:ext cx="4902200" cy="1666875"/>
        </p:xfrm>
        <a:graphic>
          <a:graphicData uri="http://schemas.openxmlformats.org/drawingml/2006/table">
            <a:tbl>
              <a:tblPr firstRow="1" bandRow="1">
                <a:tableStyleId>{5C22544A-7EE6-4342-B048-85BDC9FD1C3A}</a:tableStyleId>
              </a:tblPr>
              <a:tblGrid>
                <a:gridCol w="2855650">
                  <a:extLst>
                    <a:ext uri="{9D8B030D-6E8A-4147-A177-3AD203B41FA5}">
                      <a16:colId xmlns:a16="http://schemas.microsoft.com/office/drawing/2014/main" val="4115177126"/>
                    </a:ext>
                  </a:extLst>
                </a:gridCol>
                <a:gridCol w="2046550">
                  <a:extLst>
                    <a:ext uri="{9D8B030D-6E8A-4147-A177-3AD203B41FA5}">
                      <a16:colId xmlns:a16="http://schemas.microsoft.com/office/drawing/2014/main" val="4112456789"/>
                    </a:ext>
                  </a:extLst>
                </a:gridCol>
              </a:tblGrid>
              <a:tr h="466725">
                <a:tc>
                  <a:txBody>
                    <a:bodyPr/>
                    <a:lstStyle/>
                    <a:p>
                      <a:pPr marL="0" algn="l" defTabSz="914400" rtl="0" eaLnBrk="1" fontAlgn="ctr" latinLnBrk="0" hangingPunct="1"/>
                      <a:r>
                        <a:rPr lang="en-AU" sz="1400" b="1" u="none" strike="noStrike" kern="1200" dirty="0">
                          <a:solidFill>
                            <a:srgbClr val="F2F5F6"/>
                          </a:solidFill>
                          <a:effectLst/>
                        </a:rPr>
                        <a:t>New tax rates from 2024–25 ($AUD)</a:t>
                      </a:r>
                      <a:endParaRPr lang="en-AU" sz="1400" b="1" u="none" strike="noStrike" kern="1200" dirty="0">
                        <a:solidFill>
                          <a:srgbClr val="F2F5F6"/>
                        </a:solidFill>
                        <a:effectLst/>
                        <a:latin typeface="+mn-lt"/>
                        <a:ea typeface="+mn-ea"/>
                        <a:cs typeface="+mn-cs"/>
                      </a:endParaRPr>
                    </a:p>
                  </a:txBody>
                  <a:tcPr marL="9525" marR="9525" marT="9525" marB="0" anchor="ctr"/>
                </a:tc>
                <a:tc>
                  <a:txBody>
                    <a:bodyPr/>
                    <a:lstStyle/>
                    <a:p>
                      <a:pPr marL="0" algn="l" defTabSz="914400" rtl="0" eaLnBrk="1" fontAlgn="ctr" latinLnBrk="0" hangingPunct="1"/>
                      <a:r>
                        <a:rPr lang="en-AU" sz="1400" b="1" u="none" strike="noStrike" kern="1200" dirty="0">
                          <a:solidFill>
                            <a:srgbClr val="F2F5F6"/>
                          </a:solidFill>
                          <a:effectLst/>
                        </a:rPr>
                        <a:t>Tax on this income ($AUD)</a:t>
                      </a:r>
                      <a:endParaRPr lang="en-AU" sz="1400" b="1" u="none" strike="noStrike" kern="1200" dirty="0">
                        <a:solidFill>
                          <a:srgbClr val="F2F5F6"/>
                        </a:solidFill>
                        <a:effectLst/>
                        <a:latin typeface="+mn-lt"/>
                        <a:ea typeface="+mn-ea"/>
                        <a:cs typeface="+mn-cs"/>
                      </a:endParaRPr>
                    </a:p>
                  </a:txBody>
                  <a:tcPr marL="9525" marR="9525" marT="9525" marB="0" anchor="ctr"/>
                </a:tc>
                <a:extLst>
                  <a:ext uri="{0D108BD9-81ED-4DB2-BD59-A6C34878D82A}">
                    <a16:rowId xmlns:a16="http://schemas.microsoft.com/office/drawing/2014/main" val="1106081418"/>
                  </a:ext>
                </a:extLst>
              </a:tr>
              <a:tr h="247650">
                <a:tc>
                  <a:txBody>
                    <a:bodyPr/>
                    <a:lstStyle/>
                    <a:p>
                      <a:pPr marL="0" algn="l" defTabSz="914400" rtl="0" eaLnBrk="1" fontAlgn="ctr" latinLnBrk="0" hangingPunct="1"/>
                      <a:r>
                        <a:rPr lang="en-AU" sz="1400" b="0" u="none" strike="noStrike" kern="1200">
                          <a:solidFill>
                            <a:schemeClr val="tx1"/>
                          </a:solidFill>
                          <a:effectLst/>
                        </a:rPr>
                        <a:t>0 –18,200</a:t>
                      </a:r>
                      <a:endParaRPr lang="en-AU" sz="1400" b="0" u="none" strike="noStrike" kern="1200">
                        <a:solidFill>
                          <a:schemeClr val="tx1"/>
                        </a:solidFill>
                        <a:effectLst/>
                        <a:latin typeface="+mn-lt"/>
                        <a:ea typeface="+mn-ea"/>
                        <a:cs typeface="+mn-cs"/>
                      </a:endParaRPr>
                    </a:p>
                  </a:txBody>
                  <a:tcPr marL="9525" marR="9525" marT="9525" marB="0" anchor="ctr"/>
                </a:tc>
                <a:tc>
                  <a:txBody>
                    <a:bodyPr/>
                    <a:lstStyle/>
                    <a:p>
                      <a:pPr marL="0" algn="l" defTabSz="914400" rtl="0" eaLnBrk="1" fontAlgn="ctr" latinLnBrk="0" hangingPunct="1"/>
                      <a:r>
                        <a:rPr lang="en-AU" sz="1400" b="0" u="none" strike="noStrike" kern="1200">
                          <a:solidFill>
                            <a:schemeClr val="tx1"/>
                          </a:solidFill>
                          <a:effectLst/>
                        </a:rPr>
                        <a:t>Tax free</a:t>
                      </a:r>
                      <a:endParaRPr lang="en-AU" sz="1400" b="0" u="none" strike="noStrike" kern="1200">
                        <a:solidFill>
                          <a:schemeClr val="tx1"/>
                        </a:solidFill>
                        <a:effectLst/>
                        <a:latin typeface="+mn-lt"/>
                        <a:ea typeface="+mn-ea"/>
                        <a:cs typeface="+mn-cs"/>
                      </a:endParaRPr>
                    </a:p>
                  </a:txBody>
                  <a:tcPr marL="9525" marR="9525" marT="9525" marB="0" anchor="ctr"/>
                </a:tc>
                <a:extLst>
                  <a:ext uri="{0D108BD9-81ED-4DB2-BD59-A6C34878D82A}">
                    <a16:rowId xmlns:a16="http://schemas.microsoft.com/office/drawing/2014/main" val="580411949"/>
                  </a:ext>
                </a:extLst>
              </a:tr>
              <a:tr h="238125">
                <a:tc>
                  <a:txBody>
                    <a:bodyPr/>
                    <a:lstStyle/>
                    <a:p>
                      <a:pPr marL="0" algn="l" defTabSz="914400" rtl="0" eaLnBrk="1" fontAlgn="ctr" latinLnBrk="0" hangingPunct="1"/>
                      <a:r>
                        <a:rPr lang="en-AU" sz="1400" b="0" u="none" strike="noStrike" kern="1200">
                          <a:solidFill>
                            <a:schemeClr val="tx1"/>
                          </a:solidFill>
                          <a:effectLst/>
                        </a:rPr>
                        <a:t>18,201 – 45,000</a:t>
                      </a:r>
                      <a:endParaRPr lang="en-AU" sz="1400" b="0" u="none" strike="noStrike" kern="1200">
                        <a:solidFill>
                          <a:schemeClr val="tx1"/>
                        </a:solidFill>
                        <a:effectLst/>
                        <a:latin typeface="+mn-lt"/>
                        <a:ea typeface="+mn-ea"/>
                        <a:cs typeface="+mn-cs"/>
                      </a:endParaRPr>
                    </a:p>
                  </a:txBody>
                  <a:tcPr marL="9525" marR="9525" marT="9525" marB="0" anchor="ctr"/>
                </a:tc>
                <a:tc>
                  <a:txBody>
                    <a:bodyPr/>
                    <a:lstStyle/>
                    <a:p>
                      <a:pPr marL="0" algn="l" defTabSz="914400" rtl="0" eaLnBrk="1" fontAlgn="ctr" latinLnBrk="0" hangingPunct="1"/>
                      <a:r>
                        <a:rPr lang="en-AU" sz="1400" b="0" u="none" strike="noStrike" kern="1200">
                          <a:solidFill>
                            <a:schemeClr val="tx1"/>
                          </a:solidFill>
                          <a:effectLst/>
                        </a:rPr>
                        <a:t>16</a:t>
                      </a:r>
                      <a:endParaRPr lang="en-AU" sz="1400" b="0" u="none" strike="noStrike" kern="1200">
                        <a:solidFill>
                          <a:schemeClr val="tx1"/>
                        </a:solidFill>
                        <a:effectLst/>
                        <a:latin typeface="+mn-lt"/>
                        <a:ea typeface="+mn-ea"/>
                        <a:cs typeface="+mn-cs"/>
                      </a:endParaRPr>
                    </a:p>
                  </a:txBody>
                  <a:tcPr marL="9525" marR="9525" marT="9525" marB="0" anchor="ctr"/>
                </a:tc>
                <a:extLst>
                  <a:ext uri="{0D108BD9-81ED-4DB2-BD59-A6C34878D82A}">
                    <a16:rowId xmlns:a16="http://schemas.microsoft.com/office/drawing/2014/main" val="2445032661"/>
                  </a:ext>
                </a:extLst>
              </a:tr>
              <a:tr h="238125">
                <a:tc>
                  <a:txBody>
                    <a:bodyPr/>
                    <a:lstStyle/>
                    <a:p>
                      <a:pPr marL="0" algn="l" defTabSz="914400" rtl="0" eaLnBrk="1" fontAlgn="ctr" latinLnBrk="0" hangingPunct="1"/>
                      <a:r>
                        <a:rPr lang="en-AU" sz="1400" b="0" u="none" strike="noStrike" kern="1200">
                          <a:solidFill>
                            <a:schemeClr val="tx1"/>
                          </a:solidFill>
                          <a:effectLst/>
                        </a:rPr>
                        <a:t>45,001 – 135,000</a:t>
                      </a:r>
                      <a:endParaRPr lang="en-AU" sz="1400" b="0" u="none" strike="noStrike" kern="1200">
                        <a:solidFill>
                          <a:schemeClr val="tx1"/>
                        </a:solidFill>
                        <a:effectLst/>
                        <a:latin typeface="+mn-lt"/>
                        <a:ea typeface="+mn-ea"/>
                        <a:cs typeface="+mn-cs"/>
                      </a:endParaRPr>
                    </a:p>
                  </a:txBody>
                  <a:tcPr marL="9525" marR="9525" marT="9525" marB="0" anchor="ctr"/>
                </a:tc>
                <a:tc>
                  <a:txBody>
                    <a:bodyPr/>
                    <a:lstStyle/>
                    <a:p>
                      <a:pPr marL="0" algn="l" defTabSz="914400" rtl="0" eaLnBrk="1" fontAlgn="ctr" latinLnBrk="0" hangingPunct="1"/>
                      <a:r>
                        <a:rPr lang="en-AU" sz="1400" b="0" u="none" strike="noStrike" kern="1200">
                          <a:solidFill>
                            <a:schemeClr val="tx1"/>
                          </a:solidFill>
                          <a:effectLst/>
                        </a:rPr>
                        <a:t>30</a:t>
                      </a:r>
                      <a:endParaRPr lang="en-AU" sz="1400" b="0" u="none" strike="noStrike" kern="1200">
                        <a:solidFill>
                          <a:schemeClr val="tx1"/>
                        </a:solidFill>
                        <a:effectLst/>
                        <a:latin typeface="+mn-lt"/>
                        <a:ea typeface="+mn-ea"/>
                        <a:cs typeface="+mn-cs"/>
                      </a:endParaRPr>
                    </a:p>
                  </a:txBody>
                  <a:tcPr marL="9525" marR="9525" marT="9525" marB="0" anchor="ctr"/>
                </a:tc>
                <a:extLst>
                  <a:ext uri="{0D108BD9-81ED-4DB2-BD59-A6C34878D82A}">
                    <a16:rowId xmlns:a16="http://schemas.microsoft.com/office/drawing/2014/main" val="1520080626"/>
                  </a:ext>
                </a:extLst>
              </a:tr>
              <a:tr h="238125">
                <a:tc>
                  <a:txBody>
                    <a:bodyPr/>
                    <a:lstStyle/>
                    <a:p>
                      <a:pPr marL="0" algn="l" defTabSz="914400" rtl="0" eaLnBrk="1" fontAlgn="ctr" latinLnBrk="0" hangingPunct="1"/>
                      <a:r>
                        <a:rPr lang="en-AU" sz="1400" b="0" u="none" strike="noStrike" kern="1200">
                          <a:solidFill>
                            <a:schemeClr val="tx1"/>
                          </a:solidFill>
                          <a:effectLst/>
                        </a:rPr>
                        <a:t>135,001 – 190,000</a:t>
                      </a:r>
                      <a:endParaRPr lang="en-AU" sz="1400" b="0" u="none" strike="noStrike" kern="1200">
                        <a:solidFill>
                          <a:schemeClr val="tx1"/>
                        </a:solidFill>
                        <a:effectLst/>
                        <a:latin typeface="+mn-lt"/>
                        <a:ea typeface="+mn-ea"/>
                        <a:cs typeface="+mn-cs"/>
                      </a:endParaRPr>
                    </a:p>
                  </a:txBody>
                  <a:tcPr marL="9525" marR="9525" marT="9525" marB="0" anchor="ctr"/>
                </a:tc>
                <a:tc>
                  <a:txBody>
                    <a:bodyPr/>
                    <a:lstStyle/>
                    <a:p>
                      <a:pPr marL="0" algn="l" defTabSz="914400" rtl="0" eaLnBrk="1" fontAlgn="ctr" latinLnBrk="0" hangingPunct="1"/>
                      <a:r>
                        <a:rPr lang="en-AU" sz="1400" b="0" u="none" strike="noStrike" kern="1200">
                          <a:solidFill>
                            <a:schemeClr val="tx1"/>
                          </a:solidFill>
                          <a:effectLst/>
                        </a:rPr>
                        <a:t>37</a:t>
                      </a:r>
                      <a:endParaRPr lang="en-AU" sz="1400" b="0" u="none" strike="noStrike" kern="1200">
                        <a:solidFill>
                          <a:schemeClr val="tx1"/>
                        </a:solidFill>
                        <a:effectLst/>
                        <a:latin typeface="+mn-lt"/>
                        <a:ea typeface="+mn-ea"/>
                        <a:cs typeface="+mn-cs"/>
                      </a:endParaRPr>
                    </a:p>
                  </a:txBody>
                  <a:tcPr marL="9525" marR="9525" marT="9525" marB="0" anchor="ctr"/>
                </a:tc>
                <a:extLst>
                  <a:ext uri="{0D108BD9-81ED-4DB2-BD59-A6C34878D82A}">
                    <a16:rowId xmlns:a16="http://schemas.microsoft.com/office/drawing/2014/main" val="1158806065"/>
                  </a:ext>
                </a:extLst>
              </a:tr>
              <a:tr h="238125">
                <a:tc>
                  <a:txBody>
                    <a:bodyPr/>
                    <a:lstStyle/>
                    <a:p>
                      <a:pPr marL="0" algn="l" defTabSz="914400" rtl="0" eaLnBrk="1" fontAlgn="ctr" latinLnBrk="0" hangingPunct="1"/>
                      <a:r>
                        <a:rPr lang="en-AU" sz="1400" b="0" u="none" strike="noStrike" kern="1200" dirty="0">
                          <a:solidFill>
                            <a:schemeClr val="tx1"/>
                          </a:solidFill>
                          <a:effectLst/>
                        </a:rPr>
                        <a:t>&gt;190,001</a:t>
                      </a:r>
                      <a:endParaRPr lang="en-AU" sz="1400" b="0" u="none" strike="noStrike" kern="1200" dirty="0">
                        <a:solidFill>
                          <a:schemeClr val="tx1"/>
                        </a:solidFill>
                        <a:effectLst/>
                        <a:latin typeface="+mn-lt"/>
                        <a:ea typeface="+mn-ea"/>
                        <a:cs typeface="+mn-cs"/>
                      </a:endParaRPr>
                    </a:p>
                  </a:txBody>
                  <a:tcPr marL="9525" marR="9525" marT="9525" marB="0" anchor="ctr"/>
                </a:tc>
                <a:tc>
                  <a:txBody>
                    <a:bodyPr/>
                    <a:lstStyle/>
                    <a:p>
                      <a:pPr marL="0" algn="l" defTabSz="914400" rtl="0" eaLnBrk="1" fontAlgn="ctr" latinLnBrk="0" hangingPunct="1"/>
                      <a:r>
                        <a:rPr lang="en-AU" sz="1400" b="0" u="none" strike="noStrike" kern="1200" dirty="0">
                          <a:solidFill>
                            <a:schemeClr val="tx1"/>
                          </a:solidFill>
                          <a:effectLst/>
                        </a:rPr>
                        <a:t>45 </a:t>
                      </a:r>
                      <a:endParaRPr lang="en-AU" sz="1400" b="0" u="none" strike="noStrike" kern="1200" dirty="0">
                        <a:solidFill>
                          <a:schemeClr val="tx1"/>
                        </a:solidFill>
                        <a:effectLst/>
                        <a:latin typeface="+mn-lt"/>
                        <a:ea typeface="+mn-ea"/>
                        <a:cs typeface="+mn-cs"/>
                      </a:endParaRPr>
                    </a:p>
                  </a:txBody>
                  <a:tcPr marL="9525" marR="9525" marT="9525" marB="0" anchor="ctr"/>
                </a:tc>
                <a:extLst>
                  <a:ext uri="{0D108BD9-81ED-4DB2-BD59-A6C34878D82A}">
                    <a16:rowId xmlns:a16="http://schemas.microsoft.com/office/drawing/2014/main" val="3881551283"/>
                  </a:ext>
                </a:extLst>
              </a:tr>
            </a:tbl>
          </a:graphicData>
        </a:graphic>
      </p:graphicFrame>
      <p:sp>
        <p:nvSpPr>
          <p:cNvPr id="16" name="TextBox 15">
            <a:extLst>
              <a:ext uri="{FF2B5EF4-FFF2-40B4-BE49-F238E27FC236}">
                <a16:creationId xmlns:a16="http://schemas.microsoft.com/office/drawing/2014/main" id="{FA6422E9-C55E-5626-F5AC-23E409A4AADA}"/>
              </a:ext>
            </a:extLst>
          </p:cNvPr>
          <p:cNvSpPr txBox="1"/>
          <p:nvPr/>
        </p:nvSpPr>
        <p:spPr>
          <a:xfrm>
            <a:off x="533400" y="3943139"/>
            <a:ext cx="8718550" cy="276999"/>
          </a:xfrm>
          <a:prstGeom prst="rect">
            <a:avLst/>
          </a:prstGeom>
          <a:noFill/>
        </p:spPr>
        <p:txBody>
          <a:bodyPr wrap="square" rtlCol="0">
            <a:spAutoFit/>
          </a:bodyPr>
          <a:lstStyle/>
          <a:p>
            <a:r>
              <a:rPr lang="en-US" sz="1200" dirty="0"/>
              <a:t>The above rates do not include the Medicate levy of 2%</a:t>
            </a:r>
            <a:endParaRPr lang="en-AU" sz="1200" dirty="0"/>
          </a:p>
        </p:txBody>
      </p:sp>
    </p:spTree>
    <p:extLst>
      <p:ext uri="{BB962C8B-B14F-4D97-AF65-F5344CB8AC3E}">
        <p14:creationId xmlns:p14="http://schemas.microsoft.com/office/powerpoint/2010/main" val="416717405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ontent Placeholder 4">
            <a:extLst>
              <a:ext uri="{FF2B5EF4-FFF2-40B4-BE49-F238E27FC236}">
                <a16:creationId xmlns:a16="http://schemas.microsoft.com/office/drawing/2014/main" id="{438060FF-42B3-461E-B1D6-D584FB22774A}"/>
              </a:ext>
            </a:extLst>
          </p:cNvPr>
          <p:cNvSpPr>
            <a:spLocks noGrp="1"/>
          </p:cNvSpPr>
          <p:nvPr>
            <p:ph idx="1"/>
          </p:nvPr>
        </p:nvSpPr>
        <p:spPr/>
        <p:txBody>
          <a:bodyPr>
            <a:normAutofit/>
          </a:bodyPr>
          <a:lstStyle/>
          <a:p>
            <a:pPr marL="0" indent="0">
              <a:buNone/>
            </a:pPr>
            <a:endParaRPr lang="en-US" sz="2000" dirty="0"/>
          </a:p>
          <a:p>
            <a:endParaRPr lang="en-US" sz="2000" dirty="0"/>
          </a:p>
          <a:p>
            <a:endParaRPr lang="en-US" sz="2000" dirty="0"/>
          </a:p>
          <a:p>
            <a:endParaRPr lang="en-US" sz="2000" dirty="0"/>
          </a:p>
        </p:txBody>
      </p:sp>
      <p:sp>
        <p:nvSpPr>
          <p:cNvPr id="4" name="Title 3">
            <a:extLst>
              <a:ext uri="{FF2B5EF4-FFF2-40B4-BE49-F238E27FC236}">
                <a16:creationId xmlns:a16="http://schemas.microsoft.com/office/drawing/2014/main" id="{2E3FF8C0-E639-4F69-898D-3B8BB48CED48}"/>
              </a:ext>
            </a:extLst>
          </p:cNvPr>
          <p:cNvSpPr>
            <a:spLocks noGrp="1"/>
          </p:cNvSpPr>
          <p:nvPr>
            <p:ph type="title"/>
          </p:nvPr>
        </p:nvSpPr>
        <p:spPr/>
        <p:txBody>
          <a:bodyPr>
            <a:normAutofit/>
          </a:bodyPr>
          <a:lstStyle/>
          <a:p>
            <a:r>
              <a:rPr lang="en-US" dirty="0"/>
              <a:t>Individual Non-Resident Marginal Tax Rates</a:t>
            </a:r>
            <a:endParaRPr lang="en-AU" dirty="0"/>
          </a:p>
        </p:txBody>
      </p:sp>
      <p:graphicFrame>
        <p:nvGraphicFramePr>
          <p:cNvPr id="14" name="Table 13">
            <a:extLst>
              <a:ext uri="{FF2B5EF4-FFF2-40B4-BE49-F238E27FC236}">
                <a16:creationId xmlns:a16="http://schemas.microsoft.com/office/drawing/2014/main" id="{9E70BD59-3BD8-8E8D-03C9-377F9BD5FF3C}"/>
              </a:ext>
            </a:extLst>
          </p:cNvPr>
          <p:cNvGraphicFramePr>
            <a:graphicFrameLocks noGrp="1"/>
          </p:cNvGraphicFramePr>
          <p:nvPr>
            <p:extLst>
              <p:ext uri="{D42A27DB-BD31-4B8C-83A1-F6EECF244321}">
                <p14:modId xmlns:p14="http://schemas.microsoft.com/office/powerpoint/2010/main" val="937397737"/>
              </p:ext>
            </p:extLst>
          </p:nvPr>
        </p:nvGraphicFramePr>
        <p:xfrm>
          <a:off x="628650" y="1961356"/>
          <a:ext cx="4902200" cy="1181100"/>
        </p:xfrm>
        <a:graphic>
          <a:graphicData uri="http://schemas.openxmlformats.org/drawingml/2006/table">
            <a:tbl>
              <a:tblPr firstRow="1" bandRow="1">
                <a:tableStyleId>{5C22544A-7EE6-4342-B048-85BDC9FD1C3A}</a:tableStyleId>
              </a:tblPr>
              <a:tblGrid>
                <a:gridCol w="2855650">
                  <a:extLst>
                    <a:ext uri="{9D8B030D-6E8A-4147-A177-3AD203B41FA5}">
                      <a16:colId xmlns:a16="http://schemas.microsoft.com/office/drawing/2014/main" val="236163371"/>
                    </a:ext>
                  </a:extLst>
                </a:gridCol>
                <a:gridCol w="2046550">
                  <a:extLst>
                    <a:ext uri="{9D8B030D-6E8A-4147-A177-3AD203B41FA5}">
                      <a16:colId xmlns:a16="http://schemas.microsoft.com/office/drawing/2014/main" val="2112142994"/>
                    </a:ext>
                  </a:extLst>
                </a:gridCol>
              </a:tblGrid>
              <a:tr h="466725">
                <a:tc>
                  <a:txBody>
                    <a:bodyPr/>
                    <a:lstStyle/>
                    <a:p>
                      <a:pPr algn="l" rtl="0" fontAlgn="ctr"/>
                      <a:r>
                        <a:rPr lang="en-AU" sz="1400" b="1" u="none" strike="noStrike" dirty="0">
                          <a:solidFill>
                            <a:srgbClr val="F2F5F6"/>
                          </a:solidFill>
                          <a:effectLst/>
                        </a:rPr>
                        <a:t>Current tax rates ($AUD)</a:t>
                      </a:r>
                      <a:endParaRPr lang="en-AU" sz="1400" b="1" i="0" u="none" strike="noStrike" dirty="0">
                        <a:solidFill>
                          <a:srgbClr val="F2F5F6"/>
                        </a:solidFill>
                        <a:effectLst/>
                        <a:latin typeface="Arial" panose="020B0604020202020204" pitchFamily="34" charset="0"/>
                      </a:endParaRPr>
                    </a:p>
                  </a:txBody>
                  <a:tcPr marL="9525" marR="9525" marT="9525" marB="0" anchor="ctr"/>
                </a:tc>
                <a:tc>
                  <a:txBody>
                    <a:bodyPr/>
                    <a:lstStyle/>
                    <a:p>
                      <a:pPr marL="0" algn="l" defTabSz="914400" rtl="0" eaLnBrk="1" fontAlgn="ctr" latinLnBrk="0" hangingPunct="1"/>
                      <a:r>
                        <a:rPr lang="en-AU" sz="1400" b="1" u="none" strike="noStrike" kern="1200" dirty="0">
                          <a:solidFill>
                            <a:srgbClr val="F2F5F6"/>
                          </a:solidFill>
                          <a:effectLst/>
                        </a:rPr>
                        <a:t>Tax on this income ($AUD)</a:t>
                      </a:r>
                      <a:endParaRPr lang="en-AU" sz="1400" b="1" i="0" u="none" strike="noStrike" kern="1200" dirty="0">
                        <a:solidFill>
                          <a:srgbClr val="F2F5F6"/>
                        </a:solidFill>
                        <a:effectLst/>
                        <a:latin typeface="Arial" panose="020B0604020202020204" pitchFamily="34" charset="0"/>
                        <a:ea typeface="+mn-ea"/>
                        <a:cs typeface="+mn-cs"/>
                      </a:endParaRPr>
                    </a:p>
                  </a:txBody>
                  <a:tcPr marL="9525" marR="9525" marT="9525" marB="0" anchor="ctr"/>
                </a:tc>
                <a:extLst>
                  <a:ext uri="{0D108BD9-81ED-4DB2-BD59-A6C34878D82A}">
                    <a16:rowId xmlns:a16="http://schemas.microsoft.com/office/drawing/2014/main" val="1606159116"/>
                  </a:ext>
                </a:extLst>
              </a:tr>
              <a:tr h="238125">
                <a:tc>
                  <a:txBody>
                    <a:bodyPr/>
                    <a:lstStyle/>
                    <a:p>
                      <a:pPr algn="l" rtl="0" fontAlgn="ctr"/>
                      <a:r>
                        <a:rPr lang="en-AU" sz="1400" b="0" u="none" strike="noStrike" dirty="0">
                          <a:solidFill>
                            <a:srgbClr val="1B1F22"/>
                          </a:solidFill>
                          <a:effectLst/>
                        </a:rPr>
                        <a:t>0- 120,000</a:t>
                      </a:r>
                      <a:endParaRPr lang="en-AU" sz="1400" b="0" i="0" u="none" strike="noStrike" dirty="0">
                        <a:solidFill>
                          <a:srgbClr val="1B1F22"/>
                        </a:solidFill>
                        <a:effectLst/>
                        <a:latin typeface="Arial" panose="020B0604020202020204" pitchFamily="34" charset="0"/>
                      </a:endParaRPr>
                    </a:p>
                  </a:txBody>
                  <a:tcPr marL="9525" marR="9525" marT="9525" marB="0" anchor="ctr"/>
                </a:tc>
                <a:tc>
                  <a:txBody>
                    <a:bodyPr/>
                    <a:lstStyle/>
                    <a:p>
                      <a:pPr marL="0" algn="l" defTabSz="914400" rtl="0" eaLnBrk="1" fontAlgn="ctr" latinLnBrk="0" hangingPunct="1"/>
                      <a:r>
                        <a:rPr lang="en-AU" sz="1400" b="0" u="none" strike="noStrike" kern="1200" dirty="0">
                          <a:solidFill>
                            <a:schemeClr val="tx1"/>
                          </a:solidFill>
                          <a:effectLst/>
                        </a:rPr>
                        <a:t>32.5</a:t>
                      </a:r>
                      <a:endParaRPr lang="en-AU" sz="1400" b="0" i="0" u="none" strike="noStrike" kern="1200" dirty="0">
                        <a:solidFill>
                          <a:schemeClr val="tx1"/>
                        </a:solidFill>
                        <a:effectLst/>
                        <a:latin typeface="Arial" panose="020B0604020202020204" pitchFamily="34" charset="0"/>
                        <a:ea typeface="+mn-ea"/>
                        <a:cs typeface="+mn-cs"/>
                      </a:endParaRPr>
                    </a:p>
                  </a:txBody>
                  <a:tcPr marL="9525" marR="9525" marT="9525" marB="0" anchor="ctr"/>
                </a:tc>
                <a:extLst>
                  <a:ext uri="{0D108BD9-81ED-4DB2-BD59-A6C34878D82A}">
                    <a16:rowId xmlns:a16="http://schemas.microsoft.com/office/drawing/2014/main" val="1077898193"/>
                  </a:ext>
                </a:extLst>
              </a:tr>
              <a:tr h="238125">
                <a:tc>
                  <a:txBody>
                    <a:bodyPr/>
                    <a:lstStyle/>
                    <a:p>
                      <a:pPr algn="l" rtl="0" fontAlgn="ctr"/>
                      <a:r>
                        <a:rPr lang="en-AU" sz="1400" b="0" u="none" strike="noStrike">
                          <a:solidFill>
                            <a:srgbClr val="1B1F22"/>
                          </a:solidFill>
                          <a:effectLst/>
                        </a:rPr>
                        <a:t>120,001 – 180,000</a:t>
                      </a:r>
                      <a:endParaRPr lang="en-AU" sz="1400" b="0" i="0" u="none" strike="noStrike">
                        <a:solidFill>
                          <a:srgbClr val="1B1F22"/>
                        </a:solidFill>
                        <a:effectLst/>
                        <a:latin typeface="Arial" panose="020B0604020202020204" pitchFamily="34" charset="0"/>
                      </a:endParaRPr>
                    </a:p>
                  </a:txBody>
                  <a:tcPr marL="9525" marR="9525" marT="9525" marB="0" anchor="ctr"/>
                </a:tc>
                <a:tc>
                  <a:txBody>
                    <a:bodyPr/>
                    <a:lstStyle/>
                    <a:p>
                      <a:pPr marL="0" algn="l" defTabSz="914400" rtl="0" eaLnBrk="1" fontAlgn="ctr" latinLnBrk="0" hangingPunct="1"/>
                      <a:r>
                        <a:rPr lang="en-AU" sz="1400" b="0" u="none" strike="noStrike" kern="1200" dirty="0">
                          <a:solidFill>
                            <a:schemeClr val="tx1"/>
                          </a:solidFill>
                          <a:effectLst/>
                        </a:rPr>
                        <a:t>37</a:t>
                      </a:r>
                      <a:endParaRPr lang="en-AU" sz="1400" b="0" i="0" u="none" strike="noStrike" kern="1200" dirty="0">
                        <a:solidFill>
                          <a:schemeClr val="tx1"/>
                        </a:solidFill>
                        <a:effectLst/>
                        <a:latin typeface="Arial" panose="020B0604020202020204" pitchFamily="34" charset="0"/>
                        <a:ea typeface="+mn-ea"/>
                        <a:cs typeface="+mn-cs"/>
                      </a:endParaRPr>
                    </a:p>
                  </a:txBody>
                  <a:tcPr marL="9525" marR="9525" marT="9525" marB="0" anchor="ctr"/>
                </a:tc>
                <a:extLst>
                  <a:ext uri="{0D108BD9-81ED-4DB2-BD59-A6C34878D82A}">
                    <a16:rowId xmlns:a16="http://schemas.microsoft.com/office/drawing/2014/main" val="1464105867"/>
                  </a:ext>
                </a:extLst>
              </a:tr>
              <a:tr h="238125">
                <a:tc>
                  <a:txBody>
                    <a:bodyPr/>
                    <a:lstStyle/>
                    <a:p>
                      <a:pPr algn="l" rtl="0" fontAlgn="ctr"/>
                      <a:r>
                        <a:rPr lang="en-AU" sz="1400" b="0" u="none" strike="noStrike" dirty="0">
                          <a:solidFill>
                            <a:srgbClr val="1B1F22"/>
                          </a:solidFill>
                          <a:effectLst/>
                        </a:rPr>
                        <a:t>&gt;180,001</a:t>
                      </a:r>
                      <a:endParaRPr lang="en-AU" sz="1400" b="0" i="0" u="none" strike="noStrike" dirty="0">
                        <a:solidFill>
                          <a:srgbClr val="1B1F22"/>
                        </a:solidFill>
                        <a:effectLst/>
                        <a:latin typeface="Arial" panose="020B0604020202020204" pitchFamily="34" charset="0"/>
                      </a:endParaRPr>
                    </a:p>
                  </a:txBody>
                  <a:tcPr marL="9525" marR="9525" marT="9525" marB="0" anchor="ctr"/>
                </a:tc>
                <a:tc>
                  <a:txBody>
                    <a:bodyPr/>
                    <a:lstStyle/>
                    <a:p>
                      <a:pPr marL="0" algn="l" defTabSz="914400" rtl="0" eaLnBrk="1" fontAlgn="ctr" latinLnBrk="0" hangingPunct="1"/>
                      <a:r>
                        <a:rPr lang="en-AU" sz="1400" b="0" u="none" strike="noStrike" kern="1200" dirty="0">
                          <a:solidFill>
                            <a:schemeClr val="tx1"/>
                          </a:solidFill>
                          <a:effectLst/>
                        </a:rPr>
                        <a:t>45</a:t>
                      </a:r>
                      <a:endParaRPr lang="en-AU" sz="1400" b="0" i="0" u="none" strike="noStrike" kern="1200" dirty="0">
                        <a:solidFill>
                          <a:schemeClr val="tx1"/>
                        </a:solidFill>
                        <a:effectLst/>
                        <a:latin typeface="Arial" panose="020B0604020202020204" pitchFamily="34" charset="0"/>
                        <a:ea typeface="+mn-ea"/>
                        <a:cs typeface="+mn-cs"/>
                      </a:endParaRPr>
                    </a:p>
                  </a:txBody>
                  <a:tcPr marL="9525" marR="9525" marT="9525" marB="0" anchor="ctr"/>
                </a:tc>
                <a:extLst>
                  <a:ext uri="{0D108BD9-81ED-4DB2-BD59-A6C34878D82A}">
                    <a16:rowId xmlns:a16="http://schemas.microsoft.com/office/drawing/2014/main" val="2032828949"/>
                  </a:ext>
                </a:extLst>
              </a:tr>
            </a:tbl>
          </a:graphicData>
        </a:graphic>
      </p:graphicFrame>
      <p:graphicFrame>
        <p:nvGraphicFramePr>
          <p:cNvPr id="15" name="Table 14">
            <a:extLst>
              <a:ext uri="{FF2B5EF4-FFF2-40B4-BE49-F238E27FC236}">
                <a16:creationId xmlns:a16="http://schemas.microsoft.com/office/drawing/2014/main" id="{1DD3EADA-7446-A97E-7E7D-E2676AC32471}"/>
              </a:ext>
            </a:extLst>
          </p:cNvPr>
          <p:cNvGraphicFramePr>
            <a:graphicFrameLocks noGrp="1"/>
          </p:cNvGraphicFramePr>
          <p:nvPr>
            <p:extLst>
              <p:ext uri="{D42A27DB-BD31-4B8C-83A1-F6EECF244321}">
                <p14:modId xmlns:p14="http://schemas.microsoft.com/office/powerpoint/2010/main" val="3874392621"/>
              </p:ext>
            </p:extLst>
          </p:nvPr>
        </p:nvGraphicFramePr>
        <p:xfrm>
          <a:off x="5886450" y="1961356"/>
          <a:ext cx="4902200" cy="1181100"/>
        </p:xfrm>
        <a:graphic>
          <a:graphicData uri="http://schemas.openxmlformats.org/drawingml/2006/table">
            <a:tbl>
              <a:tblPr firstRow="1" bandRow="1">
                <a:tableStyleId>{5C22544A-7EE6-4342-B048-85BDC9FD1C3A}</a:tableStyleId>
              </a:tblPr>
              <a:tblGrid>
                <a:gridCol w="2855650">
                  <a:extLst>
                    <a:ext uri="{9D8B030D-6E8A-4147-A177-3AD203B41FA5}">
                      <a16:colId xmlns:a16="http://schemas.microsoft.com/office/drawing/2014/main" val="4115177126"/>
                    </a:ext>
                  </a:extLst>
                </a:gridCol>
                <a:gridCol w="2046550">
                  <a:extLst>
                    <a:ext uri="{9D8B030D-6E8A-4147-A177-3AD203B41FA5}">
                      <a16:colId xmlns:a16="http://schemas.microsoft.com/office/drawing/2014/main" val="4112456789"/>
                    </a:ext>
                  </a:extLst>
                </a:gridCol>
              </a:tblGrid>
              <a:tr h="466725">
                <a:tc>
                  <a:txBody>
                    <a:bodyPr/>
                    <a:lstStyle/>
                    <a:p>
                      <a:pPr marL="0" algn="l" defTabSz="914400" rtl="0" eaLnBrk="1" fontAlgn="ctr" latinLnBrk="0" hangingPunct="1"/>
                      <a:r>
                        <a:rPr lang="en-AU" sz="1400" b="1" u="none" strike="noStrike" kern="1200" dirty="0">
                          <a:solidFill>
                            <a:srgbClr val="F2F5F6"/>
                          </a:solidFill>
                          <a:effectLst/>
                        </a:rPr>
                        <a:t>New tax rates from 2024–25 ($AUD)</a:t>
                      </a:r>
                      <a:endParaRPr lang="en-AU" sz="1400" b="1" u="none" strike="noStrike" kern="1200" dirty="0">
                        <a:solidFill>
                          <a:srgbClr val="F2F5F6"/>
                        </a:solidFill>
                        <a:effectLst/>
                        <a:latin typeface="+mn-lt"/>
                        <a:ea typeface="+mn-ea"/>
                        <a:cs typeface="+mn-cs"/>
                      </a:endParaRPr>
                    </a:p>
                  </a:txBody>
                  <a:tcPr marL="9525" marR="9525" marT="9525" marB="0" anchor="ctr"/>
                </a:tc>
                <a:tc>
                  <a:txBody>
                    <a:bodyPr/>
                    <a:lstStyle/>
                    <a:p>
                      <a:pPr marL="0" algn="l" defTabSz="914400" rtl="0" eaLnBrk="1" fontAlgn="ctr" latinLnBrk="0" hangingPunct="1"/>
                      <a:r>
                        <a:rPr lang="en-AU" sz="1400" b="1" u="none" strike="noStrike" kern="1200" dirty="0">
                          <a:solidFill>
                            <a:srgbClr val="F2F5F6"/>
                          </a:solidFill>
                          <a:effectLst/>
                        </a:rPr>
                        <a:t>Tax on this income ($AUD)</a:t>
                      </a:r>
                      <a:endParaRPr lang="en-AU" sz="1400" b="1" u="none" strike="noStrike" kern="1200" dirty="0">
                        <a:solidFill>
                          <a:srgbClr val="F2F5F6"/>
                        </a:solidFill>
                        <a:effectLst/>
                        <a:latin typeface="+mn-lt"/>
                        <a:ea typeface="+mn-ea"/>
                        <a:cs typeface="+mn-cs"/>
                      </a:endParaRPr>
                    </a:p>
                  </a:txBody>
                  <a:tcPr marL="9525" marR="9525" marT="9525" marB="0" anchor="ctr"/>
                </a:tc>
                <a:extLst>
                  <a:ext uri="{0D108BD9-81ED-4DB2-BD59-A6C34878D82A}">
                    <a16:rowId xmlns:a16="http://schemas.microsoft.com/office/drawing/2014/main" val="1106081418"/>
                  </a:ext>
                </a:extLst>
              </a:tr>
              <a:tr h="238125">
                <a:tc>
                  <a:txBody>
                    <a:bodyPr/>
                    <a:lstStyle/>
                    <a:p>
                      <a:pPr marL="0" algn="l" defTabSz="914400" rtl="0" eaLnBrk="1" fontAlgn="ctr" latinLnBrk="0" hangingPunct="1"/>
                      <a:r>
                        <a:rPr lang="en-AU" sz="1400" b="0" u="none" strike="noStrike" kern="1200" dirty="0">
                          <a:solidFill>
                            <a:schemeClr val="tx1"/>
                          </a:solidFill>
                          <a:effectLst/>
                        </a:rPr>
                        <a:t>0 – 135,000</a:t>
                      </a:r>
                      <a:endParaRPr lang="en-AU" sz="1400" b="0" u="none" strike="noStrike" kern="1200" dirty="0">
                        <a:solidFill>
                          <a:schemeClr val="tx1"/>
                        </a:solidFill>
                        <a:effectLst/>
                        <a:latin typeface="+mn-lt"/>
                        <a:ea typeface="+mn-ea"/>
                        <a:cs typeface="+mn-cs"/>
                      </a:endParaRPr>
                    </a:p>
                  </a:txBody>
                  <a:tcPr marL="9525" marR="9525" marT="9525" marB="0" anchor="ctr"/>
                </a:tc>
                <a:tc>
                  <a:txBody>
                    <a:bodyPr/>
                    <a:lstStyle/>
                    <a:p>
                      <a:pPr marL="0" algn="l" defTabSz="914400" rtl="0" eaLnBrk="1" fontAlgn="ctr" latinLnBrk="0" hangingPunct="1"/>
                      <a:r>
                        <a:rPr lang="en-AU" sz="1400" b="0" u="none" strike="noStrike" kern="1200" dirty="0">
                          <a:solidFill>
                            <a:schemeClr val="tx1"/>
                          </a:solidFill>
                          <a:effectLst/>
                        </a:rPr>
                        <a:t>30</a:t>
                      </a:r>
                      <a:endParaRPr lang="en-AU" sz="1400" b="0" u="none" strike="noStrike" kern="1200" dirty="0">
                        <a:solidFill>
                          <a:schemeClr val="tx1"/>
                        </a:solidFill>
                        <a:effectLst/>
                        <a:latin typeface="+mn-lt"/>
                        <a:ea typeface="+mn-ea"/>
                        <a:cs typeface="+mn-cs"/>
                      </a:endParaRPr>
                    </a:p>
                  </a:txBody>
                  <a:tcPr marL="9525" marR="9525" marT="9525" marB="0" anchor="ctr"/>
                </a:tc>
                <a:extLst>
                  <a:ext uri="{0D108BD9-81ED-4DB2-BD59-A6C34878D82A}">
                    <a16:rowId xmlns:a16="http://schemas.microsoft.com/office/drawing/2014/main" val="1520080626"/>
                  </a:ext>
                </a:extLst>
              </a:tr>
              <a:tr h="238125">
                <a:tc>
                  <a:txBody>
                    <a:bodyPr/>
                    <a:lstStyle/>
                    <a:p>
                      <a:pPr marL="0" algn="l" defTabSz="914400" rtl="0" eaLnBrk="1" fontAlgn="ctr" latinLnBrk="0" hangingPunct="1"/>
                      <a:r>
                        <a:rPr lang="en-AU" sz="1400" b="0" u="none" strike="noStrike" kern="1200" dirty="0">
                          <a:solidFill>
                            <a:schemeClr val="tx1"/>
                          </a:solidFill>
                          <a:effectLst/>
                        </a:rPr>
                        <a:t>135,001 – 190,000</a:t>
                      </a:r>
                      <a:endParaRPr lang="en-AU" sz="1400" b="0" u="none" strike="noStrike" kern="1200" dirty="0">
                        <a:solidFill>
                          <a:schemeClr val="tx1"/>
                        </a:solidFill>
                        <a:effectLst/>
                        <a:latin typeface="+mn-lt"/>
                        <a:ea typeface="+mn-ea"/>
                        <a:cs typeface="+mn-cs"/>
                      </a:endParaRPr>
                    </a:p>
                  </a:txBody>
                  <a:tcPr marL="9525" marR="9525" marT="9525" marB="0" anchor="ctr"/>
                </a:tc>
                <a:tc>
                  <a:txBody>
                    <a:bodyPr/>
                    <a:lstStyle/>
                    <a:p>
                      <a:pPr marL="0" algn="l" defTabSz="914400" rtl="0" eaLnBrk="1" fontAlgn="ctr" latinLnBrk="0" hangingPunct="1"/>
                      <a:r>
                        <a:rPr lang="en-AU" sz="1400" b="0" u="none" strike="noStrike" kern="1200" dirty="0">
                          <a:solidFill>
                            <a:schemeClr val="tx1"/>
                          </a:solidFill>
                          <a:effectLst/>
                        </a:rPr>
                        <a:t>37</a:t>
                      </a:r>
                      <a:endParaRPr lang="en-AU" sz="1400" b="0" u="none" strike="noStrike" kern="1200" dirty="0">
                        <a:solidFill>
                          <a:schemeClr val="tx1"/>
                        </a:solidFill>
                        <a:effectLst/>
                        <a:latin typeface="+mn-lt"/>
                        <a:ea typeface="+mn-ea"/>
                        <a:cs typeface="+mn-cs"/>
                      </a:endParaRPr>
                    </a:p>
                  </a:txBody>
                  <a:tcPr marL="9525" marR="9525" marT="9525" marB="0" anchor="ctr"/>
                </a:tc>
                <a:extLst>
                  <a:ext uri="{0D108BD9-81ED-4DB2-BD59-A6C34878D82A}">
                    <a16:rowId xmlns:a16="http://schemas.microsoft.com/office/drawing/2014/main" val="1158806065"/>
                  </a:ext>
                </a:extLst>
              </a:tr>
              <a:tr h="238125">
                <a:tc>
                  <a:txBody>
                    <a:bodyPr/>
                    <a:lstStyle/>
                    <a:p>
                      <a:pPr marL="0" algn="l" defTabSz="914400" rtl="0" eaLnBrk="1" fontAlgn="ctr" latinLnBrk="0" hangingPunct="1"/>
                      <a:r>
                        <a:rPr lang="en-AU" sz="1400" b="0" u="none" strike="noStrike" kern="1200" dirty="0">
                          <a:solidFill>
                            <a:schemeClr val="tx1"/>
                          </a:solidFill>
                          <a:effectLst/>
                        </a:rPr>
                        <a:t>&gt;190,001</a:t>
                      </a:r>
                      <a:endParaRPr lang="en-AU" sz="1400" b="0" u="none" strike="noStrike" kern="1200" dirty="0">
                        <a:solidFill>
                          <a:schemeClr val="tx1"/>
                        </a:solidFill>
                        <a:effectLst/>
                        <a:latin typeface="+mn-lt"/>
                        <a:ea typeface="+mn-ea"/>
                        <a:cs typeface="+mn-cs"/>
                      </a:endParaRPr>
                    </a:p>
                  </a:txBody>
                  <a:tcPr marL="9525" marR="9525" marT="9525" marB="0" anchor="ctr"/>
                </a:tc>
                <a:tc>
                  <a:txBody>
                    <a:bodyPr/>
                    <a:lstStyle/>
                    <a:p>
                      <a:pPr marL="0" algn="l" defTabSz="914400" rtl="0" eaLnBrk="1" fontAlgn="ctr" latinLnBrk="0" hangingPunct="1"/>
                      <a:r>
                        <a:rPr lang="en-AU" sz="1400" b="0" u="none" strike="noStrike" kern="1200" dirty="0">
                          <a:solidFill>
                            <a:schemeClr val="tx1"/>
                          </a:solidFill>
                          <a:effectLst/>
                        </a:rPr>
                        <a:t>45 </a:t>
                      </a:r>
                      <a:endParaRPr lang="en-AU" sz="1400" b="0" u="none" strike="noStrike" kern="1200" dirty="0">
                        <a:solidFill>
                          <a:schemeClr val="tx1"/>
                        </a:solidFill>
                        <a:effectLst/>
                        <a:latin typeface="+mn-lt"/>
                        <a:ea typeface="+mn-ea"/>
                        <a:cs typeface="+mn-cs"/>
                      </a:endParaRPr>
                    </a:p>
                  </a:txBody>
                  <a:tcPr marL="9525" marR="9525" marT="9525" marB="0" anchor="ctr"/>
                </a:tc>
                <a:extLst>
                  <a:ext uri="{0D108BD9-81ED-4DB2-BD59-A6C34878D82A}">
                    <a16:rowId xmlns:a16="http://schemas.microsoft.com/office/drawing/2014/main" val="3881551283"/>
                  </a:ext>
                </a:extLst>
              </a:tr>
            </a:tbl>
          </a:graphicData>
        </a:graphic>
      </p:graphicFrame>
    </p:spTree>
    <p:extLst>
      <p:ext uri="{BB962C8B-B14F-4D97-AF65-F5344CB8AC3E}">
        <p14:creationId xmlns:p14="http://schemas.microsoft.com/office/powerpoint/2010/main" val="252079715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ontent Placeholder 4">
            <a:extLst>
              <a:ext uri="{FF2B5EF4-FFF2-40B4-BE49-F238E27FC236}">
                <a16:creationId xmlns:a16="http://schemas.microsoft.com/office/drawing/2014/main" id="{438060FF-42B3-461E-B1D6-D584FB22774A}"/>
              </a:ext>
            </a:extLst>
          </p:cNvPr>
          <p:cNvSpPr>
            <a:spLocks noGrp="1"/>
          </p:cNvSpPr>
          <p:nvPr>
            <p:ph idx="1"/>
          </p:nvPr>
        </p:nvSpPr>
        <p:spPr>
          <a:xfrm>
            <a:off x="628650" y="1264671"/>
            <a:ext cx="10934700" cy="4924094"/>
          </a:xfrm>
        </p:spPr>
        <p:txBody>
          <a:bodyPr>
            <a:normAutofit lnSpcReduction="10000"/>
          </a:bodyPr>
          <a:lstStyle/>
          <a:p>
            <a:pPr marL="0" indent="0">
              <a:buNone/>
            </a:pPr>
            <a:r>
              <a:rPr lang="en-US" sz="2000" dirty="0"/>
              <a:t>3 Basic Tests:</a:t>
            </a:r>
          </a:p>
          <a:p>
            <a:pPr marL="0" indent="0">
              <a:buNone/>
            </a:pPr>
            <a:endParaRPr lang="en-US" sz="2000" dirty="0"/>
          </a:p>
          <a:p>
            <a:pPr lvl="1"/>
            <a:r>
              <a:rPr lang="en-US" sz="2000" dirty="0"/>
              <a:t>Test 1  -   Resides under “Ordinary Concepts” test</a:t>
            </a:r>
          </a:p>
          <a:p>
            <a:pPr marL="457200" lvl="1" indent="0">
              <a:buNone/>
            </a:pPr>
            <a:endParaRPr lang="en-US" sz="2000" dirty="0"/>
          </a:p>
          <a:p>
            <a:pPr lvl="1"/>
            <a:r>
              <a:rPr lang="en-US" sz="2000" dirty="0"/>
              <a:t>Test 2-    “Domicile test” </a:t>
            </a:r>
            <a:endParaRPr lang="en-US" sz="1700" dirty="0"/>
          </a:p>
          <a:p>
            <a:pPr lvl="2"/>
            <a:endParaRPr lang="en-US" sz="1700" dirty="0"/>
          </a:p>
          <a:p>
            <a:pPr lvl="1"/>
            <a:r>
              <a:rPr lang="en-US" sz="2000" dirty="0"/>
              <a:t>Test 3-   “183 day” test</a:t>
            </a:r>
          </a:p>
          <a:p>
            <a:pPr marL="457200" lvl="1" indent="0">
              <a:buNone/>
            </a:pPr>
            <a:endParaRPr lang="en-US" sz="2000" dirty="0"/>
          </a:p>
          <a:p>
            <a:pPr marL="457200" lvl="1" indent="0">
              <a:buNone/>
            </a:pPr>
            <a:r>
              <a:rPr lang="en-US" sz="2000" i="1" dirty="0"/>
              <a:t> Note: No “bright line test” of days in Aus per se.</a:t>
            </a:r>
          </a:p>
          <a:p>
            <a:pPr marL="457200" lvl="1" indent="0">
              <a:buNone/>
            </a:pPr>
            <a:endParaRPr lang="en-US" sz="2000" i="1" dirty="0"/>
          </a:p>
          <a:p>
            <a:r>
              <a:rPr lang="en-US" sz="2000" dirty="0"/>
              <a:t>Individual is tax resident if any </a:t>
            </a:r>
            <a:r>
              <a:rPr lang="en-US" sz="2000" u="sng" dirty="0"/>
              <a:t>one</a:t>
            </a:r>
            <a:r>
              <a:rPr lang="en-US" sz="2000" dirty="0"/>
              <a:t> of the three tests is passed.</a:t>
            </a:r>
          </a:p>
          <a:p>
            <a:r>
              <a:rPr lang="en-US" sz="2000" dirty="0"/>
              <a:t>Residency can change – needs to be assessed each year </a:t>
            </a:r>
          </a:p>
          <a:p>
            <a:r>
              <a:rPr lang="en-US" sz="2000" dirty="0"/>
              <a:t>Can be resident for whole or part of year</a:t>
            </a:r>
          </a:p>
          <a:p>
            <a:r>
              <a:rPr lang="en-US" sz="2000" dirty="0"/>
              <a:t>Self assessment applies </a:t>
            </a:r>
          </a:p>
          <a:p>
            <a:endParaRPr lang="en-US" dirty="0"/>
          </a:p>
        </p:txBody>
      </p:sp>
      <p:sp>
        <p:nvSpPr>
          <p:cNvPr id="4" name="Title 3">
            <a:extLst>
              <a:ext uri="{FF2B5EF4-FFF2-40B4-BE49-F238E27FC236}">
                <a16:creationId xmlns:a16="http://schemas.microsoft.com/office/drawing/2014/main" id="{2E3FF8C0-E639-4F69-898D-3B8BB48CED48}"/>
              </a:ext>
            </a:extLst>
          </p:cNvPr>
          <p:cNvSpPr>
            <a:spLocks noGrp="1"/>
          </p:cNvSpPr>
          <p:nvPr>
            <p:ph type="title"/>
          </p:nvPr>
        </p:nvSpPr>
        <p:spPr/>
        <p:txBody>
          <a:bodyPr/>
          <a:lstStyle/>
          <a:p>
            <a:r>
              <a:rPr lang="en-US" dirty="0"/>
              <a:t>Australian Tax Residency Definition for Individuals</a:t>
            </a:r>
            <a:endParaRPr lang="en-AU" dirty="0"/>
          </a:p>
        </p:txBody>
      </p:sp>
    </p:spTree>
    <p:extLst>
      <p:ext uri="{BB962C8B-B14F-4D97-AF65-F5344CB8AC3E}">
        <p14:creationId xmlns:p14="http://schemas.microsoft.com/office/powerpoint/2010/main" val="251823896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ontent Placeholder 4">
            <a:extLst>
              <a:ext uri="{FF2B5EF4-FFF2-40B4-BE49-F238E27FC236}">
                <a16:creationId xmlns:a16="http://schemas.microsoft.com/office/drawing/2014/main" id="{438060FF-42B3-461E-B1D6-D584FB22774A}"/>
              </a:ext>
            </a:extLst>
          </p:cNvPr>
          <p:cNvSpPr>
            <a:spLocks noGrp="1"/>
          </p:cNvSpPr>
          <p:nvPr>
            <p:ph idx="1"/>
          </p:nvPr>
        </p:nvSpPr>
        <p:spPr/>
        <p:txBody>
          <a:bodyPr/>
          <a:lstStyle/>
          <a:p>
            <a:endParaRPr lang="en-US" dirty="0"/>
          </a:p>
          <a:p>
            <a:r>
              <a:rPr lang="en-US" sz="2000" dirty="0"/>
              <a:t>This test simply considers whether someone “resides” in Australia under ordinary concepts.</a:t>
            </a:r>
          </a:p>
          <a:p>
            <a:r>
              <a:rPr lang="en-US" sz="2000" dirty="0"/>
              <a:t>“Resides” is not legislatively defined</a:t>
            </a:r>
          </a:p>
          <a:p>
            <a:r>
              <a:rPr lang="en-US" sz="2000" dirty="0"/>
              <a:t>Resides generally understood to mean to “dwell permanently” in contrast to temporarily and casually.</a:t>
            </a:r>
          </a:p>
          <a:p>
            <a:r>
              <a:rPr lang="en-US" sz="2000" dirty="0"/>
              <a:t>Looks at persons </a:t>
            </a:r>
            <a:r>
              <a:rPr lang="en-US" sz="2000" b="1" dirty="0"/>
              <a:t>presence</a:t>
            </a:r>
            <a:r>
              <a:rPr lang="en-US" sz="2000" dirty="0"/>
              <a:t> and </a:t>
            </a:r>
            <a:r>
              <a:rPr lang="en-US" sz="2000" b="1" dirty="0"/>
              <a:t>connection</a:t>
            </a:r>
            <a:r>
              <a:rPr lang="en-US" sz="2000" dirty="0"/>
              <a:t> to Australia.</a:t>
            </a:r>
          </a:p>
          <a:p>
            <a:r>
              <a:rPr lang="en-US" sz="2000" dirty="0"/>
              <a:t>All facts and circumstances are relevant</a:t>
            </a:r>
          </a:p>
          <a:p>
            <a:pPr marL="0" indent="0">
              <a:buNone/>
            </a:pPr>
            <a:endParaRPr lang="en-US" sz="2400" dirty="0"/>
          </a:p>
        </p:txBody>
      </p:sp>
      <p:sp>
        <p:nvSpPr>
          <p:cNvPr id="4" name="Title 3">
            <a:extLst>
              <a:ext uri="{FF2B5EF4-FFF2-40B4-BE49-F238E27FC236}">
                <a16:creationId xmlns:a16="http://schemas.microsoft.com/office/drawing/2014/main" id="{2E3FF8C0-E639-4F69-898D-3B8BB48CED48}"/>
              </a:ext>
            </a:extLst>
          </p:cNvPr>
          <p:cNvSpPr>
            <a:spLocks noGrp="1"/>
          </p:cNvSpPr>
          <p:nvPr>
            <p:ph type="title"/>
          </p:nvPr>
        </p:nvSpPr>
        <p:spPr/>
        <p:txBody>
          <a:bodyPr>
            <a:normAutofit fontScale="90000"/>
          </a:bodyPr>
          <a:lstStyle/>
          <a:p>
            <a:r>
              <a:rPr lang="en-US" dirty="0"/>
              <a:t>Individual Residency- Test 1 “Resides under Ordinary Concepts”</a:t>
            </a:r>
            <a:endParaRPr lang="en-AU" dirty="0"/>
          </a:p>
        </p:txBody>
      </p:sp>
    </p:spTree>
    <p:extLst>
      <p:ext uri="{BB962C8B-B14F-4D97-AF65-F5344CB8AC3E}">
        <p14:creationId xmlns:p14="http://schemas.microsoft.com/office/powerpoint/2010/main" val="196697736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ontent Placeholder 4">
            <a:extLst>
              <a:ext uri="{FF2B5EF4-FFF2-40B4-BE49-F238E27FC236}">
                <a16:creationId xmlns:a16="http://schemas.microsoft.com/office/drawing/2014/main" id="{438060FF-42B3-461E-B1D6-D584FB22774A}"/>
              </a:ext>
            </a:extLst>
          </p:cNvPr>
          <p:cNvSpPr>
            <a:spLocks noGrp="1"/>
          </p:cNvSpPr>
          <p:nvPr>
            <p:ph idx="1"/>
          </p:nvPr>
        </p:nvSpPr>
        <p:spPr/>
        <p:txBody>
          <a:bodyPr>
            <a:normAutofit/>
          </a:bodyPr>
          <a:lstStyle/>
          <a:p>
            <a:r>
              <a:rPr lang="en-US" sz="2000" dirty="0"/>
              <a:t>Temporary resident for tax purposes:</a:t>
            </a:r>
          </a:p>
          <a:p>
            <a:pPr marL="457200" lvl="1" indent="0">
              <a:buNone/>
            </a:pPr>
            <a:r>
              <a:rPr lang="en-US" sz="1400" dirty="0"/>
              <a:t>A person in Australia under a temporary entry visa if neither they or their spouse is an Australian resident for migration purposes  (e.g. an Australian citizen or the holder of permanent residency)</a:t>
            </a:r>
            <a:endParaRPr lang="en-US" sz="1800" dirty="0"/>
          </a:p>
          <a:p>
            <a:r>
              <a:rPr lang="en-US" sz="2000" dirty="0"/>
              <a:t>Only subject to income tax on their Australian sourced income and worldwide employment income</a:t>
            </a:r>
          </a:p>
          <a:p>
            <a:r>
              <a:rPr lang="en-US" sz="2000" dirty="0"/>
              <a:t>Only subject to CGT on the sale of “taxable Australian property”</a:t>
            </a:r>
          </a:p>
          <a:p>
            <a:r>
              <a:rPr lang="en-US" sz="2000" dirty="0"/>
              <a:t>Application to Kiwis:</a:t>
            </a:r>
          </a:p>
          <a:p>
            <a:pPr lvl="1"/>
            <a:r>
              <a:rPr lang="en-US" sz="1800" dirty="0"/>
              <a:t>NZ citizens entering Australia generally enter under a Special Category Visa that allows them to live and work in Australia indefinitely is accepted by the ATO as a temporary entry visa (TD 2012/18)  </a:t>
            </a:r>
          </a:p>
          <a:p>
            <a:pPr marL="914400" lvl="2" indent="0">
              <a:buNone/>
            </a:pPr>
            <a:endParaRPr lang="en-US" sz="1200" dirty="0"/>
          </a:p>
          <a:p>
            <a:pPr lvl="2"/>
            <a:endParaRPr lang="en-US" sz="800" dirty="0"/>
          </a:p>
          <a:p>
            <a:endParaRPr lang="en-US" sz="2000" dirty="0"/>
          </a:p>
          <a:p>
            <a:endParaRPr lang="en-US" sz="2000" dirty="0"/>
          </a:p>
        </p:txBody>
      </p:sp>
      <p:sp>
        <p:nvSpPr>
          <p:cNvPr id="4" name="Title 3">
            <a:extLst>
              <a:ext uri="{FF2B5EF4-FFF2-40B4-BE49-F238E27FC236}">
                <a16:creationId xmlns:a16="http://schemas.microsoft.com/office/drawing/2014/main" id="{2E3FF8C0-E639-4F69-898D-3B8BB48CED48}"/>
              </a:ext>
            </a:extLst>
          </p:cNvPr>
          <p:cNvSpPr>
            <a:spLocks noGrp="1"/>
          </p:cNvSpPr>
          <p:nvPr>
            <p:ph type="title"/>
          </p:nvPr>
        </p:nvSpPr>
        <p:spPr/>
        <p:txBody>
          <a:bodyPr>
            <a:normAutofit/>
          </a:bodyPr>
          <a:lstStyle/>
          <a:p>
            <a:r>
              <a:rPr lang="en-US" dirty="0"/>
              <a:t>Modified taxing rules for “Temporary Residents”</a:t>
            </a:r>
            <a:endParaRPr lang="en-AU" dirty="0"/>
          </a:p>
        </p:txBody>
      </p:sp>
    </p:spTree>
    <p:extLst>
      <p:ext uri="{BB962C8B-B14F-4D97-AF65-F5344CB8AC3E}">
        <p14:creationId xmlns:p14="http://schemas.microsoft.com/office/powerpoint/2010/main" val="344664992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ontent Placeholder 4">
            <a:extLst>
              <a:ext uri="{FF2B5EF4-FFF2-40B4-BE49-F238E27FC236}">
                <a16:creationId xmlns:a16="http://schemas.microsoft.com/office/drawing/2014/main" id="{438060FF-42B3-461E-B1D6-D584FB22774A}"/>
              </a:ext>
            </a:extLst>
          </p:cNvPr>
          <p:cNvSpPr>
            <a:spLocks noGrp="1"/>
          </p:cNvSpPr>
          <p:nvPr>
            <p:ph idx="1"/>
          </p:nvPr>
        </p:nvSpPr>
        <p:spPr/>
        <p:txBody>
          <a:bodyPr/>
          <a:lstStyle/>
          <a:p>
            <a:pPr marL="0" indent="0">
              <a:buNone/>
            </a:pPr>
            <a:r>
              <a:rPr lang="en-US" sz="2000" dirty="0"/>
              <a:t>Taxable Australian property is limited to:</a:t>
            </a:r>
          </a:p>
          <a:p>
            <a:pPr marL="0" indent="0">
              <a:buNone/>
            </a:pPr>
            <a:endParaRPr lang="en-US" sz="2000" dirty="0"/>
          </a:p>
          <a:p>
            <a:pPr lvl="1">
              <a:buFont typeface="Wingdings" panose="05000000000000000000" pitchFamily="2" charset="2"/>
              <a:buChar char="ü"/>
            </a:pPr>
            <a:r>
              <a:rPr lang="en-US" sz="2000" dirty="0"/>
              <a:t>Real property (land and buildings) located in Australia</a:t>
            </a:r>
          </a:p>
          <a:p>
            <a:pPr lvl="1">
              <a:buFont typeface="Wingdings" panose="05000000000000000000" pitchFamily="2" charset="2"/>
              <a:buChar char="ü"/>
            </a:pPr>
            <a:endParaRPr lang="en-US" sz="2000" dirty="0"/>
          </a:p>
          <a:p>
            <a:pPr lvl="1">
              <a:buFont typeface="Wingdings" panose="05000000000000000000" pitchFamily="2" charset="2"/>
              <a:buChar char="ü"/>
            </a:pPr>
            <a:r>
              <a:rPr lang="en-US" sz="2000" dirty="0"/>
              <a:t>An indirect interest in Australian real property   (</a:t>
            </a:r>
            <a:r>
              <a:rPr lang="en-US" sz="2000" i="1" dirty="0"/>
              <a:t>requires a more than 10% interest AND majority of assets in entity to be business real property)</a:t>
            </a:r>
          </a:p>
          <a:p>
            <a:pPr lvl="1">
              <a:buFont typeface="Wingdings" panose="05000000000000000000" pitchFamily="2" charset="2"/>
              <a:buChar char="ü"/>
            </a:pPr>
            <a:endParaRPr lang="en-US" sz="2000" dirty="0"/>
          </a:p>
          <a:p>
            <a:pPr lvl="1">
              <a:buFont typeface="Wingdings" panose="05000000000000000000" pitchFamily="2" charset="2"/>
              <a:buChar char="ü"/>
            </a:pPr>
            <a:r>
              <a:rPr lang="en-US" sz="2000" dirty="0"/>
              <a:t>A business asset of a PE in Australia</a:t>
            </a:r>
            <a:br>
              <a:rPr lang="en-US" sz="2000" dirty="0"/>
            </a:br>
            <a:endParaRPr lang="en-US" sz="2000" dirty="0"/>
          </a:p>
          <a:p>
            <a:pPr lvl="1">
              <a:buFont typeface="Wingdings" panose="05000000000000000000" pitchFamily="2" charset="2"/>
              <a:buChar char="ü"/>
            </a:pPr>
            <a:r>
              <a:rPr lang="en-US" sz="2000" dirty="0"/>
              <a:t>An option or right to acquire of the above</a:t>
            </a:r>
          </a:p>
          <a:p>
            <a:pPr marL="0" indent="0">
              <a:buNone/>
            </a:pPr>
            <a:endParaRPr lang="en-US" sz="2000" dirty="0"/>
          </a:p>
          <a:p>
            <a:pPr lvl="1"/>
            <a:endParaRPr lang="en-US" sz="2000" dirty="0"/>
          </a:p>
          <a:p>
            <a:pPr lvl="1"/>
            <a:endParaRPr lang="en-US" sz="2000" dirty="0"/>
          </a:p>
          <a:p>
            <a:pPr marL="457200" lvl="1" indent="0">
              <a:buNone/>
            </a:pPr>
            <a:endParaRPr lang="en-US" sz="2000" dirty="0"/>
          </a:p>
          <a:p>
            <a:pPr lvl="1"/>
            <a:endParaRPr lang="en-US" sz="2000" dirty="0"/>
          </a:p>
          <a:p>
            <a:pPr lvl="1"/>
            <a:endParaRPr lang="en-US" dirty="0"/>
          </a:p>
        </p:txBody>
      </p:sp>
      <p:sp>
        <p:nvSpPr>
          <p:cNvPr id="4" name="Title 3">
            <a:extLst>
              <a:ext uri="{FF2B5EF4-FFF2-40B4-BE49-F238E27FC236}">
                <a16:creationId xmlns:a16="http://schemas.microsoft.com/office/drawing/2014/main" id="{2E3FF8C0-E639-4F69-898D-3B8BB48CED48}"/>
              </a:ext>
            </a:extLst>
          </p:cNvPr>
          <p:cNvSpPr>
            <a:spLocks noGrp="1"/>
          </p:cNvSpPr>
          <p:nvPr>
            <p:ph type="title"/>
          </p:nvPr>
        </p:nvSpPr>
        <p:spPr/>
        <p:txBody>
          <a:bodyPr>
            <a:normAutofit/>
          </a:bodyPr>
          <a:lstStyle/>
          <a:p>
            <a:r>
              <a:rPr lang="en-US" dirty="0"/>
              <a:t>CGT- What is taxable Australian property?</a:t>
            </a:r>
            <a:endParaRPr lang="en-AU" dirty="0"/>
          </a:p>
        </p:txBody>
      </p:sp>
    </p:spTree>
    <p:extLst>
      <p:ext uri="{BB962C8B-B14F-4D97-AF65-F5344CB8AC3E}">
        <p14:creationId xmlns:p14="http://schemas.microsoft.com/office/powerpoint/2010/main" val="354195757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ontent Placeholder 4">
            <a:extLst>
              <a:ext uri="{FF2B5EF4-FFF2-40B4-BE49-F238E27FC236}">
                <a16:creationId xmlns:a16="http://schemas.microsoft.com/office/drawing/2014/main" id="{438060FF-42B3-461E-B1D6-D584FB22774A}"/>
              </a:ext>
            </a:extLst>
          </p:cNvPr>
          <p:cNvSpPr>
            <a:spLocks noGrp="1"/>
          </p:cNvSpPr>
          <p:nvPr>
            <p:ph idx="1"/>
          </p:nvPr>
        </p:nvSpPr>
        <p:spPr>
          <a:xfrm>
            <a:off x="628650" y="1264670"/>
            <a:ext cx="10934700" cy="4963851"/>
          </a:xfrm>
        </p:spPr>
        <p:txBody>
          <a:bodyPr>
            <a:normAutofit/>
          </a:bodyPr>
          <a:lstStyle/>
          <a:p>
            <a:pPr marL="457200" lvl="1" indent="0">
              <a:buNone/>
            </a:pPr>
            <a:endParaRPr lang="en-US" sz="1600" dirty="0"/>
          </a:p>
          <a:p>
            <a:r>
              <a:rPr lang="en-US" sz="2000" dirty="0"/>
              <a:t>An Australian resident taxpayer is not generally subject to tax in Australia on receipt a gift of from an overseas donor.</a:t>
            </a:r>
          </a:p>
          <a:p>
            <a:r>
              <a:rPr lang="en-US" sz="2000" dirty="0"/>
              <a:t>However, there may be </a:t>
            </a:r>
            <a:r>
              <a:rPr lang="en-US" sz="2000" u="sng" dirty="0"/>
              <a:t>future CGT consequences </a:t>
            </a:r>
            <a:r>
              <a:rPr lang="en-US" sz="2000" dirty="0"/>
              <a:t>for an Australian resident taxpayer in respect of the receipt of a gift of some types of CGT assets (other than cash).  </a:t>
            </a:r>
          </a:p>
          <a:p>
            <a:r>
              <a:rPr lang="en-US" sz="2000" dirty="0"/>
              <a:t>Depends on:</a:t>
            </a:r>
          </a:p>
          <a:p>
            <a:pPr lvl="1"/>
            <a:r>
              <a:rPr lang="en-US" sz="1800" dirty="0"/>
              <a:t>Tax residency status of taxpayer</a:t>
            </a:r>
          </a:p>
          <a:p>
            <a:pPr lvl="1"/>
            <a:r>
              <a:rPr lang="en-US" sz="1800" dirty="0"/>
              <a:t>Nature and location and CGT asset</a:t>
            </a:r>
          </a:p>
          <a:p>
            <a:pPr marL="0" indent="0">
              <a:buNone/>
            </a:pPr>
            <a:endParaRPr lang="en-US" sz="2000" dirty="0"/>
          </a:p>
          <a:p>
            <a:endParaRPr lang="en-US" sz="1600" dirty="0"/>
          </a:p>
          <a:p>
            <a:pPr lvl="1"/>
            <a:endParaRPr lang="en-US" sz="1600" dirty="0"/>
          </a:p>
        </p:txBody>
      </p:sp>
      <p:sp>
        <p:nvSpPr>
          <p:cNvPr id="4" name="Title 3">
            <a:extLst>
              <a:ext uri="{FF2B5EF4-FFF2-40B4-BE49-F238E27FC236}">
                <a16:creationId xmlns:a16="http://schemas.microsoft.com/office/drawing/2014/main" id="{2E3FF8C0-E639-4F69-898D-3B8BB48CED48}"/>
              </a:ext>
            </a:extLst>
          </p:cNvPr>
          <p:cNvSpPr>
            <a:spLocks noGrp="1"/>
          </p:cNvSpPr>
          <p:nvPr>
            <p:ph type="title"/>
          </p:nvPr>
        </p:nvSpPr>
        <p:spPr/>
        <p:txBody>
          <a:bodyPr>
            <a:noAutofit/>
          </a:bodyPr>
          <a:lstStyle/>
          <a:p>
            <a:r>
              <a:rPr lang="en-US" dirty="0"/>
              <a:t>Gifts are not taxable in Australia</a:t>
            </a:r>
            <a:endParaRPr lang="en-AU" dirty="0"/>
          </a:p>
        </p:txBody>
      </p:sp>
    </p:spTree>
    <p:extLst>
      <p:ext uri="{BB962C8B-B14F-4D97-AF65-F5344CB8AC3E}">
        <p14:creationId xmlns:p14="http://schemas.microsoft.com/office/powerpoint/2010/main" val="269936847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ontent Placeholder 4">
            <a:extLst>
              <a:ext uri="{FF2B5EF4-FFF2-40B4-BE49-F238E27FC236}">
                <a16:creationId xmlns:a16="http://schemas.microsoft.com/office/drawing/2014/main" id="{438060FF-42B3-461E-B1D6-D584FB22774A}"/>
              </a:ext>
            </a:extLst>
          </p:cNvPr>
          <p:cNvSpPr>
            <a:spLocks noGrp="1"/>
          </p:cNvSpPr>
          <p:nvPr>
            <p:ph idx="1"/>
          </p:nvPr>
        </p:nvSpPr>
        <p:spPr>
          <a:xfrm>
            <a:off x="628650" y="1264670"/>
            <a:ext cx="10934700" cy="4963851"/>
          </a:xfrm>
        </p:spPr>
        <p:txBody>
          <a:bodyPr>
            <a:normAutofit/>
          </a:bodyPr>
          <a:lstStyle/>
          <a:p>
            <a:endParaRPr lang="en-US" sz="2000" dirty="0"/>
          </a:p>
          <a:p>
            <a:r>
              <a:rPr lang="en-US" sz="2000" dirty="0"/>
              <a:t>Australian tax residents (</a:t>
            </a:r>
            <a:r>
              <a:rPr lang="en-US" sz="2000" i="1" dirty="0"/>
              <a:t>other than temporary residents</a:t>
            </a:r>
            <a:r>
              <a:rPr lang="en-US" sz="2000" dirty="0"/>
              <a:t>) are subject to CGT on worldwide assets.</a:t>
            </a:r>
          </a:p>
          <a:p>
            <a:r>
              <a:rPr lang="en-US" sz="2000" dirty="0"/>
              <a:t>When an Australian tax resident is gifted a CGT asset other than cash (</a:t>
            </a:r>
            <a:r>
              <a:rPr lang="en-US" sz="2000" i="1" dirty="0"/>
              <a:t>e.g. real estate or shares</a:t>
            </a:r>
            <a:r>
              <a:rPr lang="en-US" sz="2000" dirty="0"/>
              <a:t>) they will be deemed to acquire the asset on the day of the gift with a CGT Cost base equal to the market value of the CGT asset on that day.</a:t>
            </a:r>
          </a:p>
          <a:p>
            <a:r>
              <a:rPr lang="en-US" sz="2000" dirty="0"/>
              <a:t>Any future sale subject to CGT.  </a:t>
            </a:r>
          </a:p>
          <a:p>
            <a:pPr lvl="1"/>
            <a:r>
              <a:rPr lang="en-US" sz="1600" dirty="0"/>
              <a:t>Gross capital gain / (Gross Capital loss)  = CGT proceeds – CGT cost base</a:t>
            </a:r>
          </a:p>
          <a:p>
            <a:r>
              <a:rPr lang="en-US" sz="2000" dirty="0"/>
              <a:t>  50% CGT Discount may apply if asset sold 12 months after gifting</a:t>
            </a:r>
          </a:p>
          <a:p>
            <a:endParaRPr lang="en-US" sz="2000" dirty="0"/>
          </a:p>
          <a:p>
            <a:endParaRPr lang="en-US" sz="1600" dirty="0"/>
          </a:p>
          <a:p>
            <a:pPr lvl="1"/>
            <a:endParaRPr lang="en-US" sz="1600" dirty="0"/>
          </a:p>
        </p:txBody>
      </p:sp>
      <p:sp>
        <p:nvSpPr>
          <p:cNvPr id="4" name="Title 3">
            <a:extLst>
              <a:ext uri="{FF2B5EF4-FFF2-40B4-BE49-F238E27FC236}">
                <a16:creationId xmlns:a16="http://schemas.microsoft.com/office/drawing/2014/main" id="{2E3FF8C0-E639-4F69-898D-3B8BB48CED48}"/>
              </a:ext>
            </a:extLst>
          </p:cNvPr>
          <p:cNvSpPr>
            <a:spLocks noGrp="1"/>
          </p:cNvSpPr>
          <p:nvPr>
            <p:ph type="title"/>
          </p:nvPr>
        </p:nvSpPr>
        <p:spPr/>
        <p:txBody>
          <a:bodyPr>
            <a:noAutofit/>
          </a:bodyPr>
          <a:lstStyle/>
          <a:p>
            <a:r>
              <a:rPr lang="en-US" dirty="0"/>
              <a:t>Australian CGT Considerations of gifts of property to an Australian tax resident</a:t>
            </a:r>
            <a:endParaRPr lang="en-AU" dirty="0"/>
          </a:p>
        </p:txBody>
      </p:sp>
    </p:spTree>
    <p:extLst>
      <p:ext uri="{BB962C8B-B14F-4D97-AF65-F5344CB8AC3E}">
        <p14:creationId xmlns:p14="http://schemas.microsoft.com/office/powerpoint/2010/main" val="155035864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ontent Placeholder 4">
            <a:extLst>
              <a:ext uri="{FF2B5EF4-FFF2-40B4-BE49-F238E27FC236}">
                <a16:creationId xmlns:a16="http://schemas.microsoft.com/office/drawing/2014/main" id="{438060FF-42B3-461E-B1D6-D584FB22774A}"/>
              </a:ext>
            </a:extLst>
          </p:cNvPr>
          <p:cNvSpPr>
            <a:spLocks noGrp="1"/>
          </p:cNvSpPr>
          <p:nvPr>
            <p:ph idx="1"/>
          </p:nvPr>
        </p:nvSpPr>
        <p:spPr>
          <a:xfrm>
            <a:off x="628650" y="1264670"/>
            <a:ext cx="10934700" cy="4963851"/>
          </a:xfrm>
        </p:spPr>
        <p:txBody>
          <a:bodyPr>
            <a:normAutofit fontScale="85000" lnSpcReduction="20000"/>
          </a:bodyPr>
          <a:lstStyle/>
          <a:p>
            <a:pPr marL="457200" lvl="1" indent="0">
              <a:buNone/>
            </a:pPr>
            <a:endParaRPr lang="en-US" dirty="0"/>
          </a:p>
          <a:p>
            <a:r>
              <a:rPr lang="en-US" sz="2400" dirty="0"/>
              <a:t>No future CGT implications unless the asset is Taxable Australian Property  (TAP)</a:t>
            </a:r>
          </a:p>
          <a:p>
            <a:pPr marL="0" indent="0">
              <a:buNone/>
            </a:pPr>
            <a:endParaRPr lang="en-US" sz="2400" dirty="0"/>
          </a:p>
          <a:p>
            <a:r>
              <a:rPr lang="en-US" sz="2400" dirty="0"/>
              <a:t>Position changes if individual no longer continues to qualify as a foreign resident of Australia or a temporary resident.  In such case, individual deemed to “acquire” the CGT asset on the day they cease being a foreign resident / temporary resident</a:t>
            </a:r>
          </a:p>
          <a:p>
            <a:endParaRPr lang="en-US" sz="2000" dirty="0"/>
          </a:p>
          <a:p>
            <a:pPr marL="0" indent="0">
              <a:buNone/>
            </a:pPr>
            <a:endParaRPr lang="en-US" sz="2000" dirty="0"/>
          </a:p>
          <a:p>
            <a:pPr marL="0" algn="l" rtl="0" eaLnBrk="1" fontAlgn="t" latinLnBrk="0" hangingPunct="1">
              <a:spcBef>
                <a:spcPts val="0"/>
              </a:spcBef>
              <a:spcAft>
                <a:spcPts val="0"/>
              </a:spcAft>
            </a:pPr>
            <a:r>
              <a:rPr lang="en-US" sz="1800" b="1" i="0" u="sng" strike="noStrike" kern="1200" dirty="0">
                <a:solidFill>
                  <a:srgbClr val="F2F5F6"/>
                </a:solidFill>
                <a:effectLst/>
                <a:latin typeface="Arial" panose="020B0604020202020204" pitchFamily="34" charset="0"/>
              </a:rPr>
              <a:t>Example:</a:t>
            </a:r>
            <a:endParaRPr lang="en-AU" sz="1800" b="0" i="0" u="none" strike="noStrike" dirty="0">
              <a:effectLst/>
              <a:latin typeface="Arial" panose="020B0604020202020204" pitchFamily="34" charset="0"/>
            </a:endParaRPr>
          </a:p>
          <a:p>
            <a:pPr marL="0" algn="l" rtl="0" eaLnBrk="1" fontAlgn="t" latinLnBrk="0" hangingPunct="1">
              <a:spcBef>
                <a:spcPts val="0"/>
              </a:spcBef>
              <a:spcAft>
                <a:spcPts val="0"/>
              </a:spcAft>
            </a:pPr>
            <a:r>
              <a:rPr lang="en-AU" sz="1800" b="1" i="0" u="none" strike="noStrike" kern="1200" dirty="0">
                <a:solidFill>
                  <a:srgbClr val="F2F5F6"/>
                </a:solidFill>
                <a:effectLst/>
                <a:latin typeface="Arial" panose="020B0604020202020204" pitchFamily="34" charset="0"/>
              </a:rPr>
              <a:t>The Green &amp; Gold Trust is an Australian resident discretionary trust for CGT purposes that invests in Australian listed shares.  In 2024 it makes a $100,000 capital gain on the sale of part of its share portfolio.  The trustee resolves to make Peter who lives in NZ and is not an Australian tax resident entitled to the capital gains income.  </a:t>
            </a:r>
            <a:endParaRPr lang="en-AU" sz="1800" b="0" i="0" u="none" strike="noStrike" dirty="0">
              <a:effectLst/>
              <a:latin typeface="Arial" panose="020B0604020202020204" pitchFamily="34" charset="0"/>
            </a:endParaRPr>
          </a:p>
          <a:p>
            <a:pPr marL="0" algn="l" rtl="0" eaLnBrk="1" fontAlgn="t" latinLnBrk="0" hangingPunct="1">
              <a:spcBef>
                <a:spcPts val="0"/>
              </a:spcBef>
              <a:spcAft>
                <a:spcPts val="0"/>
              </a:spcAft>
            </a:pPr>
            <a:r>
              <a:rPr lang="en-US" sz="1800" b="1" i="0" u="sng" strike="noStrike" kern="1200" dirty="0">
                <a:solidFill>
                  <a:srgbClr val="F2F5F6"/>
                </a:solidFill>
                <a:effectLst/>
                <a:latin typeface="Arial" panose="020B0604020202020204" pitchFamily="34" charset="0"/>
              </a:rPr>
              <a:t>Example:</a:t>
            </a:r>
            <a:endParaRPr lang="en-AU" sz="1800" b="0" i="0" u="none" strike="noStrike" dirty="0">
              <a:effectLst/>
              <a:latin typeface="Arial" panose="020B0604020202020204" pitchFamily="34" charset="0"/>
            </a:endParaRPr>
          </a:p>
          <a:p>
            <a:pPr marL="0" algn="l" rtl="0" eaLnBrk="1" fontAlgn="t" latinLnBrk="0" hangingPunct="1">
              <a:spcBef>
                <a:spcPts val="0"/>
              </a:spcBef>
              <a:spcAft>
                <a:spcPts val="0"/>
              </a:spcAft>
            </a:pPr>
            <a:r>
              <a:rPr lang="en-AU" sz="1800" b="1" i="0" u="none" strike="noStrike" kern="1200" dirty="0">
                <a:solidFill>
                  <a:srgbClr val="F2F5F6"/>
                </a:solidFill>
                <a:effectLst/>
                <a:latin typeface="Arial" panose="020B0604020202020204" pitchFamily="34" charset="0"/>
              </a:rPr>
              <a:t>The Green &amp; Gold Trust is an Australian resident discretionary trust for CGT purposes that invests in Australian listed shares.  In 2024 it makes a $100,000 capital gain on the sale of part of its share portfolio.  The trustee resolves to make Peter who lives in NZ and is not an Australian tax resident entitled to the capital gains income.  </a:t>
            </a:r>
            <a:endParaRPr lang="en-AU" sz="1800" b="0" i="0" u="none" strike="noStrike" dirty="0">
              <a:effectLst/>
              <a:latin typeface="Arial" panose="020B0604020202020204" pitchFamily="34" charset="0"/>
            </a:endParaRPr>
          </a:p>
          <a:p>
            <a:pPr marL="0" algn="l" rtl="0" eaLnBrk="1" fontAlgn="t" latinLnBrk="0" hangingPunct="1">
              <a:spcBef>
                <a:spcPts val="0"/>
              </a:spcBef>
              <a:spcAft>
                <a:spcPts val="0"/>
              </a:spcAft>
            </a:pPr>
            <a:r>
              <a:rPr lang="en-AU" sz="1800" b="1" i="0" u="none" strike="noStrike" kern="1200" dirty="0">
                <a:solidFill>
                  <a:srgbClr val="F2F5F6"/>
                </a:solidFill>
                <a:effectLst/>
                <a:latin typeface="Arial" panose="020B0604020202020204" pitchFamily="34" charset="0"/>
              </a:rPr>
              <a:t>Peter is subject to Australian CGT on the full amount of the capital gain.</a:t>
            </a:r>
            <a:endParaRPr lang="en-AU" sz="1800" b="0" i="0" u="none" strike="noStrike" dirty="0">
              <a:effectLst/>
              <a:latin typeface="Arial" panose="020B0604020202020204" pitchFamily="34" charset="0"/>
            </a:endParaRPr>
          </a:p>
          <a:p>
            <a:pPr marL="0" algn="l" rtl="0" eaLnBrk="1" fontAlgn="t" latinLnBrk="0" hangingPunct="1">
              <a:spcBef>
                <a:spcPts val="0"/>
              </a:spcBef>
              <a:spcAft>
                <a:spcPts val="0"/>
              </a:spcAft>
            </a:pPr>
            <a:r>
              <a:rPr lang="en-AU" sz="1800" b="1" i="1" u="none" strike="noStrike" kern="1200" dirty="0">
                <a:solidFill>
                  <a:srgbClr val="F2F5F6"/>
                </a:solidFill>
                <a:effectLst/>
                <a:latin typeface="Arial" panose="020B0604020202020204" pitchFamily="34" charset="0"/>
              </a:rPr>
              <a:t>e result would be different if Peter owned the shares directly, or the trust foreign trust for CGT purposes, or was a fixed trust.</a:t>
            </a:r>
            <a:endParaRPr lang="en-AU" sz="1800" b="0" i="0" u="none" strike="noStrike" dirty="0">
              <a:effectLst/>
              <a:latin typeface="Arial" panose="020B0604020202020204" pitchFamily="34" charset="0"/>
            </a:endParaRPr>
          </a:p>
          <a:p>
            <a:pPr marL="0" algn="l" rtl="0" eaLnBrk="1" fontAlgn="t" latinLnBrk="0" hangingPunct="1">
              <a:spcBef>
                <a:spcPts val="0"/>
              </a:spcBef>
              <a:spcAft>
                <a:spcPts val="0"/>
              </a:spcAft>
            </a:pPr>
            <a:r>
              <a:rPr lang="en-AU" sz="1800" b="1" i="0" u="none" strike="noStrike" kern="1200" dirty="0">
                <a:solidFill>
                  <a:srgbClr val="F2F5F6"/>
                </a:solidFill>
                <a:effectLst/>
                <a:latin typeface="Arial" panose="020B0604020202020204" pitchFamily="34" charset="0"/>
              </a:rPr>
              <a:t>Peter is subject to Australian CGT on the full amount of the capital gain.</a:t>
            </a:r>
            <a:endParaRPr lang="en-AU" sz="1800" b="0" i="0" u="none" strike="noStrike" dirty="0">
              <a:effectLst/>
              <a:latin typeface="Arial" panose="020B0604020202020204" pitchFamily="34" charset="0"/>
            </a:endParaRPr>
          </a:p>
          <a:p>
            <a:pPr marL="0" algn="l" rtl="0" eaLnBrk="1" fontAlgn="t" latinLnBrk="0" hangingPunct="1">
              <a:spcBef>
                <a:spcPts val="0"/>
              </a:spcBef>
              <a:spcAft>
                <a:spcPts val="0"/>
              </a:spcAft>
            </a:pPr>
            <a:r>
              <a:rPr lang="en-AU" sz="1800" b="1" i="1" u="none" strike="noStrike" kern="1200" dirty="0">
                <a:solidFill>
                  <a:srgbClr val="F2F5F6"/>
                </a:solidFill>
                <a:effectLst/>
                <a:latin typeface="Arial" panose="020B0604020202020204" pitchFamily="34" charset="0"/>
              </a:rPr>
              <a:t>Note: the result would be different if Peter owned the shares directly, or the trust foreign trust for CGT purposes, or was a fixed trust.</a:t>
            </a:r>
            <a:endParaRPr lang="en-AU" sz="1800" b="0" i="0" u="none" strike="noStrike" dirty="0">
              <a:effectLst/>
              <a:latin typeface="Arial" panose="020B0604020202020204" pitchFamily="34" charset="0"/>
            </a:endParaRPr>
          </a:p>
          <a:p>
            <a:endParaRPr lang="en-US" sz="2000" dirty="0"/>
          </a:p>
          <a:p>
            <a:endParaRPr lang="en-US" sz="1600" dirty="0"/>
          </a:p>
          <a:p>
            <a:pPr lvl="1"/>
            <a:endParaRPr lang="en-US" sz="1600" dirty="0"/>
          </a:p>
        </p:txBody>
      </p:sp>
      <p:sp>
        <p:nvSpPr>
          <p:cNvPr id="4" name="Title 3">
            <a:extLst>
              <a:ext uri="{FF2B5EF4-FFF2-40B4-BE49-F238E27FC236}">
                <a16:creationId xmlns:a16="http://schemas.microsoft.com/office/drawing/2014/main" id="{2E3FF8C0-E639-4F69-898D-3B8BB48CED48}"/>
              </a:ext>
            </a:extLst>
          </p:cNvPr>
          <p:cNvSpPr>
            <a:spLocks noGrp="1"/>
          </p:cNvSpPr>
          <p:nvPr>
            <p:ph type="title"/>
          </p:nvPr>
        </p:nvSpPr>
        <p:spPr/>
        <p:txBody>
          <a:bodyPr>
            <a:noAutofit/>
          </a:bodyPr>
          <a:lstStyle/>
          <a:p>
            <a:r>
              <a:rPr lang="en-US" dirty="0"/>
              <a:t>Australian CGT Considerations on gifting property to an Australian a foreign resident or temporary resident</a:t>
            </a:r>
            <a:endParaRPr lang="en-AU" dirty="0"/>
          </a:p>
        </p:txBody>
      </p:sp>
    </p:spTree>
    <p:extLst>
      <p:ext uri="{BB962C8B-B14F-4D97-AF65-F5344CB8AC3E}">
        <p14:creationId xmlns:p14="http://schemas.microsoft.com/office/powerpoint/2010/main" val="66614298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ontent Placeholder 4">
            <a:extLst>
              <a:ext uri="{FF2B5EF4-FFF2-40B4-BE49-F238E27FC236}">
                <a16:creationId xmlns:a16="http://schemas.microsoft.com/office/drawing/2014/main" id="{438060FF-42B3-461E-B1D6-D584FB22774A}"/>
              </a:ext>
            </a:extLst>
          </p:cNvPr>
          <p:cNvSpPr>
            <a:spLocks noGrp="1"/>
          </p:cNvSpPr>
          <p:nvPr>
            <p:ph idx="1"/>
          </p:nvPr>
        </p:nvSpPr>
        <p:spPr>
          <a:xfrm>
            <a:off x="628650" y="1264670"/>
            <a:ext cx="10934700" cy="4963851"/>
          </a:xfrm>
        </p:spPr>
        <p:txBody>
          <a:bodyPr>
            <a:normAutofit/>
          </a:bodyPr>
          <a:lstStyle/>
          <a:p>
            <a:pPr marL="0" indent="0">
              <a:buNone/>
            </a:pPr>
            <a:endParaRPr lang="en-US" sz="2000" dirty="0"/>
          </a:p>
          <a:p>
            <a:pPr marL="0" algn="l" rtl="0" eaLnBrk="1" fontAlgn="t" latinLnBrk="0" hangingPunct="1">
              <a:spcBef>
                <a:spcPts val="0"/>
              </a:spcBef>
              <a:spcAft>
                <a:spcPts val="0"/>
              </a:spcAft>
            </a:pPr>
            <a:r>
              <a:rPr lang="en-US" sz="1800" b="1" i="0" u="sng" strike="noStrike" kern="1200" dirty="0">
                <a:solidFill>
                  <a:srgbClr val="F2F5F6"/>
                </a:solidFill>
                <a:effectLst/>
                <a:latin typeface="Arial" panose="020B0604020202020204" pitchFamily="34" charset="0"/>
              </a:rPr>
              <a:t>Example:</a:t>
            </a:r>
            <a:endParaRPr lang="en-AU" sz="1800" b="0" i="0" u="none" strike="noStrike" dirty="0">
              <a:effectLst/>
              <a:latin typeface="Arial" panose="020B0604020202020204" pitchFamily="34" charset="0"/>
            </a:endParaRPr>
          </a:p>
          <a:p>
            <a:pPr marL="0" algn="l" rtl="0" eaLnBrk="1" fontAlgn="t" latinLnBrk="0" hangingPunct="1">
              <a:spcBef>
                <a:spcPts val="0"/>
              </a:spcBef>
              <a:spcAft>
                <a:spcPts val="0"/>
              </a:spcAft>
            </a:pPr>
            <a:r>
              <a:rPr lang="en-AU" sz="1800" b="1" i="0" u="none" strike="noStrike" kern="1200" dirty="0">
                <a:solidFill>
                  <a:srgbClr val="F2F5F6"/>
                </a:solidFill>
                <a:effectLst/>
                <a:latin typeface="Arial" panose="020B0604020202020204" pitchFamily="34" charset="0"/>
              </a:rPr>
              <a:t>The Green &amp; Gold Trust is an Australian resident discretionary trust for CGT purposes that invests in Australian listed shares.  In 2024 it makes a $100,000 capital gain on the sale of part of its share portfolio.  The trustee resolves to make Peter who lives in NZ and is not an Australian tax resident entitled to the capital gains income.  </a:t>
            </a:r>
            <a:endParaRPr lang="en-AU" sz="1800" b="0" i="0" u="none" strike="noStrike" dirty="0">
              <a:effectLst/>
              <a:latin typeface="Arial" panose="020B0604020202020204" pitchFamily="34" charset="0"/>
            </a:endParaRPr>
          </a:p>
          <a:p>
            <a:pPr marL="0" algn="l" rtl="0" eaLnBrk="1" fontAlgn="t" latinLnBrk="0" hangingPunct="1">
              <a:spcBef>
                <a:spcPts val="0"/>
              </a:spcBef>
              <a:spcAft>
                <a:spcPts val="0"/>
              </a:spcAft>
            </a:pPr>
            <a:r>
              <a:rPr lang="en-US" sz="1800" b="1" i="0" u="sng" strike="noStrike" kern="1200" dirty="0">
                <a:solidFill>
                  <a:srgbClr val="F2F5F6"/>
                </a:solidFill>
                <a:effectLst/>
                <a:latin typeface="Arial" panose="020B0604020202020204" pitchFamily="34" charset="0"/>
              </a:rPr>
              <a:t>Example:</a:t>
            </a:r>
            <a:endParaRPr lang="en-AU" sz="1800" b="0" i="0" u="none" strike="noStrike" dirty="0">
              <a:effectLst/>
              <a:latin typeface="Arial" panose="020B0604020202020204" pitchFamily="34" charset="0"/>
            </a:endParaRPr>
          </a:p>
          <a:p>
            <a:pPr marL="0" algn="l" rtl="0" eaLnBrk="1" fontAlgn="t" latinLnBrk="0" hangingPunct="1">
              <a:spcBef>
                <a:spcPts val="0"/>
              </a:spcBef>
              <a:spcAft>
                <a:spcPts val="0"/>
              </a:spcAft>
            </a:pPr>
            <a:r>
              <a:rPr lang="en-AU" sz="1800" b="1" i="0" u="none" strike="noStrike" kern="1200" dirty="0">
                <a:solidFill>
                  <a:srgbClr val="F2F5F6"/>
                </a:solidFill>
                <a:effectLst/>
                <a:latin typeface="Arial" panose="020B0604020202020204" pitchFamily="34" charset="0"/>
              </a:rPr>
              <a:t>The Green &amp; Gold Trust is an Australian resident discretionary trust for CGT purposes that invests in Australian listed shares.  In 2024 it makes a $100,000 capital gain on the sale of part of its share portfolio.  The trustee resolves to make Peter who lives in NZ and is not an Australian tax resident entitled to the capital gains income.  </a:t>
            </a:r>
            <a:endParaRPr lang="en-AU" sz="1800" b="0" i="0" u="none" strike="noStrike" dirty="0">
              <a:effectLst/>
              <a:latin typeface="Arial" panose="020B0604020202020204" pitchFamily="34" charset="0"/>
            </a:endParaRPr>
          </a:p>
          <a:p>
            <a:pPr marL="0" algn="l" rtl="0" eaLnBrk="1" fontAlgn="t" latinLnBrk="0" hangingPunct="1">
              <a:spcBef>
                <a:spcPts val="0"/>
              </a:spcBef>
              <a:spcAft>
                <a:spcPts val="0"/>
              </a:spcAft>
            </a:pPr>
            <a:r>
              <a:rPr lang="en-AU" sz="1800" b="1" i="0" u="none" strike="noStrike" kern="1200" dirty="0">
                <a:solidFill>
                  <a:srgbClr val="F2F5F6"/>
                </a:solidFill>
                <a:effectLst/>
                <a:latin typeface="Arial" panose="020B0604020202020204" pitchFamily="34" charset="0"/>
              </a:rPr>
              <a:t>Peter is subject to Australian CGT on the full amount of the capital gain.</a:t>
            </a:r>
            <a:endParaRPr lang="en-AU" sz="1800" b="0" i="0" u="none" strike="noStrike" dirty="0">
              <a:effectLst/>
              <a:latin typeface="Arial" panose="020B0604020202020204" pitchFamily="34" charset="0"/>
            </a:endParaRPr>
          </a:p>
          <a:p>
            <a:pPr marL="0" algn="l" rtl="0" eaLnBrk="1" fontAlgn="t" latinLnBrk="0" hangingPunct="1">
              <a:spcBef>
                <a:spcPts val="0"/>
              </a:spcBef>
              <a:spcAft>
                <a:spcPts val="0"/>
              </a:spcAft>
            </a:pPr>
            <a:r>
              <a:rPr lang="en-AU" sz="1800" b="1" i="1" u="none" strike="noStrike" kern="1200" dirty="0">
                <a:solidFill>
                  <a:srgbClr val="F2F5F6"/>
                </a:solidFill>
                <a:effectLst/>
                <a:latin typeface="Arial" panose="020B0604020202020204" pitchFamily="34" charset="0"/>
              </a:rPr>
              <a:t>e result would be different if Peter owned the shares directly, or the trust foreign trust for CGT purposes, or was a fixed trust.</a:t>
            </a:r>
            <a:endParaRPr lang="en-AU" sz="1800" b="0" i="0" u="none" strike="noStrike" dirty="0">
              <a:effectLst/>
              <a:latin typeface="Arial" panose="020B0604020202020204" pitchFamily="34" charset="0"/>
            </a:endParaRPr>
          </a:p>
          <a:p>
            <a:pPr marL="0" algn="l" rtl="0" eaLnBrk="1" fontAlgn="t" latinLnBrk="0" hangingPunct="1">
              <a:spcBef>
                <a:spcPts val="0"/>
              </a:spcBef>
              <a:spcAft>
                <a:spcPts val="0"/>
              </a:spcAft>
            </a:pPr>
            <a:r>
              <a:rPr lang="en-AU" sz="1800" b="1" i="0" u="none" strike="noStrike" kern="1200" dirty="0">
                <a:solidFill>
                  <a:srgbClr val="F2F5F6"/>
                </a:solidFill>
                <a:effectLst/>
                <a:latin typeface="Arial" panose="020B0604020202020204" pitchFamily="34" charset="0"/>
              </a:rPr>
              <a:t>Peter is subject to Australian CGT on the full amount of the capital gain.</a:t>
            </a:r>
            <a:endParaRPr lang="en-AU" sz="1800" b="0" i="0" u="none" strike="noStrike" dirty="0">
              <a:effectLst/>
              <a:latin typeface="Arial" panose="020B0604020202020204" pitchFamily="34" charset="0"/>
            </a:endParaRPr>
          </a:p>
          <a:p>
            <a:pPr marL="0" algn="l" rtl="0" eaLnBrk="1" fontAlgn="t" latinLnBrk="0" hangingPunct="1">
              <a:spcBef>
                <a:spcPts val="0"/>
              </a:spcBef>
              <a:spcAft>
                <a:spcPts val="0"/>
              </a:spcAft>
            </a:pPr>
            <a:r>
              <a:rPr lang="en-AU" sz="1800" b="1" i="1" u="none" strike="noStrike" kern="1200" dirty="0">
                <a:solidFill>
                  <a:srgbClr val="F2F5F6"/>
                </a:solidFill>
                <a:effectLst/>
                <a:latin typeface="Arial" panose="020B0604020202020204" pitchFamily="34" charset="0"/>
              </a:rPr>
              <a:t>Note: the result would be different if Peter owned the shares directly, or the trust foreign trust for CGT purposes, or was a fixed trust.</a:t>
            </a:r>
            <a:endParaRPr lang="en-AU" sz="1800" b="0" i="0" u="none" strike="noStrike" dirty="0">
              <a:effectLst/>
              <a:latin typeface="Arial" panose="020B0604020202020204" pitchFamily="34" charset="0"/>
            </a:endParaRPr>
          </a:p>
          <a:p>
            <a:endParaRPr lang="en-US" sz="2000" dirty="0"/>
          </a:p>
          <a:p>
            <a:endParaRPr lang="en-US" sz="1600" dirty="0"/>
          </a:p>
          <a:p>
            <a:pPr lvl="1"/>
            <a:endParaRPr lang="en-US" sz="1600" dirty="0"/>
          </a:p>
        </p:txBody>
      </p:sp>
      <p:sp>
        <p:nvSpPr>
          <p:cNvPr id="4" name="Title 3">
            <a:extLst>
              <a:ext uri="{FF2B5EF4-FFF2-40B4-BE49-F238E27FC236}">
                <a16:creationId xmlns:a16="http://schemas.microsoft.com/office/drawing/2014/main" id="{2E3FF8C0-E639-4F69-898D-3B8BB48CED48}"/>
              </a:ext>
            </a:extLst>
          </p:cNvPr>
          <p:cNvSpPr>
            <a:spLocks noGrp="1"/>
          </p:cNvSpPr>
          <p:nvPr>
            <p:ph type="title"/>
          </p:nvPr>
        </p:nvSpPr>
        <p:spPr/>
        <p:txBody>
          <a:bodyPr>
            <a:noAutofit/>
          </a:bodyPr>
          <a:lstStyle/>
          <a:p>
            <a:r>
              <a:rPr lang="en-US" dirty="0"/>
              <a:t>Australian CGT Considerations on gifting property to an Australian a foreign resident or temporary resident</a:t>
            </a:r>
            <a:endParaRPr lang="en-AU" dirty="0"/>
          </a:p>
        </p:txBody>
      </p:sp>
      <p:sp>
        <p:nvSpPr>
          <p:cNvPr id="6" name="TextBox 5">
            <a:extLst>
              <a:ext uri="{FF2B5EF4-FFF2-40B4-BE49-F238E27FC236}">
                <a16:creationId xmlns:a16="http://schemas.microsoft.com/office/drawing/2014/main" id="{29AE16AC-10C5-113B-D030-A4DC9E13CE45}"/>
              </a:ext>
            </a:extLst>
          </p:cNvPr>
          <p:cNvSpPr txBox="1"/>
          <p:nvPr/>
        </p:nvSpPr>
        <p:spPr>
          <a:xfrm>
            <a:off x="628650" y="1503869"/>
            <a:ext cx="11154297" cy="6555641"/>
          </a:xfrm>
          <a:prstGeom prst="rect">
            <a:avLst/>
          </a:prstGeom>
          <a:noFill/>
        </p:spPr>
        <p:txBody>
          <a:bodyPr wrap="square">
            <a:spAutoFit/>
          </a:bodyPr>
          <a:lstStyle/>
          <a:p>
            <a:r>
              <a:rPr lang="en-US" b="1" u="sng" dirty="0"/>
              <a:t>Example:</a:t>
            </a:r>
          </a:p>
          <a:p>
            <a:endParaRPr lang="en-AU" i="1" dirty="0"/>
          </a:p>
          <a:p>
            <a:r>
              <a:rPr lang="en-AU" sz="2000" b="1" i="1" dirty="0"/>
              <a:t>Facts: </a:t>
            </a:r>
          </a:p>
          <a:p>
            <a:endParaRPr lang="en-AU" sz="1600" b="1" i="1" dirty="0"/>
          </a:p>
          <a:p>
            <a:r>
              <a:rPr lang="en-AU" sz="2000" i="1" dirty="0"/>
              <a:t>Mick grew up in NZ but moved to Australia indefinitely in 2020.  He is an Australian tax resident but is also a “temporary resident” from 2020 to 2024.  In 2024 he marries an Australian and loses his temporary resident status.</a:t>
            </a:r>
          </a:p>
          <a:p>
            <a:endParaRPr lang="en-AU" sz="2000" i="1" dirty="0"/>
          </a:p>
          <a:p>
            <a:r>
              <a:rPr lang="en-AU" sz="2000" i="1" dirty="0"/>
              <a:t>In 2022 he was gifted a rental property in Australia and a portfolio of listed shares by his father, a citizen and resident of NZ.</a:t>
            </a:r>
          </a:p>
          <a:p>
            <a:endParaRPr lang="en-AU" sz="2000" i="1" dirty="0"/>
          </a:p>
          <a:p>
            <a:r>
              <a:rPr lang="en-AU" sz="2000" b="1" i="1" dirty="0"/>
              <a:t>Questions:</a:t>
            </a:r>
          </a:p>
          <a:p>
            <a:endParaRPr lang="en-AU" sz="2000" i="1" dirty="0"/>
          </a:p>
          <a:p>
            <a:pPr marL="285750" indent="-285750">
              <a:buFont typeface="Arial" panose="020B0604020202020204" pitchFamily="34" charset="0"/>
              <a:buChar char="•"/>
            </a:pPr>
            <a:r>
              <a:rPr lang="en-AU" sz="2000" i="1" dirty="0"/>
              <a:t>Is Mick subject to CGT on any future sale of the rental property?</a:t>
            </a:r>
          </a:p>
          <a:p>
            <a:pPr marL="285750" indent="-285750">
              <a:buFont typeface="Arial" panose="020B0604020202020204" pitchFamily="34" charset="0"/>
              <a:buChar char="•"/>
            </a:pPr>
            <a:endParaRPr lang="en-AU" sz="2000" i="1" dirty="0"/>
          </a:p>
          <a:p>
            <a:pPr marL="285750" indent="-285750">
              <a:buFont typeface="Arial" panose="020B0604020202020204" pitchFamily="34" charset="0"/>
              <a:buChar char="•"/>
            </a:pPr>
            <a:r>
              <a:rPr lang="en-AU" sz="2000" i="1" dirty="0"/>
              <a:t>Is Mick subject to CGT on the future sale of portfolio of listed shares?</a:t>
            </a:r>
          </a:p>
          <a:p>
            <a:endParaRPr lang="en-AU" dirty="0"/>
          </a:p>
          <a:p>
            <a:endParaRPr lang="en-AU" dirty="0"/>
          </a:p>
          <a:p>
            <a:endParaRPr lang="en-AU" i="1" dirty="0"/>
          </a:p>
          <a:p>
            <a:endParaRPr lang="en-AU" i="1" dirty="0"/>
          </a:p>
          <a:p>
            <a:endParaRPr lang="en-AU" i="1" dirty="0"/>
          </a:p>
          <a:p>
            <a:endParaRPr lang="en-AU" i="1" dirty="0"/>
          </a:p>
        </p:txBody>
      </p:sp>
    </p:spTree>
    <p:extLst>
      <p:ext uri="{BB962C8B-B14F-4D97-AF65-F5344CB8AC3E}">
        <p14:creationId xmlns:p14="http://schemas.microsoft.com/office/powerpoint/2010/main" val="16856586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ontent Placeholder 4">
            <a:extLst>
              <a:ext uri="{FF2B5EF4-FFF2-40B4-BE49-F238E27FC236}">
                <a16:creationId xmlns:a16="http://schemas.microsoft.com/office/drawing/2014/main" id="{438060FF-42B3-461E-B1D6-D584FB22774A}"/>
              </a:ext>
            </a:extLst>
          </p:cNvPr>
          <p:cNvSpPr>
            <a:spLocks noGrp="1"/>
          </p:cNvSpPr>
          <p:nvPr>
            <p:ph idx="1"/>
          </p:nvPr>
        </p:nvSpPr>
        <p:spPr>
          <a:xfrm>
            <a:off x="628650" y="1264670"/>
            <a:ext cx="10934700" cy="4963851"/>
          </a:xfrm>
        </p:spPr>
        <p:txBody>
          <a:bodyPr>
            <a:normAutofit/>
          </a:bodyPr>
          <a:lstStyle/>
          <a:p>
            <a:pPr marL="0" indent="0">
              <a:buNone/>
            </a:pPr>
            <a:endParaRPr lang="en-US" sz="2000" dirty="0"/>
          </a:p>
          <a:p>
            <a:pPr marL="0" algn="l" rtl="0" eaLnBrk="1" fontAlgn="t" latinLnBrk="0" hangingPunct="1">
              <a:spcBef>
                <a:spcPts val="0"/>
              </a:spcBef>
              <a:spcAft>
                <a:spcPts val="0"/>
              </a:spcAft>
            </a:pPr>
            <a:r>
              <a:rPr lang="en-US" sz="1800" b="1" i="0" u="sng" strike="noStrike" kern="1200" dirty="0">
                <a:solidFill>
                  <a:srgbClr val="F2F5F6"/>
                </a:solidFill>
                <a:effectLst/>
                <a:latin typeface="Arial" panose="020B0604020202020204" pitchFamily="34" charset="0"/>
              </a:rPr>
              <a:t>Example:</a:t>
            </a:r>
            <a:endParaRPr lang="en-AU" sz="1800" b="0" i="0" u="none" strike="noStrike" dirty="0">
              <a:effectLst/>
              <a:latin typeface="Arial" panose="020B0604020202020204" pitchFamily="34" charset="0"/>
            </a:endParaRPr>
          </a:p>
          <a:p>
            <a:pPr marL="0" algn="l" rtl="0" eaLnBrk="1" fontAlgn="t" latinLnBrk="0" hangingPunct="1">
              <a:spcBef>
                <a:spcPts val="0"/>
              </a:spcBef>
              <a:spcAft>
                <a:spcPts val="0"/>
              </a:spcAft>
            </a:pPr>
            <a:r>
              <a:rPr lang="en-AU" sz="1800" b="1" i="0" u="none" strike="noStrike" kern="1200" dirty="0">
                <a:solidFill>
                  <a:srgbClr val="F2F5F6"/>
                </a:solidFill>
                <a:effectLst/>
                <a:latin typeface="Arial" panose="020B0604020202020204" pitchFamily="34" charset="0"/>
              </a:rPr>
              <a:t>The Green &amp; Gold Trust is an Australian resident discretionary trust for CGT purposes that invests in Australian listed shares.  In 2024 it makes a $100,000 capital gain on the sale of part of its share portfolio.  The trustee resolves to make Peter who lives in NZ and is not an Australian tax resident entitled to the capital gains income.  </a:t>
            </a:r>
            <a:endParaRPr lang="en-AU" sz="1800" b="0" i="0" u="none" strike="noStrike" dirty="0">
              <a:effectLst/>
              <a:latin typeface="Arial" panose="020B0604020202020204" pitchFamily="34" charset="0"/>
            </a:endParaRPr>
          </a:p>
          <a:p>
            <a:pPr marL="0" algn="l" rtl="0" eaLnBrk="1" fontAlgn="t" latinLnBrk="0" hangingPunct="1">
              <a:spcBef>
                <a:spcPts val="0"/>
              </a:spcBef>
              <a:spcAft>
                <a:spcPts val="0"/>
              </a:spcAft>
            </a:pPr>
            <a:r>
              <a:rPr lang="en-US" sz="1800" b="1" i="0" u="sng" strike="noStrike" kern="1200" dirty="0">
                <a:solidFill>
                  <a:srgbClr val="F2F5F6"/>
                </a:solidFill>
                <a:effectLst/>
                <a:latin typeface="Arial" panose="020B0604020202020204" pitchFamily="34" charset="0"/>
              </a:rPr>
              <a:t>Example:</a:t>
            </a:r>
            <a:endParaRPr lang="en-AU" sz="1800" b="0" i="0" u="none" strike="noStrike" dirty="0">
              <a:effectLst/>
              <a:latin typeface="Arial" panose="020B0604020202020204" pitchFamily="34" charset="0"/>
            </a:endParaRPr>
          </a:p>
          <a:p>
            <a:pPr marL="0" algn="l" rtl="0" eaLnBrk="1" fontAlgn="t" latinLnBrk="0" hangingPunct="1">
              <a:spcBef>
                <a:spcPts val="0"/>
              </a:spcBef>
              <a:spcAft>
                <a:spcPts val="0"/>
              </a:spcAft>
            </a:pPr>
            <a:r>
              <a:rPr lang="en-AU" sz="1800" b="1" i="0" u="none" strike="noStrike" kern="1200" dirty="0">
                <a:solidFill>
                  <a:srgbClr val="F2F5F6"/>
                </a:solidFill>
                <a:effectLst/>
                <a:latin typeface="Arial" panose="020B0604020202020204" pitchFamily="34" charset="0"/>
              </a:rPr>
              <a:t>The Green &amp; Gold Trust is an Australian resident discretionary trust for CGT purposes that invests in Australian listed shares.  In 2024 it makes a $100,000 capital gain on the sale of part of its share portfolio.  The trustee resolves to make Peter who lives in NZ and is not an Australian tax resident entitled to the capital gains income.  </a:t>
            </a:r>
            <a:endParaRPr lang="en-AU" sz="1800" b="0" i="0" u="none" strike="noStrike" dirty="0">
              <a:effectLst/>
              <a:latin typeface="Arial" panose="020B0604020202020204" pitchFamily="34" charset="0"/>
            </a:endParaRPr>
          </a:p>
          <a:p>
            <a:pPr marL="0" algn="l" rtl="0" eaLnBrk="1" fontAlgn="t" latinLnBrk="0" hangingPunct="1">
              <a:spcBef>
                <a:spcPts val="0"/>
              </a:spcBef>
              <a:spcAft>
                <a:spcPts val="0"/>
              </a:spcAft>
            </a:pPr>
            <a:r>
              <a:rPr lang="en-AU" sz="1800" b="1" i="0" u="none" strike="noStrike" kern="1200" dirty="0">
                <a:solidFill>
                  <a:srgbClr val="F2F5F6"/>
                </a:solidFill>
                <a:effectLst/>
                <a:latin typeface="Arial" panose="020B0604020202020204" pitchFamily="34" charset="0"/>
              </a:rPr>
              <a:t>Peter is subject to Australian CGT on the full amount of the capital gain.</a:t>
            </a:r>
            <a:endParaRPr lang="en-AU" sz="1800" b="0" i="0" u="none" strike="noStrike" dirty="0">
              <a:effectLst/>
              <a:latin typeface="Arial" panose="020B0604020202020204" pitchFamily="34" charset="0"/>
            </a:endParaRPr>
          </a:p>
          <a:p>
            <a:pPr marL="0" algn="l" rtl="0" eaLnBrk="1" fontAlgn="t" latinLnBrk="0" hangingPunct="1">
              <a:spcBef>
                <a:spcPts val="0"/>
              </a:spcBef>
              <a:spcAft>
                <a:spcPts val="0"/>
              </a:spcAft>
            </a:pPr>
            <a:r>
              <a:rPr lang="en-AU" sz="1800" b="1" i="1" u="none" strike="noStrike" kern="1200" dirty="0">
                <a:solidFill>
                  <a:srgbClr val="F2F5F6"/>
                </a:solidFill>
                <a:effectLst/>
                <a:latin typeface="Arial" panose="020B0604020202020204" pitchFamily="34" charset="0"/>
              </a:rPr>
              <a:t>e result would be different if Peter owned the shares directly, or the trust foreign trust for CGT purposes, or was a fixed trust.</a:t>
            </a:r>
            <a:endParaRPr lang="en-AU" sz="1800" b="0" i="0" u="none" strike="noStrike" dirty="0">
              <a:effectLst/>
              <a:latin typeface="Arial" panose="020B0604020202020204" pitchFamily="34" charset="0"/>
            </a:endParaRPr>
          </a:p>
          <a:p>
            <a:pPr marL="0" algn="l" rtl="0" eaLnBrk="1" fontAlgn="t" latinLnBrk="0" hangingPunct="1">
              <a:spcBef>
                <a:spcPts val="0"/>
              </a:spcBef>
              <a:spcAft>
                <a:spcPts val="0"/>
              </a:spcAft>
            </a:pPr>
            <a:r>
              <a:rPr lang="en-AU" sz="1800" b="1" i="0" u="none" strike="noStrike" kern="1200" dirty="0">
                <a:solidFill>
                  <a:srgbClr val="F2F5F6"/>
                </a:solidFill>
                <a:effectLst/>
                <a:latin typeface="Arial" panose="020B0604020202020204" pitchFamily="34" charset="0"/>
              </a:rPr>
              <a:t>Peter is subject to Australian CGT on the full amount of the capital gain.</a:t>
            </a:r>
            <a:endParaRPr lang="en-AU" sz="1800" b="0" i="0" u="none" strike="noStrike" dirty="0">
              <a:effectLst/>
              <a:latin typeface="Arial" panose="020B0604020202020204" pitchFamily="34" charset="0"/>
            </a:endParaRPr>
          </a:p>
          <a:p>
            <a:pPr marL="0" algn="l" rtl="0" eaLnBrk="1" fontAlgn="t" latinLnBrk="0" hangingPunct="1">
              <a:spcBef>
                <a:spcPts val="0"/>
              </a:spcBef>
              <a:spcAft>
                <a:spcPts val="0"/>
              </a:spcAft>
            </a:pPr>
            <a:r>
              <a:rPr lang="en-AU" sz="1800" b="1" i="1" u="none" strike="noStrike" kern="1200" dirty="0">
                <a:solidFill>
                  <a:srgbClr val="F2F5F6"/>
                </a:solidFill>
                <a:effectLst/>
                <a:latin typeface="Arial" panose="020B0604020202020204" pitchFamily="34" charset="0"/>
              </a:rPr>
              <a:t>Note: the result would be different if Peter owned the shares directly, or the trust foreign trust for CGT purposes, or was a fixed trust.</a:t>
            </a:r>
            <a:endParaRPr lang="en-AU" sz="1800" b="0" i="0" u="none" strike="noStrike" dirty="0">
              <a:effectLst/>
              <a:latin typeface="Arial" panose="020B0604020202020204" pitchFamily="34" charset="0"/>
            </a:endParaRPr>
          </a:p>
          <a:p>
            <a:endParaRPr lang="en-US" sz="2000" dirty="0"/>
          </a:p>
          <a:p>
            <a:endParaRPr lang="en-US" sz="1600" dirty="0"/>
          </a:p>
          <a:p>
            <a:pPr lvl="1"/>
            <a:endParaRPr lang="en-US" sz="1600" dirty="0"/>
          </a:p>
        </p:txBody>
      </p:sp>
      <p:sp>
        <p:nvSpPr>
          <p:cNvPr id="4" name="Title 3">
            <a:extLst>
              <a:ext uri="{FF2B5EF4-FFF2-40B4-BE49-F238E27FC236}">
                <a16:creationId xmlns:a16="http://schemas.microsoft.com/office/drawing/2014/main" id="{2E3FF8C0-E639-4F69-898D-3B8BB48CED48}"/>
              </a:ext>
            </a:extLst>
          </p:cNvPr>
          <p:cNvSpPr>
            <a:spLocks noGrp="1"/>
          </p:cNvSpPr>
          <p:nvPr>
            <p:ph type="title"/>
          </p:nvPr>
        </p:nvSpPr>
        <p:spPr/>
        <p:txBody>
          <a:bodyPr>
            <a:noAutofit/>
          </a:bodyPr>
          <a:lstStyle/>
          <a:p>
            <a:r>
              <a:rPr lang="en-US" dirty="0"/>
              <a:t>Australian CGT Considerations on gifting property to an Australian a foreign resident or temporary resident</a:t>
            </a:r>
            <a:endParaRPr lang="en-AU" dirty="0"/>
          </a:p>
        </p:txBody>
      </p:sp>
      <p:sp>
        <p:nvSpPr>
          <p:cNvPr id="6" name="TextBox 5">
            <a:extLst>
              <a:ext uri="{FF2B5EF4-FFF2-40B4-BE49-F238E27FC236}">
                <a16:creationId xmlns:a16="http://schemas.microsoft.com/office/drawing/2014/main" id="{29AE16AC-10C5-113B-D030-A4DC9E13CE45}"/>
              </a:ext>
            </a:extLst>
          </p:cNvPr>
          <p:cNvSpPr txBox="1"/>
          <p:nvPr/>
        </p:nvSpPr>
        <p:spPr>
          <a:xfrm>
            <a:off x="628650" y="1503869"/>
            <a:ext cx="11154297" cy="5047536"/>
          </a:xfrm>
          <a:prstGeom prst="rect">
            <a:avLst/>
          </a:prstGeom>
          <a:noFill/>
        </p:spPr>
        <p:txBody>
          <a:bodyPr wrap="square">
            <a:spAutoFit/>
          </a:bodyPr>
          <a:lstStyle/>
          <a:p>
            <a:r>
              <a:rPr lang="en-US" b="1" u="sng" dirty="0"/>
              <a:t>Example:</a:t>
            </a:r>
          </a:p>
          <a:p>
            <a:endParaRPr lang="en-AU" sz="1600" i="1" dirty="0"/>
          </a:p>
          <a:p>
            <a:r>
              <a:rPr lang="en-AU" sz="2000" b="1" i="1" dirty="0"/>
              <a:t>Answers:</a:t>
            </a:r>
          </a:p>
          <a:p>
            <a:endParaRPr lang="en-AU" sz="2000" b="1" i="1" dirty="0"/>
          </a:p>
          <a:p>
            <a:pPr marL="342900" indent="-342900">
              <a:buFont typeface="Arial" panose="020B0604020202020204" pitchFamily="34" charset="0"/>
              <a:buChar char="•"/>
            </a:pPr>
            <a:r>
              <a:rPr lang="en-AU" sz="2000" i="1" dirty="0"/>
              <a:t>The Australian rental property is TAP.  For CGT purposes, Mick was deemed to acquire the Australian rental property for its market value in 2022, and any disposal of it from that day will attract CGT.</a:t>
            </a:r>
          </a:p>
          <a:p>
            <a:endParaRPr lang="en-AU" sz="2000" i="1" dirty="0"/>
          </a:p>
          <a:p>
            <a:pPr marL="342900" indent="-342900">
              <a:buFont typeface="Arial" panose="020B0604020202020204" pitchFamily="34" charset="0"/>
              <a:buChar char="•"/>
            </a:pPr>
            <a:r>
              <a:rPr lang="en-AU" sz="2000" i="1" dirty="0"/>
              <a:t>The same is not initially the case for the share portfolio as it is not TAP.  However, Mick will be deemed to acquire it for its market value cost base in 2024 when he ceases to be a temporary resident, and any sell down from that day onwards will attract CGT.</a:t>
            </a:r>
          </a:p>
          <a:p>
            <a:endParaRPr lang="en-AU" dirty="0"/>
          </a:p>
          <a:p>
            <a:endParaRPr lang="en-AU" dirty="0"/>
          </a:p>
          <a:p>
            <a:endParaRPr lang="en-AU" i="1" dirty="0"/>
          </a:p>
          <a:p>
            <a:endParaRPr lang="en-AU" i="1" dirty="0"/>
          </a:p>
          <a:p>
            <a:endParaRPr lang="en-AU" i="1" dirty="0"/>
          </a:p>
          <a:p>
            <a:endParaRPr lang="en-AU" i="1" dirty="0"/>
          </a:p>
        </p:txBody>
      </p:sp>
    </p:spTree>
    <p:extLst>
      <p:ext uri="{BB962C8B-B14F-4D97-AF65-F5344CB8AC3E}">
        <p14:creationId xmlns:p14="http://schemas.microsoft.com/office/powerpoint/2010/main" val="388616186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ontent Placeholder 4">
            <a:extLst>
              <a:ext uri="{FF2B5EF4-FFF2-40B4-BE49-F238E27FC236}">
                <a16:creationId xmlns:a16="http://schemas.microsoft.com/office/drawing/2014/main" id="{438060FF-42B3-461E-B1D6-D584FB22774A}"/>
              </a:ext>
            </a:extLst>
          </p:cNvPr>
          <p:cNvSpPr>
            <a:spLocks noGrp="1"/>
          </p:cNvSpPr>
          <p:nvPr>
            <p:ph idx="1"/>
          </p:nvPr>
        </p:nvSpPr>
        <p:spPr>
          <a:xfrm>
            <a:off x="628650" y="1264670"/>
            <a:ext cx="10934700" cy="5202025"/>
          </a:xfrm>
        </p:spPr>
        <p:txBody>
          <a:bodyPr>
            <a:normAutofit fontScale="25000" lnSpcReduction="20000"/>
          </a:bodyPr>
          <a:lstStyle/>
          <a:p>
            <a:pPr marL="457200" lvl="1" indent="0">
              <a:buNone/>
            </a:pPr>
            <a:endParaRPr lang="en-US" sz="1600" dirty="0"/>
          </a:p>
          <a:p>
            <a:pPr marL="0" indent="0">
              <a:buNone/>
            </a:pPr>
            <a:r>
              <a:rPr lang="en-US" sz="8000" b="1" dirty="0"/>
              <a:t>General application of CGT rules on death in Australia:</a:t>
            </a:r>
          </a:p>
          <a:p>
            <a:endParaRPr lang="en-US" sz="8000" dirty="0"/>
          </a:p>
          <a:p>
            <a:r>
              <a:rPr lang="en-US" sz="8000" dirty="0"/>
              <a:t>No CGT payable at the time an asset “passes” from a deceased to the Legal Personal Representative (LPR) of their estate or a beneficiary of their estate.</a:t>
            </a:r>
          </a:p>
          <a:p>
            <a:r>
              <a:rPr lang="en-US" sz="8000" dirty="0"/>
              <a:t>However, there are future CGT consequences for the LPR or beneficiary: </a:t>
            </a:r>
          </a:p>
          <a:p>
            <a:endParaRPr lang="en-US" sz="8000" dirty="0"/>
          </a:p>
          <a:p>
            <a:pPr lvl="1"/>
            <a:r>
              <a:rPr lang="en-US" sz="8000" dirty="0"/>
              <a:t>If the CGT asset was a “pre-CGT asset”  of the deceased (i.e. acquired before 20 September 1985), it is deemed to be acquired by the LPR or beneficiary on the date of death for its then market value.</a:t>
            </a:r>
          </a:p>
          <a:p>
            <a:pPr marL="457200" lvl="1" indent="0">
              <a:buNone/>
            </a:pPr>
            <a:endParaRPr lang="en-US" sz="8000" dirty="0"/>
          </a:p>
          <a:p>
            <a:pPr lvl="1"/>
            <a:r>
              <a:rPr lang="en-US" sz="8000" dirty="0"/>
              <a:t>If the CGT asset was a “post –CGT asset” of the deceased  (i.e. acquired after 20 September 1985),  the LPR or beneficiary is deemed to acquire it on the date of the deceased death for the same original CGT Cost base of the deceased.</a:t>
            </a:r>
          </a:p>
          <a:p>
            <a:pPr marL="457200" lvl="1" indent="0">
              <a:buNone/>
            </a:pPr>
            <a:endParaRPr lang="en-US" sz="3400" dirty="0"/>
          </a:p>
          <a:p>
            <a:pPr marL="457200" lvl="1" indent="0">
              <a:buNone/>
            </a:pPr>
            <a:endParaRPr lang="en-US" sz="2300" i="1" dirty="0"/>
          </a:p>
          <a:p>
            <a:endParaRPr lang="en-US" sz="2000" dirty="0"/>
          </a:p>
          <a:p>
            <a:pPr marL="0" indent="0">
              <a:buNone/>
            </a:pPr>
            <a:endParaRPr lang="en-US" sz="2000" dirty="0"/>
          </a:p>
          <a:p>
            <a:pPr marL="0" algn="l" rtl="0" eaLnBrk="1" fontAlgn="t" latinLnBrk="0" hangingPunct="1">
              <a:spcBef>
                <a:spcPts val="0"/>
              </a:spcBef>
              <a:spcAft>
                <a:spcPts val="0"/>
              </a:spcAft>
            </a:pPr>
            <a:r>
              <a:rPr lang="en-US" sz="1800" b="1" i="0" u="sng" strike="noStrike" kern="1200" dirty="0">
                <a:solidFill>
                  <a:srgbClr val="F2F5F6"/>
                </a:solidFill>
                <a:effectLst/>
                <a:latin typeface="Arial" panose="020B0604020202020204" pitchFamily="34" charset="0"/>
              </a:rPr>
              <a:t>Example:</a:t>
            </a:r>
            <a:endParaRPr lang="en-AU" sz="1800" b="0" i="0" u="none" strike="noStrike" dirty="0">
              <a:effectLst/>
              <a:latin typeface="Arial" panose="020B0604020202020204" pitchFamily="34" charset="0"/>
            </a:endParaRPr>
          </a:p>
          <a:p>
            <a:pPr marL="0" algn="l" rtl="0" eaLnBrk="1" fontAlgn="t" latinLnBrk="0" hangingPunct="1">
              <a:spcBef>
                <a:spcPts val="0"/>
              </a:spcBef>
              <a:spcAft>
                <a:spcPts val="0"/>
              </a:spcAft>
            </a:pPr>
            <a:r>
              <a:rPr lang="en-AU" sz="1800" b="1" i="0" u="none" strike="noStrike" kern="1200" dirty="0">
                <a:solidFill>
                  <a:srgbClr val="F2F5F6"/>
                </a:solidFill>
                <a:effectLst/>
                <a:latin typeface="Arial" panose="020B0604020202020204" pitchFamily="34" charset="0"/>
              </a:rPr>
              <a:t>The Green &amp; Gold Trust is an Australian resident discretionary trust for CGT purposes that invests in Australian listed shares.  In 2024 it makes a $100,000 capital gain on the sale of part of its share portfolio.  The trustee resolves to make Peter who lives in NZ and is not an Australian tax resident entitled to the capital gains income.  </a:t>
            </a:r>
            <a:endParaRPr lang="en-AU" sz="1800" b="0" i="0" u="none" strike="noStrike" dirty="0">
              <a:effectLst/>
              <a:latin typeface="Arial" panose="020B0604020202020204" pitchFamily="34" charset="0"/>
            </a:endParaRPr>
          </a:p>
          <a:p>
            <a:pPr marL="0" algn="l" rtl="0" eaLnBrk="1" fontAlgn="t" latinLnBrk="0" hangingPunct="1">
              <a:spcBef>
                <a:spcPts val="0"/>
              </a:spcBef>
              <a:spcAft>
                <a:spcPts val="0"/>
              </a:spcAft>
            </a:pPr>
            <a:r>
              <a:rPr lang="en-US" sz="1800" b="1" i="0" u="sng" strike="noStrike" kern="1200" dirty="0">
                <a:solidFill>
                  <a:srgbClr val="F2F5F6"/>
                </a:solidFill>
                <a:effectLst/>
                <a:latin typeface="Arial" panose="020B0604020202020204" pitchFamily="34" charset="0"/>
              </a:rPr>
              <a:t>Example:</a:t>
            </a:r>
            <a:endParaRPr lang="en-AU" sz="1800" b="0" i="0" u="none" strike="noStrike" dirty="0">
              <a:effectLst/>
              <a:latin typeface="Arial" panose="020B0604020202020204" pitchFamily="34" charset="0"/>
            </a:endParaRPr>
          </a:p>
          <a:p>
            <a:pPr marL="0" algn="l" rtl="0" eaLnBrk="1" fontAlgn="t" latinLnBrk="0" hangingPunct="1">
              <a:spcBef>
                <a:spcPts val="0"/>
              </a:spcBef>
              <a:spcAft>
                <a:spcPts val="0"/>
              </a:spcAft>
            </a:pPr>
            <a:r>
              <a:rPr lang="en-AU" sz="1800" b="1" i="0" u="none" strike="noStrike" kern="1200" dirty="0">
                <a:solidFill>
                  <a:srgbClr val="F2F5F6"/>
                </a:solidFill>
                <a:effectLst/>
                <a:latin typeface="Arial" panose="020B0604020202020204" pitchFamily="34" charset="0"/>
              </a:rPr>
              <a:t>The Green &amp; Gold Trust is an Australian resident discretionary trust for CGT purposes that invests in Australian listed shares.  In 2024 it makes a $100,000 capital gain on the sale of part of its share portfolio.  The trustee resolves to make Peter who lives in NZ and is not an Australian tax resident entitled to the capital gains income.  </a:t>
            </a:r>
            <a:endParaRPr lang="en-AU" sz="1800" b="0" i="0" u="none" strike="noStrike" dirty="0">
              <a:effectLst/>
              <a:latin typeface="Arial" panose="020B0604020202020204" pitchFamily="34" charset="0"/>
            </a:endParaRPr>
          </a:p>
          <a:p>
            <a:pPr marL="0" algn="l" rtl="0" eaLnBrk="1" fontAlgn="t" latinLnBrk="0" hangingPunct="1">
              <a:spcBef>
                <a:spcPts val="0"/>
              </a:spcBef>
              <a:spcAft>
                <a:spcPts val="0"/>
              </a:spcAft>
            </a:pPr>
            <a:r>
              <a:rPr lang="en-AU" sz="1800" b="1" i="0" u="none" strike="noStrike" kern="1200" dirty="0">
                <a:solidFill>
                  <a:srgbClr val="F2F5F6"/>
                </a:solidFill>
                <a:effectLst/>
                <a:latin typeface="Arial" panose="020B0604020202020204" pitchFamily="34" charset="0"/>
              </a:rPr>
              <a:t>Peter is subject to Australian CGT on the full amount of the capital gain.</a:t>
            </a:r>
            <a:endParaRPr lang="en-AU" sz="1800" b="0" i="0" u="none" strike="noStrike" dirty="0">
              <a:effectLst/>
              <a:latin typeface="Arial" panose="020B0604020202020204" pitchFamily="34" charset="0"/>
            </a:endParaRPr>
          </a:p>
          <a:p>
            <a:pPr marL="0" algn="l" rtl="0" eaLnBrk="1" fontAlgn="t" latinLnBrk="0" hangingPunct="1">
              <a:spcBef>
                <a:spcPts val="0"/>
              </a:spcBef>
              <a:spcAft>
                <a:spcPts val="0"/>
              </a:spcAft>
            </a:pPr>
            <a:r>
              <a:rPr lang="en-AU" sz="1800" b="1" i="1" u="none" strike="noStrike" kern="1200" dirty="0">
                <a:solidFill>
                  <a:srgbClr val="F2F5F6"/>
                </a:solidFill>
                <a:effectLst/>
                <a:latin typeface="Arial" panose="020B0604020202020204" pitchFamily="34" charset="0"/>
              </a:rPr>
              <a:t>e result would be different if Peter owned the shares directly, or the trust foreign trust for CGT purposes, or was a fixed trust.</a:t>
            </a:r>
            <a:endParaRPr lang="en-AU" sz="1800" b="0" i="0" u="none" strike="noStrike" dirty="0">
              <a:effectLst/>
              <a:latin typeface="Arial" panose="020B0604020202020204" pitchFamily="34" charset="0"/>
            </a:endParaRPr>
          </a:p>
          <a:p>
            <a:pPr marL="0" algn="l" rtl="0" eaLnBrk="1" fontAlgn="t" latinLnBrk="0" hangingPunct="1">
              <a:spcBef>
                <a:spcPts val="0"/>
              </a:spcBef>
              <a:spcAft>
                <a:spcPts val="0"/>
              </a:spcAft>
            </a:pPr>
            <a:r>
              <a:rPr lang="en-AU" sz="1800" b="1" i="0" u="none" strike="noStrike" kern="1200" dirty="0">
                <a:solidFill>
                  <a:srgbClr val="F2F5F6"/>
                </a:solidFill>
                <a:effectLst/>
                <a:latin typeface="Arial" panose="020B0604020202020204" pitchFamily="34" charset="0"/>
              </a:rPr>
              <a:t>Peter is subject to Australian CGT on the full amount of the capital gain.</a:t>
            </a:r>
            <a:endParaRPr lang="en-AU" sz="1800" b="0" i="0" u="none" strike="noStrike" dirty="0">
              <a:effectLst/>
              <a:latin typeface="Arial" panose="020B0604020202020204" pitchFamily="34" charset="0"/>
            </a:endParaRPr>
          </a:p>
          <a:p>
            <a:pPr marL="0" algn="l" rtl="0" eaLnBrk="1" fontAlgn="t" latinLnBrk="0" hangingPunct="1">
              <a:spcBef>
                <a:spcPts val="0"/>
              </a:spcBef>
              <a:spcAft>
                <a:spcPts val="0"/>
              </a:spcAft>
            </a:pPr>
            <a:r>
              <a:rPr lang="en-AU" sz="1800" b="1" i="1" u="none" strike="noStrike" kern="1200" dirty="0">
                <a:solidFill>
                  <a:srgbClr val="F2F5F6"/>
                </a:solidFill>
                <a:effectLst/>
                <a:latin typeface="Arial" panose="020B0604020202020204" pitchFamily="34" charset="0"/>
              </a:rPr>
              <a:t>Note: the result would be different if Peter owned the shares directly, or the trust foreign trust for CGT purposes, or was a fixed trust.</a:t>
            </a:r>
            <a:endParaRPr lang="en-AU" sz="1800" b="0" i="0" u="none" strike="noStrike" dirty="0">
              <a:effectLst/>
              <a:latin typeface="Arial" panose="020B0604020202020204" pitchFamily="34" charset="0"/>
            </a:endParaRPr>
          </a:p>
          <a:p>
            <a:endParaRPr lang="en-US" sz="2000" dirty="0"/>
          </a:p>
          <a:p>
            <a:endParaRPr lang="en-US" sz="1600" dirty="0"/>
          </a:p>
          <a:p>
            <a:pPr lvl="1"/>
            <a:endParaRPr lang="en-US" sz="1600" dirty="0"/>
          </a:p>
        </p:txBody>
      </p:sp>
      <p:sp>
        <p:nvSpPr>
          <p:cNvPr id="4" name="Title 3">
            <a:extLst>
              <a:ext uri="{FF2B5EF4-FFF2-40B4-BE49-F238E27FC236}">
                <a16:creationId xmlns:a16="http://schemas.microsoft.com/office/drawing/2014/main" id="{2E3FF8C0-E639-4F69-898D-3B8BB48CED48}"/>
              </a:ext>
            </a:extLst>
          </p:cNvPr>
          <p:cNvSpPr>
            <a:spLocks noGrp="1"/>
          </p:cNvSpPr>
          <p:nvPr>
            <p:ph type="title"/>
          </p:nvPr>
        </p:nvSpPr>
        <p:spPr>
          <a:xfrm>
            <a:off x="628650" y="391305"/>
            <a:ext cx="10934700" cy="885628"/>
          </a:xfrm>
        </p:spPr>
        <p:txBody>
          <a:bodyPr>
            <a:noAutofit/>
          </a:bodyPr>
          <a:lstStyle/>
          <a:p>
            <a:r>
              <a:rPr lang="en-US" dirty="0"/>
              <a:t>CGT rules &amp; death</a:t>
            </a:r>
            <a:endParaRPr lang="en-AU" dirty="0"/>
          </a:p>
        </p:txBody>
      </p:sp>
    </p:spTree>
    <p:extLst>
      <p:ext uri="{BB962C8B-B14F-4D97-AF65-F5344CB8AC3E}">
        <p14:creationId xmlns:p14="http://schemas.microsoft.com/office/powerpoint/2010/main" val="321628776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ontent Placeholder 4">
            <a:extLst>
              <a:ext uri="{FF2B5EF4-FFF2-40B4-BE49-F238E27FC236}">
                <a16:creationId xmlns:a16="http://schemas.microsoft.com/office/drawing/2014/main" id="{438060FF-42B3-461E-B1D6-D584FB22774A}"/>
              </a:ext>
            </a:extLst>
          </p:cNvPr>
          <p:cNvSpPr>
            <a:spLocks noGrp="1"/>
          </p:cNvSpPr>
          <p:nvPr>
            <p:ph idx="1"/>
          </p:nvPr>
        </p:nvSpPr>
        <p:spPr>
          <a:xfrm>
            <a:off x="628650" y="1264670"/>
            <a:ext cx="10934700" cy="5202025"/>
          </a:xfrm>
        </p:spPr>
        <p:txBody>
          <a:bodyPr>
            <a:normAutofit fontScale="25000" lnSpcReduction="20000"/>
          </a:bodyPr>
          <a:lstStyle/>
          <a:p>
            <a:pPr marL="0" indent="0">
              <a:buNone/>
            </a:pPr>
            <a:r>
              <a:rPr lang="en-US" sz="8000" b="1" dirty="0"/>
              <a:t>Modified CGT rules on death where the deceased for a foreign resident</a:t>
            </a:r>
          </a:p>
          <a:p>
            <a:pPr marL="457200" lvl="1" indent="0">
              <a:buNone/>
            </a:pPr>
            <a:endParaRPr lang="en-US" sz="8000" dirty="0"/>
          </a:p>
          <a:p>
            <a:r>
              <a:rPr lang="en-US" sz="8000" dirty="0"/>
              <a:t>If the deceased was a </a:t>
            </a:r>
            <a:r>
              <a:rPr lang="en-US" sz="8000" b="1" dirty="0"/>
              <a:t>foreign resident </a:t>
            </a:r>
            <a:r>
              <a:rPr lang="en-US" sz="8000" dirty="0"/>
              <a:t>just before they died and the asset was </a:t>
            </a:r>
            <a:r>
              <a:rPr lang="en-US" sz="8000" b="1" dirty="0"/>
              <a:t>not TAP</a:t>
            </a:r>
            <a:r>
              <a:rPr lang="en-US" sz="8000" dirty="0"/>
              <a:t>, the LPR or beneficiary is deemed to acquire the asset on the date the deceased died for its market value at that day.</a:t>
            </a:r>
          </a:p>
          <a:p>
            <a:pPr marL="0" indent="0">
              <a:buNone/>
            </a:pPr>
            <a:endParaRPr lang="en-US" sz="8000" dirty="0"/>
          </a:p>
          <a:p>
            <a:r>
              <a:rPr lang="en-US" sz="8000" dirty="0"/>
              <a:t>If the asset was TAP, ordinary CGT rules on death apply.</a:t>
            </a:r>
          </a:p>
          <a:p>
            <a:pPr marL="0" indent="0">
              <a:buNone/>
            </a:pPr>
            <a:endParaRPr lang="en-US" sz="5000" dirty="0"/>
          </a:p>
          <a:p>
            <a:pPr marL="0" indent="0">
              <a:buNone/>
            </a:pPr>
            <a:endParaRPr lang="en-US" sz="5000" dirty="0"/>
          </a:p>
          <a:p>
            <a:pPr marL="0" indent="0">
              <a:buNone/>
            </a:pPr>
            <a:endParaRPr lang="en-US" sz="7200" dirty="0"/>
          </a:p>
          <a:p>
            <a:r>
              <a:rPr lang="en-US" sz="7200" dirty="0"/>
              <a:t>The future CGT implications to the LPR or the beneficiary on any disposal depends of an inherited CGT asset depends on:</a:t>
            </a:r>
          </a:p>
          <a:p>
            <a:pPr marL="0" indent="0">
              <a:buNone/>
            </a:pPr>
            <a:endParaRPr lang="en-US" sz="7200" dirty="0"/>
          </a:p>
          <a:p>
            <a:pPr lvl="1">
              <a:buFont typeface="Wingdings" panose="05000000000000000000" pitchFamily="2" charset="2"/>
              <a:buChar char="Ø"/>
            </a:pPr>
            <a:r>
              <a:rPr lang="en-US" sz="7200" i="1" dirty="0"/>
              <a:t>Whether the CGT asset is TAP</a:t>
            </a:r>
          </a:p>
          <a:p>
            <a:pPr marL="457200" lvl="1" indent="0">
              <a:buNone/>
            </a:pPr>
            <a:endParaRPr lang="en-US" sz="7200" i="1" dirty="0"/>
          </a:p>
          <a:p>
            <a:pPr lvl="1">
              <a:buFont typeface="Wingdings" panose="05000000000000000000" pitchFamily="2" charset="2"/>
              <a:buChar char="Ø"/>
            </a:pPr>
            <a:r>
              <a:rPr lang="en-US" sz="7200" i="1" dirty="0"/>
              <a:t>Whether the LPR or Beneficiary is tax resident  (or temporary resident) or a foreign resident.</a:t>
            </a:r>
          </a:p>
          <a:p>
            <a:pPr marL="457200" lvl="1" indent="0">
              <a:buNone/>
            </a:pPr>
            <a:endParaRPr lang="en-US" sz="5000" i="1" dirty="0"/>
          </a:p>
          <a:p>
            <a:endParaRPr lang="en-US" sz="5000" dirty="0"/>
          </a:p>
          <a:p>
            <a:pPr marL="0" indent="0">
              <a:buNone/>
            </a:pPr>
            <a:endParaRPr lang="en-US" sz="2000" dirty="0"/>
          </a:p>
          <a:p>
            <a:pPr marL="0" algn="l" rtl="0" eaLnBrk="1" fontAlgn="t" latinLnBrk="0" hangingPunct="1">
              <a:spcBef>
                <a:spcPts val="0"/>
              </a:spcBef>
              <a:spcAft>
                <a:spcPts val="0"/>
              </a:spcAft>
            </a:pPr>
            <a:r>
              <a:rPr lang="en-US" sz="1800" b="1" i="0" u="sng" strike="noStrike" kern="1200" dirty="0">
                <a:solidFill>
                  <a:srgbClr val="F2F5F6"/>
                </a:solidFill>
                <a:effectLst/>
                <a:latin typeface="Arial" panose="020B0604020202020204" pitchFamily="34" charset="0"/>
              </a:rPr>
              <a:t>Example:</a:t>
            </a:r>
            <a:endParaRPr lang="en-AU" sz="1800" b="0" i="0" u="none" strike="noStrike" dirty="0">
              <a:effectLst/>
              <a:latin typeface="Arial" panose="020B0604020202020204" pitchFamily="34" charset="0"/>
            </a:endParaRPr>
          </a:p>
          <a:p>
            <a:pPr marL="0" algn="l" rtl="0" eaLnBrk="1" fontAlgn="t" latinLnBrk="0" hangingPunct="1">
              <a:spcBef>
                <a:spcPts val="0"/>
              </a:spcBef>
              <a:spcAft>
                <a:spcPts val="0"/>
              </a:spcAft>
            </a:pPr>
            <a:r>
              <a:rPr lang="en-AU" sz="1800" b="1" i="0" u="none" strike="noStrike" kern="1200" dirty="0">
                <a:solidFill>
                  <a:srgbClr val="F2F5F6"/>
                </a:solidFill>
                <a:effectLst/>
                <a:latin typeface="Arial" panose="020B0604020202020204" pitchFamily="34" charset="0"/>
              </a:rPr>
              <a:t>The Green &amp; Gold Trust is an Australian resident discretionary trust for CGT purposes that invests in Australian listed shares.  In 2024 it makes a $100,000 capital gain on the sale of part of its share portfolio.  The trustee resolves to make Peter who lives in NZ and is not an Australian tax resident entitled to the capital gains income.  </a:t>
            </a:r>
            <a:endParaRPr lang="en-AU" sz="1800" b="0" i="0" u="none" strike="noStrike" dirty="0">
              <a:effectLst/>
              <a:latin typeface="Arial" panose="020B0604020202020204" pitchFamily="34" charset="0"/>
            </a:endParaRPr>
          </a:p>
          <a:p>
            <a:pPr marL="0" algn="l" rtl="0" eaLnBrk="1" fontAlgn="t" latinLnBrk="0" hangingPunct="1">
              <a:spcBef>
                <a:spcPts val="0"/>
              </a:spcBef>
              <a:spcAft>
                <a:spcPts val="0"/>
              </a:spcAft>
            </a:pPr>
            <a:r>
              <a:rPr lang="en-US" sz="1800" b="1" i="0" u="sng" strike="noStrike" kern="1200" dirty="0">
                <a:solidFill>
                  <a:srgbClr val="F2F5F6"/>
                </a:solidFill>
                <a:effectLst/>
                <a:latin typeface="Arial" panose="020B0604020202020204" pitchFamily="34" charset="0"/>
              </a:rPr>
              <a:t>Example:</a:t>
            </a:r>
            <a:endParaRPr lang="en-AU" sz="1800" b="0" i="0" u="none" strike="noStrike" dirty="0">
              <a:effectLst/>
              <a:latin typeface="Arial" panose="020B0604020202020204" pitchFamily="34" charset="0"/>
            </a:endParaRPr>
          </a:p>
          <a:p>
            <a:pPr marL="0" algn="l" rtl="0" eaLnBrk="1" fontAlgn="t" latinLnBrk="0" hangingPunct="1">
              <a:spcBef>
                <a:spcPts val="0"/>
              </a:spcBef>
              <a:spcAft>
                <a:spcPts val="0"/>
              </a:spcAft>
            </a:pPr>
            <a:r>
              <a:rPr lang="en-AU" sz="1800" b="1" i="0" u="none" strike="noStrike" kern="1200" dirty="0">
                <a:solidFill>
                  <a:srgbClr val="F2F5F6"/>
                </a:solidFill>
                <a:effectLst/>
                <a:latin typeface="Arial" panose="020B0604020202020204" pitchFamily="34" charset="0"/>
              </a:rPr>
              <a:t>The Green &amp; Gold Trust is an Australian resident discretionary trust for CGT purposes that invests in Australian listed shares.  In 2024 it makes a $100,000 capital gain on the sale of part of its share portfolio.  The trustee resolves to make Peter who lives in NZ and is not an Australian tax resident entitled to the capital gains income.  </a:t>
            </a:r>
            <a:endParaRPr lang="en-AU" sz="1800" b="0" i="0" u="none" strike="noStrike" dirty="0">
              <a:effectLst/>
              <a:latin typeface="Arial" panose="020B0604020202020204" pitchFamily="34" charset="0"/>
            </a:endParaRPr>
          </a:p>
          <a:p>
            <a:pPr marL="0" algn="l" rtl="0" eaLnBrk="1" fontAlgn="t" latinLnBrk="0" hangingPunct="1">
              <a:spcBef>
                <a:spcPts val="0"/>
              </a:spcBef>
              <a:spcAft>
                <a:spcPts val="0"/>
              </a:spcAft>
            </a:pPr>
            <a:r>
              <a:rPr lang="en-AU" sz="1800" b="1" i="0" u="none" strike="noStrike" kern="1200" dirty="0">
                <a:solidFill>
                  <a:srgbClr val="F2F5F6"/>
                </a:solidFill>
                <a:effectLst/>
                <a:latin typeface="Arial" panose="020B0604020202020204" pitchFamily="34" charset="0"/>
              </a:rPr>
              <a:t>Peter is subject to Australian CGT on the full amount of the capital gain.</a:t>
            </a:r>
            <a:endParaRPr lang="en-AU" sz="1800" b="0" i="0" u="none" strike="noStrike" dirty="0">
              <a:effectLst/>
              <a:latin typeface="Arial" panose="020B0604020202020204" pitchFamily="34" charset="0"/>
            </a:endParaRPr>
          </a:p>
          <a:p>
            <a:pPr marL="0" algn="l" rtl="0" eaLnBrk="1" fontAlgn="t" latinLnBrk="0" hangingPunct="1">
              <a:spcBef>
                <a:spcPts val="0"/>
              </a:spcBef>
              <a:spcAft>
                <a:spcPts val="0"/>
              </a:spcAft>
            </a:pPr>
            <a:r>
              <a:rPr lang="en-AU" sz="1800" b="1" i="1" u="none" strike="noStrike" kern="1200" dirty="0">
                <a:solidFill>
                  <a:srgbClr val="F2F5F6"/>
                </a:solidFill>
                <a:effectLst/>
                <a:latin typeface="Arial" panose="020B0604020202020204" pitchFamily="34" charset="0"/>
              </a:rPr>
              <a:t>e result would be different if Peter owned the shares directly, or the trust foreign trust for CGT purposes, or was a fixed trust.</a:t>
            </a:r>
            <a:endParaRPr lang="en-AU" sz="1800" b="0" i="0" u="none" strike="noStrike" dirty="0">
              <a:effectLst/>
              <a:latin typeface="Arial" panose="020B0604020202020204" pitchFamily="34" charset="0"/>
            </a:endParaRPr>
          </a:p>
          <a:p>
            <a:pPr marL="0" algn="l" rtl="0" eaLnBrk="1" fontAlgn="t" latinLnBrk="0" hangingPunct="1">
              <a:spcBef>
                <a:spcPts val="0"/>
              </a:spcBef>
              <a:spcAft>
                <a:spcPts val="0"/>
              </a:spcAft>
            </a:pPr>
            <a:r>
              <a:rPr lang="en-AU" sz="1800" b="1" i="0" u="none" strike="noStrike" kern="1200" dirty="0">
                <a:solidFill>
                  <a:srgbClr val="F2F5F6"/>
                </a:solidFill>
                <a:effectLst/>
                <a:latin typeface="Arial" panose="020B0604020202020204" pitchFamily="34" charset="0"/>
              </a:rPr>
              <a:t>Peter is subject to Australian CGT on the full amount of the capital gain.</a:t>
            </a:r>
            <a:endParaRPr lang="en-AU" sz="1800" b="0" i="0" u="none" strike="noStrike" dirty="0">
              <a:effectLst/>
              <a:latin typeface="Arial" panose="020B0604020202020204" pitchFamily="34" charset="0"/>
            </a:endParaRPr>
          </a:p>
          <a:p>
            <a:pPr marL="0" algn="l" rtl="0" eaLnBrk="1" fontAlgn="t" latinLnBrk="0" hangingPunct="1">
              <a:spcBef>
                <a:spcPts val="0"/>
              </a:spcBef>
              <a:spcAft>
                <a:spcPts val="0"/>
              </a:spcAft>
            </a:pPr>
            <a:r>
              <a:rPr lang="en-AU" sz="1800" b="1" i="1" u="none" strike="noStrike" kern="1200" dirty="0">
                <a:solidFill>
                  <a:srgbClr val="F2F5F6"/>
                </a:solidFill>
                <a:effectLst/>
                <a:latin typeface="Arial" panose="020B0604020202020204" pitchFamily="34" charset="0"/>
              </a:rPr>
              <a:t>Note: the result would be different if Peter owned the shares directly, or the trust foreign trust for CGT purposes, or was a fixed trust.</a:t>
            </a:r>
            <a:endParaRPr lang="en-AU" sz="1800" b="0" i="0" u="none" strike="noStrike" dirty="0">
              <a:effectLst/>
              <a:latin typeface="Arial" panose="020B0604020202020204" pitchFamily="34" charset="0"/>
            </a:endParaRPr>
          </a:p>
          <a:p>
            <a:endParaRPr lang="en-US" sz="2000" dirty="0"/>
          </a:p>
          <a:p>
            <a:endParaRPr lang="en-US" sz="1600" dirty="0"/>
          </a:p>
          <a:p>
            <a:pPr lvl="1"/>
            <a:endParaRPr lang="en-US" sz="1600" dirty="0"/>
          </a:p>
        </p:txBody>
      </p:sp>
      <p:sp>
        <p:nvSpPr>
          <p:cNvPr id="4" name="Title 3">
            <a:extLst>
              <a:ext uri="{FF2B5EF4-FFF2-40B4-BE49-F238E27FC236}">
                <a16:creationId xmlns:a16="http://schemas.microsoft.com/office/drawing/2014/main" id="{2E3FF8C0-E639-4F69-898D-3B8BB48CED48}"/>
              </a:ext>
            </a:extLst>
          </p:cNvPr>
          <p:cNvSpPr>
            <a:spLocks noGrp="1"/>
          </p:cNvSpPr>
          <p:nvPr>
            <p:ph type="title"/>
          </p:nvPr>
        </p:nvSpPr>
        <p:spPr>
          <a:xfrm>
            <a:off x="628650" y="391305"/>
            <a:ext cx="10934700" cy="885628"/>
          </a:xfrm>
        </p:spPr>
        <p:txBody>
          <a:bodyPr>
            <a:noAutofit/>
          </a:bodyPr>
          <a:lstStyle/>
          <a:p>
            <a:r>
              <a:rPr lang="en-US" dirty="0"/>
              <a:t>CGT rules &amp; death</a:t>
            </a:r>
            <a:endParaRPr lang="en-AU" dirty="0"/>
          </a:p>
        </p:txBody>
      </p:sp>
    </p:spTree>
    <p:extLst>
      <p:ext uri="{BB962C8B-B14F-4D97-AF65-F5344CB8AC3E}">
        <p14:creationId xmlns:p14="http://schemas.microsoft.com/office/powerpoint/2010/main" val="61671993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ontent Placeholder 4">
            <a:extLst>
              <a:ext uri="{FF2B5EF4-FFF2-40B4-BE49-F238E27FC236}">
                <a16:creationId xmlns:a16="http://schemas.microsoft.com/office/drawing/2014/main" id="{438060FF-42B3-461E-B1D6-D584FB22774A}"/>
              </a:ext>
            </a:extLst>
          </p:cNvPr>
          <p:cNvSpPr>
            <a:spLocks noGrp="1"/>
          </p:cNvSpPr>
          <p:nvPr>
            <p:ph idx="1"/>
          </p:nvPr>
        </p:nvSpPr>
        <p:spPr>
          <a:xfrm>
            <a:off x="628650" y="1264671"/>
            <a:ext cx="10934700" cy="5063558"/>
          </a:xfrm>
        </p:spPr>
        <p:txBody>
          <a:bodyPr>
            <a:normAutofit fontScale="92500" lnSpcReduction="10000"/>
          </a:bodyPr>
          <a:lstStyle/>
          <a:p>
            <a:pPr marL="457200" lvl="1" indent="0">
              <a:buNone/>
            </a:pPr>
            <a:endParaRPr lang="en-US" sz="1600" dirty="0"/>
          </a:p>
          <a:p>
            <a:r>
              <a:rPr lang="en-US" sz="2200" dirty="0"/>
              <a:t>50% “CGT discount” generally applies to individuals or trusts that sell CGT assets after an ownership period of 12 months or more.</a:t>
            </a:r>
          </a:p>
          <a:p>
            <a:r>
              <a:rPr lang="en-US" sz="2200" dirty="0"/>
              <a:t>Prior to May 2012:</a:t>
            </a:r>
          </a:p>
          <a:p>
            <a:pPr lvl="1"/>
            <a:r>
              <a:rPr lang="en-US" sz="1800" dirty="0"/>
              <a:t>this was both fully available to Australian tax residents and foreign tax residents.</a:t>
            </a:r>
          </a:p>
          <a:p>
            <a:r>
              <a:rPr lang="en-US" sz="2200" dirty="0"/>
              <a:t>Post May 2012:</a:t>
            </a:r>
          </a:p>
          <a:p>
            <a:pPr lvl="1"/>
            <a:r>
              <a:rPr lang="en-US" sz="1800" dirty="0"/>
              <a:t> it is only available to Australian tax residents who are not also temporary residents</a:t>
            </a:r>
          </a:p>
          <a:p>
            <a:pPr lvl="1"/>
            <a:endParaRPr lang="en-US" sz="1800" dirty="0"/>
          </a:p>
          <a:p>
            <a:r>
              <a:rPr lang="en-US" sz="2000" dirty="0"/>
              <a:t>Apportionment relief applies for:</a:t>
            </a:r>
          </a:p>
          <a:p>
            <a:pPr lvl="1"/>
            <a:r>
              <a:rPr lang="en-US" sz="2000" dirty="0"/>
              <a:t>component of discount gain that accrued up to May 2012 for assets held since before that date.</a:t>
            </a:r>
          </a:p>
          <a:p>
            <a:pPr lvl="1"/>
            <a:r>
              <a:rPr lang="en-US" sz="2000" dirty="0"/>
              <a:t>periods of Australian tax residency post May 2012 </a:t>
            </a:r>
          </a:p>
          <a:p>
            <a:pPr lvl="1"/>
            <a:endParaRPr lang="en-US" sz="2000" dirty="0"/>
          </a:p>
          <a:p>
            <a:r>
              <a:rPr lang="en-US" sz="2400" dirty="0"/>
              <a:t>Beneficiaries who inherit post –CGT property are deemed to have acquired the property from the time the deceased originally acquired it for the purpose of the 12 –month holding rule.</a:t>
            </a:r>
          </a:p>
          <a:p>
            <a:pPr lvl="1"/>
            <a:endParaRPr lang="en-US" sz="2000" dirty="0"/>
          </a:p>
          <a:p>
            <a:pPr marL="457200" lvl="1" indent="0">
              <a:buNone/>
            </a:pPr>
            <a:endParaRPr lang="en-US" sz="2000" dirty="0"/>
          </a:p>
          <a:p>
            <a:pPr marL="457200" lvl="1" indent="0">
              <a:buNone/>
            </a:pPr>
            <a:endParaRPr lang="en-US" sz="1600" dirty="0"/>
          </a:p>
        </p:txBody>
      </p:sp>
      <p:sp>
        <p:nvSpPr>
          <p:cNvPr id="4" name="Title 3">
            <a:extLst>
              <a:ext uri="{FF2B5EF4-FFF2-40B4-BE49-F238E27FC236}">
                <a16:creationId xmlns:a16="http://schemas.microsoft.com/office/drawing/2014/main" id="{2E3FF8C0-E639-4F69-898D-3B8BB48CED48}"/>
              </a:ext>
            </a:extLst>
          </p:cNvPr>
          <p:cNvSpPr>
            <a:spLocks noGrp="1"/>
          </p:cNvSpPr>
          <p:nvPr>
            <p:ph type="title"/>
          </p:nvPr>
        </p:nvSpPr>
        <p:spPr/>
        <p:txBody>
          <a:bodyPr>
            <a:normAutofit/>
          </a:bodyPr>
          <a:lstStyle/>
          <a:p>
            <a:r>
              <a:rPr lang="en-US" dirty="0"/>
              <a:t>CGT Discount </a:t>
            </a:r>
            <a:endParaRPr lang="en-AU" dirty="0"/>
          </a:p>
        </p:txBody>
      </p:sp>
    </p:spTree>
    <p:extLst>
      <p:ext uri="{BB962C8B-B14F-4D97-AF65-F5344CB8AC3E}">
        <p14:creationId xmlns:p14="http://schemas.microsoft.com/office/powerpoint/2010/main" val="113643292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ontent Placeholder 4">
            <a:extLst>
              <a:ext uri="{FF2B5EF4-FFF2-40B4-BE49-F238E27FC236}">
                <a16:creationId xmlns:a16="http://schemas.microsoft.com/office/drawing/2014/main" id="{438060FF-42B3-461E-B1D6-D584FB22774A}"/>
              </a:ext>
            </a:extLst>
          </p:cNvPr>
          <p:cNvSpPr>
            <a:spLocks noGrp="1"/>
          </p:cNvSpPr>
          <p:nvPr>
            <p:ph idx="1"/>
          </p:nvPr>
        </p:nvSpPr>
        <p:spPr>
          <a:xfrm>
            <a:off x="628650" y="1264670"/>
            <a:ext cx="10934700" cy="4963851"/>
          </a:xfrm>
        </p:spPr>
        <p:txBody>
          <a:bodyPr>
            <a:normAutofit fontScale="92500" lnSpcReduction="10000"/>
          </a:bodyPr>
          <a:lstStyle/>
          <a:p>
            <a:pPr marL="457200" lvl="1" indent="0">
              <a:buNone/>
            </a:pPr>
            <a:endParaRPr lang="en-US" sz="1600" dirty="0"/>
          </a:p>
          <a:p>
            <a:pPr marL="457200" lvl="1" indent="0">
              <a:buNone/>
            </a:pPr>
            <a:endParaRPr lang="en-US" sz="2300" i="1" dirty="0"/>
          </a:p>
          <a:p>
            <a:endParaRPr lang="en-US" sz="2000" dirty="0"/>
          </a:p>
          <a:p>
            <a:pPr marL="0" indent="0">
              <a:buNone/>
            </a:pPr>
            <a:endParaRPr lang="en-US" sz="2000" dirty="0"/>
          </a:p>
          <a:p>
            <a:pPr marL="0" algn="l" rtl="0" eaLnBrk="1" fontAlgn="t" latinLnBrk="0" hangingPunct="1">
              <a:spcBef>
                <a:spcPts val="0"/>
              </a:spcBef>
              <a:spcAft>
                <a:spcPts val="0"/>
              </a:spcAft>
            </a:pPr>
            <a:r>
              <a:rPr lang="en-US" sz="1800" b="1" i="0" u="sng" strike="noStrike" kern="1200" dirty="0">
                <a:solidFill>
                  <a:srgbClr val="F2F5F6"/>
                </a:solidFill>
                <a:effectLst/>
                <a:latin typeface="Arial" panose="020B0604020202020204" pitchFamily="34" charset="0"/>
              </a:rPr>
              <a:t>Example:</a:t>
            </a:r>
            <a:endParaRPr lang="en-AU" sz="1800" b="0" i="0" u="none" strike="noStrike" dirty="0">
              <a:effectLst/>
              <a:latin typeface="Arial" panose="020B0604020202020204" pitchFamily="34" charset="0"/>
            </a:endParaRPr>
          </a:p>
          <a:p>
            <a:pPr marL="0" algn="l" rtl="0" eaLnBrk="1" fontAlgn="t" latinLnBrk="0" hangingPunct="1">
              <a:spcBef>
                <a:spcPts val="0"/>
              </a:spcBef>
              <a:spcAft>
                <a:spcPts val="0"/>
              </a:spcAft>
            </a:pPr>
            <a:r>
              <a:rPr lang="en-AU" sz="1800" b="1" i="0" u="none" strike="noStrike" kern="1200" dirty="0">
                <a:solidFill>
                  <a:srgbClr val="F2F5F6"/>
                </a:solidFill>
                <a:effectLst/>
                <a:latin typeface="Arial" panose="020B0604020202020204" pitchFamily="34" charset="0"/>
              </a:rPr>
              <a:t>The Green &amp; Gold Trust is an Australian resident discretionary trust for CGT purposes that invests in Australian listed shares.  In 2024 it makes a $100,000 capital gain on the sale of part of its share portfolio.  The trustee resolves to make Peter who lives in NZ and is not an Australian tax resident entitled to the capital gains income.  </a:t>
            </a:r>
            <a:endParaRPr lang="en-AU" sz="1800" b="0" i="0" u="none" strike="noStrike" dirty="0">
              <a:effectLst/>
              <a:latin typeface="Arial" panose="020B0604020202020204" pitchFamily="34" charset="0"/>
            </a:endParaRPr>
          </a:p>
          <a:p>
            <a:pPr marL="0" algn="l" rtl="0" eaLnBrk="1" fontAlgn="t" latinLnBrk="0" hangingPunct="1">
              <a:spcBef>
                <a:spcPts val="0"/>
              </a:spcBef>
              <a:spcAft>
                <a:spcPts val="0"/>
              </a:spcAft>
            </a:pPr>
            <a:r>
              <a:rPr lang="en-US" sz="1800" b="1" i="0" u="sng" strike="noStrike" kern="1200" dirty="0">
                <a:solidFill>
                  <a:srgbClr val="F2F5F6"/>
                </a:solidFill>
                <a:effectLst/>
                <a:latin typeface="Arial" panose="020B0604020202020204" pitchFamily="34" charset="0"/>
              </a:rPr>
              <a:t>Example:</a:t>
            </a:r>
            <a:endParaRPr lang="en-AU" sz="1800" b="0" i="0" u="none" strike="noStrike" dirty="0">
              <a:effectLst/>
              <a:latin typeface="Arial" panose="020B0604020202020204" pitchFamily="34" charset="0"/>
            </a:endParaRPr>
          </a:p>
          <a:p>
            <a:pPr marL="0" algn="l" rtl="0" eaLnBrk="1" fontAlgn="t" latinLnBrk="0" hangingPunct="1">
              <a:spcBef>
                <a:spcPts val="0"/>
              </a:spcBef>
              <a:spcAft>
                <a:spcPts val="0"/>
              </a:spcAft>
            </a:pPr>
            <a:r>
              <a:rPr lang="en-AU" sz="1800" b="1" i="0" u="none" strike="noStrike" kern="1200" dirty="0">
                <a:solidFill>
                  <a:srgbClr val="F2F5F6"/>
                </a:solidFill>
                <a:effectLst/>
                <a:latin typeface="Arial" panose="020B0604020202020204" pitchFamily="34" charset="0"/>
              </a:rPr>
              <a:t>The Green &amp; Gold Trust is an Australian resident discretionary trust for CGT purposes that invests in Australian listed shares.  In 2024 it makes a $100,000 capital gain on the sale of part of its share portfolio.  The trustee resolves to make Peter who lives in NZ and is not an Australian tax resident entitled to the capital gains income.  </a:t>
            </a:r>
            <a:endParaRPr lang="en-AU" sz="1800" b="0" i="0" u="none" strike="noStrike" dirty="0">
              <a:effectLst/>
              <a:latin typeface="Arial" panose="020B0604020202020204" pitchFamily="34" charset="0"/>
            </a:endParaRPr>
          </a:p>
          <a:p>
            <a:pPr marL="0" algn="l" rtl="0" eaLnBrk="1" fontAlgn="t" latinLnBrk="0" hangingPunct="1">
              <a:spcBef>
                <a:spcPts val="0"/>
              </a:spcBef>
              <a:spcAft>
                <a:spcPts val="0"/>
              </a:spcAft>
            </a:pPr>
            <a:r>
              <a:rPr lang="en-AU" sz="1800" b="1" i="0" u="none" strike="noStrike" kern="1200" dirty="0">
                <a:solidFill>
                  <a:srgbClr val="F2F5F6"/>
                </a:solidFill>
                <a:effectLst/>
                <a:latin typeface="Arial" panose="020B0604020202020204" pitchFamily="34" charset="0"/>
              </a:rPr>
              <a:t>Peter is subject to Australian CGT on the full amount of the capital gain.</a:t>
            </a:r>
            <a:endParaRPr lang="en-AU" sz="1800" b="0" i="0" u="none" strike="noStrike" dirty="0">
              <a:effectLst/>
              <a:latin typeface="Arial" panose="020B0604020202020204" pitchFamily="34" charset="0"/>
            </a:endParaRPr>
          </a:p>
          <a:p>
            <a:pPr marL="0" algn="l" rtl="0" eaLnBrk="1" fontAlgn="t" latinLnBrk="0" hangingPunct="1">
              <a:spcBef>
                <a:spcPts val="0"/>
              </a:spcBef>
              <a:spcAft>
                <a:spcPts val="0"/>
              </a:spcAft>
            </a:pPr>
            <a:r>
              <a:rPr lang="en-AU" sz="1800" b="1" i="1" u="none" strike="noStrike" kern="1200" dirty="0">
                <a:solidFill>
                  <a:srgbClr val="F2F5F6"/>
                </a:solidFill>
                <a:effectLst/>
                <a:latin typeface="Arial" panose="020B0604020202020204" pitchFamily="34" charset="0"/>
              </a:rPr>
              <a:t>e result would be different if Peter owned the shares directly, or the trust foreign trust for CGT purposes, or was a fixed trust.</a:t>
            </a:r>
            <a:endParaRPr lang="en-AU" sz="1800" b="0" i="0" u="none" strike="noStrike" dirty="0">
              <a:effectLst/>
              <a:latin typeface="Arial" panose="020B0604020202020204" pitchFamily="34" charset="0"/>
            </a:endParaRPr>
          </a:p>
          <a:p>
            <a:pPr marL="0" algn="l" rtl="0" eaLnBrk="1" fontAlgn="t" latinLnBrk="0" hangingPunct="1">
              <a:spcBef>
                <a:spcPts val="0"/>
              </a:spcBef>
              <a:spcAft>
                <a:spcPts val="0"/>
              </a:spcAft>
            </a:pPr>
            <a:r>
              <a:rPr lang="en-AU" sz="1800" b="1" i="0" u="none" strike="noStrike" kern="1200" dirty="0">
                <a:solidFill>
                  <a:srgbClr val="F2F5F6"/>
                </a:solidFill>
                <a:effectLst/>
                <a:latin typeface="Arial" panose="020B0604020202020204" pitchFamily="34" charset="0"/>
              </a:rPr>
              <a:t>Peter is subject to Australian CGT on the full amount of the capital gain.</a:t>
            </a:r>
            <a:endParaRPr lang="en-AU" sz="1800" b="0" i="0" u="none" strike="noStrike" dirty="0">
              <a:effectLst/>
              <a:latin typeface="Arial" panose="020B0604020202020204" pitchFamily="34" charset="0"/>
            </a:endParaRPr>
          </a:p>
          <a:p>
            <a:pPr marL="0" algn="l" rtl="0" eaLnBrk="1" fontAlgn="t" latinLnBrk="0" hangingPunct="1">
              <a:spcBef>
                <a:spcPts val="0"/>
              </a:spcBef>
              <a:spcAft>
                <a:spcPts val="0"/>
              </a:spcAft>
            </a:pPr>
            <a:r>
              <a:rPr lang="en-AU" sz="1800" b="1" i="1" u="none" strike="noStrike" kern="1200" dirty="0">
                <a:solidFill>
                  <a:srgbClr val="F2F5F6"/>
                </a:solidFill>
                <a:effectLst/>
                <a:latin typeface="Arial" panose="020B0604020202020204" pitchFamily="34" charset="0"/>
              </a:rPr>
              <a:t>Note: the result would be different if Peter owned the shares directly, or the trust foreign trust for CGT purposes, or was a fixed trust.</a:t>
            </a:r>
            <a:endParaRPr lang="en-AU" sz="1800" b="0" i="0" u="none" strike="noStrike" dirty="0">
              <a:effectLst/>
              <a:latin typeface="Arial" panose="020B0604020202020204" pitchFamily="34" charset="0"/>
            </a:endParaRPr>
          </a:p>
          <a:p>
            <a:endParaRPr lang="en-US" sz="2000" dirty="0"/>
          </a:p>
          <a:p>
            <a:endParaRPr lang="en-US" sz="1600" dirty="0"/>
          </a:p>
          <a:p>
            <a:pPr lvl="1"/>
            <a:endParaRPr lang="en-US" sz="1600" dirty="0"/>
          </a:p>
        </p:txBody>
      </p:sp>
      <p:sp>
        <p:nvSpPr>
          <p:cNvPr id="4" name="Title 3">
            <a:extLst>
              <a:ext uri="{FF2B5EF4-FFF2-40B4-BE49-F238E27FC236}">
                <a16:creationId xmlns:a16="http://schemas.microsoft.com/office/drawing/2014/main" id="{2E3FF8C0-E639-4F69-898D-3B8BB48CED48}"/>
              </a:ext>
            </a:extLst>
          </p:cNvPr>
          <p:cNvSpPr>
            <a:spLocks noGrp="1"/>
          </p:cNvSpPr>
          <p:nvPr>
            <p:ph type="title"/>
          </p:nvPr>
        </p:nvSpPr>
        <p:spPr>
          <a:xfrm>
            <a:off x="628650" y="391305"/>
            <a:ext cx="10934700" cy="885628"/>
          </a:xfrm>
        </p:spPr>
        <p:txBody>
          <a:bodyPr>
            <a:noAutofit/>
          </a:bodyPr>
          <a:lstStyle/>
          <a:p>
            <a:r>
              <a:rPr lang="en-US" dirty="0"/>
              <a:t>Case Study   - NZ inheritance </a:t>
            </a:r>
            <a:endParaRPr lang="en-AU" dirty="0"/>
          </a:p>
        </p:txBody>
      </p:sp>
      <p:sp>
        <p:nvSpPr>
          <p:cNvPr id="2" name="TextBox 1">
            <a:extLst>
              <a:ext uri="{FF2B5EF4-FFF2-40B4-BE49-F238E27FC236}">
                <a16:creationId xmlns:a16="http://schemas.microsoft.com/office/drawing/2014/main" id="{6ABC65E6-212D-CF71-47D5-4A5A097A0802}"/>
              </a:ext>
            </a:extLst>
          </p:cNvPr>
          <p:cNvSpPr txBox="1"/>
          <p:nvPr/>
        </p:nvSpPr>
        <p:spPr>
          <a:xfrm>
            <a:off x="538480" y="834119"/>
            <a:ext cx="11724640" cy="7755969"/>
          </a:xfrm>
          <a:prstGeom prst="rect">
            <a:avLst/>
          </a:prstGeom>
          <a:noFill/>
        </p:spPr>
        <p:txBody>
          <a:bodyPr wrap="square">
            <a:spAutoFit/>
          </a:bodyPr>
          <a:lstStyle/>
          <a:p>
            <a:endParaRPr lang="en-US" u="sng" dirty="0"/>
          </a:p>
          <a:p>
            <a:r>
              <a:rPr lang="en-AU" b="1" i="1" dirty="0"/>
              <a:t>Facts: </a:t>
            </a:r>
          </a:p>
          <a:p>
            <a:endParaRPr lang="en-AU" sz="1600" i="1" dirty="0"/>
          </a:p>
          <a:p>
            <a:pPr marL="285750" indent="-285750">
              <a:buFont typeface="Arial" panose="020B0604020202020204" pitchFamily="34" charset="0"/>
              <a:buChar char="•"/>
            </a:pPr>
            <a:r>
              <a:rPr lang="en-AU" i="1" dirty="0"/>
              <a:t>“Dad” was a citizen and tax resident of NZ</a:t>
            </a:r>
          </a:p>
          <a:p>
            <a:pPr marL="285750" indent="-285750">
              <a:buFont typeface="Arial" panose="020B0604020202020204" pitchFamily="34" charset="0"/>
              <a:buChar char="•"/>
            </a:pPr>
            <a:endParaRPr lang="en-AU" i="1" dirty="0"/>
          </a:p>
          <a:p>
            <a:pPr marL="285750" indent="-285750">
              <a:buFont typeface="Arial" panose="020B0604020202020204" pitchFamily="34" charset="0"/>
              <a:buChar char="•"/>
            </a:pPr>
            <a:r>
              <a:rPr lang="en-AU" i="1" dirty="0"/>
              <a:t>He passed away in 2024 age 90</a:t>
            </a:r>
          </a:p>
          <a:p>
            <a:endParaRPr lang="en-AU" i="1" dirty="0"/>
          </a:p>
          <a:p>
            <a:pPr marL="285750" indent="-285750">
              <a:buFont typeface="Arial" panose="020B0604020202020204" pitchFamily="34" charset="0"/>
              <a:buChar char="•"/>
            </a:pPr>
            <a:r>
              <a:rPr lang="en-AU" i="1" dirty="0"/>
              <a:t>At the time of his passing his assets included :</a:t>
            </a:r>
          </a:p>
          <a:p>
            <a:pPr marL="742950" lvl="1" indent="-285750">
              <a:buFont typeface="Arial" panose="020B0604020202020204" pitchFamily="34" charset="0"/>
              <a:buChar char="•"/>
            </a:pPr>
            <a:r>
              <a:rPr lang="en-AU" i="1" dirty="0"/>
              <a:t>2 rental properties  -  one is Australia, one in NZ   (both “post –CGT”)</a:t>
            </a:r>
          </a:p>
          <a:p>
            <a:pPr marL="742950" lvl="1" indent="-285750">
              <a:buFont typeface="Arial" panose="020B0604020202020204" pitchFamily="34" charset="0"/>
              <a:buChar char="•"/>
            </a:pPr>
            <a:r>
              <a:rPr lang="en-AU" i="1" dirty="0"/>
              <a:t>A listed share portfolio</a:t>
            </a:r>
          </a:p>
          <a:p>
            <a:pPr lvl="1"/>
            <a:endParaRPr lang="en-AU" i="1" dirty="0"/>
          </a:p>
          <a:p>
            <a:pPr marL="285750" indent="-285750">
              <a:buFont typeface="Arial" panose="020B0604020202020204" pitchFamily="34" charset="0"/>
              <a:buChar char="•"/>
            </a:pPr>
            <a:r>
              <a:rPr lang="en-AU" i="1" dirty="0"/>
              <a:t>Under the terms of his will he left a 1/3</a:t>
            </a:r>
            <a:r>
              <a:rPr lang="en-AU" i="1" baseline="30000" dirty="0"/>
              <a:t>rd</a:t>
            </a:r>
            <a:r>
              <a:rPr lang="en-AU" i="1" dirty="0"/>
              <a:t> interest in each of these assets to his 3 adult children:</a:t>
            </a:r>
          </a:p>
          <a:p>
            <a:pPr marL="285750" indent="-285750">
              <a:buFont typeface="Arial" panose="020B0604020202020204" pitchFamily="34" charset="0"/>
              <a:buChar char="•"/>
            </a:pPr>
            <a:endParaRPr lang="en-AU" i="1" dirty="0"/>
          </a:p>
          <a:p>
            <a:pPr marL="742950" lvl="1" indent="-285750">
              <a:buFont typeface="Arial" panose="020B0604020202020204" pitchFamily="34" charset="0"/>
              <a:buChar char="•"/>
            </a:pPr>
            <a:r>
              <a:rPr lang="en-AU" b="1" i="1" dirty="0"/>
              <a:t>Barry </a:t>
            </a:r>
            <a:r>
              <a:rPr lang="en-AU" i="1" dirty="0"/>
              <a:t> - has lived in Australia for 20 years and is married to an Australian citizen.  He is a tax resident of Australia but does </a:t>
            </a:r>
            <a:r>
              <a:rPr lang="en-AU" i="1" u="sng" dirty="0"/>
              <a:t>not</a:t>
            </a:r>
            <a:r>
              <a:rPr lang="en-AU" i="1" dirty="0"/>
              <a:t> qualify as a temporary resident of Australia.</a:t>
            </a:r>
          </a:p>
          <a:p>
            <a:pPr marL="742950" lvl="1" indent="-285750">
              <a:buFont typeface="Arial" panose="020B0604020202020204" pitchFamily="34" charset="0"/>
              <a:buChar char="•"/>
            </a:pPr>
            <a:endParaRPr lang="en-AU" i="1" dirty="0"/>
          </a:p>
          <a:p>
            <a:pPr marL="742950" lvl="1" indent="-285750">
              <a:buFont typeface="Arial" panose="020B0604020202020204" pitchFamily="34" charset="0"/>
              <a:buChar char="•"/>
            </a:pPr>
            <a:r>
              <a:rPr lang="en-AU" b="1" i="1" dirty="0"/>
              <a:t>John</a:t>
            </a:r>
            <a:r>
              <a:rPr lang="en-AU" i="1" dirty="0"/>
              <a:t>-  has lived in NZ until recently, but has recently permanently moved to Australia. He is a tax resident of Australia, but also qualifies as temporary resident</a:t>
            </a:r>
          </a:p>
          <a:p>
            <a:pPr lvl="1"/>
            <a:endParaRPr lang="en-AU" i="1" dirty="0"/>
          </a:p>
          <a:p>
            <a:pPr marL="742950" lvl="1" indent="-285750">
              <a:buFont typeface="Arial" panose="020B0604020202020204" pitchFamily="34" charset="0"/>
              <a:buChar char="•"/>
            </a:pPr>
            <a:r>
              <a:rPr lang="en-AU" b="1" i="1" dirty="0"/>
              <a:t>Mary-</a:t>
            </a:r>
            <a:r>
              <a:rPr lang="en-AU" i="1" dirty="0"/>
              <a:t>  lives in NZ. She is not a tax resident of Australia.</a:t>
            </a:r>
          </a:p>
          <a:p>
            <a:pPr lvl="1"/>
            <a:endParaRPr lang="en-AU" sz="1600" i="1" dirty="0"/>
          </a:p>
          <a:p>
            <a:endParaRPr lang="en-AU" sz="1600" i="1" dirty="0"/>
          </a:p>
          <a:p>
            <a:endParaRPr lang="en-AU" dirty="0"/>
          </a:p>
          <a:p>
            <a:endParaRPr lang="en-AU" dirty="0"/>
          </a:p>
          <a:p>
            <a:endParaRPr lang="en-AU" i="1" dirty="0"/>
          </a:p>
          <a:p>
            <a:endParaRPr lang="en-AU" i="1" dirty="0"/>
          </a:p>
          <a:p>
            <a:endParaRPr lang="en-AU" i="1" dirty="0"/>
          </a:p>
          <a:p>
            <a:endParaRPr lang="en-AU" i="1" dirty="0"/>
          </a:p>
        </p:txBody>
      </p:sp>
    </p:spTree>
    <p:extLst>
      <p:ext uri="{BB962C8B-B14F-4D97-AF65-F5344CB8AC3E}">
        <p14:creationId xmlns:p14="http://schemas.microsoft.com/office/powerpoint/2010/main" val="169380831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ontent Placeholder 4">
            <a:extLst>
              <a:ext uri="{FF2B5EF4-FFF2-40B4-BE49-F238E27FC236}">
                <a16:creationId xmlns:a16="http://schemas.microsoft.com/office/drawing/2014/main" id="{438060FF-42B3-461E-B1D6-D584FB22774A}"/>
              </a:ext>
            </a:extLst>
          </p:cNvPr>
          <p:cNvSpPr>
            <a:spLocks noGrp="1"/>
          </p:cNvSpPr>
          <p:nvPr>
            <p:ph idx="1"/>
          </p:nvPr>
        </p:nvSpPr>
        <p:spPr>
          <a:xfrm>
            <a:off x="628650" y="1264670"/>
            <a:ext cx="10934700" cy="4963851"/>
          </a:xfrm>
        </p:spPr>
        <p:txBody>
          <a:bodyPr>
            <a:normAutofit fontScale="92500" lnSpcReduction="10000"/>
          </a:bodyPr>
          <a:lstStyle/>
          <a:p>
            <a:pPr marL="457200" lvl="1" indent="0">
              <a:buNone/>
            </a:pPr>
            <a:endParaRPr lang="en-US" sz="1600" dirty="0"/>
          </a:p>
          <a:p>
            <a:pPr marL="457200" lvl="1" indent="0">
              <a:buNone/>
            </a:pPr>
            <a:endParaRPr lang="en-US" sz="2300" i="1" dirty="0"/>
          </a:p>
          <a:p>
            <a:endParaRPr lang="en-US" sz="2000" dirty="0"/>
          </a:p>
          <a:p>
            <a:pPr marL="0" indent="0">
              <a:buNone/>
            </a:pPr>
            <a:endParaRPr lang="en-US" sz="2000" dirty="0"/>
          </a:p>
          <a:p>
            <a:pPr marL="0" algn="l" rtl="0" eaLnBrk="1" fontAlgn="t" latinLnBrk="0" hangingPunct="1">
              <a:spcBef>
                <a:spcPts val="0"/>
              </a:spcBef>
              <a:spcAft>
                <a:spcPts val="0"/>
              </a:spcAft>
            </a:pPr>
            <a:r>
              <a:rPr lang="en-US" sz="1800" b="1" i="0" u="sng" strike="noStrike" kern="1200" dirty="0">
                <a:solidFill>
                  <a:srgbClr val="F2F5F6"/>
                </a:solidFill>
                <a:effectLst/>
                <a:latin typeface="Arial" panose="020B0604020202020204" pitchFamily="34" charset="0"/>
              </a:rPr>
              <a:t>Example:</a:t>
            </a:r>
            <a:endParaRPr lang="en-AU" sz="1800" b="0" i="0" u="none" strike="noStrike" dirty="0">
              <a:effectLst/>
              <a:latin typeface="Arial" panose="020B0604020202020204" pitchFamily="34" charset="0"/>
            </a:endParaRPr>
          </a:p>
          <a:p>
            <a:pPr marL="0" algn="l" rtl="0" eaLnBrk="1" fontAlgn="t" latinLnBrk="0" hangingPunct="1">
              <a:spcBef>
                <a:spcPts val="0"/>
              </a:spcBef>
              <a:spcAft>
                <a:spcPts val="0"/>
              </a:spcAft>
            </a:pPr>
            <a:r>
              <a:rPr lang="en-AU" sz="1800" b="1" i="0" u="none" strike="noStrike" kern="1200" dirty="0">
                <a:solidFill>
                  <a:srgbClr val="F2F5F6"/>
                </a:solidFill>
                <a:effectLst/>
                <a:latin typeface="Arial" panose="020B0604020202020204" pitchFamily="34" charset="0"/>
              </a:rPr>
              <a:t>The Green &amp; Gold Trust is an Australian resident discretionary trust for CGT purposes that invests in Australian listed shares.  In 2024 it makes a $100,000 capital gain on the sale of part of its share portfolio.  The trustee resolves to make Peter who lives in NZ and is not an Australian tax resident entitled to the capital gains income.  </a:t>
            </a:r>
            <a:endParaRPr lang="en-AU" sz="1800" b="0" i="0" u="none" strike="noStrike" dirty="0">
              <a:effectLst/>
              <a:latin typeface="Arial" panose="020B0604020202020204" pitchFamily="34" charset="0"/>
            </a:endParaRPr>
          </a:p>
          <a:p>
            <a:pPr marL="0" algn="l" rtl="0" eaLnBrk="1" fontAlgn="t" latinLnBrk="0" hangingPunct="1">
              <a:spcBef>
                <a:spcPts val="0"/>
              </a:spcBef>
              <a:spcAft>
                <a:spcPts val="0"/>
              </a:spcAft>
            </a:pPr>
            <a:r>
              <a:rPr lang="en-US" sz="1800" b="1" i="0" u="sng" strike="noStrike" kern="1200" dirty="0">
                <a:solidFill>
                  <a:srgbClr val="F2F5F6"/>
                </a:solidFill>
                <a:effectLst/>
                <a:latin typeface="Arial" panose="020B0604020202020204" pitchFamily="34" charset="0"/>
              </a:rPr>
              <a:t>Example:</a:t>
            </a:r>
            <a:endParaRPr lang="en-AU" sz="1800" b="0" i="0" u="none" strike="noStrike" dirty="0">
              <a:effectLst/>
              <a:latin typeface="Arial" panose="020B0604020202020204" pitchFamily="34" charset="0"/>
            </a:endParaRPr>
          </a:p>
          <a:p>
            <a:pPr marL="0" algn="l" rtl="0" eaLnBrk="1" fontAlgn="t" latinLnBrk="0" hangingPunct="1">
              <a:spcBef>
                <a:spcPts val="0"/>
              </a:spcBef>
              <a:spcAft>
                <a:spcPts val="0"/>
              </a:spcAft>
            </a:pPr>
            <a:r>
              <a:rPr lang="en-AU" sz="1800" b="1" i="0" u="none" strike="noStrike" kern="1200" dirty="0">
                <a:solidFill>
                  <a:srgbClr val="F2F5F6"/>
                </a:solidFill>
                <a:effectLst/>
                <a:latin typeface="Arial" panose="020B0604020202020204" pitchFamily="34" charset="0"/>
              </a:rPr>
              <a:t>The Green &amp; Gold Trust is an Australian resident discretionary trust for CGT purposes that invests in Australian listed shares.  In 2024 it makes a $100,000 capital gain on the sale of part of its share portfolio.  The trustee resolves to make Peter who lives in NZ and is not an Australian tax resident entitled to the capital gains income.  </a:t>
            </a:r>
            <a:endParaRPr lang="en-AU" sz="1800" b="0" i="0" u="none" strike="noStrike" dirty="0">
              <a:effectLst/>
              <a:latin typeface="Arial" panose="020B0604020202020204" pitchFamily="34" charset="0"/>
            </a:endParaRPr>
          </a:p>
          <a:p>
            <a:pPr marL="0" algn="l" rtl="0" eaLnBrk="1" fontAlgn="t" latinLnBrk="0" hangingPunct="1">
              <a:spcBef>
                <a:spcPts val="0"/>
              </a:spcBef>
              <a:spcAft>
                <a:spcPts val="0"/>
              </a:spcAft>
            </a:pPr>
            <a:r>
              <a:rPr lang="en-AU" sz="1800" b="1" i="0" u="none" strike="noStrike" kern="1200" dirty="0">
                <a:solidFill>
                  <a:srgbClr val="F2F5F6"/>
                </a:solidFill>
                <a:effectLst/>
                <a:latin typeface="Arial" panose="020B0604020202020204" pitchFamily="34" charset="0"/>
              </a:rPr>
              <a:t>Peter is subject to Australian CGT on the full amount of the capital gain.</a:t>
            </a:r>
            <a:endParaRPr lang="en-AU" sz="1800" b="0" i="0" u="none" strike="noStrike" dirty="0">
              <a:effectLst/>
              <a:latin typeface="Arial" panose="020B0604020202020204" pitchFamily="34" charset="0"/>
            </a:endParaRPr>
          </a:p>
          <a:p>
            <a:pPr marL="0" algn="l" rtl="0" eaLnBrk="1" fontAlgn="t" latinLnBrk="0" hangingPunct="1">
              <a:spcBef>
                <a:spcPts val="0"/>
              </a:spcBef>
              <a:spcAft>
                <a:spcPts val="0"/>
              </a:spcAft>
            </a:pPr>
            <a:r>
              <a:rPr lang="en-AU" sz="1800" b="1" i="1" u="none" strike="noStrike" kern="1200" dirty="0">
                <a:solidFill>
                  <a:srgbClr val="F2F5F6"/>
                </a:solidFill>
                <a:effectLst/>
                <a:latin typeface="Arial" panose="020B0604020202020204" pitchFamily="34" charset="0"/>
              </a:rPr>
              <a:t>e result would be different if Peter owned the shares directly, or the trust foreign trust for CGT purposes, or was a fixed trust.</a:t>
            </a:r>
            <a:endParaRPr lang="en-AU" sz="1800" b="0" i="0" u="none" strike="noStrike" dirty="0">
              <a:effectLst/>
              <a:latin typeface="Arial" panose="020B0604020202020204" pitchFamily="34" charset="0"/>
            </a:endParaRPr>
          </a:p>
          <a:p>
            <a:pPr marL="0" algn="l" rtl="0" eaLnBrk="1" fontAlgn="t" latinLnBrk="0" hangingPunct="1">
              <a:spcBef>
                <a:spcPts val="0"/>
              </a:spcBef>
              <a:spcAft>
                <a:spcPts val="0"/>
              </a:spcAft>
            </a:pPr>
            <a:r>
              <a:rPr lang="en-AU" sz="1800" b="1" i="0" u="none" strike="noStrike" kern="1200" dirty="0">
                <a:solidFill>
                  <a:srgbClr val="F2F5F6"/>
                </a:solidFill>
                <a:effectLst/>
                <a:latin typeface="Arial" panose="020B0604020202020204" pitchFamily="34" charset="0"/>
              </a:rPr>
              <a:t>Peter is subject to Australian CGT on the full amount of the capital gain.</a:t>
            </a:r>
            <a:endParaRPr lang="en-AU" sz="1800" b="0" i="0" u="none" strike="noStrike" dirty="0">
              <a:effectLst/>
              <a:latin typeface="Arial" panose="020B0604020202020204" pitchFamily="34" charset="0"/>
            </a:endParaRPr>
          </a:p>
          <a:p>
            <a:pPr marL="0" algn="l" rtl="0" eaLnBrk="1" fontAlgn="t" latinLnBrk="0" hangingPunct="1">
              <a:spcBef>
                <a:spcPts val="0"/>
              </a:spcBef>
              <a:spcAft>
                <a:spcPts val="0"/>
              </a:spcAft>
            </a:pPr>
            <a:r>
              <a:rPr lang="en-AU" sz="1800" b="1" i="1" u="none" strike="noStrike" kern="1200" dirty="0">
                <a:solidFill>
                  <a:srgbClr val="F2F5F6"/>
                </a:solidFill>
                <a:effectLst/>
                <a:latin typeface="Arial" panose="020B0604020202020204" pitchFamily="34" charset="0"/>
              </a:rPr>
              <a:t>Note: the result would be different if Peter owned the shares directly, or the trust foreign trust for CGT purposes, or was a fixed trust.</a:t>
            </a:r>
            <a:endParaRPr lang="en-AU" sz="1800" b="0" i="0" u="none" strike="noStrike" dirty="0">
              <a:effectLst/>
              <a:latin typeface="Arial" panose="020B0604020202020204" pitchFamily="34" charset="0"/>
            </a:endParaRPr>
          </a:p>
          <a:p>
            <a:endParaRPr lang="en-US" sz="2000" dirty="0"/>
          </a:p>
          <a:p>
            <a:endParaRPr lang="en-US" sz="1600" dirty="0"/>
          </a:p>
          <a:p>
            <a:pPr lvl="1"/>
            <a:endParaRPr lang="en-US" sz="1600" dirty="0"/>
          </a:p>
        </p:txBody>
      </p:sp>
      <p:sp>
        <p:nvSpPr>
          <p:cNvPr id="4" name="Title 3">
            <a:extLst>
              <a:ext uri="{FF2B5EF4-FFF2-40B4-BE49-F238E27FC236}">
                <a16:creationId xmlns:a16="http://schemas.microsoft.com/office/drawing/2014/main" id="{2E3FF8C0-E639-4F69-898D-3B8BB48CED48}"/>
              </a:ext>
            </a:extLst>
          </p:cNvPr>
          <p:cNvSpPr>
            <a:spLocks noGrp="1"/>
          </p:cNvSpPr>
          <p:nvPr>
            <p:ph type="title"/>
          </p:nvPr>
        </p:nvSpPr>
        <p:spPr>
          <a:xfrm>
            <a:off x="628650" y="391305"/>
            <a:ext cx="10934700" cy="885628"/>
          </a:xfrm>
        </p:spPr>
        <p:txBody>
          <a:bodyPr>
            <a:noAutofit/>
          </a:bodyPr>
          <a:lstStyle/>
          <a:p>
            <a:r>
              <a:rPr lang="en-US" dirty="0"/>
              <a:t>Case Study   - NZ inheritance </a:t>
            </a:r>
            <a:endParaRPr lang="en-AU" dirty="0"/>
          </a:p>
        </p:txBody>
      </p:sp>
      <p:sp>
        <p:nvSpPr>
          <p:cNvPr id="2" name="TextBox 1">
            <a:extLst>
              <a:ext uri="{FF2B5EF4-FFF2-40B4-BE49-F238E27FC236}">
                <a16:creationId xmlns:a16="http://schemas.microsoft.com/office/drawing/2014/main" id="{6ABC65E6-212D-CF71-47D5-4A5A097A0802}"/>
              </a:ext>
            </a:extLst>
          </p:cNvPr>
          <p:cNvSpPr txBox="1"/>
          <p:nvPr/>
        </p:nvSpPr>
        <p:spPr>
          <a:xfrm>
            <a:off x="628650" y="579409"/>
            <a:ext cx="11724640" cy="3447098"/>
          </a:xfrm>
          <a:prstGeom prst="rect">
            <a:avLst/>
          </a:prstGeom>
          <a:noFill/>
        </p:spPr>
        <p:txBody>
          <a:bodyPr wrap="square">
            <a:spAutoFit/>
          </a:bodyPr>
          <a:lstStyle/>
          <a:p>
            <a:endParaRPr lang="en-US" u="sng" dirty="0"/>
          </a:p>
          <a:p>
            <a:r>
              <a:rPr lang="en-AU" sz="2000" b="1" i="1" dirty="0"/>
              <a:t>CGT implications to Barry, John, Mary: </a:t>
            </a:r>
          </a:p>
          <a:p>
            <a:endParaRPr lang="en-AU" sz="2000" b="1" i="1" dirty="0"/>
          </a:p>
          <a:p>
            <a:endParaRPr lang="en-AU" sz="2000" b="1" i="1" dirty="0"/>
          </a:p>
          <a:p>
            <a:endParaRPr lang="en-AU" sz="1600" i="1" dirty="0"/>
          </a:p>
          <a:p>
            <a:endParaRPr lang="en-AU" sz="1600" i="1" dirty="0"/>
          </a:p>
          <a:p>
            <a:endParaRPr lang="en-AU" dirty="0"/>
          </a:p>
          <a:p>
            <a:endParaRPr lang="en-AU" dirty="0"/>
          </a:p>
          <a:p>
            <a:endParaRPr lang="en-AU" i="1" dirty="0"/>
          </a:p>
          <a:p>
            <a:endParaRPr lang="en-AU" i="1" dirty="0"/>
          </a:p>
          <a:p>
            <a:endParaRPr lang="en-AU" i="1" dirty="0"/>
          </a:p>
          <a:p>
            <a:endParaRPr lang="en-AU" i="1" dirty="0"/>
          </a:p>
        </p:txBody>
      </p:sp>
      <p:graphicFrame>
        <p:nvGraphicFramePr>
          <p:cNvPr id="6" name="Table 6">
            <a:extLst>
              <a:ext uri="{FF2B5EF4-FFF2-40B4-BE49-F238E27FC236}">
                <a16:creationId xmlns:a16="http://schemas.microsoft.com/office/drawing/2014/main" id="{BEABA5EC-4B98-94D7-7269-E4BD63018D1B}"/>
              </a:ext>
            </a:extLst>
          </p:cNvPr>
          <p:cNvGraphicFramePr>
            <a:graphicFrameLocks noGrp="1"/>
          </p:cNvGraphicFramePr>
          <p:nvPr>
            <p:extLst>
              <p:ext uri="{D42A27DB-BD31-4B8C-83A1-F6EECF244321}">
                <p14:modId xmlns:p14="http://schemas.microsoft.com/office/powerpoint/2010/main" val="422594978"/>
              </p:ext>
            </p:extLst>
          </p:nvPr>
        </p:nvGraphicFramePr>
        <p:xfrm>
          <a:off x="628650" y="1264670"/>
          <a:ext cx="10791191" cy="5389747"/>
        </p:xfrm>
        <a:graphic>
          <a:graphicData uri="http://schemas.openxmlformats.org/drawingml/2006/table">
            <a:tbl>
              <a:tblPr firstRow="1" bandRow="1">
                <a:tableStyleId>{5C22544A-7EE6-4342-B048-85BDC9FD1C3A}</a:tableStyleId>
              </a:tblPr>
              <a:tblGrid>
                <a:gridCol w="1488440">
                  <a:extLst>
                    <a:ext uri="{9D8B030D-6E8A-4147-A177-3AD203B41FA5}">
                      <a16:colId xmlns:a16="http://schemas.microsoft.com/office/drawing/2014/main" val="1654046670"/>
                    </a:ext>
                  </a:extLst>
                </a:gridCol>
                <a:gridCol w="3981994">
                  <a:extLst>
                    <a:ext uri="{9D8B030D-6E8A-4147-A177-3AD203B41FA5}">
                      <a16:colId xmlns:a16="http://schemas.microsoft.com/office/drawing/2014/main" val="2711801073"/>
                    </a:ext>
                  </a:extLst>
                </a:gridCol>
                <a:gridCol w="2622959">
                  <a:extLst>
                    <a:ext uri="{9D8B030D-6E8A-4147-A177-3AD203B41FA5}">
                      <a16:colId xmlns:a16="http://schemas.microsoft.com/office/drawing/2014/main" val="3538420687"/>
                    </a:ext>
                  </a:extLst>
                </a:gridCol>
                <a:gridCol w="2697798">
                  <a:extLst>
                    <a:ext uri="{9D8B030D-6E8A-4147-A177-3AD203B41FA5}">
                      <a16:colId xmlns:a16="http://schemas.microsoft.com/office/drawing/2014/main" val="65440667"/>
                    </a:ext>
                  </a:extLst>
                </a:gridCol>
              </a:tblGrid>
              <a:tr h="516594">
                <a:tc>
                  <a:txBody>
                    <a:bodyPr/>
                    <a:lstStyle/>
                    <a:p>
                      <a:r>
                        <a:rPr lang="en-US" dirty="0"/>
                        <a:t>CGT asset</a:t>
                      </a:r>
                      <a:endParaRPr lang="en-AU" dirty="0"/>
                    </a:p>
                  </a:txBody>
                  <a:tcPr/>
                </a:tc>
                <a:tc>
                  <a:txBody>
                    <a:bodyPr/>
                    <a:lstStyle/>
                    <a:p>
                      <a:r>
                        <a:rPr lang="en-US" dirty="0"/>
                        <a:t>Barry</a:t>
                      </a:r>
                      <a:endParaRPr lang="en-AU" dirty="0"/>
                    </a:p>
                  </a:txBody>
                  <a:tcPr/>
                </a:tc>
                <a:tc>
                  <a:txBody>
                    <a:bodyPr/>
                    <a:lstStyle/>
                    <a:p>
                      <a:r>
                        <a:rPr lang="en-US" dirty="0"/>
                        <a:t>John</a:t>
                      </a:r>
                      <a:endParaRPr lang="en-AU" dirty="0"/>
                    </a:p>
                  </a:txBody>
                  <a:tcPr/>
                </a:tc>
                <a:tc>
                  <a:txBody>
                    <a:bodyPr/>
                    <a:lstStyle/>
                    <a:p>
                      <a:r>
                        <a:rPr lang="en-US" dirty="0"/>
                        <a:t>Mary</a:t>
                      </a:r>
                      <a:endParaRPr lang="en-AU" dirty="0"/>
                    </a:p>
                  </a:txBody>
                  <a:tcPr/>
                </a:tc>
                <a:extLst>
                  <a:ext uri="{0D108BD9-81ED-4DB2-BD59-A6C34878D82A}">
                    <a16:rowId xmlns:a16="http://schemas.microsoft.com/office/drawing/2014/main" val="2762294273"/>
                  </a:ext>
                </a:extLst>
              </a:tr>
              <a:tr h="1890487">
                <a:tc>
                  <a:txBody>
                    <a:bodyPr/>
                    <a:lstStyle/>
                    <a:p>
                      <a:r>
                        <a:rPr lang="en-US" sz="1400" dirty="0"/>
                        <a:t>1/3</a:t>
                      </a:r>
                      <a:r>
                        <a:rPr lang="en-US" sz="1400" baseline="30000" dirty="0"/>
                        <a:t>rd</a:t>
                      </a:r>
                      <a:r>
                        <a:rPr lang="en-US" sz="1400" dirty="0"/>
                        <a:t> interest in Australian rental property</a:t>
                      </a:r>
                      <a:endParaRPr lang="en-AU" sz="1400" dirty="0"/>
                    </a:p>
                  </a:txBody>
                  <a:tcPr/>
                </a:tc>
                <a:tc>
                  <a:txBody>
                    <a:bodyPr/>
                    <a:lstStyle/>
                    <a:p>
                      <a:pPr marL="285750" indent="-285750">
                        <a:buFont typeface="Arial" panose="020B0604020202020204" pitchFamily="34" charset="0"/>
                        <a:buChar char="•"/>
                      </a:pPr>
                      <a:r>
                        <a:rPr lang="en-US" sz="1400" dirty="0"/>
                        <a:t>Barry is deemed to acquire his one third interest on the day Barry died</a:t>
                      </a:r>
                    </a:p>
                    <a:p>
                      <a:pPr marL="0" indent="0">
                        <a:buFont typeface="Arial" panose="020B0604020202020204" pitchFamily="34" charset="0"/>
                        <a:buNone/>
                      </a:pPr>
                      <a:endParaRPr lang="en-US" sz="1400" dirty="0"/>
                    </a:p>
                    <a:p>
                      <a:pPr marL="285750" indent="-285750">
                        <a:buFont typeface="Arial" panose="020B0604020202020204" pitchFamily="34" charset="0"/>
                        <a:buChar char="•"/>
                      </a:pPr>
                      <a:r>
                        <a:rPr lang="en-US" sz="1400" dirty="0"/>
                        <a:t>Any future sale by Barry of his 1/3</a:t>
                      </a:r>
                      <a:r>
                        <a:rPr lang="en-US" sz="1400" baseline="30000" dirty="0"/>
                        <a:t>rd</a:t>
                      </a:r>
                      <a:r>
                        <a:rPr lang="en-US" sz="1400" dirty="0"/>
                        <a:t> interest in subject to CGT.</a:t>
                      </a:r>
                    </a:p>
                    <a:p>
                      <a:pPr marL="285750" indent="-285750">
                        <a:buFont typeface="Arial" panose="020B0604020202020204" pitchFamily="34" charset="0"/>
                        <a:buChar char="•"/>
                      </a:pPr>
                      <a:endParaRPr lang="en-US" sz="1400" dirty="0"/>
                    </a:p>
                    <a:p>
                      <a:pPr marL="285750" indent="-285750">
                        <a:buFont typeface="Arial" panose="020B0604020202020204" pitchFamily="34" charset="0"/>
                        <a:buChar char="•"/>
                      </a:pPr>
                      <a:r>
                        <a:rPr lang="en-US" sz="1400" dirty="0"/>
                        <a:t>Barry may apply the CGT discount on future sale, with the 12-month holding period deemed to have commenced when Dad originally acquired this property.</a:t>
                      </a:r>
                    </a:p>
                    <a:p>
                      <a:pPr marL="0" indent="0">
                        <a:buFont typeface="Arial" panose="020B0604020202020204" pitchFamily="34" charset="0"/>
                        <a:buNone/>
                      </a:pPr>
                      <a:endParaRPr lang="en-US" sz="1400" dirty="0"/>
                    </a:p>
                  </a:txBody>
                  <a:tcPr/>
                </a:tc>
                <a:tc>
                  <a:txBody>
                    <a:bodyPr/>
                    <a:lstStyle/>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400" dirty="0"/>
                        <a:t>As per Barry.   </a:t>
                      </a:r>
                    </a:p>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endParaRPr lang="en-US" sz="1400" dirty="0"/>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400" dirty="0"/>
                        <a:t>Although he is temporary resident, this interest is TAP</a:t>
                      </a:r>
                    </a:p>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endParaRPr lang="en-US" sz="1400" dirty="0"/>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400" dirty="0"/>
                        <a:t>Cannot access the CGT discount on future sale if he remains a temporary resident.</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400"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AU" sz="1400" dirty="0"/>
                    </a:p>
                  </a:txBody>
                  <a:tcPr/>
                </a:tc>
                <a:tc>
                  <a:txBody>
                    <a:bodyPr/>
                    <a:lstStyle/>
                    <a:p>
                      <a:pPr marL="285750" indent="-285750">
                        <a:buFont typeface="Arial" panose="020B0604020202020204" pitchFamily="34" charset="0"/>
                        <a:buChar char="•"/>
                      </a:pPr>
                      <a:r>
                        <a:rPr lang="en-US" sz="1400" dirty="0"/>
                        <a:t>As per Barry and John.</a:t>
                      </a:r>
                    </a:p>
                    <a:p>
                      <a:pPr marL="0" indent="0">
                        <a:buFont typeface="Arial" panose="020B0604020202020204" pitchFamily="34" charset="0"/>
                        <a:buNone/>
                      </a:pPr>
                      <a:endParaRPr lang="en-US" sz="1400" dirty="0"/>
                    </a:p>
                    <a:p>
                      <a:pPr marL="285750" indent="-285750">
                        <a:buFont typeface="Arial" panose="020B0604020202020204" pitchFamily="34" charset="0"/>
                        <a:buChar char="•"/>
                      </a:pPr>
                      <a:r>
                        <a:rPr lang="en-US" sz="1400" dirty="0"/>
                        <a:t>Although she is a foreign resident for Australian tax purposes, this asset is TAP.</a:t>
                      </a:r>
                    </a:p>
                    <a:p>
                      <a:pPr marL="0" indent="0">
                        <a:buFont typeface="Arial" panose="020B0604020202020204" pitchFamily="34" charset="0"/>
                        <a:buNone/>
                      </a:pPr>
                      <a:endParaRPr lang="en-US" sz="1400" dirty="0"/>
                    </a:p>
                    <a:p>
                      <a:pPr marL="285750" indent="-285750">
                        <a:buFont typeface="Arial" panose="020B0604020202020204" pitchFamily="34" charset="0"/>
                        <a:buChar char="•"/>
                      </a:pPr>
                      <a:r>
                        <a:rPr lang="en-US" sz="1400" dirty="0"/>
                        <a:t>Will not be able to access the CGT discount on future sale (provided she remains a foreign resident).</a:t>
                      </a:r>
                      <a:endParaRPr lang="en-AU" sz="1400" dirty="0"/>
                    </a:p>
                  </a:txBody>
                  <a:tcPr/>
                </a:tc>
                <a:extLst>
                  <a:ext uri="{0D108BD9-81ED-4DB2-BD59-A6C34878D82A}">
                    <a16:rowId xmlns:a16="http://schemas.microsoft.com/office/drawing/2014/main" val="1826683134"/>
                  </a:ext>
                </a:extLst>
              </a:tr>
              <a:tr h="1284767">
                <a:tc>
                  <a:txBody>
                    <a:bodyPr/>
                    <a:lstStyle/>
                    <a:p>
                      <a:r>
                        <a:rPr lang="en-US" sz="1400" dirty="0"/>
                        <a:t>1/3</a:t>
                      </a:r>
                      <a:r>
                        <a:rPr lang="en-US" sz="1400" baseline="30000" dirty="0"/>
                        <a:t>rd</a:t>
                      </a:r>
                      <a:r>
                        <a:rPr lang="en-US" sz="1400" dirty="0"/>
                        <a:t> interest in NZ rental property</a:t>
                      </a:r>
                      <a:endParaRPr lang="en-AU" sz="1400" dirty="0"/>
                    </a:p>
                  </a:txBody>
                  <a:tcPr/>
                </a:tc>
                <a:tc>
                  <a:txBody>
                    <a:bodyPr/>
                    <a:lstStyle/>
                    <a:p>
                      <a:pPr marL="285750" indent="-285750">
                        <a:buFont typeface="Arial" panose="020B0604020202020204" pitchFamily="34" charset="0"/>
                        <a:buChar char="•"/>
                      </a:pPr>
                      <a:r>
                        <a:rPr lang="en-US" sz="1400" dirty="0"/>
                        <a:t>As per above.</a:t>
                      </a:r>
                    </a:p>
                    <a:p>
                      <a:pPr marL="285750" indent="-285750">
                        <a:buFont typeface="Arial" panose="020B0604020202020204" pitchFamily="34" charset="0"/>
                        <a:buChar char="•"/>
                      </a:pPr>
                      <a:endParaRPr lang="en-US" sz="1400" dirty="0"/>
                    </a:p>
                    <a:p>
                      <a:pPr marL="285750" indent="-285750">
                        <a:buFont typeface="Arial" panose="020B0604020202020204" pitchFamily="34" charset="0"/>
                        <a:buChar char="•"/>
                      </a:pPr>
                      <a:r>
                        <a:rPr lang="en-US" sz="1400" dirty="0"/>
                        <a:t>Barry is a tax resident of </a:t>
                      </a:r>
                      <a:r>
                        <a:rPr lang="en-US" sz="1400"/>
                        <a:t>Australia,and </a:t>
                      </a:r>
                      <a:r>
                        <a:rPr lang="en-US" sz="1400" dirty="0"/>
                        <a:t>does not qualify as temporary resident. He is subject to Australian on CGT assets located anywhere in the world.</a:t>
                      </a:r>
                      <a:endParaRPr lang="en-AU" sz="1400" dirty="0"/>
                    </a:p>
                  </a:txBody>
                  <a:tcPr/>
                </a:tc>
                <a:tc>
                  <a:txBody>
                    <a:bodyPr/>
                    <a:lstStyle/>
                    <a:p>
                      <a:pPr marL="285750" indent="-285750">
                        <a:buFont typeface="Arial" panose="020B0604020202020204" pitchFamily="34" charset="0"/>
                        <a:buChar char="•"/>
                      </a:pPr>
                      <a:r>
                        <a:rPr lang="en-US" sz="1400" dirty="0"/>
                        <a:t>John can disregard any CGT implications on future sale provided he remains a temporary resident.</a:t>
                      </a:r>
                      <a:endParaRPr lang="en-AU" sz="1400" dirty="0"/>
                    </a:p>
                  </a:txBody>
                  <a:tcPr/>
                </a:tc>
                <a:tc>
                  <a:txBody>
                    <a:bodyPr/>
                    <a:lstStyle/>
                    <a:p>
                      <a:pPr marL="285750" indent="-285750">
                        <a:buFont typeface="Arial" panose="020B0604020202020204" pitchFamily="34" charset="0"/>
                        <a:buChar char="•"/>
                      </a:pPr>
                      <a:r>
                        <a:rPr lang="en-US" sz="1400" dirty="0"/>
                        <a:t>No CGT implications  (provided she remains a foreign resident)</a:t>
                      </a:r>
                      <a:endParaRPr lang="en-AU" sz="1400" dirty="0"/>
                    </a:p>
                  </a:txBody>
                  <a:tcPr/>
                </a:tc>
                <a:extLst>
                  <a:ext uri="{0D108BD9-81ED-4DB2-BD59-A6C34878D82A}">
                    <a16:rowId xmlns:a16="http://schemas.microsoft.com/office/drawing/2014/main" val="1816901316"/>
                  </a:ext>
                </a:extLst>
              </a:tr>
              <a:tr h="849793">
                <a:tc>
                  <a:txBody>
                    <a:bodyPr/>
                    <a:lstStyle/>
                    <a:p>
                      <a:r>
                        <a:rPr lang="en-US" sz="1400" dirty="0"/>
                        <a:t>1/3</a:t>
                      </a:r>
                      <a:r>
                        <a:rPr lang="en-US" sz="1400" baseline="30000" dirty="0"/>
                        <a:t>rd</a:t>
                      </a:r>
                      <a:r>
                        <a:rPr lang="en-US" sz="1400" dirty="0"/>
                        <a:t> interest in share portfolio</a:t>
                      </a:r>
                      <a:endParaRPr lang="en-AU" sz="1400" dirty="0"/>
                    </a:p>
                  </a:txBody>
                  <a:tcPr/>
                </a:tc>
                <a:tc>
                  <a:txBody>
                    <a:bodyPr/>
                    <a:lstStyle/>
                    <a:p>
                      <a:pPr marL="285750" indent="-285750">
                        <a:buFont typeface="Arial" panose="020B0604020202020204" pitchFamily="34" charset="0"/>
                        <a:buChar char="•"/>
                      </a:pPr>
                      <a:r>
                        <a:rPr lang="en-US" sz="1400" dirty="0"/>
                        <a:t>As per above</a:t>
                      </a:r>
                      <a:endParaRPr lang="en-AU" sz="1400" dirty="0"/>
                    </a:p>
                  </a:txBody>
                  <a:tcPr/>
                </a:tc>
                <a:tc>
                  <a:txBody>
                    <a:bodyPr/>
                    <a:lstStyle/>
                    <a:p>
                      <a:pPr marL="285750" indent="-285750">
                        <a:buFont typeface="Arial" panose="020B0604020202020204" pitchFamily="34" charset="0"/>
                        <a:buChar char="•"/>
                      </a:pPr>
                      <a:r>
                        <a:rPr lang="en-US" sz="1400" dirty="0"/>
                        <a:t>As per above</a:t>
                      </a:r>
                      <a:endParaRPr lang="en-AU" sz="1400" dirty="0"/>
                    </a:p>
                  </a:txBody>
                  <a:tcPr/>
                </a:tc>
                <a:tc>
                  <a:txBody>
                    <a:bodyPr/>
                    <a:lstStyle/>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400" dirty="0"/>
                        <a:t>As per above</a:t>
                      </a:r>
                      <a:endParaRPr lang="en-AU" sz="1400" dirty="0"/>
                    </a:p>
                    <a:p>
                      <a:endParaRPr lang="en-AU" sz="1400" dirty="0"/>
                    </a:p>
                  </a:txBody>
                  <a:tcPr/>
                </a:tc>
                <a:extLst>
                  <a:ext uri="{0D108BD9-81ED-4DB2-BD59-A6C34878D82A}">
                    <a16:rowId xmlns:a16="http://schemas.microsoft.com/office/drawing/2014/main" val="989994906"/>
                  </a:ext>
                </a:extLst>
              </a:tr>
            </a:tbl>
          </a:graphicData>
        </a:graphic>
      </p:graphicFrame>
    </p:spTree>
    <p:extLst>
      <p:ext uri="{BB962C8B-B14F-4D97-AF65-F5344CB8AC3E}">
        <p14:creationId xmlns:p14="http://schemas.microsoft.com/office/powerpoint/2010/main" val="216993375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ontent Placeholder 4">
            <a:extLst>
              <a:ext uri="{FF2B5EF4-FFF2-40B4-BE49-F238E27FC236}">
                <a16:creationId xmlns:a16="http://schemas.microsoft.com/office/drawing/2014/main" id="{438060FF-42B3-461E-B1D6-D584FB22774A}"/>
              </a:ext>
            </a:extLst>
          </p:cNvPr>
          <p:cNvSpPr>
            <a:spLocks noGrp="1"/>
          </p:cNvSpPr>
          <p:nvPr>
            <p:ph idx="1"/>
          </p:nvPr>
        </p:nvSpPr>
        <p:spPr/>
        <p:txBody>
          <a:bodyPr>
            <a:normAutofit/>
          </a:bodyPr>
          <a:lstStyle/>
          <a:p>
            <a:pPr marL="457200" lvl="1" indent="0">
              <a:buNone/>
            </a:pPr>
            <a:endParaRPr lang="en-US" sz="1600" dirty="0"/>
          </a:p>
          <a:p>
            <a:pPr lvl="1"/>
            <a:r>
              <a:rPr lang="en-US" sz="2000" dirty="0"/>
              <a:t>A “Testamentary Trust” is broadly a trust established by will</a:t>
            </a:r>
          </a:p>
          <a:p>
            <a:pPr lvl="1"/>
            <a:r>
              <a:rPr lang="en-US" sz="2000" dirty="0"/>
              <a:t>Commonly used in Australia as vehicle to achieve planning goals.</a:t>
            </a:r>
          </a:p>
          <a:p>
            <a:pPr lvl="1"/>
            <a:r>
              <a:rPr lang="en-US" sz="2000" dirty="0"/>
              <a:t>Will can set up multiple testamentary trusts:  For example:</a:t>
            </a:r>
          </a:p>
          <a:p>
            <a:pPr marL="457200" lvl="1" indent="0">
              <a:buNone/>
            </a:pPr>
            <a:endParaRPr lang="en-US" sz="2000" dirty="0"/>
          </a:p>
          <a:p>
            <a:pPr lvl="2"/>
            <a:r>
              <a:rPr lang="en-US" i="1" dirty="0"/>
              <a:t>Will of (Dad) provides that his residuary estate is to be held by his executors on separate trusts for the benefit of each of his three adult children (and/or their respective families) during their lifetime and on their death the remainder interest goes to their children or grandchildren. </a:t>
            </a:r>
          </a:p>
          <a:p>
            <a:pPr marL="914400" lvl="2" indent="0">
              <a:buNone/>
            </a:pPr>
            <a:endParaRPr lang="en-US" dirty="0"/>
          </a:p>
          <a:p>
            <a:pPr lvl="1"/>
            <a:r>
              <a:rPr lang="en-US" sz="2000" dirty="0"/>
              <a:t>Testamentary trusts are often put in place with a view to protecting protect family wealth particularly where there are blended families or vulnerable beneficiaries. </a:t>
            </a:r>
          </a:p>
        </p:txBody>
      </p:sp>
      <p:sp>
        <p:nvSpPr>
          <p:cNvPr id="4" name="Title 3">
            <a:extLst>
              <a:ext uri="{FF2B5EF4-FFF2-40B4-BE49-F238E27FC236}">
                <a16:creationId xmlns:a16="http://schemas.microsoft.com/office/drawing/2014/main" id="{2E3FF8C0-E639-4F69-898D-3B8BB48CED48}"/>
              </a:ext>
            </a:extLst>
          </p:cNvPr>
          <p:cNvSpPr>
            <a:spLocks noGrp="1"/>
          </p:cNvSpPr>
          <p:nvPr>
            <p:ph type="title"/>
          </p:nvPr>
        </p:nvSpPr>
        <p:spPr/>
        <p:txBody>
          <a:bodyPr>
            <a:normAutofit/>
          </a:bodyPr>
          <a:lstStyle/>
          <a:p>
            <a:r>
              <a:rPr lang="en-US" dirty="0"/>
              <a:t>Use of Testamentary Trusts in Australia</a:t>
            </a:r>
            <a:endParaRPr lang="en-AU" dirty="0"/>
          </a:p>
        </p:txBody>
      </p:sp>
    </p:spTree>
    <p:extLst>
      <p:ext uri="{BB962C8B-B14F-4D97-AF65-F5344CB8AC3E}">
        <p14:creationId xmlns:p14="http://schemas.microsoft.com/office/powerpoint/2010/main" val="398210973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ontent Placeholder 4">
            <a:extLst>
              <a:ext uri="{FF2B5EF4-FFF2-40B4-BE49-F238E27FC236}">
                <a16:creationId xmlns:a16="http://schemas.microsoft.com/office/drawing/2014/main" id="{438060FF-42B3-461E-B1D6-D584FB22774A}"/>
              </a:ext>
            </a:extLst>
          </p:cNvPr>
          <p:cNvSpPr>
            <a:spLocks noGrp="1"/>
          </p:cNvSpPr>
          <p:nvPr>
            <p:ph idx="1"/>
          </p:nvPr>
        </p:nvSpPr>
        <p:spPr/>
        <p:txBody>
          <a:bodyPr>
            <a:normAutofit/>
          </a:bodyPr>
          <a:lstStyle/>
          <a:p>
            <a:pPr marL="457200" lvl="1" indent="0">
              <a:buNone/>
            </a:pPr>
            <a:endParaRPr lang="en-US" sz="1600" dirty="0"/>
          </a:p>
          <a:p>
            <a:pPr lvl="1"/>
            <a:r>
              <a:rPr lang="en-US" sz="2300" dirty="0"/>
              <a:t>Testamentary Trusts are generally taxed like other discretionary trusts in Australia-  i.e.:</a:t>
            </a:r>
          </a:p>
          <a:p>
            <a:pPr lvl="2"/>
            <a:r>
              <a:rPr lang="en-US" sz="1900" dirty="0"/>
              <a:t>Beneficiaries are assessed on annual net income they are made “presently entitled” to </a:t>
            </a:r>
          </a:p>
          <a:p>
            <a:pPr lvl="2"/>
            <a:r>
              <a:rPr lang="en-US" sz="1900" dirty="0"/>
              <a:t>Trustees are assessed at penalty rates on annual accumulated income</a:t>
            </a:r>
          </a:p>
          <a:p>
            <a:pPr lvl="1"/>
            <a:endParaRPr lang="en-US" sz="2300" dirty="0"/>
          </a:p>
          <a:p>
            <a:pPr lvl="1"/>
            <a:r>
              <a:rPr lang="en-US" sz="2300" dirty="0"/>
              <a:t>However, they </a:t>
            </a:r>
            <a:r>
              <a:rPr lang="en-US" sz="2300" i="1" dirty="0"/>
              <a:t>may</a:t>
            </a:r>
            <a:r>
              <a:rPr lang="en-US" sz="2300" dirty="0"/>
              <a:t> present the following tax advantages:</a:t>
            </a:r>
          </a:p>
          <a:p>
            <a:pPr lvl="1"/>
            <a:endParaRPr lang="en-US" sz="2300" dirty="0"/>
          </a:p>
          <a:p>
            <a:pPr lvl="2"/>
            <a:r>
              <a:rPr lang="en-US" sz="1900" dirty="0"/>
              <a:t>Income distributed from a testamentary trust to minor beneficiaries (under 18) is exempt from the “unearned income” penalty rates that would normally apply to minors receiving distributions from “ordinary” discretionary trusts.  Those rates are generally set at 45% over $416 p.a.</a:t>
            </a:r>
            <a:endParaRPr lang="en-US" sz="2300" dirty="0"/>
          </a:p>
          <a:p>
            <a:pPr lvl="2"/>
            <a:r>
              <a:rPr lang="en-US" sz="1900" dirty="0"/>
              <a:t>No CGT on passing of CGT assets from a testamentary trust through to remainder beneficiaries at the ending of the testamentary trust.   PSLA 2003/12</a:t>
            </a:r>
          </a:p>
        </p:txBody>
      </p:sp>
      <p:sp>
        <p:nvSpPr>
          <p:cNvPr id="4" name="Title 3">
            <a:extLst>
              <a:ext uri="{FF2B5EF4-FFF2-40B4-BE49-F238E27FC236}">
                <a16:creationId xmlns:a16="http://schemas.microsoft.com/office/drawing/2014/main" id="{2E3FF8C0-E639-4F69-898D-3B8BB48CED48}"/>
              </a:ext>
            </a:extLst>
          </p:cNvPr>
          <p:cNvSpPr>
            <a:spLocks noGrp="1"/>
          </p:cNvSpPr>
          <p:nvPr>
            <p:ph type="title"/>
          </p:nvPr>
        </p:nvSpPr>
        <p:spPr/>
        <p:txBody>
          <a:bodyPr>
            <a:normAutofit/>
          </a:bodyPr>
          <a:lstStyle/>
          <a:p>
            <a:r>
              <a:rPr lang="en-US" dirty="0"/>
              <a:t>Tax advantages of Testamentary Trusts in Australia</a:t>
            </a:r>
            <a:endParaRPr lang="en-AU" dirty="0"/>
          </a:p>
        </p:txBody>
      </p:sp>
    </p:spTree>
    <p:extLst>
      <p:ext uri="{BB962C8B-B14F-4D97-AF65-F5344CB8AC3E}">
        <p14:creationId xmlns:p14="http://schemas.microsoft.com/office/powerpoint/2010/main" val="55304836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2E3FF8C0-E639-4F69-898D-3B8BB48CED48}"/>
              </a:ext>
            </a:extLst>
          </p:cNvPr>
          <p:cNvSpPr>
            <a:spLocks noGrp="1"/>
          </p:cNvSpPr>
          <p:nvPr>
            <p:ph type="title"/>
          </p:nvPr>
        </p:nvSpPr>
        <p:spPr/>
        <p:txBody>
          <a:bodyPr>
            <a:normAutofit/>
          </a:bodyPr>
          <a:lstStyle/>
          <a:p>
            <a:r>
              <a:rPr lang="en-US" dirty="0"/>
              <a:t>Case Study: Testamentary Trust</a:t>
            </a:r>
            <a:endParaRPr lang="en-AU" dirty="0"/>
          </a:p>
        </p:txBody>
      </p:sp>
      <p:sp>
        <p:nvSpPr>
          <p:cNvPr id="2" name="Content Placeholder 1">
            <a:extLst>
              <a:ext uri="{FF2B5EF4-FFF2-40B4-BE49-F238E27FC236}">
                <a16:creationId xmlns:a16="http://schemas.microsoft.com/office/drawing/2014/main" id="{A080C46E-8B1C-335C-360F-45D85CC82C3D}"/>
              </a:ext>
            </a:extLst>
          </p:cNvPr>
          <p:cNvSpPr txBox="1">
            <a:spLocks noGrp="1"/>
          </p:cNvSpPr>
          <p:nvPr>
            <p:ph idx="1"/>
          </p:nvPr>
        </p:nvSpPr>
        <p:spPr>
          <a:xfrm>
            <a:off x="628650" y="1279752"/>
            <a:ext cx="10934700" cy="7558992"/>
          </a:xfrm>
          <a:prstGeom prst="rect">
            <a:avLst/>
          </a:prstGeom>
          <a:noFill/>
        </p:spPr>
        <p:txBody>
          <a:bodyPr wrap="square">
            <a:spAutoFit/>
          </a:bodyPr>
          <a:lstStyle/>
          <a:p>
            <a:pPr marL="0" indent="0">
              <a:buNone/>
            </a:pPr>
            <a:r>
              <a:rPr lang="en-AU" sz="2000" b="1" i="1" dirty="0"/>
              <a:t>Facts: </a:t>
            </a:r>
          </a:p>
          <a:p>
            <a:r>
              <a:rPr lang="en-AU" sz="2000" i="1" dirty="0"/>
              <a:t>Grandad was a NZ citizen and tax resident.</a:t>
            </a:r>
          </a:p>
          <a:p>
            <a:r>
              <a:rPr lang="en-AU" sz="2000" i="1" dirty="0"/>
              <a:t>He died last year age 85</a:t>
            </a:r>
          </a:p>
          <a:p>
            <a:r>
              <a:rPr lang="en-AU" sz="2000" i="1" dirty="0"/>
              <a:t>Prior to his passing he had only one adult single daughter living in Australia who had three young children from a previous marriage. His daughter and her children are all tax residents of Australia and not temporary residents.</a:t>
            </a:r>
          </a:p>
          <a:p>
            <a:r>
              <a:rPr lang="en-AU" sz="2000" i="1" dirty="0"/>
              <a:t>Grandad owned a substantial post CGT share portfolio that derived annual dividend income just before he passed.</a:t>
            </a:r>
          </a:p>
          <a:p>
            <a:r>
              <a:rPr lang="en-AU" sz="2000" i="1" dirty="0"/>
              <a:t>Prior to his passing, Grandad wanted to provide for his Australian grandchildren.  In particular, he wanted to ensure that they would in time receive the benefits of his share portfolio.  </a:t>
            </a:r>
          </a:p>
          <a:p>
            <a:r>
              <a:rPr lang="en-AU" sz="2000" i="1" dirty="0"/>
              <a:t>Grandad had his will establish a testamentary trust whereby his shares would be held on trust for his three Australian grandchildren who would be entitled to the income therefrom until they were 18,  and when the turned 18 they would be absolutely entitled to the shares.</a:t>
            </a:r>
          </a:p>
          <a:p>
            <a:pPr marL="0" indent="0">
              <a:buNone/>
            </a:pPr>
            <a:endParaRPr lang="en-AU" dirty="0"/>
          </a:p>
          <a:p>
            <a:endParaRPr lang="en-AU" dirty="0"/>
          </a:p>
          <a:p>
            <a:endParaRPr lang="en-AU" i="1" dirty="0"/>
          </a:p>
          <a:p>
            <a:endParaRPr lang="en-AU" i="1" dirty="0"/>
          </a:p>
          <a:p>
            <a:endParaRPr lang="en-AU" i="1" dirty="0"/>
          </a:p>
          <a:p>
            <a:endParaRPr lang="en-AU" i="1" dirty="0"/>
          </a:p>
        </p:txBody>
      </p:sp>
    </p:spTree>
    <p:extLst>
      <p:ext uri="{BB962C8B-B14F-4D97-AF65-F5344CB8AC3E}">
        <p14:creationId xmlns:p14="http://schemas.microsoft.com/office/powerpoint/2010/main" val="285293790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2E3FF8C0-E639-4F69-898D-3B8BB48CED48}"/>
              </a:ext>
            </a:extLst>
          </p:cNvPr>
          <p:cNvSpPr>
            <a:spLocks noGrp="1"/>
          </p:cNvSpPr>
          <p:nvPr>
            <p:ph type="title"/>
          </p:nvPr>
        </p:nvSpPr>
        <p:spPr/>
        <p:txBody>
          <a:bodyPr>
            <a:normAutofit/>
          </a:bodyPr>
          <a:lstStyle/>
          <a:p>
            <a:r>
              <a:rPr lang="en-US" dirty="0"/>
              <a:t>Case Study: Testamentary Trust</a:t>
            </a:r>
            <a:endParaRPr lang="en-AU" dirty="0"/>
          </a:p>
        </p:txBody>
      </p:sp>
      <p:sp>
        <p:nvSpPr>
          <p:cNvPr id="2" name="Content Placeholder 1">
            <a:extLst>
              <a:ext uri="{FF2B5EF4-FFF2-40B4-BE49-F238E27FC236}">
                <a16:creationId xmlns:a16="http://schemas.microsoft.com/office/drawing/2014/main" id="{A080C46E-8B1C-335C-360F-45D85CC82C3D}"/>
              </a:ext>
            </a:extLst>
          </p:cNvPr>
          <p:cNvSpPr txBox="1">
            <a:spLocks noGrp="1"/>
          </p:cNvSpPr>
          <p:nvPr>
            <p:ph idx="1"/>
          </p:nvPr>
        </p:nvSpPr>
        <p:spPr>
          <a:xfrm>
            <a:off x="628650" y="1265238"/>
            <a:ext cx="10934700" cy="5179880"/>
          </a:xfrm>
          <a:prstGeom prst="rect">
            <a:avLst/>
          </a:prstGeom>
          <a:noFill/>
        </p:spPr>
        <p:txBody>
          <a:bodyPr wrap="square">
            <a:spAutoFit/>
          </a:bodyPr>
          <a:lstStyle/>
          <a:p>
            <a:pPr marL="0" indent="0">
              <a:buNone/>
            </a:pPr>
            <a:endParaRPr lang="en-AU" sz="1600" b="1" i="1" dirty="0"/>
          </a:p>
          <a:p>
            <a:pPr marL="0" indent="0">
              <a:buNone/>
            </a:pPr>
            <a:r>
              <a:rPr lang="en-AU" sz="2000" b="1" i="1" dirty="0"/>
              <a:t>Australian Tax Outcomes for Australian grandchildren </a:t>
            </a:r>
          </a:p>
          <a:p>
            <a:pPr marL="0" indent="0">
              <a:buNone/>
            </a:pPr>
            <a:endParaRPr lang="en-AU" sz="1600" b="1" i="1" dirty="0"/>
          </a:p>
          <a:p>
            <a:r>
              <a:rPr lang="en-AU" sz="2000" i="1" dirty="0"/>
              <a:t>Up until they are 18, the dividend income from the share portfolio can be received by them without being subject to “unearned penalty rates”.  It will be taxed to them a normal resident marginal rates of tax with an annual tax -free threshold of around $18k p.a. tax free each.</a:t>
            </a:r>
          </a:p>
          <a:p>
            <a:r>
              <a:rPr lang="en-AU" sz="2000" i="1" dirty="0"/>
              <a:t>No CGT on the “passing” of the share portfolio the them when they turn 18</a:t>
            </a:r>
          </a:p>
          <a:p>
            <a:r>
              <a:rPr lang="en-AU" sz="2000" i="1" dirty="0"/>
              <a:t>Children will be deemed to acquire a 1/3</a:t>
            </a:r>
            <a:r>
              <a:rPr lang="en-AU" sz="2000" i="1" baseline="30000" dirty="0"/>
              <a:t>rd</a:t>
            </a:r>
            <a:r>
              <a:rPr lang="en-AU" sz="2000" i="1" dirty="0"/>
              <a:t> interest in the share-portfolio on the day Grandad passed for its then market value.</a:t>
            </a:r>
            <a:endParaRPr lang="en-AU" i="1" dirty="0"/>
          </a:p>
          <a:p>
            <a:endParaRPr lang="en-AU" i="1" dirty="0"/>
          </a:p>
          <a:p>
            <a:endParaRPr lang="en-AU" i="1" dirty="0"/>
          </a:p>
          <a:p>
            <a:endParaRPr lang="en-AU" i="1" dirty="0"/>
          </a:p>
          <a:p>
            <a:endParaRPr lang="en-AU" i="1" dirty="0"/>
          </a:p>
        </p:txBody>
      </p:sp>
    </p:spTree>
    <p:extLst>
      <p:ext uri="{BB962C8B-B14F-4D97-AF65-F5344CB8AC3E}">
        <p14:creationId xmlns:p14="http://schemas.microsoft.com/office/powerpoint/2010/main" val="287496058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ontent Placeholder 4">
            <a:extLst>
              <a:ext uri="{FF2B5EF4-FFF2-40B4-BE49-F238E27FC236}">
                <a16:creationId xmlns:a16="http://schemas.microsoft.com/office/drawing/2014/main" id="{438060FF-42B3-461E-B1D6-D584FB22774A}"/>
              </a:ext>
            </a:extLst>
          </p:cNvPr>
          <p:cNvSpPr>
            <a:spLocks noGrp="1"/>
          </p:cNvSpPr>
          <p:nvPr>
            <p:ph idx="1"/>
          </p:nvPr>
        </p:nvSpPr>
        <p:spPr/>
        <p:txBody>
          <a:bodyPr>
            <a:normAutofit/>
          </a:bodyPr>
          <a:lstStyle/>
          <a:p>
            <a:r>
              <a:rPr lang="en-US" sz="2000" dirty="0"/>
              <a:t>What are the Australian implications when control of an entity passes to an Australian tax resident on the death?</a:t>
            </a:r>
          </a:p>
          <a:p>
            <a:pPr marL="0" indent="0">
              <a:buNone/>
            </a:pPr>
            <a:endParaRPr lang="en-US" sz="2000" dirty="0"/>
          </a:p>
          <a:p>
            <a:r>
              <a:rPr lang="en-US" sz="2000" dirty="0"/>
              <a:t>Trusts:</a:t>
            </a:r>
          </a:p>
          <a:p>
            <a:pPr lvl="1"/>
            <a:r>
              <a:rPr lang="en-US" sz="2000" dirty="0"/>
              <a:t>Will this cause a NZ trust to become an “Australian resident trust” for CGT purposes?</a:t>
            </a:r>
          </a:p>
          <a:p>
            <a:pPr marL="457200" lvl="1" indent="0">
              <a:buNone/>
            </a:pPr>
            <a:endParaRPr lang="en-US" sz="2000" dirty="0"/>
          </a:p>
          <a:p>
            <a:pPr lvl="1"/>
            <a:endParaRPr lang="en-US" sz="2000" dirty="0"/>
          </a:p>
          <a:p>
            <a:r>
              <a:rPr lang="en-US" sz="2000" dirty="0"/>
              <a:t>Companies:</a:t>
            </a:r>
          </a:p>
          <a:p>
            <a:pPr lvl="1"/>
            <a:r>
              <a:rPr lang="en-US" sz="2000" dirty="0"/>
              <a:t>Will this cause the company to become an Australian resident company for income tax purposes?</a:t>
            </a:r>
          </a:p>
          <a:p>
            <a:pPr lvl="1"/>
            <a:endParaRPr lang="en-US" sz="1600" dirty="0"/>
          </a:p>
          <a:p>
            <a:pPr marL="0" indent="0">
              <a:buNone/>
            </a:pPr>
            <a:endParaRPr lang="en-US" sz="1600" dirty="0"/>
          </a:p>
          <a:p>
            <a:endParaRPr lang="en-US" sz="2700" dirty="0"/>
          </a:p>
          <a:p>
            <a:pPr marL="457200" lvl="1" indent="0">
              <a:buNone/>
            </a:pPr>
            <a:endParaRPr lang="en-US" sz="1600" dirty="0"/>
          </a:p>
        </p:txBody>
      </p:sp>
      <p:sp>
        <p:nvSpPr>
          <p:cNvPr id="4" name="Title 3">
            <a:extLst>
              <a:ext uri="{FF2B5EF4-FFF2-40B4-BE49-F238E27FC236}">
                <a16:creationId xmlns:a16="http://schemas.microsoft.com/office/drawing/2014/main" id="{2E3FF8C0-E639-4F69-898D-3B8BB48CED48}"/>
              </a:ext>
            </a:extLst>
          </p:cNvPr>
          <p:cNvSpPr>
            <a:spLocks noGrp="1"/>
          </p:cNvSpPr>
          <p:nvPr>
            <p:ph type="title"/>
          </p:nvPr>
        </p:nvSpPr>
        <p:spPr/>
        <p:txBody>
          <a:bodyPr>
            <a:normAutofit fontScale="90000"/>
          </a:bodyPr>
          <a:lstStyle/>
          <a:p>
            <a:r>
              <a:rPr lang="en-US" dirty="0"/>
              <a:t>Australian tax implications on “control” of companies or trusts passing to Australian beneficiaries on death</a:t>
            </a:r>
            <a:endParaRPr lang="en-AU" dirty="0"/>
          </a:p>
        </p:txBody>
      </p:sp>
    </p:spTree>
    <p:extLst>
      <p:ext uri="{BB962C8B-B14F-4D97-AF65-F5344CB8AC3E}">
        <p14:creationId xmlns:p14="http://schemas.microsoft.com/office/powerpoint/2010/main" val="3972029004"/>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ontent Placeholder 4">
            <a:extLst>
              <a:ext uri="{FF2B5EF4-FFF2-40B4-BE49-F238E27FC236}">
                <a16:creationId xmlns:a16="http://schemas.microsoft.com/office/drawing/2014/main" id="{438060FF-42B3-461E-B1D6-D584FB22774A}"/>
              </a:ext>
            </a:extLst>
          </p:cNvPr>
          <p:cNvSpPr>
            <a:spLocks noGrp="1"/>
          </p:cNvSpPr>
          <p:nvPr>
            <p:ph idx="1"/>
          </p:nvPr>
        </p:nvSpPr>
        <p:spPr/>
        <p:txBody>
          <a:bodyPr>
            <a:normAutofit fontScale="77500" lnSpcReduction="20000"/>
          </a:bodyPr>
          <a:lstStyle/>
          <a:p>
            <a:pPr marL="0" indent="0">
              <a:lnSpc>
                <a:spcPct val="120000"/>
              </a:lnSpc>
              <a:buNone/>
            </a:pPr>
            <a:endParaRPr lang="en-US" sz="2000" dirty="0"/>
          </a:p>
          <a:p>
            <a:pPr>
              <a:lnSpc>
                <a:spcPct val="120000"/>
              </a:lnSpc>
            </a:pPr>
            <a:r>
              <a:rPr lang="en-US" sz="2400" u="sng" dirty="0"/>
              <a:t>Discretionary Trusts:</a:t>
            </a:r>
            <a:r>
              <a:rPr lang="en-US" sz="2400" dirty="0"/>
              <a:t>  A discretionary trust is considered an “Australian resident trust for CGT purposes” for an income year if at any time during the year at least one trustee is Australian tax resident OR its central management and control is in Australia;</a:t>
            </a:r>
          </a:p>
          <a:p>
            <a:pPr marL="457200" lvl="1" indent="0">
              <a:lnSpc>
                <a:spcPct val="120000"/>
              </a:lnSpc>
              <a:buNone/>
            </a:pPr>
            <a:endParaRPr lang="en-US" sz="2000" dirty="0"/>
          </a:p>
          <a:p>
            <a:pPr>
              <a:lnSpc>
                <a:spcPct val="120000"/>
              </a:lnSpc>
            </a:pPr>
            <a:r>
              <a:rPr lang="en-US" sz="2400" u="sng" dirty="0"/>
              <a:t>Unit Trusts:</a:t>
            </a:r>
            <a:r>
              <a:rPr lang="en-US" sz="2400" dirty="0"/>
              <a:t> will be considered an “Australian resident trust for CGT purposes” for an income year if:</a:t>
            </a:r>
          </a:p>
          <a:p>
            <a:pPr lvl="2">
              <a:lnSpc>
                <a:spcPct val="120000"/>
              </a:lnSpc>
            </a:pPr>
            <a:r>
              <a:rPr lang="en-US" dirty="0"/>
              <a:t>there is property of the trust situated in Australia OR is carries on a business in Australia; and also</a:t>
            </a:r>
          </a:p>
          <a:p>
            <a:pPr lvl="2">
              <a:lnSpc>
                <a:spcPct val="120000"/>
              </a:lnSpc>
            </a:pPr>
            <a:endParaRPr lang="en-US" dirty="0"/>
          </a:p>
          <a:p>
            <a:pPr lvl="2">
              <a:lnSpc>
                <a:spcPct val="120000"/>
              </a:lnSpc>
            </a:pPr>
            <a:r>
              <a:rPr lang="en-US" dirty="0"/>
              <a:t>the central management and control of the trust is in Australia or Australian residents hold more than 50% of the beneficial interest in the income or property of the trust.</a:t>
            </a:r>
          </a:p>
          <a:p>
            <a:pPr marL="914400" lvl="2" indent="0">
              <a:lnSpc>
                <a:spcPct val="120000"/>
              </a:lnSpc>
              <a:buNone/>
            </a:pPr>
            <a:endParaRPr lang="en-US" dirty="0"/>
          </a:p>
          <a:p>
            <a:pPr>
              <a:lnSpc>
                <a:spcPct val="120000"/>
              </a:lnSpc>
              <a:buFont typeface="Wingdings" panose="05000000000000000000" pitchFamily="2" charset="2"/>
              <a:buChar char="v"/>
            </a:pPr>
            <a:r>
              <a:rPr lang="en-US" sz="2000" b="1" i="1" dirty="0"/>
              <a:t> When a trust entity commences being Australian resident it also becomes subject to Australian CGT on its worldwide CGT assets</a:t>
            </a:r>
            <a:endParaRPr lang="en-US" sz="2000" b="1" dirty="0"/>
          </a:p>
          <a:p>
            <a:pPr marL="457200" lvl="1" indent="0">
              <a:buNone/>
            </a:pPr>
            <a:endParaRPr lang="en-US" sz="1600" dirty="0"/>
          </a:p>
        </p:txBody>
      </p:sp>
      <p:sp>
        <p:nvSpPr>
          <p:cNvPr id="4" name="Title 3">
            <a:extLst>
              <a:ext uri="{FF2B5EF4-FFF2-40B4-BE49-F238E27FC236}">
                <a16:creationId xmlns:a16="http://schemas.microsoft.com/office/drawing/2014/main" id="{2E3FF8C0-E639-4F69-898D-3B8BB48CED48}"/>
              </a:ext>
            </a:extLst>
          </p:cNvPr>
          <p:cNvSpPr>
            <a:spLocks noGrp="1"/>
          </p:cNvSpPr>
          <p:nvPr>
            <p:ph type="title"/>
          </p:nvPr>
        </p:nvSpPr>
        <p:spPr/>
        <p:txBody>
          <a:bodyPr>
            <a:normAutofit fontScale="90000"/>
          </a:bodyPr>
          <a:lstStyle/>
          <a:p>
            <a:r>
              <a:rPr lang="en-US" dirty="0"/>
              <a:t>Australian tax implications on “control” of a NZ trust passing to Australian beneficiaries on death</a:t>
            </a:r>
            <a:endParaRPr lang="en-AU" dirty="0"/>
          </a:p>
        </p:txBody>
      </p:sp>
    </p:spTree>
    <p:extLst>
      <p:ext uri="{BB962C8B-B14F-4D97-AF65-F5344CB8AC3E}">
        <p14:creationId xmlns:p14="http://schemas.microsoft.com/office/powerpoint/2010/main" val="1124990098"/>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ontent Placeholder 4">
            <a:extLst>
              <a:ext uri="{FF2B5EF4-FFF2-40B4-BE49-F238E27FC236}">
                <a16:creationId xmlns:a16="http://schemas.microsoft.com/office/drawing/2014/main" id="{438060FF-42B3-461E-B1D6-D584FB22774A}"/>
              </a:ext>
            </a:extLst>
          </p:cNvPr>
          <p:cNvSpPr>
            <a:spLocks noGrp="1"/>
          </p:cNvSpPr>
          <p:nvPr>
            <p:ph idx="1"/>
          </p:nvPr>
        </p:nvSpPr>
        <p:spPr/>
        <p:txBody>
          <a:bodyPr>
            <a:normAutofit/>
          </a:bodyPr>
          <a:lstStyle/>
          <a:p>
            <a:pPr lvl="1"/>
            <a:endParaRPr lang="en-US" sz="2000" dirty="0"/>
          </a:p>
          <a:p>
            <a:r>
              <a:rPr lang="en-US" sz="2200" dirty="0"/>
              <a:t>A company is Australian resident if either it is incorporated in Australia, or if </a:t>
            </a:r>
            <a:r>
              <a:rPr lang="en-US" sz="2200" u="sng" dirty="0"/>
              <a:t>not</a:t>
            </a:r>
            <a:r>
              <a:rPr lang="en-US" sz="2200" dirty="0"/>
              <a:t> incorporated in Australia it carries on business in Australia AND has either:</a:t>
            </a:r>
          </a:p>
          <a:p>
            <a:pPr lvl="1"/>
            <a:r>
              <a:rPr lang="en-US" sz="2200" dirty="0"/>
              <a:t> is central management and control in Australia OR </a:t>
            </a:r>
          </a:p>
          <a:p>
            <a:pPr lvl="1"/>
            <a:r>
              <a:rPr lang="en-US" sz="2200" dirty="0"/>
              <a:t> its voting power controlled by shareholders who are residents of Australia.</a:t>
            </a:r>
          </a:p>
          <a:p>
            <a:pPr marL="457200" lvl="1" indent="0">
              <a:buNone/>
            </a:pPr>
            <a:endParaRPr lang="en-US" sz="2000" dirty="0"/>
          </a:p>
          <a:p>
            <a:pPr>
              <a:buFont typeface="Wingdings" panose="05000000000000000000" pitchFamily="2" charset="2"/>
              <a:buChar char="v"/>
            </a:pPr>
            <a:r>
              <a:rPr lang="en-US" sz="2000" b="1" i="1" dirty="0"/>
              <a:t> If a non-Australian incorporated company becomes an Australian tax resident if is subject to income tax on its worldwide income, and Australian CGT on worldwide CGT assets.  </a:t>
            </a:r>
          </a:p>
          <a:p>
            <a:pPr marL="457200" lvl="1" indent="0">
              <a:buNone/>
            </a:pPr>
            <a:endParaRPr lang="en-US" sz="1600" dirty="0"/>
          </a:p>
        </p:txBody>
      </p:sp>
      <p:sp>
        <p:nvSpPr>
          <p:cNvPr id="4" name="Title 3">
            <a:extLst>
              <a:ext uri="{FF2B5EF4-FFF2-40B4-BE49-F238E27FC236}">
                <a16:creationId xmlns:a16="http://schemas.microsoft.com/office/drawing/2014/main" id="{2E3FF8C0-E639-4F69-898D-3B8BB48CED48}"/>
              </a:ext>
            </a:extLst>
          </p:cNvPr>
          <p:cNvSpPr>
            <a:spLocks noGrp="1"/>
          </p:cNvSpPr>
          <p:nvPr>
            <p:ph type="title"/>
          </p:nvPr>
        </p:nvSpPr>
        <p:spPr/>
        <p:txBody>
          <a:bodyPr>
            <a:normAutofit fontScale="90000"/>
          </a:bodyPr>
          <a:lstStyle/>
          <a:p>
            <a:r>
              <a:rPr lang="en-US" dirty="0"/>
              <a:t>Australian tax implications on “control” of a NZ company passing to Australian beneficiaries on death</a:t>
            </a:r>
            <a:endParaRPr lang="en-AU" dirty="0"/>
          </a:p>
        </p:txBody>
      </p:sp>
    </p:spTree>
    <p:extLst>
      <p:ext uri="{BB962C8B-B14F-4D97-AF65-F5344CB8AC3E}">
        <p14:creationId xmlns:p14="http://schemas.microsoft.com/office/powerpoint/2010/main" val="764519980"/>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ontent Placeholder 4">
            <a:extLst>
              <a:ext uri="{FF2B5EF4-FFF2-40B4-BE49-F238E27FC236}">
                <a16:creationId xmlns:a16="http://schemas.microsoft.com/office/drawing/2014/main" id="{438060FF-42B3-461E-B1D6-D584FB22774A}"/>
              </a:ext>
            </a:extLst>
          </p:cNvPr>
          <p:cNvSpPr>
            <a:spLocks noGrp="1"/>
          </p:cNvSpPr>
          <p:nvPr>
            <p:ph idx="1"/>
          </p:nvPr>
        </p:nvSpPr>
        <p:spPr/>
        <p:txBody>
          <a:bodyPr>
            <a:normAutofit/>
          </a:bodyPr>
          <a:lstStyle/>
          <a:p>
            <a:pPr lvl="1"/>
            <a:endParaRPr lang="en-US" sz="3300" dirty="0"/>
          </a:p>
          <a:p>
            <a:pPr lvl="1"/>
            <a:endParaRPr lang="en-US" sz="1600" dirty="0"/>
          </a:p>
        </p:txBody>
      </p:sp>
      <p:sp>
        <p:nvSpPr>
          <p:cNvPr id="4" name="Title 3">
            <a:extLst>
              <a:ext uri="{FF2B5EF4-FFF2-40B4-BE49-F238E27FC236}">
                <a16:creationId xmlns:a16="http://schemas.microsoft.com/office/drawing/2014/main" id="{2E3FF8C0-E639-4F69-898D-3B8BB48CED48}"/>
              </a:ext>
            </a:extLst>
          </p:cNvPr>
          <p:cNvSpPr>
            <a:spLocks noGrp="1"/>
          </p:cNvSpPr>
          <p:nvPr>
            <p:ph type="title"/>
          </p:nvPr>
        </p:nvSpPr>
        <p:spPr>
          <a:xfrm>
            <a:off x="628650" y="123894"/>
            <a:ext cx="10934700" cy="885628"/>
          </a:xfrm>
        </p:spPr>
        <p:txBody>
          <a:bodyPr>
            <a:normAutofit fontScale="90000"/>
          </a:bodyPr>
          <a:lstStyle/>
          <a:p>
            <a:r>
              <a:rPr lang="en-US" dirty="0"/>
              <a:t>Case Study: Australian tax implications on “control” of NZ trust and company passing to Australia on death</a:t>
            </a:r>
            <a:endParaRPr lang="en-AU" dirty="0"/>
          </a:p>
        </p:txBody>
      </p:sp>
      <p:sp>
        <p:nvSpPr>
          <p:cNvPr id="3" name="TextBox 2">
            <a:extLst>
              <a:ext uri="{FF2B5EF4-FFF2-40B4-BE49-F238E27FC236}">
                <a16:creationId xmlns:a16="http://schemas.microsoft.com/office/drawing/2014/main" id="{93750D10-CB0B-B244-419C-77DEEEB2704A}"/>
              </a:ext>
            </a:extLst>
          </p:cNvPr>
          <p:cNvSpPr txBox="1"/>
          <p:nvPr/>
        </p:nvSpPr>
        <p:spPr>
          <a:xfrm>
            <a:off x="520700" y="1597730"/>
            <a:ext cx="10820400" cy="5447645"/>
          </a:xfrm>
          <a:prstGeom prst="rect">
            <a:avLst/>
          </a:prstGeom>
          <a:noFill/>
        </p:spPr>
        <p:txBody>
          <a:bodyPr wrap="square">
            <a:spAutoFit/>
          </a:bodyPr>
          <a:lstStyle/>
          <a:p>
            <a:r>
              <a:rPr lang="en-US" sz="2000" b="1" dirty="0"/>
              <a:t>Facts:</a:t>
            </a:r>
          </a:p>
          <a:p>
            <a:pPr marL="342900" indent="-342900">
              <a:buFont typeface="Arial" panose="020B0604020202020204" pitchFamily="34" charset="0"/>
              <a:buChar char="•"/>
            </a:pPr>
            <a:endParaRPr lang="en-US" sz="2000" dirty="0"/>
          </a:p>
          <a:p>
            <a:pPr marL="742950" lvl="1" indent="-285750">
              <a:spcBef>
                <a:spcPts val="600"/>
              </a:spcBef>
              <a:spcAft>
                <a:spcPts val="600"/>
              </a:spcAft>
              <a:buFont typeface="Arial" panose="020B0604020202020204" pitchFamily="34" charset="0"/>
              <a:buChar char="•"/>
            </a:pPr>
            <a:r>
              <a:rPr lang="en-US" sz="2000" i="1" dirty="0"/>
              <a:t>“Mum” was a NZ citizen and tax resident.</a:t>
            </a:r>
          </a:p>
          <a:p>
            <a:pPr marL="742950" lvl="1" indent="-285750">
              <a:spcBef>
                <a:spcPts val="600"/>
              </a:spcBef>
              <a:spcAft>
                <a:spcPts val="600"/>
              </a:spcAft>
              <a:buFont typeface="Arial" panose="020B0604020202020204" pitchFamily="34" charset="0"/>
              <a:buChar char="•"/>
            </a:pPr>
            <a:r>
              <a:rPr lang="en-US" sz="2000" i="1" dirty="0"/>
              <a:t> She dies in 2024 aged 85</a:t>
            </a:r>
          </a:p>
          <a:p>
            <a:pPr marL="742950" lvl="1" indent="-285750">
              <a:spcBef>
                <a:spcPts val="600"/>
              </a:spcBef>
              <a:spcAft>
                <a:spcPts val="600"/>
              </a:spcAft>
              <a:buFont typeface="Arial" panose="020B0604020202020204" pitchFamily="34" charset="0"/>
              <a:buChar char="•"/>
            </a:pPr>
            <a:r>
              <a:rPr lang="en-US" sz="2000" i="1" dirty="0"/>
              <a:t> At the time of her death she owned all the shares in NZ incorporated private company that owned a large listed share portfolio and a number of investment properties. </a:t>
            </a:r>
          </a:p>
          <a:p>
            <a:pPr marL="742950" lvl="1" indent="-285750">
              <a:spcBef>
                <a:spcPts val="600"/>
              </a:spcBef>
              <a:spcAft>
                <a:spcPts val="600"/>
              </a:spcAft>
              <a:buFont typeface="Arial" panose="020B0604020202020204" pitchFamily="34" charset="0"/>
              <a:buChar char="•"/>
            </a:pPr>
            <a:r>
              <a:rPr lang="en-US" sz="2000" i="1" dirty="0"/>
              <a:t>She was also the sole trustee of the family trust established in NZ that also owned shares and investment properties.</a:t>
            </a:r>
          </a:p>
          <a:p>
            <a:pPr marL="742950" lvl="1" indent="-285750">
              <a:spcBef>
                <a:spcPts val="600"/>
              </a:spcBef>
              <a:spcAft>
                <a:spcPts val="600"/>
              </a:spcAft>
              <a:buFont typeface="Arial" panose="020B0604020202020204" pitchFamily="34" charset="0"/>
              <a:buChar char="•"/>
            </a:pPr>
            <a:r>
              <a:rPr lang="en-US" sz="2000" i="1" dirty="0"/>
              <a:t>Under  her will, the ownership of her shares passes to her son who lives in Australia and is a resident of Australia for taxation purposes.</a:t>
            </a:r>
          </a:p>
          <a:p>
            <a:pPr marL="742950" lvl="1" indent="-285750">
              <a:spcBef>
                <a:spcPts val="600"/>
              </a:spcBef>
              <a:spcAft>
                <a:spcPts val="600"/>
              </a:spcAft>
              <a:buFont typeface="Arial" panose="020B0604020202020204" pitchFamily="34" charset="0"/>
              <a:buChar char="•"/>
            </a:pPr>
            <a:r>
              <a:rPr lang="en-US" sz="2000" i="1" dirty="0"/>
              <a:t>Under successor provisions in the trust deed, his son also becomes the sole trustee of the NZ trust on the passing of Mum</a:t>
            </a:r>
          </a:p>
          <a:p>
            <a:pPr lvl="1"/>
            <a:endParaRPr lang="en-US" sz="1600" dirty="0"/>
          </a:p>
          <a:p>
            <a:pPr lvl="1"/>
            <a:endParaRPr lang="en-US" sz="1600" dirty="0"/>
          </a:p>
          <a:p>
            <a:pPr lvl="1"/>
            <a:endParaRPr lang="en-US" sz="1600" dirty="0"/>
          </a:p>
        </p:txBody>
      </p:sp>
    </p:spTree>
    <p:extLst>
      <p:ext uri="{BB962C8B-B14F-4D97-AF65-F5344CB8AC3E}">
        <p14:creationId xmlns:p14="http://schemas.microsoft.com/office/powerpoint/2010/main" val="1150791299"/>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ontent Placeholder 4">
            <a:extLst>
              <a:ext uri="{FF2B5EF4-FFF2-40B4-BE49-F238E27FC236}">
                <a16:creationId xmlns:a16="http://schemas.microsoft.com/office/drawing/2014/main" id="{438060FF-42B3-461E-B1D6-D584FB22774A}"/>
              </a:ext>
            </a:extLst>
          </p:cNvPr>
          <p:cNvSpPr>
            <a:spLocks noGrp="1"/>
          </p:cNvSpPr>
          <p:nvPr>
            <p:ph idx="1"/>
          </p:nvPr>
        </p:nvSpPr>
        <p:spPr>
          <a:xfrm>
            <a:off x="628650" y="1168400"/>
            <a:ext cx="10934700" cy="4700149"/>
          </a:xfrm>
        </p:spPr>
        <p:txBody>
          <a:bodyPr>
            <a:normAutofit/>
          </a:bodyPr>
          <a:lstStyle/>
          <a:p>
            <a:pPr marL="457200" lvl="1" indent="0">
              <a:buNone/>
            </a:pPr>
            <a:endParaRPr lang="en-US" sz="3300" dirty="0"/>
          </a:p>
          <a:p>
            <a:pPr lvl="1"/>
            <a:endParaRPr lang="en-US" sz="1600" dirty="0"/>
          </a:p>
        </p:txBody>
      </p:sp>
      <p:sp>
        <p:nvSpPr>
          <p:cNvPr id="4" name="Title 3">
            <a:extLst>
              <a:ext uri="{FF2B5EF4-FFF2-40B4-BE49-F238E27FC236}">
                <a16:creationId xmlns:a16="http://schemas.microsoft.com/office/drawing/2014/main" id="{2E3FF8C0-E639-4F69-898D-3B8BB48CED48}"/>
              </a:ext>
            </a:extLst>
          </p:cNvPr>
          <p:cNvSpPr>
            <a:spLocks noGrp="1"/>
          </p:cNvSpPr>
          <p:nvPr>
            <p:ph type="title"/>
          </p:nvPr>
        </p:nvSpPr>
        <p:spPr>
          <a:xfrm>
            <a:off x="628650" y="123894"/>
            <a:ext cx="10934700" cy="885628"/>
          </a:xfrm>
        </p:spPr>
        <p:txBody>
          <a:bodyPr>
            <a:normAutofit fontScale="90000"/>
          </a:bodyPr>
          <a:lstStyle/>
          <a:p>
            <a:r>
              <a:rPr lang="en-US" dirty="0"/>
              <a:t>Case Study: Australian tax implications on “control” of NZ trust and company passing to Australia on death</a:t>
            </a:r>
            <a:endParaRPr lang="en-AU" dirty="0"/>
          </a:p>
        </p:txBody>
      </p:sp>
      <p:sp>
        <p:nvSpPr>
          <p:cNvPr id="3" name="TextBox 2">
            <a:extLst>
              <a:ext uri="{FF2B5EF4-FFF2-40B4-BE49-F238E27FC236}">
                <a16:creationId xmlns:a16="http://schemas.microsoft.com/office/drawing/2014/main" id="{93750D10-CB0B-B244-419C-77DEEEB2704A}"/>
              </a:ext>
            </a:extLst>
          </p:cNvPr>
          <p:cNvSpPr txBox="1"/>
          <p:nvPr/>
        </p:nvSpPr>
        <p:spPr>
          <a:xfrm>
            <a:off x="685800" y="1163350"/>
            <a:ext cx="10820400" cy="4585871"/>
          </a:xfrm>
          <a:prstGeom prst="rect">
            <a:avLst/>
          </a:prstGeom>
          <a:noFill/>
        </p:spPr>
        <p:txBody>
          <a:bodyPr wrap="square">
            <a:spAutoFit/>
          </a:bodyPr>
          <a:lstStyle/>
          <a:p>
            <a:endParaRPr lang="en-US" sz="2000" dirty="0"/>
          </a:p>
          <a:p>
            <a:r>
              <a:rPr lang="en-US" sz="2000" b="1" dirty="0"/>
              <a:t>Australian Income Tax Implications for the company:</a:t>
            </a:r>
          </a:p>
          <a:p>
            <a:endParaRPr lang="en-US" sz="2000" b="1" dirty="0"/>
          </a:p>
          <a:p>
            <a:pPr marL="285750" indent="-285750">
              <a:spcBef>
                <a:spcPts val="600"/>
              </a:spcBef>
              <a:spcAft>
                <a:spcPts val="600"/>
              </a:spcAft>
              <a:buFont typeface="Arial" panose="020B0604020202020204" pitchFamily="34" charset="0"/>
              <a:buChar char="•"/>
            </a:pPr>
            <a:r>
              <a:rPr lang="en-US" sz="2000" i="1" dirty="0"/>
              <a:t>From the date of Mum’s death, the company is deemed to be a resident of Australia for Australian income tax purposes, on the basis that the shares are then 100% owned by an Australian resident shareholder.</a:t>
            </a:r>
          </a:p>
          <a:p>
            <a:pPr marL="285750" indent="-285750">
              <a:spcBef>
                <a:spcPts val="600"/>
              </a:spcBef>
              <a:spcAft>
                <a:spcPts val="600"/>
              </a:spcAft>
              <a:buFont typeface="Arial" panose="020B0604020202020204" pitchFamily="34" charset="0"/>
              <a:buChar char="•"/>
            </a:pPr>
            <a:r>
              <a:rPr lang="en-US" sz="2000" i="1" dirty="0"/>
              <a:t> It will be subject to Australian income tax on its worldwide income from that date. </a:t>
            </a:r>
          </a:p>
          <a:p>
            <a:pPr marL="285750" indent="-285750">
              <a:spcBef>
                <a:spcPts val="600"/>
              </a:spcBef>
              <a:spcAft>
                <a:spcPts val="600"/>
              </a:spcAft>
              <a:buFont typeface="Arial" panose="020B0604020202020204" pitchFamily="34" charset="0"/>
              <a:buChar char="•"/>
            </a:pPr>
            <a:r>
              <a:rPr lang="en-US" sz="2000" i="1" dirty="0"/>
              <a:t> Company may need to prepare and lodge annual Australian income tax returns and declare worldwide income.</a:t>
            </a:r>
          </a:p>
          <a:p>
            <a:pPr marL="285750" indent="-285750">
              <a:spcBef>
                <a:spcPts val="600"/>
              </a:spcBef>
              <a:spcAft>
                <a:spcPts val="600"/>
              </a:spcAft>
              <a:buFont typeface="Arial" panose="020B0604020202020204" pitchFamily="34" charset="0"/>
              <a:buChar char="•"/>
            </a:pPr>
            <a:r>
              <a:rPr lang="en-US" sz="2000" i="1" dirty="0"/>
              <a:t>Consideration to be given to taxing right allocation between Aus and NZ,  and application of DTA relief.</a:t>
            </a:r>
          </a:p>
          <a:p>
            <a:pPr lvl="1"/>
            <a:endParaRPr lang="en-US" sz="1600" dirty="0"/>
          </a:p>
          <a:p>
            <a:pPr lvl="1"/>
            <a:endParaRPr lang="en-US" sz="1600" dirty="0"/>
          </a:p>
        </p:txBody>
      </p:sp>
    </p:spTree>
    <p:extLst>
      <p:ext uri="{BB962C8B-B14F-4D97-AF65-F5344CB8AC3E}">
        <p14:creationId xmlns:p14="http://schemas.microsoft.com/office/powerpoint/2010/main" val="2694066355"/>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ontent Placeholder 4">
            <a:extLst>
              <a:ext uri="{FF2B5EF4-FFF2-40B4-BE49-F238E27FC236}">
                <a16:creationId xmlns:a16="http://schemas.microsoft.com/office/drawing/2014/main" id="{438060FF-42B3-461E-B1D6-D584FB22774A}"/>
              </a:ext>
            </a:extLst>
          </p:cNvPr>
          <p:cNvSpPr>
            <a:spLocks noGrp="1"/>
          </p:cNvSpPr>
          <p:nvPr>
            <p:ph idx="1"/>
          </p:nvPr>
        </p:nvSpPr>
        <p:spPr>
          <a:xfrm>
            <a:off x="628650" y="1168400"/>
            <a:ext cx="10934700" cy="4700149"/>
          </a:xfrm>
        </p:spPr>
        <p:txBody>
          <a:bodyPr>
            <a:normAutofit/>
          </a:bodyPr>
          <a:lstStyle/>
          <a:p>
            <a:pPr marL="457200" lvl="1" indent="0">
              <a:buNone/>
            </a:pPr>
            <a:endParaRPr lang="en-US" sz="3300" dirty="0"/>
          </a:p>
          <a:p>
            <a:pPr lvl="1"/>
            <a:endParaRPr lang="en-US" sz="1600" dirty="0"/>
          </a:p>
        </p:txBody>
      </p:sp>
      <p:sp>
        <p:nvSpPr>
          <p:cNvPr id="4" name="Title 3">
            <a:extLst>
              <a:ext uri="{FF2B5EF4-FFF2-40B4-BE49-F238E27FC236}">
                <a16:creationId xmlns:a16="http://schemas.microsoft.com/office/drawing/2014/main" id="{2E3FF8C0-E639-4F69-898D-3B8BB48CED48}"/>
              </a:ext>
            </a:extLst>
          </p:cNvPr>
          <p:cNvSpPr>
            <a:spLocks noGrp="1"/>
          </p:cNvSpPr>
          <p:nvPr>
            <p:ph type="title"/>
          </p:nvPr>
        </p:nvSpPr>
        <p:spPr>
          <a:xfrm>
            <a:off x="628650" y="123894"/>
            <a:ext cx="10934700" cy="885628"/>
          </a:xfrm>
        </p:spPr>
        <p:txBody>
          <a:bodyPr>
            <a:normAutofit fontScale="90000"/>
          </a:bodyPr>
          <a:lstStyle/>
          <a:p>
            <a:r>
              <a:rPr lang="en-US" dirty="0"/>
              <a:t>Case Study: Australian tax implications on “control” of NZ trust and company passing to Australia on death</a:t>
            </a:r>
            <a:endParaRPr lang="en-AU" dirty="0"/>
          </a:p>
        </p:txBody>
      </p:sp>
      <p:sp>
        <p:nvSpPr>
          <p:cNvPr id="3" name="TextBox 2">
            <a:extLst>
              <a:ext uri="{FF2B5EF4-FFF2-40B4-BE49-F238E27FC236}">
                <a16:creationId xmlns:a16="http://schemas.microsoft.com/office/drawing/2014/main" id="{93750D10-CB0B-B244-419C-77DEEEB2704A}"/>
              </a:ext>
            </a:extLst>
          </p:cNvPr>
          <p:cNvSpPr txBox="1"/>
          <p:nvPr/>
        </p:nvSpPr>
        <p:spPr>
          <a:xfrm>
            <a:off x="685800" y="1163350"/>
            <a:ext cx="10820400" cy="3600986"/>
          </a:xfrm>
          <a:prstGeom prst="rect">
            <a:avLst/>
          </a:prstGeom>
          <a:noFill/>
        </p:spPr>
        <p:txBody>
          <a:bodyPr wrap="square">
            <a:spAutoFit/>
          </a:bodyPr>
          <a:lstStyle/>
          <a:p>
            <a:endParaRPr lang="en-US" sz="2000" dirty="0"/>
          </a:p>
          <a:p>
            <a:pPr lvl="1">
              <a:spcBef>
                <a:spcPts val="600"/>
              </a:spcBef>
              <a:spcAft>
                <a:spcPts val="600"/>
              </a:spcAft>
            </a:pPr>
            <a:endParaRPr lang="en-US" sz="1600" b="1" dirty="0"/>
          </a:p>
          <a:p>
            <a:pPr>
              <a:spcBef>
                <a:spcPts val="600"/>
              </a:spcBef>
              <a:spcAft>
                <a:spcPts val="600"/>
              </a:spcAft>
            </a:pPr>
            <a:r>
              <a:rPr lang="en-US" sz="2000" b="1" dirty="0"/>
              <a:t>Australian CGT Implications for the NZ trust:</a:t>
            </a:r>
          </a:p>
          <a:p>
            <a:pPr marL="742950" lvl="1" indent="-285750">
              <a:spcBef>
                <a:spcPts val="600"/>
              </a:spcBef>
              <a:spcAft>
                <a:spcPts val="600"/>
              </a:spcAft>
              <a:buFont typeface="Arial" panose="020B0604020202020204" pitchFamily="34" charset="0"/>
              <a:buChar char="•"/>
            </a:pPr>
            <a:r>
              <a:rPr lang="en-US" sz="2000" dirty="0"/>
              <a:t>From the date of Mum’s death, the NZ Trust will be deemed an Australian resident trust for Australian CGT purposes.</a:t>
            </a:r>
          </a:p>
          <a:p>
            <a:pPr marL="742950" lvl="1" indent="-285750">
              <a:spcBef>
                <a:spcPts val="600"/>
              </a:spcBef>
              <a:spcAft>
                <a:spcPts val="600"/>
              </a:spcAft>
              <a:buFont typeface="Arial" panose="020B0604020202020204" pitchFamily="34" charset="0"/>
              <a:buChar char="•"/>
            </a:pPr>
            <a:r>
              <a:rPr lang="en-US" sz="2000" dirty="0"/>
              <a:t>It will be deemed to acquire all its assets that are not TAP  (such as listed shares, and foreign located real property) at its market value on that day.   Subject to CGT on future disposal.</a:t>
            </a:r>
          </a:p>
          <a:p>
            <a:pPr lvl="1"/>
            <a:endParaRPr lang="en-US" sz="1600" dirty="0"/>
          </a:p>
          <a:p>
            <a:pPr lvl="1"/>
            <a:endParaRPr lang="en-US" sz="1600" dirty="0"/>
          </a:p>
        </p:txBody>
      </p:sp>
    </p:spTree>
    <p:extLst>
      <p:ext uri="{BB962C8B-B14F-4D97-AF65-F5344CB8AC3E}">
        <p14:creationId xmlns:p14="http://schemas.microsoft.com/office/powerpoint/2010/main" val="2078866856"/>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ontent Placeholder 4">
            <a:extLst>
              <a:ext uri="{FF2B5EF4-FFF2-40B4-BE49-F238E27FC236}">
                <a16:creationId xmlns:a16="http://schemas.microsoft.com/office/drawing/2014/main" id="{438060FF-42B3-461E-B1D6-D584FB22774A}"/>
              </a:ext>
            </a:extLst>
          </p:cNvPr>
          <p:cNvSpPr>
            <a:spLocks noGrp="1"/>
          </p:cNvSpPr>
          <p:nvPr>
            <p:ph idx="1"/>
          </p:nvPr>
        </p:nvSpPr>
        <p:spPr>
          <a:xfrm>
            <a:off x="628650" y="1168400"/>
            <a:ext cx="10934700" cy="4700149"/>
          </a:xfrm>
        </p:spPr>
        <p:txBody>
          <a:bodyPr>
            <a:normAutofit/>
          </a:bodyPr>
          <a:lstStyle/>
          <a:p>
            <a:pPr marL="0" indent="0">
              <a:buNone/>
            </a:pPr>
            <a:endParaRPr lang="en-US" sz="2400" b="1" dirty="0"/>
          </a:p>
          <a:p>
            <a:pPr marL="0" indent="0">
              <a:buNone/>
            </a:pPr>
            <a:r>
              <a:rPr lang="en-US" sz="2400" b="1" dirty="0"/>
              <a:t>Positive limb:</a:t>
            </a:r>
          </a:p>
          <a:p>
            <a:r>
              <a:rPr lang="en-US" sz="2000" dirty="0"/>
              <a:t>Section 99B (1) includes an amount,  being “property” of a trust estate”, that at anytime is paid to or applied to the benefit of a person, who is a resident of Australia at any time of the income year in that person’s assessable income for the year.</a:t>
            </a:r>
            <a:endParaRPr lang="en-US" sz="1600" dirty="0"/>
          </a:p>
          <a:p>
            <a:pPr marL="0" indent="0">
              <a:buNone/>
            </a:pPr>
            <a:endParaRPr lang="en-US" sz="1600" dirty="0"/>
          </a:p>
          <a:p>
            <a:pPr marL="0" indent="0">
              <a:buNone/>
            </a:pPr>
            <a:r>
              <a:rPr lang="en-US" sz="2400" b="1" dirty="0"/>
              <a:t>Negative limb:</a:t>
            </a:r>
          </a:p>
          <a:p>
            <a:r>
              <a:rPr lang="en-US" sz="2000" dirty="0"/>
              <a:t>Section 99B (2) </a:t>
            </a:r>
            <a:r>
              <a:rPr lang="en-US" sz="2000" u="sng" dirty="0"/>
              <a:t>excludes </a:t>
            </a:r>
            <a:r>
              <a:rPr lang="en-US" sz="2000" dirty="0"/>
              <a:t>various amounts from being included in the person’s assessable income under section 99B(1).  These exclusions include amounts that are attributable to:</a:t>
            </a:r>
          </a:p>
          <a:p>
            <a:pPr lvl="1"/>
            <a:r>
              <a:rPr lang="en-US" sz="1600" dirty="0"/>
              <a:t>Corpus of the trust</a:t>
            </a:r>
          </a:p>
          <a:p>
            <a:pPr lvl="1"/>
            <a:r>
              <a:rPr lang="en-US" sz="1600" dirty="0"/>
              <a:t>Amounts that wouldn’t be assessed to a hypothetical resident taxpayer if they had derived the amount directly</a:t>
            </a:r>
          </a:p>
          <a:p>
            <a:pPr lvl="1"/>
            <a:r>
              <a:rPr lang="en-US" sz="1600" dirty="0"/>
              <a:t>Amounts already taxed to the trustee or beneficiary under the normal Australian taxing provisions. </a:t>
            </a:r>
          </a:p>
          <a:p>
            <a:pPr lvl="1"/>
            <a:endParaRPr lang="en-US" sz="1600" dirty="0"/>
          </a:p>
          <a:p>
            <a:pPr lvl="1"/>
            <a:endParaRPr lang="en-US" sz="1600" dirty="0"/>
          </a:p>
        </p:txBody>
      </p:sp>
      <p:sp>
        <p:nvSpPr>
          <p:cNvPr id="4" name="Title 3">
            <a:extLst>
              <a:ext uri="{FF2B5EF4-FFF2-40B4-BE49-F238E27FC236}">
                <a16:creationId xmlns:a16="http://schemas.microsoft.com/office/drawing/2014/main" id="{2E3FF8C0-E639-4F69-898D-3B8BB48CED48}"/>
              </a:ext>
            </a:extLst>
          </p:cNvPr>
          <p:cNvSpPr>
            <a:spLocks noGrp="1"/>
          </p:cNvSpPr>
          <p:nvPr>
            <p:ph type="title"/>
          </p:nvPr>
        </p:nvSpPr>
        <p:spPr>
          <a:xfrm>
            <a:off x="628650" y="123894"/>
            <a:ext cx="10934700" cy="885628"/>
          </a:xfrm>
        </p:spPr>
        <p:txBody>
          <a:bodyPr>
            <a:normAutofit fontScale="90000"/>
          </a:bodyPr>
          <a:lstStyle/>
          <a:p>
            <a:r>
              <a:rPr lang="en-US" dirty="0"/>
              <a:t>Section 99B- taxation of foreign trust distributions to Australian residents</a:t>
            </a:r>
            <a:endParaRPr lang="en-AU" dirty="0"/>
          </a:p>
        </p:txBody>
      </p:sp>
    </p:spTree>
    <p:extLst>
      <p:ext uri="{BB962C8B-B14F-4D97-AF65-F5344CB8AC3E}">
        <p14:creationId xmlns:p14="http://schemas.microsoft.com/office/powerpoint/2010/main" val="1404633864"/>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ontent Placeholder 4">
            <a:extLst>
              <a:ext uri="{FF2B5EF4-FFF2-40B4-BE49-F238E27FC236}">
                <a16:creationId xmlns:a16="http://schemas.microsoft.com/office/drawing/2014/main" id="{438060FF-42B3-461E-B1D6-D584FB22774A}"/>
              </a:ext>
            </a:extLst>
          </p:cNvPr>
          <p:cNvSpPr>
            <a:spLocks noGrp="1"/>
          </p:cNvSpPr>
          <p:nvPr>
            <p:ph idx="1"/>
          </p:nvPr>
        </p:nvSpPr>
        <p:spPr>
          <a:xfrm>
            <a:off x="628650" y="1168400"/>
            <a:ext cx="10934700" cy="4700149"/>
          </a:xfrm>
        </p:spPr>
        <p:txBody>
          <a:bodyPr>
            <a:normAutofit/>
          </a:bodyPr>
          <a:lstStyle/>
          <a:p>
            <a:pPr marL="0" indent="0">
              <a:buNone/>
            </a:pPr>
            <a:r>
              <a:rPr lang="en-US" sz="2400" b="1" dirty="0"/>
              <a:t>What is corpus?</a:t>
            </a:r>
          </a:p>
          <a:p>
            <a:r>
              <a:rPr lang="en-US" sz="2100" dirty="0"/>
              <a:t>Not defined in the legislation.</a:t>
            </a:r>
          </a:p>
          <a:p>
            <a:r>
              <a:rPr lang="en-US" sz="2100" dirty="0"/>
              <a:t>Generally thought of as “settled sum” or “capital contributed”.</a:t>
            </a:r>
          </a:p>
          <a:p>
            <a:r>
              <a:rPr lang="en-US" sz="2100" dirty="0"/>
              <a:t>Can include the cash realised capital value of investments made from initial capital contributed and then later sold-  but not any gain component.</a:t>
            </a:r>
          </a:p>
          <a:p>
            <a:r>
              <a:rPr lang="en-US" sz="2100" b="1" dirty="0"/>
              <a:t>Onus of proof is on taxpayer to demonstrate that the payment is from Corpus</a:t>
            </a:r>
          </a:p>
          <a:p>
            <a:r>
              <a:rPr lang="en-US" sz="2100" dirty="0"/>
              <a:t>Important evidence will be:</a:t>
            </a:r>
          </a:p>
          <a:p>
            <a:pPr lvl="1"/>
            <a:r>
              <a:rPr lang="en-US" sz="1600" dirty="0"/>
              <a:t>Trust accounts</a:t>
            </a:r>
          </a:p>
          <a:p>
            <a:pPr lvl="1"/>
            <a:r>
              <a:rPr lang="en-US" sz="1600" dirty="0"/>
              <a:t>Documentary evidence concerning source of original settled sum /capital contributed amounts.</a:t>
            </a:r>
          </a:p>
          <a:p>
            <a:pPr lvl="1"/>
            <a:r>
              <a:rPr lang="en-US" sz="1600" dirty="0"/>
              <a:t>Accounting for the distribution  (i.e. debiting to “corpus” rather than retained earnings)</a:t>
            </a:r>
          </a:p>
          <a:p>
            <a:pPr lvl="1"/>
            <a:r>
              <a:rPr lang="en-US" sz="1600" dirty="0"/>
              <a:t>Trustee resolutions </a:t>
            </a:r>
          </a:p>
          <a:p>
            <a:pPr lvl="1"/>
            <a:endParaRPr lang="en-US" sz="1600" b="1" dirty="0"/>
          </a:p>
          <a:p>
            <a:pPr marL="457200" lvl="1" indent="0">
              <a:buNone/>
            </a:pPr>
            <a:endParaRPr lang="en-US" sz="1600" b="1" dirty="0"/>
          </a:p>
          <a:p>
            <a:pPr lvl="1"/>
            <a:endParaRPr lang="en-US" sz="1600" b="1" dirty="0"/>
          </a:p>
          <a:p>
            <a:pPr lvl="1"/>
            <a:endParaRPr lang="en-US" sz="1600" dirty="0"/>
          </a:p>
          <a:p>
            <a:pPr lvl="1"/>
            <a:endParaRPr lang="en-US" sz="1600" dirty="0"/>
          </a:p>
        </p:txBody>
      </p:sp>
      <p:sp>
        <p:nvSpPr>
          <p:cNvPr id="4" name="Title 3">
            <a:extLst>
              <a:ext uri="{FF2B5EF4-FFF2-40B4-BE49-F238E27FC236}">
                <a16:creationId xmlns:a16="http://schemas.microsoft.com/office/drawing/2014/main" id="{2E3FF8C0-E639-4F69-898D-3B8BB48CED48}"/>
              </a:ext>
            </a:extLst>
          </p:cNvPr>
          <p:cNvSpPr>
            <a:spLocks noGrp="1"/>
          </p:cNvSpPr>
          <p:nvPr>
            <p:ph type="title"/>
          </p:nvPr>
        </p:nvSpPr>
        <p:spPr>
          <a:xfrm>
            <a:off x="628650" y="123894"/>
            <a:ext cx="10934700" cy="885628"/>
          </a:xfrm>
        </p:spPr>
        <p:txBody>
          <a:bodyPr>
            <a:normAutofit/>
          </a:bodyPr>
          <a:lstStyle/>
          <a:p>
            <a:r>
              <a:rPr lang="en-US" dirty="0"/>
              <a:t>Section 99B- The corpus exemption</a:t>
            </a:r>
            <a:endParaRPr lang="en-AU" dirty="0"/>
          </a:p>
        </p:txBody>
      </p:sp>
    </p:spTree>
    <p:extLst>
      <p:ext uri="{BB962C8B-B14F-4D97-AF65-F5344CB8AC3E}">
        <p14:creationId xmlns:p14="http://schemas.microsoft.com/office/powerpoint/2010/main" val="2768427891"/>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ontent Placeholder 4">
            <a:extLst>
              <a:ext uri="{FF2B5EF4-FFF2-40B4-BE49-F238E27FC236}">
                <a16:creationId xmlns:a16="http://schemas.microsoft.com/office/drawing/2014/main" id="{438060FF-42B3-461E-B1D6-D584FB22774A}"/>
              </a:ext>
            </a:extLst>
          </p:cNvPr>
          <p:cNvSpPr>
            <a:spLocks noGrp="1"/>
          </p:cNvSpPr>
          <p:nvPr>
            <p:ph idx="1"/>
          </p:nvPr>
        </p:nvSpPr>
        <p:spPr>
          <a:xfrm>
            <a:off x="628650" y="1168400"/>
            <a:ext cx="10934700" cy="5101771"/>
          </a:xfrm>
        </p:spPr>
        <p:txBody>
          <a:bodyPr>
            <a:normAutofit fontScale="77500" lnSpcReduction="20000"/>
          </a:bodyPr>
          <a:lstStyle/>
          <a:p>
            <a:pPr marL="0" indent="0">
              <a:lnSpc>
                <a:spcPct val="120000"/>
              </a:lnSpc>
              <a:buNone/>
            </a:pPr>
            <a:r>
              <a:rPr lang="en-US" sz="3400" b="1" i="1" dirty="0"/>
              <a:t>Campbell v Commissioner of Taxation [2019] AATA 2043</a:t>
            </a:r>
            <a:endParaRPr lang="en-US" sz="2400" b="1" i="1" dirty="0"/>
          </a:p>
          <a:p>
            <a:pPr marL="0" indent="0">
              <a:lnSpc>
                <a:spcPct val="120000"/>
              </a:lnSpc>
              <a:buNone/>
            </a:pPr>
            <a:endParaRPr lang="en-AU" sz="1600" dirty="0">
              <a:hlinkClick r:id="rId2"/>
            </a:endParaRPr>
          </a:p>
          <a:p>
            <a:pPr>
              <a:lnSpc>
                <a:spcPct val="120000"/>
              </a:lnSpc>
            </a:pPr>
            <a:r>
              <a:rPr lang="en-AU" sz="1600" dirty="0">
                <a:hlinkClick r:id="rId2"/>
              </a:rPr>
              <a:t>Campbell and Commissioner of Taxation (Taxation) [2019] AATA 2043 (22 July 2019) (austlii.edu.au)</a:t>
            </a:r>
            <a:endParaRPr lang="en-US" sz="2100" dirty="0"/>
          </a:p>
          <a:p>
            <a:pPr>
              <a:lnSpc>
                <a:spcPct val="120000"/>
              </a:lnSpc>
            </a:pPr>
            <a:r>
              <a:rPr lang="en-US" sz="2200" dirty="0"/>
              <a:t>Recent Australian Administrative Appeals Tribunal (AAT) Case upholding ATO 99B assessment against an Australian resident beneficiary who received distributions form a NZ trust </a:t>
            </a:r>
          </a:p>
          <a:p>
            <a:pPr>
              <a:lnSpc>
                <a:spcPct val="120000"/>
              </a:lnSpc>
            </a:pPr>
            <a:r>
              <a:rPr lang="en-US" sz="2200" dirty="0"/>
              <a:t>Mrs Campbell was a beneficiary of NZ trust established in 2001  </a:t>
            </a:r>
          </a:p>
          <a:p>
            <a:pPr>
              <a:lnSpc>
                <a:spcPct val="120000"/>
              </a:lnSpc>
            </a:pPr>
            <a:r>
              <a:rPr lang="en-US" sz="2200" dirty="0"/>
              <a:t>She received cash distributions of cash from the trust of more than $460k in the 2013 and 2014 Australian income tax years. She was an Australian resident taxpayer for those years and not a temporary resident.</a:t>
            </a:r>
          </a:p>
          <a:p>
            <a:pPr>
              <a:lnSpc>
                <a:spcPct val="120000"/>
              </a:lnSpc>
            </a:pPr>
            <a:r>
              <a:rPr lang="en-US" sz="2200" dirty="0"/>
              <a:t>She did not lodge Australian income tax returns for those years.</a:t>
            </a:r>
          </a:p>
          <a:p>
            <a:pPr>
              <a:lnSpc>
                <a:spcPct val="120000"/>
              </a:lnSpc>
            </a:pPr>
            <a:r>
              <a:rPr lang="en-US" sz="2200" dirty="0"/>
              <a:t>ATO received information from “AUSTRAC” that Mrs Campbell had received these cash payments from the NZ trustee’s bank account.</a:t>
            </a:r>
          </a:p>
          <a:p>
            <a:pPr>
              <a:lnSpc>
                <a:spcPct val="120000"/>
              </a:lnSpc>
            </a:pPr>
            <a:r>
              <a:rPr lang="en-US" sz="2200" dirty="0"/>
              <a:t>In 2016 the ATO notified that Mrs Campbell was required to lodge her 2013 and 2014 returns.  She failed to do so.</a:t>
            </a:r>
          </a:p>
          <a:p>
            <a:pPr>
              <a:lnSpc>
                <a:spcPct val="120000"/>
              </a:lnSpc>
            </a:pPr>
            <a:r>
              <a:rPr lang="en-US" sz="2200" dirty="0"/>
              <a:t>ATO issued default tax assessments for around $160k  + 75% penalty of $130k  for “failure to lodge”.  </a:t>
            </a:r>
          </a:p>
          <a:p>
            <a:endParaRPr lang="en-US" sz="2100" dirty="0"/>
          </a:p>
          <a:p>
            <a:endParaRPr lang="en-US" sz="2100" dirty="0"/>
          </a:p>
          <a:p>
            <a:pPr lvl="1"/>
            <a:endParaRPr lang="en-US" sz="1600" b="1" dirty="0"/>
          </a:p>
          <a:p>
            <a:pPr marL="457200" lvl="1" indent="0">
              <a:buNone/>
            </a:pPr>
            <a:endParaRPr lang="en-US" sz="1600" b="1" dirty="0"/>
          </a:p>
          <a:p>
            <a:pPr lvl="1"/>
            <a:endParaRPr lang="en-US" sz="1600" b="1" dirty="0"/>
          </a:p>
          <a:p>
            <a:pPr lvl="1"/>
            <a:endParaRPr lang="en-US" sz="1600" dirty="0"/>
          </a:p>
          <a:p>
            <a:pPr lvl="1"/>
            <a:endParaRPr lang="en-US" sz="1600" dirty="0"/>
          </a:p>
        </p:txBody>
      </p:sp>
      <p:sp>
        <p:nvSpPr>
          <p:cNvPr id="4" name="Title 3">
            <a:extLst>
              <a:ext uri="{FF2B5EF4-FFF2-40B4-BE49-F238E27FC236}">
                <a16:creationId xmlns:a16="http://schemas.microsoft.com/office/drawing/2014/main" id="{2E3FF8C0-E639-4F69-898D-3B8BB48CED48}"/>
              </a:ext>
            </a:extLst>
          </p:cNvPr>
          <p:cNvSpPr>
            <a:spLocks noGrp="1"/>
          </p:cNvSpPr>
          <p:nvPr>
            <p:ph type="title"/>
          </p:nvPr>
        </p:nvSpPr>
        <p:spPr>
          <a:xfrm>
            <a:off x="628650" y="123894"/>
            <a:ext cx="10934700" cy="885628"/>
          </a:xfrm>
        </p:spPr>
        <p:txBody>
          <a:bodyPr>
            <a:normAutofit/>
          </a:bodyPr>
          <a:lstStyle/>
          <a:p>
            <a:r>
              <a:rPr lang="en-US" dirty="0"/>
              <a:t>99B Assessment Case- The Campbell Case 2019 </a:t>
            </a:r>
            <a:endParaRPr lang="en-AU" dirty="0"/>
          </a:p>
        </p:txBody>
      </p:sp>
    </p:spTree>
    <p:extLst>
      <p:ext uri="{BB962C8B-B14F-4D97-AF65-F5344CB8AC3E}">
        <p14:creationId xmlns:p14="http://schemas.microsoft.com/office/powerpoint/2010/main" val="1831372466"/>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ontent Placeholder 4">
            <a:extLst>
              <a:ext uri="{FF2B5EF4-FFF2-40B4-BE49-F238E27FC236}">
                <a16:creationId xmlns:a16="http://schemas.microsoft.com/office/drawing/2014/main" id="{438060FF-42B3-461E-B1D6-D584FB22774A}"/>
              </a:ext>
            </a:extLst>
          </p:cNvPr>
          <p:cNvSpPr>
            <a:spLocks noGrp="1"/>
          </p:cNvSpPr>
          <p:nvPr>
            <p:ph idx="1"/>
          </p:nvPr>
        </p:nvSpPr>
        <p:spPr>
          <a:xfrm>
            <a:off x="628650" y="1168400"/>
            <a:ext cx="10934700" cy="4700149"/>
          </a:xfrm>
        </p:spPr>
        <p:txBody>
          <a:bodyPr>
            <a:normAutofit/>
          </a:bodyPr>
          <a:lstStyle/>
          <a:p>
            <a:pPr marL="0" indent="0">
              <a:buNone/>
            </a:pPr>
            <a:r>
              <a:rPr lang="en-US" sz="2400" b="1" i="1" dirty="0"/>
              <a:t>Campbell v Commissioner of Taxation [2019] AATA 2043</a:t>
            </a:r>
          </a:p>
          <a:p>
            <a:endParaRPr lang="en-US" sz="2100" dirty="0"/>
          </a:p>
          <a:p>
            <a:r>
              <a:rPr lang="en-US" sz="2100" dirty="0"/>
              <a:t>Mrs Campbell contended that the distributions were sourced from previous trusts established by her father back in 1950’s and bought and sold real estate in NZ and the trust really has at least $3 million of “corpus”,  but she was not able to produce any documentation to prove this. </a:t>
            </a:r>
          </a:p>
          <a:p>
            <a:r>
              <a:rPr lang="en-US" sz="2100" dirty="0"/>
              <a:t>Two inconsistent sets of accounts for the trust were shown, that listed different corpus amounts, but each much less than $3 million as claimed.  </a:t>
            </a:r>
          </a:p>
          <a:p>
            <a:r>
              <a:rPr lang="en-US" sz="2100" dirty="0"/>
              <a:t>The trustee resolutions for the 2013 and 2014 income years did not support the amounts she received being capital in nature or sourced from any original corpus amount </a:t>
            </a:r>
          </a:p>
          <a:p>
            <a:r>
              <a:rPr lang="en-US" sz="2100" dirty="0"/>
              <a:t>Mrs Campbell blamed NZ accountants for not correctly preparing accounts or distribution minutes.</a:t>
            </a:r>
          </a:p>
          <a:p>
            <a:pPr marL="0" indent="0">
              <a:buNone/>
            </a:pPr>
            <a:endParaRPr lang="en-US" sz="2100" dirty="0"/>
          </a:p>
          <a:p>
            <a:endParaRPr lang="en-US" sz="2100" dirty="0"/>
          </a:p>
          <a:p>
            <a:pPr lvl="1"/>
            <a:endParaRPr lang="en-US" sz="1600" b="1" dirty="0"/>
          </a:p>
          <a:p>
            <a:pPr marL="457200" lvl="1" indent="0">
              <a:buNone/>
            </a:pPr>
            <a:endParaRPr lang="en-US" sz="1600" b="1" dirty="0"/>
          </a:p>
          <a:p>
            <a:pPr lvl="1"/>
            <a:endParaRPr lang="en-US" sz="1600" b="1" dirty="0"/>
          </a:p>
          <a:p>
            <a:pPr lvl="1"/>
            <a:endParaRPr lang="en-US" sz="1600" dirty="0"/>
          </a:p>
          <a:p>
            <a:pPr lvl="1"/>
            <a:endParaRPr lang="en-US" sz="1600" dirty="0"/>
          </a:p>
        </p:txBody>
      </p:sp>
      <p:sp>
        <p:nvSpPr>
          <p:cNvPr id="4" name="Title 3">
            <a:extLst>
              <a:ext uri="{FF2B5EF4-FFF2-40B4-BE49-F238E27FC236}">
                <a16:creationId xmlns:a16="http://schemas.microsoft.com/office/drawing/2014/main" id="{2E3FF8C0-E639-4F69-898D-3B8BB48CED48}"/>
              </a:ext>
            </a:extLst>
          </p:cNvPr>
          <p:cNvSpPr>
            <a:spLocks noGrp="1"/>
          </p:cNvSpPr>
          <p:nvPr>
            <p:ph type="title"/>
          </p:nvPr>
        </p:nvSpPr>
        <p:spPr>
          <a:xfrm>
            <a:off x="628650" y="123894"/>
            <a:ext cx="10934700" cy="885628"/>
          </a:xfrm>
        </p:spPr>
        <p:txBody>
          <a:bodyPr>
            <a:normAutofit/>
          </a:bodyPr>
          <a:lstStyle/>
          <a:p>
            <a:r>
              <a:rPr lang="en-US" dirty="0"/>
              <a:t>99B Assessment Case- The Campbell Case 2019 </a:t>
            </a:r>
            <a:endParaRPr lang="en-AU" dirty="0"/>
          </a:p>
        </p:txBody>
      </p:sp>
    </p:spTree>
    <p:extLst>
      <p:ext uri="{BB962C8B-B14F-4D97-AF65-F5344CB8AC3E}">
        <p14:creationId xmlns:p14="http://schemas.microsoft.com/office/powerpoint/2010/main" val="2643831692"/>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ontent Placeholder 4">
            <a:extLst>
              <a:ext uri="{FF2B5EF4-FFF2-40B4-BE49-F238E27FC236}">
                <a16:creationId xmlns:a16="http://schemas.microsoft.com/office/drawing/2014/main" id="{438060FF-42B3-461E-B1D6-D584FB22774A}"/>
              </a:ext>
            </a:extLst>
          </p:cNvPr>
          <p:cNvSpPr>
            <a:spLocks noGrp="1"/>
          </p:cNvSpPr>
          <p:nvPr>
            <p:ph idx="1"/>
          </p:nvPr>
        </p:nvSpPr>
        <p:spPr>
          <a:xfrm>
            <a:off x="628650" y="1168400"/>
            <a:ext cx="10934700" cy="5565706"/>
          </a:xfrm>
        </p:spPr>
        <p:txBody>
          <a:bodyPr>
            <a:normAutofit/>
          </a:bodyPr>
          <a:lstStyle/>
          <a:p>
            <a:pPr marL="0" indent="0">
              <a:buNone/>
            </a:pPr>
            <a:r>
              <a:rPr lang="en-US" sz="2400" b="1" i="1" dirty="0"/>
              <a:t>Campbell v Commissioner of Taxation [2019] AATA 2043</a:t>
            </a:r>
          </a:p>
          <a:p>
            <a:endParaRPr lang="en-US" sz="2400" b="1" i="1" dirty="0"/>
          </a:p>
          <a:p>
            <a:r>
              <a:rPr lang="en-AU" sz="2100" dirty="0"/>
              <a:t>AAT upheld the ATO assessments and penalties on basis that Mrs Campbell did not discharge her burden of proof that the assessments were incorrect, and the penalties were excessive.</a:t>
            </a:r>
          </a:p>
          <a:p>
            <a:r>
              <a:rPr lang="en-AU" sz="2100" dirty="0"/>
              <a:t>Lessons:</a:t>
            </a:r>
          </a:p>
          <a:p>
            <a:pPr lvl="1">
              <a:buFont typeface="Wingdings" panose="05000000000000000000" pitchFamily="2" charset="2"/>
              <a:buChar char="ü"/>
            </a:pPr>
            <a:r>
              <a:rPr lang="en-AU" sz="1800" dirty="0"/>
              <a:t>ATO will data-match Australian residents receiving cash distributions from foreign trusts.</a:t>
            </a:r>
          </a:p>
          <a:p>
            <a:pPr lvl="1">
              <a:buFont typeface="Wingdings" panose="05000000000000000000" pitchFamily="2" charset="2"/>
              <a:buChar char="ü"/>
            </a:pPr>
            <a:r>
              <a:rPr lang="en-AU" sz="1800" dirty="0"/>
              <a:t>ATO will issue default assessments (potentially with 75% penalties) when it considers the cash distributions should have been declared as assessable income under section 99B.</a:t>
            </a:r>
          </a:p>
          <a:p>
            <a:pPr lvl="1">
              <a:buFont typeface="Wingdings" panose="05000000000000000000" pitchFamily="2" charset="2"/>
              <a:buChar char="ü"/>
            </a:pPr>
            <a:r>
              <a:rPr lang="en-AU" sz="1800" dirty="0"/>
              <a:t>If that occurs, it is up to the taxpayer to prove a section 99B assessment is incorrect.</a:t>
            </a:r>
          </a:p>
          <a:p>
            <a:pPr lvl="1">
              <a:buFont typeface="Wingdings" panose="05000000000000000000" pitchFamily="2" charset="2"/>
              <a:buChar char="ü"/>
            </a:pPr>
            <a:r>
              <a:rPr lang="en-AU" sz="1800" dirty="0"/>
              <a:t>To establish that the “corpus” exclusion to 99B assessment applies, it is critical that the source of the payments can be appropriately evidenced by:</a:t>
            </a:r>
          </a:p>
          <a:p>
            <a:pPr marL="1257300" lvl="2" indent="-342900">
              <a:buFont typeface="+mj-lt"/>
              <a:buAutoNum type="arabicPeriod"/>
            </a:pPr>
            <a:r>
              <a:rPr lang="en-AU" sz="1800" b="1" dirty="0"/>
              <a:t>Historical documentary evidence regarding the origins of corpus amounts</a:t>
            </a:r>
          </a:p>
          <a:p>
            <a:pPr marL="1257300" lvl="2" indent="-342900">
              <a:buFont typeface="+mj-lt"/>
              <a:buAutoNum type="arabicPeriod"/>
            </a:pPr>
            <a:r>
              <a:rPr lang="en-AU" sz="1800" b="1" dirty="0"/>
              <a:t>The accounting treatment applied by the trustee in respect of the payments</a:t>
            </a:r>
          </a:p>
          <a:p>
            <a:pPr marL="1257300" lvl="2" indent="-342900">
              <a:buFont typeface="+mj-lt"/>
              <a:buAutoNum type="arabicPeriod"/>
            </a:pPr>
            <a:r>
              <a:rPr lang="en-AU" sz="1800" b="1" dirty="0"/>
              <a:t>The trustee distribution minutes recording the payment as being capital in nature and sourced from initial capital.</a:t>
            </a:r>
            <a:endParaRPr lang="en-US" sz="1800" b="1" dirty="0"/>
          </a:p>
          <a:p>
            <a:pPr marL="457200" lvl="1" indent="0">
              <a:buNone/>
            </a:pPr>
            <a:endParaRPr lang="en-US" sz="1600" b="1" dirty="0"/>
          </a:p>
          <a:p>
            <a:pPr lvl="1"/>
            <a:endParaRPr lang="en-US" sz="1600" b="1" dirty="0"/>
          </a:p>
          <a:p>
            <a:pPr lvl="1"/>
            <a:endParaRPr lang="en-US" sz="1600" dirty="0"/>
          </a:p>
          <a:p>
            <a:pPr lvl="1"/>
            <a:endParaRPr lang="en-US" sz="1600" dirty="0"/>
          </a:p>
        </p:txBody>
      </p:sp>
      <p:sp>
        <p:nvSpPr>
          <p:cNvPr id="4" name="Title 3">
            <a:extLst>
              <a:ext uri="{FF2B5EF4-FFF2-40B4-BE49-F238E27FC236}">
                <a16:creationId xmlns:a16="http://schemas.microsoft.com/office/drawing/2014/main" id="{2E3FF8C0-E639-4F69-898D-3B8BB48CED48}"/>
              </a:ext>
            </a:extLst>
          </p:cNvPr>
          <p:cNvSpPr>
            <a:spLocks noGrp="1"/>
          </p:cNvSpPr>
          <p:nvPr>
            <p:ph type="title"/>
          </p:nvPr>
        </p:nvSpPr>
        <p:spPr>
          <a:xfrm>
            <a:off x="628650" y="123894"/>
            <a:ext cx="10934700" cy="885628"/>
          </a:xfrm>
        </p:spPr>
        <p:txBody>
          <a:bodyPr>
            <a:normAutofit/>
          </a:bodyPr>
          <a:lstStyle/>
          <a:p>
            <a:r>
              <a:rPr lang="en-US" dirty="0"/>
              <a:t>99B Assessment Case- The Campbell Case 2019 </a:t>
            </a:r>
            <a:endParaRPr lang="en-AU" dirty="0"/>
          </a:p>
        </p:txBody>
      </p:sp>
    </p:spTree>
    <p:extLst>
      <p:ext uri="{BB962C8B-B14F-4D97-AF65-F5344CB8AC3E}">
        <p14:creationId xmlns:p14="http://schemas.microsoft.com/office/powerpoint/2010/main" val="1615796474"/>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ontent Placeholder 4">
            <a:extLst>
              <a:ext uri="{FF2B5EF4-FFF2-40B4-BE49-F238E27FC236}">
                <a16:creationId xmlns:a16="http://schemas.microsoft.com/office/drawing/2014/main" id="{438060FF-42B3-461E-B1D6-D584FB22774A}"/>
              </a:ext>
            </a:extLst>
          </p:cNvPr>
          <p:cNvSpPr>
            <a:spLocks noGrp="1"/>
          </p:cNvSpPr>
          <p:nvPr>
            <p:ph idx="1"/>
          </p:nvPr>
        </p:nvSpPr>
        <p:spPr/>
        <p:txBody>
          <a:bodyPr>
            <a:normAutofit/>
          </a:bodyPr>
          <a:lstStyle/>
          <a:p>
            <a:pPr marL="457200" lvl="1" indent="0">
              <a:buNone/>
            </a:pPr>
            <a:endParaRPr lang="en-US" sz="1600" dirty="0"/>
          </a:p>
          <a:p>
            <a:r>
              <a:rPr lang="en-US" sz="2200" dirty="0"/>
              <a:t>The ATO has confirmed that 99B can apply to the estate of foreign deceased estates.</a:t>
            </a:r>
          </a:p>
          <a:p>
            <a:r>
              <a:rPr lang="en-US" sz="2200" dirty="0"/>
              <a:t>When the deceased dies their CGT assets devolve to the LPR of their estate. For the purpose of section 99B, the market value of the deceased’s CGT should be considered “corpus” of the deceased estate. That component can be distributed to Australian beneficiaries without triggering a 99B assessment under the corpus exemption. </a:t>
            </a:r>
          </a:p>
          <a:p>
            <a:r>
              <a:rPr lang="en-US" sz="2200" dirty="0"/>
              <a:t>Any income accumulations in a foreign deceased estate post death may not be exempt from a section 99B assessment if distributed to an Australian tax resident beneficiary. </a:t>
            </a:r>
          </a:p>
          <a:p>
            <a:endParaRPr lang="en-US" sz="2200" dirty="0"/>
          </a:p>
          <a:p>
            <a:pPr marL="800100" lvl="1" indent="-342900">
              <a:buFont typeface="+mj-lt"/>
              <a:buAutoNum type="arabicPeriod"/>
            </a:pPr>
            <a:endParaRPr lang="en-US" sz="1800" dirty="0"/>
          </a:p>
          <a:p>
            <a:endParaRPr lang="en-US" sz="2200" dirty="0"/>
          </a:p>
          <a:p>
            <a:endParaRPr lang="en-US" sz="2200" dirty="0"/>
          </a:p>
          <a:p>
            <a:endParaRPr lang="en-US" sz="2200" dirty="0"/>
          </a:p>
          <a:p>
            <a:endParaRPr lang="en-US" sz="2200" dirty="0"/>
          </a:p>
          <a:p>
            <a:endParaRPr lang="en-US" sz="2200" dirty="0"/>
          </a:p>
          <a:p>
            <a:pPr lvl="1"/>
            <a:endParaRPr lang="en-US" sz="1600" dirty="0"/>
          </a:p>
        </p:txBody>
      </p:sp>
      <p:sp>
        <p:nvSpPr>
          <p:cNvPr id="4" name="Title 3">
            <a:extLst>
              <a:ext uri="{FF2B5EF4-FFF2-40B4-BE49-F238E27FC236}">
                <a16:creationId xmlns:a16="http://schemas.microsoft.com/office/drawing/2014/main" id="{2E3FF8C0-E639-4F69-898D-3B8BB48CED48}"/>
              </a:ext>
            </a:extLst>
          </p:cNvPr>
          <p:cNvSpPr>
            <a:spLocks noGrp="1"/>
          </p:cNvSpPr>
          <p:nvPr>
            <p:ph type="title"/>
          </p:nvPr>
        </p:nvSpPr>
        <p:spPr/>
        <p:txBody>
          <a:bodyPr>
            <a:normAutofit/>
          </a:bodyPr>
          <a:lstStyle/>
          <a:p>
            <a:r>
              <a:rPr lang="en-US" dirty="0"/>
              <a:t>Section 99B application to foreign deceased estates</a:t>
            </a:r>
            <a:endParaRPr lang="en-AU" dirty="0"/>
          </a:p>
        </p:txBody>
      </p:sp>
    </p:spTree>
    <p:extLst>
      <p:ext uri="{BB962C8B-B14F-4D97-AF65-F5344CB8AC3E}">
        <p14:creationId xmlns:p14="http://schemas.microsoft.com/office/powerpoint/2010/main" val="4280282634"/>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ontent Placeholder 4">
            <a:extLst>
              <a:ext uri="{FF2B5EF4-FFF2-40B4-BE49-F238E27FC236}">
                <a16:creationId xmlns:a16="http://schemas.microsoft.com/office/drawing/2014/main" id="{438060FF-42B3-461E-B1D6-D584FB22774A}"/>
              </a:ext>
            </a:extLst>
          </p:cNvPr>
          <p:cNvSpPr>
            <a:spLocks noGrp="1"/>
          </p:cNvSpPr>
          <p:nvPr>
            <p:ph idx="1"/>
          </p:nvPr>
        </p:nvSpPr>
        <p:spPr>
          <a:xfrm>
            <a:off x="628650" y="1264671"/>
            <a:ext cx="10934700" cy="4976472"/>
          </a:xfrm>
        </p:spPr>
        <p:txBody>
          <a:bodyPr>
            <a:normAutofit fontScale="85000" lnSpcReduction="20000"/>
          </a:bodyPr>
          <a:lstStyle/>
          <a:p>
            <a:pPr marL="0" indent="0">
              <a:buNone/>
            </a:pPr>
            <a:r>
              <a:rPr lang="en-US" sz="3100" b="1" dirty="0"/>
              <a:t>Trustees of NZ trusts considering making distributions to Australian beneficiares should  consider the following planning strategies to prevent assessments under section 99B </a:t>
            </a:r>
          </a:p>
          <a:p>
            <a:pPr marL="457200" lvl="1" indent="0">
              <a:buNone/>
            </a:pPr>
            <a:endParaRPr lang="en-US" sz="1600" dirty="0"/>
          </a:p>
          <a:p>
            <a:pPr marL="457200" lvl="1" indent="0">
              <a:buNone/>
            </a:pPr>
            <a:endParaRPr lang="en-US" sz="1600" dirty="0"/>
          </a:p>
          <a:p>
            <a:pPr>
              <a:buFont typeface="Wingdings" panose="05000000000000000000" pitchFamily="2" charset="2"/>
              <a:buChar char="q"/>
            </a:pPr>
            <a:r>
              <a:rPr lang="en-US" sz="2400" dirty="0"/>
              <a:t>  Can the distribution wait until a point in time when the beneficiary is not an Australian tax resident?</a:t>
            </a:r>
          </a:p>
          <a:p>
            <a:pPr marL="0" indent="0">
              <a:buNone/>
            </a:pPr>
            <a:endParaRPr lang="en-US" sz="2400" dirty="0"/>
          </a:p>
          <a:p>
            <a:pPr>
              <a:buFont typeface="Wingdings" panose="05000000000000000000" pitchFamily="2" charset="2"/>
              <a:buChar char="q"/>
            </a:pPr>
            <a:r>
              <a:rPr lang="en-US" sz="2400" dirty="0"/>
              <a:t>  Selective sourcing /tracing of the distribution to corpus amounts</a:t>
            </a:r>
          </a:p>
          <a:p>
            <a:pPr lvl="1">
              <a:buFont typeface="Wingdings" panose="05000000000000000000" pitchFamily="2" charset="2"/>
              <a:buChar char="q"/>
            </a:pPr>
            <a:endParaRPr lang="en-US" dirty="0"/>
          </a:p>
          <a:p>
            <a:pPr>
              <a:buFont typeface="Wingdings" panose="05000000000000000000" pitchFamily="2" charset="2"/>
              <a:buChar char="q"/>
            </a:pPr>
            <a:r>
              <a:rPr lang="en-US" sz="2400" dirty="0"/>
              <a:t>  Selective sourcing/ tracing of distributions to amounts that would </a:t>
            </a:r>
            <a:r>
              <a:rPr lang="en-US" sz="2400" u="sng" dirty="0"/>
              <a:t>not</a:t>
            </a:r>
            <a:r>
              <a:rPr lang="en-US" sz="2400" dirty="0"/>
              <a:t> have been assessable to an Australian resident if received directly by them?   (e.g. gains on pre-CGT assets, proceeds from life insurance policies)</a:t>
            </a:r>
          </a:p>
          <a:p>
            <a:pPr marL="0" indent="0">
              <a:buNone/>
            </a:pPr>
            <a:endParaRPr lang="en-US" sz="2400" dirty="0"/>
          </a:p>
          <a:p>
            <a:pPr>
              <a:buFont typeface="Wingdings" panose="05000000000000000000" pitchFamily="2" charset="2"/>
              <a:buChar char="q"/>
            </a:pPr>
            <a:r>
              <a:rPr lang="en-US" sz="2400" dirty="0"/>
              <a:t>  Selectively sourcing/ tracing distributions to amounts that have already been assessed to the beneficiary in Australia  (e.g. Australian sourced income that the Australian resident beneficiary has already declared and paid tax on in Australia) </a:t>
            </a:r>
          </a:p>
          <a:p>
            <a:pPr marL="457200" indent="-457200">
              <a:buFont typeface="+mj-lt"/>
              <a:buAutoNum type="arabicPeriod"/>
            </a:pPr>
            <a:endParaRPr lang="en-US" sz="2200" dirty="0"/>
          </a:p>
          <a:p>
            <a:pPr marL="457200" indent="-457200">
              <a:buFont typeface="+mj-lt"/>
              <a:buAutoNum type="arabicPeriod"/>
            </a:pPr>
            <a:endParaRPr lang="en-US" sz="2200" dirty="0"/>
          </a:p>
          <a:p>
            <a:pPr marL="457200" indent="-457200">
              <a:buFont typeface="+mj-lt"/>
              <a:buAutoNum type="arabicPeriod"/>
            </a:pPr>
            <a:endParaRPr lang="en-US" sz="1800" dirty="0"/>
          </a:p>
          <a:p>
            <a:endParaRPr lang="en-US" sz="2200" dirty="0"/>
          </a:p>
          <a:p>
            <a:endParaRPr lang="en-US" sz="2200" dirty="0"/>
          </a:p>
          <a:p>
            <a:endParaRPr lang="en-US" sz="2200" dirty="0"/>
          </a:p>
          <a:p>
            <a:endParaRPr lang="en-US" sz="2200" dirty="0"/>
          </a:p>
          <a:p>
            <a:endParaRPr lang="en-US" sz="2200" dirty="0"/>
          </a:p>
          <a:p>
            <a:pPr lvl="1"/>
            <a:endParaRPr lang="en-US" sz="1600" dirty="0"/>
          </a:p>
        </p:txBody>
      </p:sp>
      <p:sp>
        <p:nvSpPr>
          <p:cNvPr id="4" name="Title 3">
            <a:extLst>
              <a:ext uri="{FF2B5EF4-FFF2-40B4-BE49-F238E27FC236}">
                <a16:creationId xmlns:a16="http://schemas.microsoft.com/office/drawing/2014/main" id="{2E3FF8C0-E639-4F69-898D-3B8BB48CED48}"/>
              </a:ext>
            </a:extLst>
          </p:cNvPr>
          <p:cNvSpPr>
            <a:spLocks noGrp="1"/>
          </p:cNvSpPr>
          <p:nvPr>
            <p:ph type="title"/>
          </p:nvPr>
        </p:nvSpPr>
        <p:spPr/>
        <p:txBody>
          <a:bodyPr>
            <a:normAutofit/>
          </a:bodyPr>
          <a:lstStyle/>
          <a:p>
            <a:r>
              <a:rPr lang="en-US" dirty="0"/>
              <a:t>Section 99B planning strategies</a:t>
            </a:r>
            <a:endParaRPr lang="en-AU" dirty="0"/>
          </a:p>
        </p:txBody>
      </p:sp>
    </p:spTree>
    <p:extLst>
      <p:ext uri="{BB962C8B-B14F-4D97-AF65-F5344CB8AC3E}">
        <p14:creationId xmlns:p14="http://schemas.microsoft.com/office/powerpoint/2010/main" val="659632179"/>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ontent Placeholder 4">
            <a:extLst>
              <a:ext uri="{FF2B5EF4-FFF2-40B4-BE49-F238E27FC236}">
                <a16:creationId xmlns:a16="http://schemas.microsoft.com/office/drawing/2014/main" id="{438060FF-42B3-461E-B1D6-D584FB22774A}"/>
              </a:ext>
            </a:extLst>
          </p:cNvPr>
          <p:cNvSpPr>
            <a:spLocks noGrp="1"/>
          </p:cNvSpPr>
          <p:nvPr>
            <p:ph idx="1"/>
          </p:nvPr>
        </p:nvSpPr>
        <p:spPr/>
        <p:txBody>
          <a:bodyPr>
            <a:normAutofit/>
          </a:bodyPr>
          <a:lstStyle/>
          <a:p>
            <a:pPr>
              <a:buFont typeface="Wingdings" panose="05000000000000000000" pitchFamily="2" charset="2"/>
              <a:buChar char="q"/>
            </a:pPr>
            <a:r>
              <a:rPr lang="en-US" sz="2000" dirty="0"/>
              <a:t> Does the Australian resident beneficiary qualify as a “temporary resident”? (Section 99B assessments cannot apply in respect of distributions received by a temporary resident from a foreign trust, provided the income is from a foreign source).  </a:t>
            </a:r>
          </a:p>
          <a:p>
            <a:pPr marL="0" indent="0">
              <a:buNone/>
            </a:pPr>
            <a:endParaRPr lang="en-US" sz="2000" dirty="0"/>
          </a:p>
          <a:p>
            <a:pPr>
              <a:buFont typeface="Wingdings" panose="05000000000000000000" pitchFamily="2" charset="2"/>
              <a:buChar char="q"/>
            </a:pPr>
            <a:r>
              <a:rPr lang="en-US" sz="2000" dirty="0"/>
              <a:t>  Consider winding up NZ trust and distributing assets to a NZ controlling beneficiary inter-vivos.  They can then leave those assets to the Australian resident beneficiaries through their will.  The value of those assets at death should then attract the “corpus” exemption for 99B assessment purposes.</a:t>
            </a:r>
            <a:br>
              <a:rPr lang="en-US" sz="2000" dirty="0"/>
            </a:br>
            <a:endParaRPr lang="en-US" sz="2000" dirty="0"/>
          </a:p>
          <a:p>
            <a:pPr>
              <a:buFont typeface="Wingdings" panose="05000000000000000000" pitchFamily="2" charset="2"/>
              <a:buChar char="q"/>
            </a:pPr>
            <a:r>
              <a:rPr lang="en-US" sz="2000" dirty="0"/>
              <a:t>  Consider “migrating’ residency of the trust to Australia”.  This might allow a market value cost base uplift for CGT assets, and allow it to sell those assets with nil or minimal actual Australian CGT consequences and distribute the gains to Australian beneficiaries outside the operation of section 99B.</a:t>
            </a:r>
          </a:p>
          <a:p>
            <a:pPr marL="457200" indent="-457200">
              <a:buFont typeface="+mj-lt"/>
              <a:buAutoNum type="arabicPeriod"/>
            </a:pPr>
            <a:endParaRPr lang="en-US" sz="2200" dirty="0"/>
          </a:p>
          <a:p>
            <a:pPr marL="457200" indent="-457200">
              <a:buFont typeface="+mj-lt"/>
              <a:buAutoNum type="arabicPeriod"/>
            </a:pPr>
            <a:endParaRPr lang="en-US" sz="2200" dirty="0"/>
          </a:p>
          <a:p>
            <a:pPr marL="457200" indent="-457200">
              <a:buFont typeface="+mj-lt"/>
              <a:buAutoNum type="arabicPeriod"/>
            </a:pPr>
            <a:endParaRPr lang="en-US" sz="1800" dirty="0"/>
          </a:p>
          <a:p>
            <a:endParaRPr lang="en-US" sz="2200" dirty="0"/>
          </a:p>
          <a:p>
            <a:endParaRPr lang="en-US" sz="2200" dirty="0"/>
          </a:p>
          <a:p>
            <a:endParaRPr lang="en-US" sz="2200" dirty="0"/>
          </a:p>
          <a:p>
            <a:endParaRPr lang="en-US" sz="2200" dirty="0"/>
          </a:p>
          <a:p>
            <a:endParaRPr lang="en-US" sz="2200" dirty="0"/>
          </a:p>
          <a:p>
            <a:pPr lvl="1"/>
            <a:endParaRPr lang="en-US" sz="1600" dirty="0"/>
          </a:p>
        </p:txBody>
      </p:sp>
      <p:sp>
        <p:nvSpPr>
          <p:cNvPr id="4" name="Title 3">
            <a:extLst>
              <a:ext uri="{FF2B5EF4-FFF2-40B4-BE49-F238E27FC236}">
                <a16:creationId xmlns:a16="http://schemas.microsoft.com/office/drawing/2014/main" id="{2E3FF8C0-E639-4F69-898D-3B8BB48CED48}"/>
              </a:ext>
            </a:extLst>
          </p:cNvPr>
          <p:cNvSpPr>
            <a:spLocks noGrp="1"/>
          </p:cNvSpPr>
          <p:nvPr>
            <p:ph type="title"/>
          </p:nvPr>
        </p:nvSpPr>
        <p:spPr/>
        <p:txBody>
          <a:bodyPr>
            <a:normAutofit/>
          </a:bodyPr>
          <a:lstStyle/>
          <a:p>
            <a:r>
              <a:rPr lang="en-US" dirty="0"/>
              <a:t>Section 99B planning strategies</a:t>
            </a:r>
            <a:endParaRPr lang="en-AU" dirty="0"/>
          </a:p>
        </p:txBody>
      </p:sp>
    </p:spTree>
    <p:extLst>
      <p:ext uri="{BB962C8B-B14F-4D97-AF65-F5344CB8AC3E}">
        <p14:creationId xmlns:p14="http://schemas.microsoft.com/office/powerpoint/2010/main" val="2589457165"/>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1181D4-BFF2-481C-A92B-0DCABE0AB67E}"/>
              </a:ext>
            </a:extLst>
          </p:cNvPr>
          <p:cNvSpPr>
            <a:spLocks noGrp="1"/>
          </p:cNvSpPr>
          <p:nvPr>
            <p:ph type="title"/>
          </p:nvPr>
        </p:nvSpPr>
        <p:spPr/>
        <p:txBody>
          <a:bodyPr/>
          <a:lstStyle/>
          <a:p>
            <a:r>
              <a:rPr lang="en-NZ" dirty="0">
                <a:solidFill>
                  <a:srgbClr val="991B1E"/>
                </a:solidFill>
              </a:rPr>
              <a:t>Questions?</a:t>
            </a:r>
          </a:p>
        </p:txBody>
      </p:sp>
      <p:sp>
        <p:nvSpPr>
          <p:cNvPr id="3" name="Content Placeholder 2">
            <a:extLst>
              <a:ext uri="{FF2B5EF4-FFF2-40B4-BE49-F238E27FC236}">
                <a16:creationId xmlns:a16="http://schemas.microsoft.com/office/drawing/2014/main" id="{4A254D6D-B794-4AAA-B2A9-6F868DF39356}"/>
              </a:ext>
            </a:extLst>
          </p:cNvPr>
          <p:cNvSpPr>
            <a:spLocks noGrp="1"/>
          </p:cNvSpPr>
          <p:nvPr>
            <p:ph idx="1"/>
          </p:nvPr>
        </p:nvSpPr>
        <p:spPr/>
        <p:txBody>
          <a:bodyPr/>
          <a:lstStyle/>
          <a:p>
            <a:endParaRPr lang="en-NZ" dirty="0"/>
          </a:p>
        </p:txBody>
      </p:sp>
      <p:sp>
        <p:nvSpPr>
          <p:cNvPr id="4" name="Slide Number Placeholder 3">
            <a:extLst>
              <a:ext uri="{FF2B5EF4-FFF2-40B4-BE49-F238E27FC236}">
                <a16:creationId xmlns:a16="http://schemas.microsoft.com/office/drawing/2014/main" id="{60755AC1-F3FB-4730-8270-5ABB3D1374F3}"/>
              </a:ext>
            </a:extLst>
          </p:cNvPr>
          <p:cNvSpPr>
            <a:spLocks noGrp="1"/>
          </p:cNvSpPr>
          <p:nvPr>
            <p:ph type="sldNum" sz="quarter" idx="12"/>
          </p:nvPr>
        </p:nvSpPr>
        <p:spPr/>
        <p:txBody>
          <a:bodyPr/>
          <a:lstStyle/>
          <a:p>
            <a:fld id="{CAD51933-07E1-4905-B968-DCAF78F9F0C2}" type="slidenum">
              <a:rPr lang="en-NZ" smtClean="0"/>
              <a:t>38</a:t>
            </a:fld>
            <a:endParaRPr lang="en-NZ" dirty="0"/>
          </a:p>
        </p:txBody>
      </p:sp>
      <p:grpSp>
        <p:nvGrpSpPr>
          <p:cNvPr id="5" name="Group 4">
            <a:extLst>
              <a:ext uri="{FF2B5EF4-FFF2-40B4-BE49-F238E27FC236}">
                <a16:creationId xmlns:a16="http://schemas.microsoft.com/office/drawing/2014/main" id="{1D8DC00F-062B-4D80-B54A-FF3DF286A3F2}"/>
              </a:ext>
            </a:extLst>
          </p:cNvPr>
          <p:cNvGrpSpPr/>
          <p:nvPr/>
        </p:nvGrpSpPr>
        <p:grpSpPr>
          <a:xfrm>
            <a:off x="2434355" y="1346039"/>
            <a:ext cx="7416800" cy="3384550"/>
            <a:chOff x="684213" y="1844675"/>
            <a:chExt cx="7416800" cy="3384550"/>
          </a:xfrm>
        </p:grpSpPr>
        <p:sp>
          <p:nvSpPr>
            <p:cNvPr id="6" name="Oval Callout 9">
              <a:extLst>
                <a:ext uri="{FF2B5EF4-FFF2-40B4-BE49-F238E27FC236}">
                  <a16:creationId xmlns:a16="http://schemas.microsoft.com/office/drawing/2014/main" id="{B955B7AE-76DF-47E4-B00D-DEEBD3D17FA6}"/>
                </a:ext>
              </a:extLst>
            </p:cNvPr>
            <p:cNvSpPr>
              <a:spLocks noChangeArrowheads="1"/>
            </p:cNvSpPr>
            <p:nvPr/>
          </p:nvSpPr>
          <p:spPr bwMode="auto">
            <a:xfrm>
              <a:off x="1042988" y="3933825"/>
              <a:ext cx="4105275" cy="1295400"/>
            </a:xfrm>
            <a:prstGeom prst="wedgeEllipseCallout">
              <a:avLst>
                <a:gd name="adj1" fmla="val -28694"/>
                <a:gd name="adj2" fmla="val 83759"/>
              </a:avLst>
            </a:prstGeom>
            <a:solidFill>
              <a:schemeClr val="bg1"/>
            </a:solidFill>
            <a:ln w="9525" algn="ctr">
              <a:solidFill>
                <a:srgbClr val="28343D"/>
              </a:solidFill>
              <a:round/>
              <a:headEnd/>
              <a:tailEnd/>
            </a:ln>
          </p:spPr>
          <p:txBody>
            <a:bodyPr wrap="none" anchor="ctr"/>
            <a:lstStyle>
              <a:lvl1pPr>
                <a:spcBef>
                  <a:spcPct val="20000"/>
                </a:spcBef>
                <a:buClr>
                  <a:srgbClr val="7891B0"/>
                </a:buClr>
                <a:buFont typeface="Arial" panose="020B0604020202020204" pitchFamily="34" charset="0"/>
                <a:buChar char="•"/>
                <a:defRPr sz="2800">
                  <a:solidFill>
                    <a:srgbClr val="000000"/>
                  </a:solidFill>
                  <a:latin typeface="Arial Narrow" panose="020B0606020202030204" pitchFamily="34" charset="0"/>
                </a:defRPr>
              </a:lvl1pPr>
              <a:lvl2pPr marL="742950" indent="-285750">
                <a:spcBef>
                  <a:spcPct val="20000"/>
                </a:spcBef>
                <a:buClr>
                  <a:srgbClr val="7891B0"/>
                </a:buClr>
                <a:buFont typeface="Arial" panose="020B0604020202020204" pitchFamily="34" charset="0"/>
                <a:buChar char="•"/>
                <a:defRPr sz="2800">
                  <a:solidFill>
                    <a:srgbClr val="000000"/>
                  </a:solidFill>
                  <a:latin typeface="Arial Narrow" panose="020B0606020202030204" pitchFamily="34" charset="0"/>
                </a:defRPr>
              </a:lvl2pPr>
              <a:lvl3pPr marL="1143000" indent="-228600">
                <a:spcBef>
                  <a:spcPct val="20000"/>
                </a:spcBef>
                <a:buClr>
                  <a:srgbClr val="7891B0"/>
                </a:buClr>
                <a:buFont typeface="Arial" panose="020B0604020202020204" pitchFamily="34" charset="0"/>
                <a:buChar char="•"/>
                <a:defRPr sz="2400">
                  <a:solidFill>
                    <a:srgbClr val="000000"/>
                  </a:solidFill>
                  <a:latin typeface="Arial Narrow" panose="020B0606020202030204" pitchFamily="34" charset="0"/>
                </a:defRPr>
              </a:lvl3pPr>
              <a:lvl4pPr marL="1600200" indent="-228600">
                <a:spcBef>
                  <a:spcPct val="20000"/>
                </a:spcBef>
                <a:buClr>
                  <a:srgbClr val="7891B0"/>
                </a:buClr>
                <a:buFont typeface="Arial" panose="020B0604020202020204" pitchFamily="34" charset="0"/>
                <a:buChar char="•"/>
                <a:defRPr sz="2000">
                  <a:solidFill>
                    <a:srgbClr val="000000"/>
                  </a:solidFill>
                  <a:latin typeface="Arial Narrow" panose="020B0606020202030204" pitchFamily="34" charset="0"/>
                </a:defRPr>
              </a:lvl4pPr>
              <a:lvl5pPr marL="2057400" indent="-228600">
                <a:spcBef>
                  <a:spcPct val="20000"/>
                </a:spcBef>
                <a:buClr>
                  <a:srgbClr val="7891B0"/>
                </a:buClr>
                <a:buFont typeface="Arial" panose="020B0604020202020204" pitchFamily="34" charset="0"/>
                <a:buChar char="•"/>
                <a:defRPr sz="2000">
                  <a:solidFill>
                    <a:srgbClr val="000000"/>
                  </a:solidFill>
                  <a:latin typeface="Arial Narrow" panose="020B0606020202030204" pitchFamily="34" charset="0"/>
                </a:defRPr>
              </a:lvl5pPr>
              <a:lvl6pPr marL="2514600" indent="-228600" eaLnBrk="0" fontAlgn="base" hangingPunct="0">
                <a:spcBef>
                  <a:spcPct val="20000"/>
                </a:spcBef>
                <a:spcAft>
                  <a:spcPct val="0"/>
                </a:spcAft>
                <a:buClr>
                  <a:srgbClr val="7891B0"/>
                </a:buClr>
                <a:buFont typeface="Arial" panose="020B0604020202020204" pitchFamily="34" charset="0"/>
                <a:buChar char="•"/>
                <a:defRPr sz="2000">
                  <a:solidFill>
                    <a:srgbClr val="000000"/>
                  </a:solidFill>
                  <a:latin typeface="Arial Narrow" panose="020B0606020202030204" pitchFamily="34" charset="0"/>
                </a:defRPr>
              </a:lvl6pPr>
              <a:lvl7pPr marL="2971800" indent="-228600" eaLnBrk="0" fontAlgn="base" hangingPunct="0">
                <a:spcBef>
                  <a:spcPct val="20000"/>
                </a:spcBef>
                <a:spcAft>
                  <a:spcPct val="0"/>
                </a:spcAft>
                <a:buClr>
                  <a:srgbClr val="7891B0"/>
                </a:buClr>
                <a:buFont typeface="Arial" panose="020B0604020202020204" pitchFamily="34" charset="0"/>
                <a:buChar char="•"/>
                <a:defRPr sz="2000">
                  <a:solidFill>
                    <a:srgbClr val="000000"/>
                  </a:solidFill>
                  <a:latin typeface="Arial Narrow" panose="020B0606020202030204" pitchFamily="34" charset="0"/>
                </a:defRPr>
              </a:lvl7pPr>
              <a:lvl8pPr marL="3429000" indent="-228600" eaLnBrk="0" fontAlgn="base" hangingPunct="0">
                <a:spcBef>
                  <a:spcPct val="20000"/>
                </a:spcBef>
                <a:spcAft>
                  <a:spcPct val="0"/>
                </a:spcAft>
                <a:buClr>
                  <a:srgbClr val="7891B0"/>
                </a:buClr>
                <a:buFont typeface="Arial" panose="020B0604020202020204" pitchFamily="34" charset="0"/>
                <a:buChar char="•"/>
                <a:defRPr sz="2000">
                  <a:solidFill>
                    <a:srgbClr val="000000"/>
                  </a:solidFill>
                  <a:latin typeface="Arial Narrow" panose="020B0606020202030204" pitchFamily="34" charset="0"/>
                </a:defRPr>
              </a:lvl8pPr>
              <a:lvl9pPr marL="3886200" indent="-228600" eaLnBrk="0" fontAlgn="base" hangingPunct="0">
                <a:spcBef>
                  <a:spcPct val="20000"/>
                </a:spcBef>
                <a:spcAft>
                  <a:spcPct val="0"/>
                </a:spcAft>
                <a:buClr>
                  <a:srgbClr val="7891B0"/>
                </a:buClr>
                <a:buFont typeface="Arial" panose="020B0604020202020204" pitchFamily="34" charset="0"/>
                <a:buChar char="•"/>
                <a:defRPr sz="2000">
                  <a:solidFill>
                    <a:srgbClr val="000000"/>
                  </a:solidFill>
                  <a:latin typeface="Arial Narrow" panose="020B0606020202030204" pitchFamily="34" charset="0"/>
                </a:defRPr>
              </a:lvl9pPr>
            </a:lstStyle>
            <a:p>
              <a:pPr algn="ctr">
                <a:lnSpc>
                  <a:spcPts val="7000"/>
                </a:lnSpc>
                <a:spcBef>
                  <a:spcPct val="0"/>
                </a:spcBef>
                <a:buClrTx/>
                <a:buNone/>
              </a:pPr>
              <a:r>
                <a:rPr lang="en-US" altLang="en-US" sz="6000" dirty="0">
                  <a:solidFill>
                    <a:srgbClr val="991B1E"/>
                  </a:solidFill>
                  <a:latin typeface="Arial" panose="020B0604020202020204" pitchFamily="34" charset="0"/>
                </a:rPr>
                <a:t>say</a:t>
              </a:r>
              <a:endParaRPr lang="en-NZ" altLang="en-US" sz="8000" dirty="0">
                <a:solidFill>
                  <a:srgbClr val="991B1E"/>
                </a:solidFill>
                <a:latin typeface="Arial" panose="020B0604020202020204" pitchFamily="34" charset="0"/>
              </a:endParaRPr>
            </a:p>
          </p:txBody>
        </p:sp>
        <p:sp>
          <p:nvSpPr>
            <p:cNvPr id="7" name="Oval Callout 8">
              <a:extLst>
                <a:ext uri="{FF2B5EF4-FFF2-40B4-BE49-F238E27FC236}">
                  <a16:creationId xmlns:a16="http://schemas.microsoft.com/office/drawing/2014/main" id="{289FC94C-CE5F-485C-BF11-F1241ADDC7D9}"/>
                </a:ext>
              </a:extLst>
            </p:cNvPr>
            <p:cNvSpPr>
              <a:spLocks noChangeArrowheads="1"/>
            </p:cNvSpPr>
            <p:nvPr/>
          </p:nvSpPr>
          <p:spPr bwMode="auto">
            <a:xfrm>
              <a:off x="3708400" y="2997200"/>
              <a:ext cx="4392613" cy="1655763"/>
            </a:xfrm>
            <a:prstGeom prst="wedgeEllipseCallout">
              <a:avLst>
                <a:gd name="adj1" fmla="val 26583"/>
                <a:gd name="adj2" fmla="val 72616"/>
              </a:avLst>
            </a:prstGeom>
            <a:solidFill>
              <a:schemeClr val="bg1"/>
            </a:solidFill>
            <a:ln w="9525" algn="ctr">
              <a:solidFill>
                <a:srgbClr val="28343D"/>
              </a:solidFill>
              <a:round/>
              <a:headEnd/>
              <a:tailEnd/>
            </a:ln>
          </p:spPr>
          <p:txBody>
            <a:bodyPr wrap="none" anchor="ctr"/>
            <a:lstStyle>
              <a:lvl1pPr>
                <a:spcBef>
                  <a:spcPct val="20000"/>
                </a:spcBef>
                <a:buClr>
                  <a:srgbClr val="7891B0"/>
                </a:buClr>
                <a:buFont typeface="Arial" panose="020B0604020202020204" pitchFamily="34" charset="0"/>
                <a:buChar char="•"/>
                <a:defRPr sz="2800">
                  <a:solidFill>
                    <a:srgbClr val="000000"/>
                  </a:solidFill>
                  <a:latin typeface="Arial Narrow" panose="020B0606020202030204" pitchFamily="34" charset="0"/>
                </a:defRPr>
              </a:lvl1pPr>
              <a:lvl2pPr marL="742950" indent="-285750">
                <a:spcBef>
                  <a:spcPct val="20000"/>
                </a:spcBef>
                <a:buClr>
                  <a:srgbClr val="7891B0"/>
                </a:buClr>
                <a:buFont typeface="Arial" panose="020B0604020202020204" pitchFamily="34" charset="0"/>
                <a:buChar char="•"/>
                <a:defRPr sz="2800">
                  <a:solidFill>
                    <a:srgbClr val="000000"/>
                  </a:solidFill>
                  <a:latin typeface="Arial Narrow" panose="020B0606020202030204" pitchFamily="34" charset="0"/>
                </a:defRPr>
              </a:lvl2pPr>
              <a:lvl3pPr marL="1143000" indent="-228600">
                <a:spcBef>
                  <a:spcPct val="20000"/>
                </a:spcBef>
                <a:buClr>
                  <a:srgbClr val="7891B0"/>
                </a:buClr>
                <a:buFont typeface="Arial" panose="020B0604020202020204" pitchFamily="34" charset="0"/>
                <a:buChar char="•"/>
                <a:defRPr sz="2400">
                  <a:solidFill>
                    <a:srgbClr val="000000"/>
                  </a:solidFill>
                  <a:latin typeface="Arial Narrow" panose="020B0606020202030204" pitchFamily="34" charset="0"/>
                </a:defRPr>
              </a:lvl3pPr>
              <a:lvl4pPr marL="1600200" indent="-228600">
                <a:spcBef>
                  <a:spcPct val="20000"/>
                </a:spcBef>
                <a:buClr>
                  <a:srgbClr val="7891B0"/>
                </a:buClr>
                <a:buFont typeface="Arial" panose="020B0604020202020204" pitchFamily="34" charset="0"/>
                <a:buChar char="•"/>
                <a:defRPr sz="2000">
                  <a:solidFill>
                    <a:srgbClr val="000000"/>
                  </a:solidFill>
                  <a:latin typeface="Arial Narrow" panose="020B0606020202030204" pitchFamily="34" charset="0"/>
                </a:defRPr>
              </a:lvl4pPr>
              <a:lvl5pPr marL="2057400" indent="-228600">
                <a:spcBef>
                  <a:spcPct val="20000"/>
                </a:spcBef>
                <a:buClr>
                  <a:srgbClr val="7891B0"/>
                </a:buClr>
                <a:buFont typeface="Arial" panose="020B0604020202020204" pitchFamily="34" charset="0"/>
                <a:buChar char="•"/>
                <a:defRPr sz="2000">
                  <a:solidFill>
                    <a:srgbClr val="000000"/>
                  </a:solidFill>
                  <a:latin typeface="Arial Narrow" panose="020B0606020202030204" pitchFamily="34" charset="0"/>
                </a:defRPr>
              </a:lvl5pPr>
              <a:lvl6pPr marL="2514600" indent="-228600" eaLnBrk="0" fontAlgn="base" hangingPunct="0">
                <a:spcBef>
                  <a:spcPct val="20000"/>
                </a:spcBef>
                <a:spcAft>
                  <a:spcPct val="0"/>
                </a:spcAft>
                <a:buClr>
                  <a:srgbClr val="7891B0"/>
                </a:buClr>
                <a:buFont typeface="Arial" panose="020B0604020202020204" pitchFamily="34" charset="0"/>
                <a:buChar char="•"/>
                <a:defRPr sz="2000">
                  <a:solidFill>
                    <a:srgbClr val="000000"/>
                  </a:solidFill>
                  <a:latin typeface="Arial Narrow" panose="020B0606020202030204" pitchFamily="34" charset="0"/>
                </a:defRPr>
              </a:lvl6pPr>
              <a:lvl7pPr marL="2971800" indent="-228600" eaLnBrk="0" fontAlgn="base" hangingPunct="0">
                <a:spcBef>
                  <a:spcPct val="20000"/>
                </a:spcBef>
                <a:spcAft>
                  <a:spcPct val="0"/>
                </a:spcAft>
                <a:buClr>
                  <a:srgbClr val="7891B0"/>
                </a:buClr>
                <a:buFont typeface="Arial" panose="020B0604020202020204" pitchFamily="34" charset="0"/>
                <a:buChar char="•"/>
                <a:defRPr sz="2000">
                  <a:solidFill>
                    <a:srgbClr val="000000"/>
                  </a:solidFill>
                  <a:latin typeface="Arial Narrow" panose="020B0606020202030204" pitchFamily="34" charset="0"/>
                </a:defRPr>
              </a:lvl7pPr>
              <a:lvl8pPr marL="3429000" indent="-228600" eaLnBrk="0" fontAlgn="base" hangingPunct="0">
                <a:spcBef>
                  <a:spcPct val="20000"/>
                </a:spcBef>
                <a:spcAft>
                  <a:spcPct val="0"/>
                </a:spcAft>
                <a:buClr>
                  <a:srgbClr val="7891B0"/>
                </a:buClr>
                <a:buFont typeface="Arial" panose="020B0604020202020204" pitchFamily="34" charset="0"/>
                <a:buChar char="•"/>
                <a:defRPr sz="2000">
                  <a:solidFill>
                    <a:srgbClr val="000000"/>
                  </a:solidFill>
                  <a:latin typeface="Arial Narrow" panose="020B0606020202030204" pitchFamily="34" charset="0"/>
                </a:defRPr>
              </a:lvl8pPr>
              <a:lvl9pPr marL="3886200" indent="-228600" eaLnBrk="0" fontAlgn="base" hangingPunct="0">
                <a:spcBef>
                  <a:spcPct val="20000"/>
                </a:spcBef>
                <a:spcAft>
                  <a:spcPct val="0"/>
                </a:spcAft>
                <a:buClr>
                  <a:srgbClr val="7891B0"/>
                </a:buClr>
                <a:buFont typeface="Arial" panose="020B0604020202020204" pitchFamily="34" charset="0"/>
                <a:buChar char="•"/>
                <a:defRPr sz="2000">
                  <a:solidFill>
                    <a:srgbClr val="000000"/>
                  </a:solidFill>
                  <a:latin typeface="Arial Narrow" panose="020B0606020202030204" pitchFamily="34" charset="0"/>
                </a:defRPr>
              </a:lvl9pPr>
            </a:lstStyle>
            <a:p>
              <a:pPr algn="ctr">
                <a:lnSpc>
                  <a:spcPts val="6000"/>
                </a:lnSpc>
                <a:spcBef>
                  <a:spcPct val="0"/>
                </a:spcBef>
                <a:buClrTx/>
                <a:buNone/>
              </a:pPr>
              <a:r>
                <a:rPr lang="en-US" altLang="en-US" sz="6000" dirty="0">
                  <a:solidFill>
                    <a:srgbClr val="991B1E"/>
                  </a:solidFill>
                  <a:latin typeface="Arial" panose="020B0604020202020204" pitchFamily="34" charset="0"/>
                </a:rPr>
                <a:t>your</a:t>
              </a:r>
              <a:endParaRPr lang="en-NZ" altLang="en-US" sz="8000" dirty="0">
                <a:solidFill>
                  <a:srgbClr val="991B1E"/>
                </a:solidFill>
                <a:latin typeface="Arial" panose="020B0604020202020204" pitchFamily="34" charset="0"/>
              </a:endParaRPr>
            </a:p>
          </p:txBody>
        </p:sp>
        <p:sp>
          <p:nvSpPr>
            <p:cNvPr id="8" name="Oval Callout 7">
              <a:extLst>
                <a:ext uri="{FF2B5EF4-FFF2-40B4-BE49-F238E27FC236}">
                  <a16:creationId xmlns:a16="http://schemas.microsoft.com/office/drawing/2014/main" id="{A6E0BDC0-8A63-4F2E-A6B1-B27909FDD920}"/>
                </a:ext>
              </a:extLst>
            </p:cNvPr>
            <p:cNvSpPr>
              <a:spLocks noChangeArrowheads="1"/>
            </p:cNvSpPr>
            <p:nvPr/>
          </p:nvSpPr>
          <p:spPr bwMode="auto">
            <a:xfrm>
              <a:off x="684213" y="1844675"/>
              <a:ext cx="4248150" cy="1728788"/>
            </a:xfrm>
            <a:prstGeom prst="wedgeEllipseCallout">
              <a:avLst>
                <a:gd name="adj1" fmla="val -39912"/>
                <a:gd name="adj2" fmla="val 67394"/>
              </a:avLst>
            </a:prstGeom>
            <a:solidFill>
              <a:schemeClr val="bg1"/>
            </a:solidFill>
            <a:ln w="9525" algn="ctr">
              <a:solidFill>
                <a:srgbClr val="28343D"/>
              </a:solidFill>
              <a:round/>
              <a:headEnd/>
              <a:tailEnd/>
            </a:ln>
          </p:spPr>
          <p:txBody>
            <a:bodyPr wrap="none" anchor="ctr"/>
            <a:lstStyle>
              <a:lvl1pPr>
                <a:spcBef>
                  <a:spcPct val="20000"/>
                </a:spcBef>
                <a:buClr>
                  <a:srgbClr val="7891B0"/>
                </a:buClr>
                <a:buFont typeface="Arial" panose="020B0604020202020204" pitchFamily="34" charset="0"/>
                <a:buChar char="•"/>
                <a:defRPr sz="2800">
                  <a:solidFill>
                    <a:srgbClr val="000000"/>
                  </a:solidFill>
                  <a:latin typeface="Arial Narrow" panose="020B0606020202030204" pitchFamily="34" charset="0"/>
                </a:defRPr>
              </a:lvl1pPr>
              <a:lvl2pPr marL="742950" indent="-285750">
                <a:spcBef>
                  <a:spcPct val="20000"/>
                </a:spcBef>
                <a:buClr>
                  <a:srgbClr val="7891B0"/>
                </a:buClr>
                <a:buFont typeface="Arial" panose="020B0604020202020204" pitchFamily="34" charset="0"/>
                <a:buChar char="•"/>
                <a:defRPr sz="2800">
                  <a:solidFill>
                    <a:srgbClr val="000000"/>
                  </a:solidFill>
                  <a:latin typeface="Arial Narrow" panose="020B0606020202030204" pitchFamily="34" charset="0"/>
                </a:defRPr>
              </a:lvl2pPr>
              <a:lvl3pPr marL="1143000" indent="-228600">
                <a:spcBef>
                  <a:spcPct val="20000"/>
                </a:spcBef>
                <a:buClr>
                  <a:srgbClr val="7891B0"/>
                </a:buClr>
                <a:buFont typeface="Arial" panose="020B0604020202020204" pitchFamily="34" charset="0"/>
                <a:buChar char="•"/>
                <a:defRPr sz="2400">
                  <a:solidFill>
                    <a:srgbClr val="000000"/>
                  </a:solidFill>
                  <a:latin typeface="Arial Narrow" panose="020B0606020202030204" pitchFamily="34" charset="0"/>
                </a:defRPr>
              </a:lvl3pPr>
              <a:lvl4pPr marL="1600200" indent="-228600">
                <a:spcBef>
                  <a:spcPct val="20000"/>
                </a:spcBef>
                <a:buClr>
                  <a:srgbClr val="7891B0"/>
                </a:buClr>
                <a:buFont typeface="Arial" panose="020B0604020202020204" pitchFamily="34" charset="0"/>
                <a:buChar char="•"/>
                <a:defRPr sz="2000">
                  <a:solidFill>
                    <a:srgbClr val="000000"/>
                  </a:solidFill>
                  <a:latin typeface="Arial Narrow" panose="020B0606020202030204" pitchFamily="34" charset="0"/>
                </a:defRPr>
              </a:lvl4pPr>
              <a:lvl5pPr marL="2057400" indent="-228600">
                <a:spcBef>
                  <a:spcPct val="20000"/>
                </a:spcBef>
                <a:buClr>
                  <a:srgbClr val="7891B0"/>
                </a:buClr>
                <a:buFont typeface="Arial" panose="020B0604020202020204" pitchFamily="34" charset="0"/>
                <a:buChar char="•"/>
                <a:defRPr sz="2000">
                  <a:solidFill>
                    <a:srgbClr val="000000"/>
                  </a:solidFill>
                  <a:latin typeface="Arial Narrow" panose="020B0606020202030204" pitchFamily="34" charset="0"/>
                </a:defRPr>
              </a:lvl5pPr>
              <a:lvl6pPr marL="2514600" indent="-228600" eaLnBrk="0" fontAlgn="base" hangingPunct="0">
                <a:spcBef>
                  <a:spcPct val="20000"/>
                </a:spcBef>
                <a:spcAft>
                  <a:spcPct val="0"/>
                </a:spcAft>
                <a:buClr>
                  <a:srgbClr val="7891B0"/>
                </a:buClr>
                <a:buFont typeface="Arial" panose="020B0604020202020204" pitchFamily="34" charset="0"/>
                <a:buChar char="•"/>
                <a:defRPr sz="2000">
                  <a:solidFill>
                    <a:srgbClr val="000000"/>
                  </a:solidFill>
                  <a:latin typeface="Arial Narrow" panose="020B0606020202030204" pitchFamily="34" charset="0"/>
                </a:defRPr>
              </a:lvl6pPr>
              <a:lvl7pPr marL="2971800" indent="-228600" eaLnBrk="0" fontAlgn="base" hangingPunct="0">
                <a:spcBef>
                  <a:spcPct val="20000"/>
                </a:spcBef>
                <a:spcAft>
                  <a:spcPct val="0"/>
                </a:spcAft>
                <a:buClr>
                  <a:srgbClr val="7891B0"/>
                </a:buClr>
                <a:buFont typeface="Arial" panose="020B0604020202020204" pitchFamily="34" charset="0"/>
                <a:buChar char="•"/>
                <a:defRPr sz="2000">
                  <a:solidFill>
                    <a:srgbClr val="000000"/>
                  </a:solidFill>
                  <a:latin typeface="Arial Narrow" panose="020B0606020202030204" pitchFamily="34" charset="0"/>
                </a:defRPr>
              </a:lvl7pPr>
              <a:lvl8pPr marL="3429000" indent="-228600" eaLnBrk="0" fontAlgn="base" hangingPunct="0">
                <a:spcBef>
                  <a:spcPct val="20000"/>
                </a:spcBef>
                <a:spcAft>
                  <a:spcPct val="0"/>
                </a:spcAft>
                <a:buClr>
                  <a:srgbClr val="7891B0"/>
                </a:buClr>
                <a:buFont typeface="Arial" panose="020B0604020202020204" pitchFamily="34" charset="0"/>
                <a:buChar char="•"/>
                <a:defRPr sz="2000">
                  <a:solidFill>
                    <a:srgbClr val="000000"/>
                  </a:solidFill>
                  <a:latin typeface="Arial Narrow" panose="020B0606020202030204" pitchFamily="34" charset="0"/>
                </a:defRPr>
              </a:lvl8pPr>
              <a:lvl9pPr marL="3886200" indent="-228600" eaLnBrk="0" fontAlgn="base" hangingPunct="0">
                <a:spcBef>
                  <a:spcPct val="20000"/>
                </a:spcBef>
                <a:spcAft>
                  <a:spcPct val="0"/>
                </a:spcAft>
                <a:buClr>
                  <a:srgbClr val="7891B0"/>
                </a:buClr>
                <a:buFont typeface="Arial" panose="020B0604020202020204" pitchFamily="34" charset="0"/>
                <a:buChar char="•"/>
                <a:defRPr sz="2000">
                  <a:solidFill>
                    <a:srgbClr val="000000"/>
                  </a:solidFill>
                  <a:latin typeface="Arial Narrow" panose="020B0606020202030204" pitchFamily="34" charset="0"/>
                </a:defRPr>
              </a:lvl9pPr>
            </a:lstStyle>
            <a:p>
              <a:pPr algn="ctr">
                <a:spcBef>
                  <a:spcPct val="0"/>
                </a:spcBef>
                <a:buClrTx/>
                <a:buFontTx/>
                <a:buNone/>
              </a:pPr>
              <a:r>
                <a:rPr lang="en-US" altLang="en-US" sz="6000" dirty="0">
                  <a:solidFill>
                    <a:srgbClr val="991B1E"/>
                  </a:solidFill>
                  <a:latin typeface="Arial" panose="020B0604020202020204" pitchFamily="34" charset="0"/>
                </a:rPr>
                <a:t>Have</a:t>
              </a:r>
              <a:endParaRPr lang="en-NZ" altLang="en-US" sz="8000" dirty="0">
                <a:solidFill>
                  <a:srgbClr val="991B1E"/>
                </a:solidFill>
                <a:latin typeface="Arial" panose="020B0604020202020204" pitchFamily="34" charset="0"/>
              </a:endParaRPr>
            </a:p>
          </p:txBody>
        </p:sp>
      </p:grpSp>
    </p:spTree>
    <p:extLst>
      <p:ext uri="{BB962C8B-B14F-4D97-AF65-F5344CB8AC3E}">
        <p14:creationId xmlns:p14="http://schemas.microsoft.com/office/powerpoint/2010/main" val="1674287705"/>
      </p:ext>
    </p:extLst>
  </p:cSld>
  <p:clrMapOvr>
    <a:masterClrMapping/>
  </p:clrMapOvr>
</p:sld>
</file>

<file path=ppt/theme/theme1.xml><?xml version="1.0" encoding="utf-8"?>
<a:theme xmlns:a="http://schemas.openxmlformats.org/drawingml/2006/main" name="Office Theme">
  <a:themeElements>
    <a:clrScheme name="Findex Secondary V1">
      <a:dk1>
        <a:srgbClr val="1B1F22"/>
      </a:dk1>
      <a:lt1>
        <a:srgbClr val="F2F5F6"/>
      </a:lt1>
      <a:dk2>
        <a:srgbClr val="1B1F22"/>
      </a:dk2>
      <a:lt2>
        <a:srgbClr val="FFFFFF"/>
      </a:lt2>
      <a:accent1>
        <a:srgbClr val="D43D27"/>
      </a:accent1>
      <a:accent2>
        <a:srgbClr val="7AC144"/>
      </a:accent2>
      <a:accent3>
        <a:srgbClr val="5DABDF"/>
      </a:accent3>
      <a:accent4>
        <a:srgbClr val="BFBFBF"/>
      </a:accent4>
      <a:accent5>
        <a:srgbClr val="7DABB1"/>
      </a:accent5>
      <a:accent6>
        <a:srgbClr val="1D656F"/>
      </a:accent6>
      <a:hlink>
        <a:srgbClr val="D43D27"/>
      </a:hlink>
      <a:folHlink>
        <a:srgbClr val="BAC3C7"/>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3185</TotalTime>
  <Words>6010</Words>
  <Application>Microsoft Office PowerPoint</Application>
  <PresentationFormat>Widescreen</PresentationFormat>
  <Paragraphs>553</Paragraphs>
  <Slides>38</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38</vt:i4>
      </vt:variant>
    </vt:vector>
  </HeadingPairs>
  <TitlesOfParts>
    <vt:vector size="42" baseType="lpstr">
      <vt:lpstr>Arial</vt:lpstr>
      <vt:lpstr>Calibri</vt:lpstr>
      <vt:lpstr>Wingdings</vt:lpstr>
      <vt:lpstr>Office Theme</vt:lpstr>
      <vt:lpstr>Australian kids or relatives? Australian tax considerations Kiwis should be aware of when passing wealth over ditch.</vt:lpstr>
      <vt:lpstr>PowerPoint Presentation</vt:lpstr>
      <vt:lpstr>Australian Individuals</vt:lpstr>
      <vt:lpstr>Individual Resident Marginal Tax Rates</vt:lpstr>
      <vt:lpstr>Individual Non-Resident Marginal Tax Rates</vt:lpstr>
      <vt:lpstr>Australian Tax Residency Definition for Individuals</vt:lpstr>
      <vt:lpstr>Individual Residency- Test 1 “Resides under Ordinary Concepts”</vt:lpstr>
      <vt:lpstr>Modified taxing rules for “Temporary Residents”</vt:lpstr>
      <vt:lpstr>CGT- What is taxable Australian property?</vt:lpstr>
      <vt:lpstr>Gifts are not taxable in Australia</vt:lpstr>
      <vt:lpstr>Australian CGT Considerations of gifts of property to an Australian tax resident</vt:lpstr>
      <vt:lpstr>Australian CGT Considerations on gifting property to an Australian a foreign resident or temporary resident</vt:lpstr>
      <vt:lpstr>Australian CGT Considerations on gifting property to an Australian a foreign resident or temporary resident</vt:lpstr>
      <vt:lpstr>Australian CGT Considerations on gifting property to an Australian a foreign resident or temporary resident</vt:lpstr>
      <vt:lpstr>CGT rules &amp; death</vt:lpstr>
      <vt:lpstr>CGT rules &amp; death</vt:lpstr>
      <vt:lpstr>CGT Discount </vt:lpstr>
      <vt:lpstr>Case Study   - NZ inheritance </vt:lpstr>
      <vt:lpstr>Case Study   - NZ inheritance </vt:lpstr>
      <vt:lpstr>Use of Testamentary Trusts in Australia</vt:lpstr>
      <vt:lpstr>Tax advantages of Testamentary Trusts in Australia</vt:lpstr>
      <vt:lpstr>Case Study: Testamentary Trust</vt:lpstr>
      <vt:lpstr>Case Study: Testamentary Trust</vt:lpstr>
      <vt:lpstr>Australian tax implications on “control” of companies or trusts passing to Australian beneficiaries on death</vt:lpstr>
      <vt:lpstr>Australian tax implications on “control” of a NZ trust passing to Australian beneficiaries on death</vt:lpstr>
      <vt:lpstr>Australian tax implications on “control” of a NZ company passing to Australian beneficiaries on death</vt:lpstr>
      <vt:lpstr>Case Study: Australian tax implications on “control” of NZ trust and company passing to Australia on death</vt:lpstr>
      <vt:lpstr>Case Study: Australian tax implications on “control” of NZ trust and company passing to Australia on death</vt:lpstr>
      <vt:lpstr>Case Study: Australian tax implications on “control” of NZ trust and company passing to Australia on death</vt:lpstr>
      <vt:lpstr>Section 99B- taxation of foreign trust distributions to Australian residents</vt:lpstr>
      <vt:lpstr>Section 99B- The corpus exemption</vt:lpstr>
      <vt:lpstr>99B Assessment Case- The Campbell Case 2019 </vt:lpstr>
      <vt:lpstr>99B Assessment Case- The Campbell Case 2019 </vt:lpstr>
      <vt:lpstr>99B Assessment Case- The Campbell Case 2019 </vt:lpstr>
      <vt:lpstr>Section 99B application to foreign deceased estates</vt:lpstr>
      <vt:lpstr>Section 99B planning strategies</vt:lpstr>
      <vt:lpstr>Section 99B planning strategies</vt:lpstr>
      <vt:lpstr>Questions?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Laura Swain</dc:creator>
  <cp:lastModifiedBy>Jordan Edwards</cp:lastModifiedBy>
  <cp:revision>55</cp:revision>
  <cp:lastPrinted>2023-02-07T00:36:46Z</cp:lastPrinted>
  <dcterms:created xsi:type="dcterms:W3CDTF">2019-03-07T05:10:11Z</dcterms:created>
  <dcterms:modified xsi:type="dcterms:W3CDTF">2024-03-13T00:06:04Z</dcterms:modified>
</cp:coreProperties>
</file>