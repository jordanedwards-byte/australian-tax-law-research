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5" r:id="rId4"/>
    <p:sldId id="266" r:id="rId5"/>
    <p:sldId id="267" r:id="rId6"/>
    <p:sldId id="268" r:id="rId7"/>
    <p:sldId id="270" r:id="rId8"/>
    <p:sldId id="272" r:id="rId9"/>
    <p:sldId id="273" r:id="rId10"/>
    <p:sldId id="278" r:id="rId11"/>
    <p:sldId id="263" r:id="rId12"/>
    <p:sldId id="277" r:id="rId13"/>
    <p:sldId id="275" r:id="rId14"/>
    <p:sldId id="256" r:id="rId15"/>
  </p:sldIdLst>
  <p:sldSz cx="9144000" cy="6858000" type="screen4x3"/>
  <p:notesSz cx="6858000" cy="9144000"/>
  <p:defaultTextStyle>
    <a:lvl1pPr>
      <a:defRPr>
        <a:latin typeface="Arial"/>
        <a:ea typeface="Arial"/>
        <a:cs typeface="Arial"/>
        <a:sym typeface="Arial"/>
      </a:defRPr>
    </a:lvl1pPr>
    <a:lvl2pPr indent="457200">
      <a:defRPr>
        <a:latin typeface="Arial"/>
        <a:ea typeface="Arial"/>
        <a:cs typeface="Arial"/>
        <a:sym typeface="Arial"/>
      </a:defRPr>
    </a:lvl2pPr>
    <a:lvl3pPr indent="914400">
      <a:defRPr>
        <a:latin typeface="Arial"/>
        <a:ea typeface="Arial"/>
        <a:cs typeface="Arial"/>
        <a:sym typeface="Arial"/>
      </a:defRPr>
    </a:lvl3pPr>
    <a:lvl4pPr indent="1371600">
      <a:defRPr>
        <a:latin typeface="Arial"/>
        <a:ea typeface="Arial"/>
        <a:cs typeface="Arial"/>
        <a:sym typeface="Arial"/>
      </a:defRPr>
    </a:lvl4pPr>
    <a:lvl5pPr indent="1828800">
      <a:defRPr>
        <a:latin typeface="Arial"/>
        <a:ea typeface="Arial"/>
        <a:cs typeface="Arial"/>
        <a:sym typeface="Arial"/>
      </a:defRPr>
    </a:lvl5pPr>
    <a:lvl6pPr indent="2286000">
      <a:defRPr>
        <a:latin typeface="Arial"/>
        <a:ea typeface="Arial"/>
        <a:cs typeface="Arial"/>
        <a:sym typeface="Arial"/>
      </a:defRPr>
    </a:lvl6pPr>
    <a:lvl7pPr indent="2743200">
      <a:defRPr>
        <a:latin typeface="Arial"/>
        <a:ea typeface="Arial"/>
        <a:cs typeface="Arial"/>
        <a:sym typeface="Arial"/>
      </a:defRPr>
    </a:lvl7pPr>
    <a:lvl8pPr indent="3200400">
      <a:defRPr>
        <a:latin typeface="Arial"/>
        <a:ea typeface="Arial"/>
        <a:cs typeface="Arial"/>
        <a:sym typeface="Arial"/>
      </a:defRPr>
    </a:lvl8pPr>
    <a:lvl9pPr indent="3657600">
      <a:defRPr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BE0E3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BE0E3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BE0E3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CCCD9"/>
          </a:solidFill>
        </a:fill>
      </a:tcStyle>
    </a:wholeTbl>
    <a:band2H>
      <a:tcTxStyle/>
      <a:tcStyle>
        <a:tcBdr/>
        <a:fill>
          <a:solidFill>
            <a:srgbClr val="E7E7ED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D2D8A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D2D8A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D2D8A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BE0E3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BE0E3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8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39446978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BW-LOGO-CYAN-GRE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088600" y="1529085"/>
            <a:ext cx="6966800" cy="379983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LUS-GRAPHIC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880690" y="-316492"/>
            <a:ext cx="5273152" cy="2813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xfrm>
            <a:off x="685800" y="2792313"/>
            <a:ext cx="7772400" cy="2928144"/>
          </a:xfrm>
          <a:prstGeom prst="rect">
            <a:avLst/>
          </a:prstGeom>
        </p:spPr>
        <p:txBody>
          <a:bodyPr/>
          <a:lstStyle>
            <a:lvl1pPr algn="ctr">
              <a:lnSpc>
                <a:spcPct val="80000"/>
              </a:lnSpc>
              <a:defRPr sz="7000" spc="-70"/>
            </a:lvl1pPr>
          </a:lstStyle>
          <a:p>
            <a:pPr lvl="0">
              <a:defRPr sz="1800" b="0" spc="0">
                <a:solidFill>
                  <a:srgbClr val="000000"/>
                </a:solidFill>
              </a:defRPr>
            </a:pPr>
            <a:r>
              <a:rPr sz="7000" b="1" spc="-70">
                <a:solidFill>
                  <a:srgbClr val="0E9ED7"/>
                </a:solidFill>
              </a:rPr>
              <a:t>Title Text</a:t>
            </a:r>
          </a:p>
        </p:txBody>
      </p:sp>
      <p:pic>
        <p:nvPicPr>
          <p:cNvPr id="11" name="LBW-LOGO-CYAN-GRE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39300" y="386085"/>
            <a:ext cx="2675176" cy="1459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PLUS-GRAPHIC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880690" y="-316492"/>
            <a:ext cx="5273152" cy="2813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400" b="1">
                <a:solidFill>
                  <a:srgbClr val="0E9ED7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508000" indent="-254000">
              <a:spcBef>
                <a:spcPts val="600"/>
              </a:spcBef>
              <a:buChar char="•"/>
            </a:lvl2pPr>
            <a:lvl3pPr marL="762000" indent="-254000">
              <a:spcBef>
                <a:spcPts val="600"/>
              </a:spcBef>
              <a:buChar char="-"/>
            </a:lvl3pPr>
            <a:lvl4pPr marL="1016000" indent="-254000">
              <a:spcBef>
                <a:spcPts val="600"/>
              </a:spcBef>
              <a:buChar char="-"/>
            </a:lvl4pPr>
            <a:lvl5pPr marL="1270000" indent="-254000">
              <a:spcBef>
                <a:spcPts val="600"/>
              </a:spcBef>
              <a:buChar char="-"/>
            </a:lvl5pPr>
          </a:lstStyle>
          <a:p>
            <a:pPr lvl="0">
              <a:defRPr sz="1800"/>
            </a:pPr>
            <a:r>
              <a:rPr sz="2600"/>
              <a:t>Body Level One</a:t>
            </a:r>
          </a:p>
          <a:p>
            <a:pPr lvl="1">
              <a:defRPr sz="1800"/>
            </a:pPr>
            <a:r>
              <a:rPr sz="2600"/>
              <a:t>Body Level Two</a:t>
            </a:r>
          </a:p>
          <a:p>
            <a:pPr lvl="2">
              <a:defRPr sz="1800"/>
            </a:pPr>
            <a:r>
              <a:rPr sz="2600"/>
              <a:t>Body Level Three</a:t>
            </a:r>
          </a:p>
          <a:p>
            <a:pPr lvl="3">
              <a:defRPr sz="1800"/>
            </a:pPr>
            <a:r>
              <a:rPr sz="2600"/>
              <a:t>Body Level Four</a:t>
            </a:r>
          </a:p>
          <a:p>
            <a:pPr lvl="4">
              <a:defRPr sz="1800"/>
            </a:pPr>
            <a:r>
              <a:rPr sz="2600"/>
              <a:t>Body Level Five</a:t>
            </a:r>
          </a:p>
        </p:txBody>
      </p:sp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US-GRAPHIC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3880690" y="-1559852"/>
            <a:ext cx="5273152" cy="28136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763587" y="1373832"/>
            <a:ext cx="7616826" cy="634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400" b="1">
                <a:solidFill>
                  <a:srgbClr val="0E9ED7"/>
                </a:solidFill>
              </a:rP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761206" y="2158587"/>
            <a:ext cx="7621588" cy="4443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2pPr marL="508000" indent="-254000">
              <a:spcBef>
                <a:spcPts val="600"/>
              </a:spcBef>
              <a:buChar char="•"/>
            </a:lvl2pPr>
            <a:lvl3pPr marL="762000" indent="-254000">
              <a:spcBef>
                <a:spcPts val="600"/>
              </a:spcBef>
              <a:buChar char="-"/>
            </a:lvl3pPr>
            <a:lvl4pPr marL="1016000" indent="-254000">
              <a:spcBef>
                <a:spcPts val="600"/>
              </a:spcBef>
              <a:buChar char="-"/>
            </a:lvl4pPr>
            <a:lvl5pPr marL="1270000" indent="-254000">
              <a:spcBef>
                <a:spcPts val="600"/>
              </a:spcBef>
              <a:buChar char="-"/>
            </a:lvl5pPr>
          </a:lstStyle>
          <a:p>
            <a:pPr lvl="0">
              <a:defRPr sz="1800"/>
            </a:pPr>
            <a:r>
              <a:rPr sz="2600"/>
              <a:t>Body Level One</a:t>
            </a:r>
          </a:p>
          <a:p>
            <a:pPr lvl="1">
              <a:defRPr sz="1800"/>
            </a:pPr>
            <a:r>
              <a:rPr sz="2600"/>
              <a:t>Body Level Two</a:t>
            </a:r>
          </a:p>
          <a:p>
            <a:pPr lvl="2">
              <a:defRPr sz="1800"/>
            </a:pPr>
            <a:r>
              <a:rPr sz="2600"/>
              <a:t>Body Level Three</a:t>
            </a:r>
          </a:p>
          <a:p>
            <a:pPr lvl="3">
              <a:defRPr sz="1800"/>
            </a:pPr>
            <a:r>
              <a:rPr sz="2600"/>
              <a:t>Body Level Four</a:t>
            </a:r>
          </a:p>
          <a:p>
            <a:pPr lvl="4">
              <a:defRPr sz="1800"/>
            </a:pPr>
            <a:r>
              <a:rPr sz="2600"/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6763317" y="6443974"/>
            <a:ext cx="2133601" cy="22698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defRPr sz="1000"/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1pPr>
      <a:lvl2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2pPr>
      <a:lvl3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3pPr>
      <a:lvl4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4pPr>
      <a:lvl5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5pPr>
      <a:lvl6pPr indent="457200"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6pPr>
      <a:lvl7pPr indent="914400"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7pPr>
      <a:lvl8pPr indent="1371600"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8pPr>
      <a:lvl9pPr indent="1828800"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9pPr>
    </p:titleStyle>
    <p:bodyStyle>
      <a:lvl1pPr>
        <a:spcBef>
          <a:spcPts val="800"/>
        </a:spcBef>
        <a:defRPr sz="2600">
          <a:latin typeface="Arial"/>
          <a:ea typeface="Arial"/>
          <a:cs typeface="Arial"/>
          <a:sym typeface="Arial"/>
        </a:defRPr>
      </a:lvl1pPr>
      <a:lvl2pPr marL="722539" indent="-265339">
        <a:spcBef>
          <a:spcPts val="800"/>
        </a:spcBef>
        <a:buSzPct val="100000"/>
        <a:buChar char="–"/>
        <a:defRPr sz="2600">
          <a:latin typeface="Arial"/>
          <a:ea typeface="Arial"/>
          <a:cs typeface="Arial"/>
          <a:sym typeface="Arial"/>
        </a:defRPr>
      </a:lvl2pPr>
      <a:lvl3pPr marL="1162050" indent="-247650">
        <a:spcBef>
          <a:spcPts val="800"/>
        </a:spcBef>
        <a:buSzPct val="100000"/>
        <a:buChar char="•"/>
        <a:defRPr sz="2600">
          <a:latin typeface="Arial"/>
          <a:ea typeface="Arial"/>
          <a:cs typeface="Arial"/>
          <a:sym typeface="Arial"/>
        </a:defRPr>
      </a:lvl3pPr>
      <a:lvl4pPr marL="1668779" indent="-297179">
        <a:spcBef>
          <a:spcPts val="800"/>
        </a:spcBef>
        <a:buSzPct val="100000"/>
        <a:buChar char="–"/>
        <a:defRPr sz="2600">
          <a:latin typeface="Arial"/>
          <a:ea typeface="Arial"/>
          <a:cs typeface="Arial"/>
          <a:sym typeface="Arial"/>
        </a:defRPr>
      </a:lvl4pPr>
      <a:lvl5pPr marL="21259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5pPr>
      <a:lvl6pPr marL="25831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6pPr>
      <a:lvl7pPr marL="30403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7pPr>
      <a:lvl8pPr marL="34975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8pPr>
      <a:lvl9pPr marL="39547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9pPr>
    </p:bodyStyle>
    <p:otherStyle>
      <a:lvl1pPr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indent="22860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 indent="27432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 indent="32004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 indent="36576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AU" sz="5400" dirty="0"/>
              <a:t>Goods &amp; Services Tax</a:t>
            </a:r>
            <a:br>
              <a:rPr lang="en-AU" sz="5400" dirty="0"/>
            </a:br>
            <a:br>
              <a:rPr lang="en-AU" sz="5400" dirty="0"/>
            </a:br>
            <a:endParaRPr sz="32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968" y="1296713"/>
            <a:ext cx="7871256" cy="634423"/>
          </a:xfrm>
        </p:spPr>
        <p:txBody>
          <a:bodyPr/>
          <a:lstStyle/>
          <a:p>
            <a:r>
              <a:rPr lang="en-AU" sz="2400" dirty="0"/>
              <a:t>GST Registration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206" y="2158587"/>
            <a:ext cx="7621588" cy="359221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/>
                </a:solidFill>
              </a:rPr>
              <a:t>The turnover requirement for GST registration is $75,000 ($150k for non-profit organisations).</a:t>
            </a:r>
          </a:p>
          <a:p>
            <a:endParaRPr lang="en-AU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/>
                </a:solidFill>
              </a:rPr>
              <a:t>GST turnover is gross income minus GST.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/>
                </a:solidFill>
              </a:rPr>
              <a:t>It excludes: dividends, interest, distributions.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/>
                </a:solidFill>
              </a:rPr>
              <a:t>It is optional to register &lt; $75,000, but if an entity anticipates it will exceed the threshold in current </a:t>
            </a:r>
            <a:r>
              <a:rPr lang="en-AU" sz="1800">
                <a:solidFill>
                  <a:schemeClr val="tx1"/>
                </a:solidFill>
              </a:rPr>
              <a:t>and future </a:t>
            </a:r>
            <a:r>
              <a:rPr lang="en-AU" sz="1800" dirty="0">
                <a:solidFill>
                  <a:schemeClr val="tx1"/>
                </a:solidFill>
              </a:rPr>
              <a:t>years it MUST register.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4047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968" y="1296713"/>
            <a:ext cx="7871256" cy="634423"/>
          </a:xfrm>
        </p:spPr>
        <p:txBody>
          <a:bodyPr/>
          <a:lstStyle/>
          <a:p>
            <a:r>
              <a:rPr lang="en-AU" sz="2400" dirty="0"/>
              <a:t>GST Reporting Periods</a:t>
            </a:r>
            <a:r>
              <a:rPr lang="en-AU" dirty="0"/>
              <a:t>	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800" dirty="0">
                <a:solidFill>
                  <a:schemeClr val="tx1"/>
                </a:solidFill>
              </a:rPr>
              <a:t>The GST reporting and payment cycle will be one of the following:</a:t>
            </a:r>
          </a:p>
          <a:p>
            <a:endParaRPr lang="en-AU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</a:rPr>
              <a:t>Monthly</a:t>
            </a:r>
            <a:r>
              <a:rPr lang="en-AU" sz="1800" dirty="0">
                <a:solidFill>
                  <a:schemeClr val="tx1"/>
                </a:solidFill>
              </a:rPr>
              <a:t> – if GST turnover is $20 million or more.</a:t>
            </a:r>
          </a:p>
          <a:p>
            <a:endParaRPr lang="en-AU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</a:rPr>
              <a:t>Quarterly</a:t>
            </a:r>
            <a:r>
              <a:rPr lang="en-AU" sz="1800" dirty="0">
                <a:solidFill>
                  <a:schemeClr val="tx1"/>
                </a:solidFill>
              </a:rPr>
              <a:t> – if GST turnover is less than $20 million</a:t>
            </a:r>
          </a:p>
          <a:p>
            <a:endParaRPr lang="en-AU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1" dirty="0">
                <a:solidFill>
                  <a:schemeClr val="tx1"/>
                </a:solidFill>
              </a:rPr>
              <a:t>Annually</a:t>
            </a:r>
            <a:r>
              <a:rPr lang="en-AU" sz="1800" dirty="0">
                <a:solidFill>
                  <a:schemeClr val="tx1"/>
                </a:solidFill>
              </a:rPr>
              <a:t> – if voluntarily registered for GST. That is, the entity is registered for GST; and the GST turnover is under $75,000 ($150,000 for not-for-profit bodies).</a:t>
            </a:r>
          </a:p>
        </p:txBody>
      </p:sp>
    </p:spTree>
    <p:extLst>
      <p:ext uri="{BB962C8B-B14F-4D97-AF65-F5344CB8AC3E}">
        <p14:creationId xmlns:p14="http://schemas.microsoft.com/office/powerpoint/2010/main" val="16076303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968" y="1296713"/>
            <a:ext cx="7871256" cy="634423"/>
          </a:xfrm>
        </p:spPr>
        <p:txBody>
          <a:bodyPr/>
          <a:lstStyle/>
          <a:p>
            <a:r>
              <a:rPr lang="en-AU" sz="2400" dirty="0"/>
              <a:t>BAS Agent Lodgement and Payment Dates</a:t>
            </a:r>
            <a:r>
              <a:rPr lang="en-AU" dirty="0"/>
              <a:t>	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90802" y="2478078"/>
            <a:ext cx="7621588" cy="3603234"/>
          </a:xfrm>
        </p:spPr>
        <p:txBody>
          <a:bodyPr/>
          <a:lstStyle/>
          <a:p>
            <a:pPr algn="ctr"/>
            <a:r>
              <a:rPr lang="en-AU" sz="1800" b="1" dirty="0"/>
              <a:t>Monthly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24" y="2917177"/>
            <a:ext cx="7068344" cy="326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316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58598" y="1365375"/>
            <a:ext cx="7621588" cy="3603234"/>
          </a:xfrm>
        </p:spPr>
        <p:txBody>
          <a:bodyPr/>
          <a:lstStyle/>
          <a:p>
            <a:pPr algn="ctr"/>
            <a:r>
              <a:rPr lang="en-AU" sz="1800" b="1" dirty="0"/>
              <a:t>Quarterly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080" y="1846300"/>
            <a:ext cx="65246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52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58598" y="1365375"/>
            <a:ext cx="7621588" cy="3603234"/>
          </a:xfrm>
        </p:spPr>
        <p:txBody>
          <a:bodyPr/>
          <a:lstStyle/>
          <a:p>
            <a:pPr algn="ctr"/>
            <a:r>
              <a:rPr lang="en-AU" sz="1800" b="1" dirty="0"/>
              <a:t>Annual</a:t>
            </a:r>
          </a:p>
          <a:p>
            <a:r>
              <a:rPr lang="en-AU" sz="1800" dirty="0"/>
              <a:t>The date for lodgement of your annual GST return and payment of any amounts is either: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/>
              <a:t>the date for lodgement of your income tax return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/>
              <a:t>28 February following the annual tax period, if you are not required to lodge an income tax return.</a:t>
            </a:r>
          </a:p>
          <a:p>
            <a:pPr algn="l"/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59469602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400" dirty="0"/>
              <a:t>Typical GST-Free or Input Tax Supplies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800" dirty="0">
                <a:solidFill>
                  <a:schemeClr val="tx1"/>
                </a:solidFill>
              </a:rPr>
              <a:t>-       bank fees and loan establishment fees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interest 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council and water rates 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rent and expenses for a domestic property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donations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government charges – ASIC fees, stamp duty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dividends and distributions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fines and penalties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some food items – bread, flour, cooking oil, unflavoured milk, spices, condiments, bottled drinking water, tea and coffee, fruit and vegetables, meat, breakfast cereals</a:t>
            </a:r>
          </a:p>
          <a:p>
            <a:pPr marL="457200" indent="-457200"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  <a:p>
            <a:pPr marL="457200" indent="-457200"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  <a:p>
            <a:pPr marL="457200" indent="-457200"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968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06" y="1265534"/>
            <a:ext cx="7616826" cy="634423"/>
          </a:xfrm>
        </p:spPr>
        <p:txBody>
          <a:bodyPr/>
          <a:lstStyle/>
          <a:p>
            <a:pPr algn="l"/>
            <a:r>
              <a:rPr lang="en-AU" sz="2400" dirty="0"/>
              <a:t>Expenses that include GST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merchant fees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council and water rates on-charged by the agent 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dealer origination fee for car finance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rent and expenses for a commercial property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WorkCover insurance premiums</a:t>
            </a:r>
          </a:p>
          <a:p>
            <a:pPr marL="457200" indent="-457200">
              <a:buFontTx/>
              <a:buChar char="-"/>
            </a:pPr>
            <a:endParaRPr lang="en-AU" sz="1800" dirty="0">
              <a:solidFill>
                <a:schemeClr val="tx1"/>
              </a:solidFill>
            </a:endParaRPr>
          </a:p>
          <a:p>
            <a:pPr marL="457200" indent="-457200"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  <a:p>
            <a:pPr marL="457200" indent="-457200"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1465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841"/>
            <a:ext cx="9144000" cy="56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50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400" dirty="0"/>
              <a:t>Expenses with GST and GST free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206" y="2008255"/>
            <a:ext cx="7621588" cy="4594142"/>
          </a:xfrm>
        </p:spPr>
        <p:txBody>
          <a:bodyPr/>
          <a:lstStyle/>
          <a:p>
            <a:r>
              <a:rPr lang="en-AU" dirty="0"/>
              <a:t> </a:t>
            </a:r>
            <a:r>
              <a:rPr lang="en-AU" sz="1800" dirty="0"/>
              <a:t>-       motor vehicle registration</a:t>
            </a:r>
          </a:p>
          <a:p>
            <a:r>
              <a:rPr lang="en-AU" sz="1800" dirty="0"/>
              <a:t> -       insurance</a:t>
            </a:r>
          </a:p>
          <a:p>
            <a:r>
              <a:rPr lang="en-AU" sz="1800" dirty="0"/>
              <a:t> -       phone contract repayment of a telephone expense</a:t>
            </a:r>
          </a:p>
          <a:p>
            <a:endParaRPr lang="en-AU" sz="1800" dirty="0"/>
          </a:p>
          <a:p>
            <a:endParaRPr lang="en-AU" sz="1800" dirty="0"/>
          </a:p>
          <a:p>
            <a:r>
              <a:rPr lang="en-AU" sz="1800" u="sng" dirty="0">
                <a:solidFill>
                  <a:schemeClr val="tx1"/>
                </a:solidFill>
              </a:rPr>
              <a:t>Non-deductible expenses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entertainment expenses 50/50 rule for FBT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private expenditure</a:t>
            </a:r>
          </a:p>
          <a:p>
            <a:r>
              <a:rPr lang="en-AU" sz="1800" dirty="0"/>
              <a:t>When these expenses are not deductible for income tax the GST cannot be claimed</a:t>
            </a:r>
          </a:p>
        </p:txBody>
      </p:sp>
    </p:spTree>
    <p:extLst>
      <p:ext uri="{BB962C8B-B14F-4D97-AF65-F5344CB8AC3E}">
        <p14:creationId xmlns:p14="http://schemas.microsoft.com/office/powerpoint/2010/main" val="278551787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7" y="1318747"/>
            <a:ext cx="7616826" cy="634423"/>
          </a:xfrm>
        </p:spPr>
        <p:txBody>
          <a:bodyPr/>
          <a:lstStyle/>
          <a:p>
            <a:r>
              <a:rPr lang="en-AU" sz="2400" dirty="0"/>
              <a:t>GST &amp; the Depreciable Car Limit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206" y="2070452"/>
            <a:ext cx="7621588" cy="4443810"/>
          </a:xfrm>
        </p:spPr>
        <p:txBody>
          <a:bodyPr/>
          <a:lstStyle/>
          <a:p>
            <a:r>
              <a:rPr lang="en-AU" sz="1800" dirty="0">
                <a:solidFill>
                  <a:schemeClr val="tx1"/>
                </a:solidFill>
              </a:rPr>
              <a:t>If the purchase cost of the car is more that the car limit, the maximum amount is 1/11</a:t>
            </a:r>
            <a:r>
              <a:rPr lang="en-AU" sz="1800" baseline="30000" dirty="0">
                <a:solidFill>
                  <a:schemeClr val="tx1"/>
                </a:solidFill>
              </a:rPr>
              <a:t>th</a:t>
            </a:r>
            <a:r>
              <a:rPr lang="en-AU" sz="1800" dirty="0">
                <a:solidFill>
                  <a:schemeClr val="tx1"/>
                </a:solidFill>
              </a:rPr>
              <a:t> of the limit.</a:t>
            </a:r>
          </a:p>
          <a:p>
            <a:endParaRPr lang="en-AU" sz="1800" dirty="0">
              <a:solidFill>
                <a:schemeClr val="tx1"/>
              </a:solidFill>
            </a:endParaRPr>
          </a:p>
          <a:p>
            <a:r>
              <a:rPr lang="en-AU" sz="1800" dirty="0">
                <a:solidFill>
                  <a:schemeClr val="tx1"/>
                </a:solidFill>
              </a:rPr>
              <a:t>For example, in 2018/19 the maximum GST credit you can claim is $5,234 (that is, 1/11</a:t>
            </a:r>
            <a:r>
              <a:rPr lang="en-AU" sz="1800" baseline="30000" dirty="0">
                <a:solidFill>
                  <a:schemeClr val="tx1"/>
                </a:solidFill>
              </a:rPr>
              <a:t>th</a:t>
            </a:r>
            <a:r>
              <a:rPr lang="en-AU" sz="1800" dirty="0">
                <a:solidFill>
                  <a:schemeClr val="tx1"/>
                </a:solidFill>
              </a:rPr>
              <a:t> of $57,581)</a:t>
            </a:r>
          </a:p>
          <a:p>
            <a:endParaRPr lang="en-AU" sz="1800" dirty="0">
              <a:solidFill>
                <a:schemeClr val="tx1"/>
              </a:solidFill>
            </a:endParaRPr>
          </a:p>
          <a:p>
            <a:r>
              <a:rPr lang="en-AU" sz="1800" dirty="0">
                <a:solidFill>
                  <a:schemeClr val="tx1"/>
                </a:solidFill>
              </a:rPr>
              <a:t>When preparing the BAS, only the amount of the car limit (or proportion relating to business use) is shown at G10 – capital expenditure.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90133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06" y="745870"/>
            <a:ext cx="7871256" cy="741408"/>
          </a:xfrm>
        </p:spPr>
        <p:txBody>
          <a:bodyPr/>
          <a:lstStyle/>
          <a:p>
            <a:r>
              <a:rPr lang="en-AU" sz="2400" dirty="0"/>
              <a:t>GST Cancellation and Adjustments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56" y="2514222"/>
            <a:ext cx="6572250" cy="212407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61206" y="1487278"/>
            <a:ext cx="7621588" cy="5115119"/>
          </a:xfrm>
        </p:spPr>
        <p:txBody>
          <a:bodyPr/>
          <a:lstStyle/>
          <a:p>
            <a:r>
              <a:rPr lang="en-AU" sz="1800" dirty="0"/>
              <a:t>If the GST registration is cancelled and there are business assets that have claimed GST credits, an adjustment may need to be made in the final BAS. </a:t>
            </a:r>
          </a:p>
          <a:p>
            <a:r>
              <a:rPr lang="en-AU" sz="1800" dirty="0"/>
              <a:t>The time period for these adjustments is:</a:t>
            </a:r>
          </a:p>
          <a:p>
            <a:endParaRPr lang="en-AU" sz="1800" dirty="0"/>
          </a:p>
          <a:p>
            <a:endParaRPr lang="en-AU" sz="1800" dirty="0"/>
          </a:p>
          <a:p>
            <a:endParaRPr lang="en-AU" sz="1800" dirty="0"/>
          </a:p>
          <a:p>
            <a:endParaRPr lang="en-AU" sz="1800" dirty="0"/>
          </a:p>
          <a:p>
            <a:endParaRPr lang="en-AU" sz="1800" dirty="0"/>
          </a:p>
          <a:p>
            <a:endParaRPr lang="en-AU" sz="1800" dirty="0"/>
          </a:p>
          <a:p>
            <a:r>
              <a:rPr lang="en-AU" sz="1800" dirty="0"/>
              <a:t>The formula for calculating the adjustment is:</a:t>
            </a:r>
          </a:p>
          <a:p>
            <a:r>
              <a:rPr lang="en-AU" sz="1800" dirty="0"/>
              <a:t>Market value of asset immediately before cancellation of GST x business use percentage / 11</a:t>
            </a:r>
          </a:p>
          <a:p>
            <a:endParaRPr lang="en-AU" sz="1800" dirty="0"/>
          </a:p>
          <a:p>
            <a:endParaRPr lang="en-AU" sz="1800" dirty="0"/>
          </a:p>
          <a:p>
            <a:endParaRPr lang="en-AU" sz="1800" dirty="0"/>
          </a:p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01698009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400" dirty="0"/>
              <a:t>Cash vs Accrual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800" dirty="0">
                <a:solidFill>
                  <a:schemeClr val="tx1"/>
                </a:solidFill>
              </a:rPr>
              <a:t>GST can be calculated using the cash or accrual method</a:t>
            </a:r>
          </a:p>
          <a:p>
            <a:r>
              <a:rPr lang="en-AU" sz="1800" u="sng" dirty="0">
                <a:solidFill>
                  <a:schemeClr val="tx1"/>
                </a:solidFill>
              </a:rPr>
              <a:t>Cash method  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business with aggregated turnover of less than $10 million or use cash accounting </a:t>
            </a:r>
          </a:p>
          <a:p>
            <a:pPr marL="457200" indent="-45720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GST is calculated on income and expenses when cash has been paid or received</a:t>
            </a:r>
          </a:p>
          <a:p>
            <a:r>
              <a:rPr lang="en-AU" sz="1800" u="sng" dirty="0">
                <a:solidFill>
                  <a:schemeClr val="tx1"/>
                </a:solidFill>
              </a:rPr>
              <a:t>Accrual method</a:t>
            </a:r>
          </a:p>
          <a:p>
            <a:pPr marL="285750" indent="-285750">
              <a:buFontTx/>
              <a:buChar char="-"/>
            </a:pPr>
            <a:r>
              <a:rPr lang="en-AU" sz="1800" dirty="0">
                <a:solidFill>
                  <a:schemeClr val="tx1"/>
                </a:solidFill>
              </a:rPr>
              <a:t>GST is calculated when invoices are issued or received</a:t>
            </a:r>
          </a:p>
          <a:p>
            <a:r>
              <a:rPr lang="en-AU" sz="1800" u="sng" dirty="0">
                <a:solidFill>
                  <a:schemeClr val="tx1"/>
                </a:solidFill>
              </a:rPr>
              <a:t>GST Reconciliation</a:t>
            </a:r>
          </a:p>
          <a:p>
            <a:r>
              <a:rPr lang="en-AU" sz="1800" dirty="0">
                <a:solidFill>
                  <a:schemeClr val="tx1"/>
                </a:solidFill>
              </a:rPr>
              <a:t>If a client’s GST is calculated on cash but the financial statements are calculated on accrual, a GST reconciliation needs to be prepared to split the cash GST from the accrued GST.</a:t>
            </a:r>
          </a:p>
        </p:txBody>
      </p:sp>
    </p:spTree>
    <p:extLst>
      <p:ext uri="{BB962C8B-B14F-4D97-AF65-F5344CB8AC3E}">
        <p14:creationId xmlns:p14="http://schemas.microsoft.com/office/powerpoint/2010/main" val="159687032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BBE0E3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BBE0E3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BBE0E3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BBE0E3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584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Helvetica Neue</vt:lpstr>
      <vt:lpstr>Default</vt:lpstr>
      <vt:lpstr>Goods &amp; Services Tax  </vt:lpstr>
      <vt:lpstr>GST Registration</vt:lpstr>
      <vt:lpstr>GST Reporting Periods </vt:lpstr>
      <vt:lpstr>BAS Agent Lodgement and Payment Dates </vt:lpstr>
      <vt:lpstr>PowerPoint Presentation</vt:lpstr>
      <vt:lpstr>PowerPoint Presentation</vt:lpstr>
      <vt:lpstr>Typical GST-Free or Input Tax Supplies</vt:lpstr>
      <vt:lpstr>Expenses that include GST</vt:lpstr>
      <vt:lpstr>PowerPoint Presentation</vt:lpstr>
      <vt:lpstr>Expenses with GST and GST free Components</vt:lpstr>
      <vt:lpstr>GST &amp; the Depreciable Car Limit</vt:lpstr>
      <vt:lpstr>GST Cancellation and Adjustments</vt:lpstr>
      <vt:lpstr>Cash vs Accrual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Olivia Johnstone</dc:creator>
  <cp:lastModifiedBy>Jordan Edwards</cp:lastModifiedBy>
  <cp:revision>25</cp:revision>
  <dcterms:modified xsi:type="dcterms:W3CDTF">2021-01-17T22:52:50Z</dcterms:modified>
</cp:coreProperties>
</file>