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257" r:id="rId2"/>
    <p:sldId id="281" r:id="rId3"/>
    <p:sldId id="286" r:id="rId4"/>
    <p:sldId id="288" r:id="rId5"/>
    <p:sldId id="296" r:id="rId6"/>
    <p:sldId id="287" r:id="rId7"/>
    <p:sldId id="301" r:id="rId8"/>
    <p:sldId id="309" r:id="rId9"/>
    <p:sldId id="310" r:id="rId10"/>
    <p:sldId id="300" r:id="rId11"/>
    <p:sldId id="299" r:id="rId12"/>
    <p:sldId id="302" r:id="rId13"/>
    <p:sldId id="311" r:id="rId14"/>
    <p:sldId id="312" r:id="rId15"/>
    <p:sldId id="303" r:id="rId16"/>
    <p:sldId id="304" r:id="rId17"/>
    <p:sldId id="305" r:id="rId18"/>
    <p:sldId id="306" r:id="rId19"/>
    <p:sldId id="307" r:id="rId20"/>
    <p:sldId id="297" r:id="rId21"/>
    <p:sldId id="293" r:id="rId22"/>
    <p:sldId id="313" r:id="rId23"/>
    <p:sldId id="315" r:id="rId24"/>
    <p:sldId id="316" r:id="rId25"/>
    <p:sldId id="318" r:id="rId26"/>
    <p:sldId id="319" r:id="rId27"/>
    <p:sldId id="320" r:id="rId28"/>
    <p:sldId id="321" r:id="rId29"/>
    <p:sldId id="322" r:id="rId30"/>
    <p:sldId id="323" r:id="rId31"/>
    <p:sldId id="324" r:id="rId32"/>
    <p:sldId id="326" r:id="rId33"/>
    <p:sldId id="327" r:id="rId34"/>
    <p:sldId id="317" r:id="rId35"/>
    <p:sldId id="329" r:id="rId36"/>
    <p:sldId id="330" r:id="rId37"/>
    <p:sldId id="336" r:id="rId38"/>
    <p:sldId id="331" r:id="rId39"/>
    <p:sldId id="332" r:id="rId40"/>
    <p:sldId id="333" r:id="rId41"/>
    <p:sldId id="334" r:id="rId42"/>
    <p:sldId id="335" r:id="rId43"/>
    <p:sldId id="337" r:id="rId44"/>
    <p:sldId id="328" r:id="rId45"/>
    <p:sldId id="289" r:id="rId46"/>
    <p:sldId id="285" r:id="rId47"/>
  </p:sldIdLst>
  <p:sldSz cx="9144000" cy="6858000" type="screen4x3"/>
  <p:notesSz cx="6858000" cy="9144000"/>
  <p:defaultTextStyle>
    <a:lvl1pPr>
      <a:defRPr>
        <a:latin typeface="Arial"/>
        <a:ea typeface="Arial"/>
        <a:cs typeface="Arial"/>
        <a:sym typeface="Arial"/>
      </a:defRPr>
    </a:lvl1pPr>
    <a:lvl2pPr indent="457200">
      <a:defRPr>
        <a:latin typeface="Arial"/>
        <a:ea typeface="Arial"/>
        <a:cs typeface="Arial"/>
        <a:sym typeface="Arial"/>
      </a:defRPr>
    </a:lvl2pPr>
    <a:lvl3pPr indent="914400">
      <a:defRPr>
        <a:latin typeface="Arial"/>
        <a:ea typeface="Arial"/>
        <a:cs typeface="Arial"/>
        <a:sym typeface="Arial"/>
      </a:defRPr>
    </a:lvl3pPr>
    <a:lvl4pPr indent="1371600">
      <a:defRPr>
        <a:latin typeface="Arial"/>
        <a:ea typeface="Arial"/>
        <a:cs typeface="Arial"/>
        <a:sym typeface="Arial"/>
      </a:defRPr>
    </a:lvl4pPr>
    <a:lvl5pPr indent="1828800">
      <a:defRPr>
        <a:latin typeface="Arial"/>
        <a:ea typeface="Arial"/>
        <a:cs typeface="Arial"/>
        <a:sym typeface="Arial"/>
      </a:defRPr>
    </a:lvl5pPr>
    <a:lvl6pPr indent="2286000">
      <a:defRPr>
        <a:latin typeface="Arial"/>
        <a:ea typeface="Arial"/>
        <a:cs typeface="Arial"/>
        <a:sym typeface="Arial"/>
      </a:defRPr>
    </a:lvl6pPr>
    <a:lvl7pPr indent="2743200">
      <a:defRPr>
        <a:latin typeface="Arial"/>
        <a:ea typeface="Arial"/>
        <a:cs typeface="Arial"/>
        <a:sym typeface="Arial"/>
      </a:defRPr>
    </a:lvl7pPr>
    <a:lvl8pPr indent="3200400">
      <a:defRPr>
        <a:latin typeface="Arial"/>
        <a:ea typeface="Arial"/>
        <a:cs typeface="Arial"/>
        <a:sym typeface="Arial"/>
      </a:defRPr>
    </a:lvl8pPr>
    <a:lvl9pPr indent="3657600">
      <a:defRPr>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rdan Edwards" initials="JE" lastIdx="1" clrIdx="0">
    <p:extLst>
      <p:ext uri="{19B8F6BF-5375-455C-9EA6-DF929625EA0E}">
        <p15:presenceInfo xmlns:p15="http://schemas.microsoft.com/office/powerpoint/2012/main" userId="S::jedwards@lbwca.com.au::556faaa3-011b-4041-abb5-25e04ae82b1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7F3F4"/>
          </a:solidFill>
        </a:fill>
      </a:tcStyle>
    </a:wholeTbl>
    <a:band2H>
      <a:tcTxStyle/>
      <a:tcStyle>
        <a:tcBdr/>
        <a:fill>
          <a:solidFill>
            <a:srgbClr val="F3F9FA"/>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BE0E3"/>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BE0E3"/>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BE0E3"/>
          </a:solidFill>
        </a:fill>
      </a:tcStyle>
    </a:firstRow>
  </a:tblStyle>
  <a:tblStyle styleId="{C7B018BB-80A7-4F77-B60F-C8B233D01FF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Row>
  </a:tblStyle>
  <a:tblStyle styleId="{EEE7283C-3CF3-47DC-8721-378D4A62B22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CCCD9"/>
          </a:solidFill>
        </a:fill>
      </a:tcStyle>
    </a:wholeTbl>
    <a:band2H>
      <a:tcTxStyle/>
      <a:tcStyle>
        <a:tcBdr/>
        <a:fill>
          <a:solidFill>
            <a:srgbClr val="E7E7ED"/>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2D2D8A"/>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2D2D8A"/>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2D2D8A"/>
          </a:solidFill>
        </a:fill>
      </a:tcStyle>
    </a:firstRow>
  </a:tblStyle>
  <a:tblStyle styleId="{CF821DB8-F4EB-4A41-A1BA-3FCAFE7338EE}" styleName="">
    <a:tblBg/>
    <a:wholeTbl>
      <a:tcTxStyle b="on" i="on">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BBE0E3"/>
          </a:solidFill>
        </a:fill>
      </a:tcStyle>
    </a:firstCol>
    <a:lastRow>
      <a:tcTxStyle b="on" i="on">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BBE0E3"/>
          </a:solidFill>
        </a:fill>
      </a:tcStyle>
    </a:firstRow>
  </a:tblStyle>
  <a:tblStyle styleId="{33BA23B1-9221-436E-865A-0063620EA4FD}"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688" autoAdjust="0"/>
    <p:restoredTop sz="74662" autoAdjust="0"/>
  </p:normalViewPr>
  <p:slideViewPr>
    <p:cSldViewPr snapToGrid="0">
      <p:cViewPr varScale="1">
        <p:scale>
          <a:sx n="83" d="100"/>
          <a:sy n="83" d="100"/>
        </p:scale>
        <p:origin x="2940" y="102"/>
      </p:cViewPr>
      <p:guideLst/>
    </p:cSldViewPr>
  </p:slideViewPr>
  <p:notesTextViewPr>
    <p:cViewPr>
      <p:scale>
        <a:sx n="1" d="1"/>
        <a:sy n="1" d="1"/>
      </p:scale>
      <p:origin x="0" y="0"/>
    </p:cViewPr>
  </p:notesTextViewPr>
  <p:notesViewPr>
    <p:cSldViewPr snapToGrid="0">
      <p:cViewPr varScale="1">
        <p:scale>
          <a:sx n="71" d="100"/>
          <a:sy n="71" d="100"/>
        </p:scale>
        <p:origin x="1884"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2846091245"/>
      </p:ext>
    </p:extLst>
  </p:cSld>
  <p:clrMap bg1="lt1" tx1="dk1" bg2="lt2" tx2="dk2" accent1="accent1" accent2="accent2" accent3="accent3" accent4="accent4" accent5="accent5" accent6="accent6" hlink="hlink" folHlink="folHlink"/>
  <p:notesStyle>
    <a:lvl1pPr defTabSz="457200">
      <a:lnSpc>
        <a:spcPct val="117999"/>
      </a:lnSpc>
      <a:defRPr sz="2200">
        <a:latin typeface="+mn-lt"/>
        <a:ea typeface="+mn-ea"/>
        <a:cs typeface="+mn-cs"/>
        <a:sym typeface="Helvetica Neue"/>
      </a:defRPr>
    </a:lvl1pPr>
    <a:lvl2pPr indent="228600" defTabSz="457200">
      <a:lnSpc>
        <a:spcPct val="117999"/>
      </a:lnSpc>
      <a:defRPr sz="2200">
        <a:latin typeface="+mn-lt"/>
        <a:ea typeface="+mn-ea"/>
        <a:cs typeface="+mn-cs"/>
        <a:sym typeface="Helvetica Neue"/>
      </a:defRPr>
    </a:lvl2pPr>
    <a:lvl3pPr indent="457200" defTabSz="457200">
      <a:lnSpc>
        <a:spcPct val="117999"/>
      </a:lnSpc>
      <a:defRPr sz="2200">
        <a:latin typeface="+mn-lt"/>
        <a:ea typeface="+mn-ea"/>
        <a:cs typeface="+mn-cs"/>
        <a:sym typeface="Helvetica Neue"/>
      </a:defRPr>
    </a:lvl3pPr>
    <a:lvl4pPr indent="685800" defTabSz="457200">
      <a:lnSpc>
        <a:spcPct val="117999"/>
      </a:lnSpc>
      <a:defRPr sz="2200">
        <a:latin typeface="+mn-lt"/>
        <a:ea typeface="+mn-ea"/>
        <a:cs typeface="+mn-cs"/>
        <a:sym typeface="Helvetica Neue"/>
      </a:defRPr>
    </a:lvl4pPr>
    <a:lvl5pPr indent="914400" defTabSz="457200">
      <a:lnSpc>
        <a:spcPct val="117999"/>
      </a:lnSpc>
      <a:defRPr sz="2200">
        <a:latin typeface="+mn-lt"/>
        <a:ea typeface="+mn-ea"/>
        <a:cs typeface="+mn-cs"/>
        <a:sym typeface="Helvetica Neue"/>
      </a:defRPr>
    </a:lvl5pPr>
    <a:lvl6pPr indent="1143000" defTabSz="457200">
      <a:lnSpc>
        <a:spcPct val="117999"/>
      </a:lnSpc>
      <a:defRPr sz="2200">
        <a:latin typeface="+mn-lt"/>
        <a:ea typeface="+mn-ea"/>
        <a:cs typeface="+mn-cs"/>
        <a:sym typeface="Helvetica Neue"/>
      </a:defRPr>
    </a:lvl6pPr>
    <a:lvl7pPr indent="1371600" defTabSz="457200">
      <a:lnSpc>
        <a:spcPct val="117999"/>
      </a:lnSpc>
      <a:defRPr sz="2200">
        <a:latin typeface="+mn-lt"/>
        <a:ea typeface="+mn-ea"/>
        <a:cs typeface="+mn-cs"/>
        <a:sym typeface="Helvetica Neue"/>
      </a:defRPr>
    </a:lvl7pPr>
    <a:lvl8pPr indent="1600200" defTabSz="457200">
      <a:lnSpc>
        <a:spcPct val="117999"/>
      </a:lnSpc>
      <a:defRPr sz="2200">
        <a:latin typeface="+mn-lt"/>
        <a:ea typeface="+mn-ea"/>
        <a:cs typeface="+mn-cs"/>
        <a:sym typeface="Helvetica Neue"/>
      </a:defRPr>
    </a:lvl8pPr>
    <a:lvl9pPr indent="1828800" defTabSz="45720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AU" dirty="0"/>
          </a:p>
          <a:p>
            <a:endParaRPr lang="en-US" dirty="0"/>
          </a:p>
        </p:txBody>
      </p:sp>
    </p:spTree>
    <p:extLst>
      <p:ext uri="{BB962C8B-B14F-4D97-AF65-F5344CB8AC3E}">
        <p14:creationId xmlns:p14="http://schemas.microsoft.com/office/powerpoint/2010/main" val="3882252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79531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20983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9082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57812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0709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20490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131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9033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81151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71605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87350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74816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295150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96716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96789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333304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40737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19492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80974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013498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665829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714660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593268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190340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298361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120744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860385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699072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388673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002123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230199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294684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020341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916227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719774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195559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482288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841180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247659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678061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370167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916885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050938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SLIDE">
    <p:spTree>
      <p:nvGrpSpPr>
        <p:cNvPr id="1" name=""/>
        <p:cNvGrpSpPr/>
        <p:nvPr/>
      </p:nvGrpSpPr>
      <p:grpSpPr>
        <a:xfrm>
          <a:off x="0" y="0"/>
          <a:ext cx="0" cy="0"/>
          <a:chOff x="0" y="0"/>
          <a:chExt cx="0" cy="0"/>
        </a:xfrm>
      </p:grpSpPr>
      <p:pic>
        <p:nvPicPr>
          <p:cNvPr id="7" name="LBW-LOGO-CYAN-GREY.png"/>
          <p:cNvPicPr/>
          <p:nvPr/>
        </p:nvPicPr>
        <p:blipFill>
          <a:blip r:embed="rId2"/>
          <a:stretch>
            <a:fillRect/>
          </a:stretch>
        </p:blipFill>
        <p:spPr>
          <a:xfrm>
            <a:off x="1088600" y="1529085"/>
            <a:ext cx="6966800" cy="3799830"/>
          </a:xfrm>
          <a:prstGeom prst="rect">
            <a:avLst/>
          </a:prstGeom>
          <a:ln w="12700">
            <a:miter lim="400000"/>
          </a:ln>
        </p:spPr>
      </p:pic>
      <p:pic>
        <p:nvPicPr>
          <p:cNvPr id="8" name="PLUS-GRAPHIC.png"/>
          <p:cNvPicPr/>
          <p:nvPr/>
        </p:nvPicPr>
        <p:blipFill>
          <a:blip r:embed="rId3"/>
          <a:stretch>
            <a:fillRect/>
          </a:stretch>
        </p:blipFill>
        <p:spPr>
          <a:xfrm>
            <a:off x="3880690" y="-316492"/>
            <a:ext cx="5273152" cy="2813640"/>
          </a:xfrm>
          <a:prstGeom prst="rect">
            <a:avLst/>
          </a:prstGeom>
          <a:ln w="12700">
            <a:miter lim="400000"/>
          </a:ln>
        </p:spPr>
      </p:pic>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SLIDE">
    <p:spTree>
      <p:nvGrpSpPr>
        <p:cNvPr id="1" name=""/>
        <p:cNvGrpSpPr/>
        <p:nvPr/>
      </p:nvGrpSpPr>
      <p:grpSpPr>
        <a:xfrm>
          <a:off x="0" y="0"/>
          <a:ext cx="0" cy="0"/>
          <a:chOff x="0" y="0"/>
          <a:chExt cx="0" cy="0"/>
        </a:xfrm>
      </p:grpSpPr>
      <p:sp>
        <p:nvSpPr>
          <p:cNvPr id="10" name="Shape 10"/>
          <p:cNvSpPr>
            <a:spLocks noGrp="1"/>
          </p:cNvSpPr>
          <p:nvPr>
            <p:ph type="title"/>
          </p:nvPr>
        </p:nvSpPr>
        <p:spPr>
          <a:xfrm>
            <a:off x="685800" y="2792313"/>
            <a:ext cx="7772400" cy="2928144"/>
          </a:xfrm>
          <a:prstGeom prst="rect">
            <a:avLst/>
          </a:prstGeom>
        </p:spPr>
        <p:txBody>
          <a:bodyPr/>
          <a:lstStyle>
            <a:lvl1pPr algn="ctr">
              <a:lnSpc>
                <a:spcPct val="80000"/>
              </a:lnSpc>
              <a:defRPr sz="7000" spc="-70"/>
            </a:lvl1pPr>
          </a:lstStyle>
          <a:p>
            <a:pPr lvl="0">
              <a:defRPr sz="1800" b="0" spc="0">
                <a:solidFill>
                  <a:srgbClr val="000000"/>
                </a:solidFill>
              </a:defRPr>
            </a:pPr>
            <a:r>
              <a:rPr sz="7000" b="1" spc="-70">
                <a:solidFill>
                  <a:srgbClr val="0E9ED7"/>
                </a:solidFill>
              </a:rPr>
              <a:t>Title Text</a:t>
            </a:r>
          </a:p>
        </p:txBody>
      </p:sp>
      <p:pic>
        <p:nvPicPr>
          <p:cNvPr id="11" name="LBW-LOGO-CYAN-GREY.png"/>
          <p:cNvPicPr/>
          <p:nvPr/>
        </p:nvPicPr>
        <p:blipFill>
          <a:blip r:embed="rId2"/>
          <a:stretch>
            <a:fillRect/>
          </a:stretch>
        </p:blipFill>
        <p:spPr>
          <a:xfrm>
            <a:off x="339300" y="386085"/>
            <a:ext cx="2675176" cy="1459094"/>
          </a:xfrm>
          <a:prstGeom prst="rect">
            <a:avLst/>
          </a:prstGeom>
          <a:ln w="12700">
            <a:miter lim="400000"/>
          </a:ln>
        </p:spPr>
      </p:pic>
      <p:pic>
        <p:nvPicPr>
          <p:cNvPr id="12" name="PLUS-GRAPHIC.png"/>
          <p:cNvPicPr/>
          <p:nvPr/>
        </p:nvPicPr>
        <p:blipFill>
          <a:blip r:embed="rId3"/>
          <a:stretch>
            <a:fillRect/>
          </a:stretch>
        </p:blipFill>
        <p:spPr>
          <a:xfrm>
            <a:off x="3880690" y="-316492"/>
            <a:ext cx="5273152" cy="2813640"/>
          </a:xfrm>
          <a:prstGeom prst="rect">
            <a:avLst/>
          </a:prstGeom>
          <a:ln w="12700">
            <a:miter lim="400000"/>
          </a:ln>
        </p:spPr>
      </p:pic>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ONTENT">
    <p:spTree>
      <p:nvGrpSpPr>
        <p:cNvPr id="1" name=""/>
        <p:cNvGrpSpPr/>
        <p:nvPr/>
      </p:nvGrpSpPr>
      <p:grpSpPr>
        <a:xfrm>
          <a:off x="0" y="0"/>
          <a:ext cx="0" cy="0"/>
          <a:chOff x="0" y="0"/>
          <a:chExt cx="0" cy="0"/>
        </a:xfrm>
      </p:grpSpPr>
      <p:sp>
        <p:nvSpPr>
          <p:cNvPr id="14" name="Shape 14"/>
          <p:cNvSpPr>
            <a:spLocks noGrp="1"/>
          </p:cNvSpPr>
          <p:nvPr>
            <p:ph type="title"/>
          </p:nvPr>
        </p:nvSpPr>
        <p:spPr>
          <a:prstGeom prst="rect">
            <a:avLst/>
          </a:prstGeom>
        </p:spPr>
        <p:txBody>
          <a:bodyPr/>
          <a:lstStyle/>
          <a:p>
            <a:pPr lvl="0">
              <a:defRPr sz="1800" b="0">
                <a:solidFill>
                  <a:srgbClr val="000000"/>
                </a:solidFill>
              </a:defRPr>
            </a:pPr>
            <a:r>
              <a:rPr sz="3400" b="1">
                <a:solidFill>
                  <a:srgbClr val="0E9ED7"/>
                </a:solidFill>
              </a:rPr>
              <a:t>Title Text</a:t>
            </a:r>
          </a:p>
        </p:txBody>
      </p:sp>
      <p:sp>
        <p:nvSpPr>
          <p:cNvPr id="15" name="Shape 15"/>
          <p:cNvSpPr>
            <a:spLocks noGrp="1"/>
          </p:cNvSpPr>
          <p:nvPr>
            <p:ph type="body" idx="1"/>
          </p:nvPr>
        </p:nvSpPr>
        <p:spPr>
          <a:prstGeom prst="rect">
            <a:avLst/>
          </a:prstGeom>
        </p:spPr>
        <p:txBody>
          <a:bodyPr/>
          <a:lstStyle>
            <a:lvl2pPr marL="508000" indent="-254000">
              <a:spcBef>
                <a:spcPts val="600"/>
              </a:spcBef>
              <a:buChar char="•"/>
            </a:lvl2pPr>
            <a:lvl3pPr marL="762000" indent="-254000">
              <a:spcBef>
                <a:spcPts val="600"/>
              </a:spcBef>
              <a:buChar char="-"/>
            </a:lvl3pPr>
            <a:lvl4pPr marL="1016000" indent="-254000">
              <a:spcBef>
                <a:spcPts val="600"/>
              </a:spcBef>
              <a:buChar char="-"/>
            </a:lvl4pPr>
            <a:lvl5pPr marL="1270000" indent="-254000">
              <a:spcBef>
                <a:spcPts val="600"/>
              </a:spcBef>
              <a:buChar char="-"/>
            </a:lvl5pPr>
          </a:lstStyle>
          <a:p>
            <a:pPr lvl="0">
              <a:defRPr sz="1800"/>
            </a:pPr>
            <a:r>
              <a:rPr sz="2600"/>
              <a:t>Body Level One</a:t>
            </a:r>
          </a:p>
          <a:p>
            <a:pPr lvl="1">
              <a:defRPr sz="1800"/>
            </a:pPr>
            <a:r>
              <a:rPr sz="2600"/>
              <a:t>Body Level Two</a:t>
            </a:r>
          </a:p>
          <a:p>
            <a:pPr lvl="2">
              <a:defRPr sz="1800"/>
            </a:pPr>
            <a:r>
              <a:rPr sz="2600"/>
              <a:t>Body Level Three</a:t>
            </a:r>
          </a:p>
          <a:p>
            <a:pPr lvl="3">
              <a:defRPr sz="1800"/>
            </a:pPr>
            <a:r>
              <a:rPr sz="2600"/>
              <a:t>Body Level Four</a:t>
            </a:r>
          </a:p>
          <a:p>
            <a:pPr lvl="4">
              <a:defRPr sz="1800"/>
            </a:pPr>
            <a:r>
              <a:rPr sz="2600"/>
              <a:t>Body Level Five</a:t>
            </a:r>
          </a:p>
        </p:txBody>
      </p:sp>
      <p:sp>
        <p:nvSpPr>
          <p:cNvPr id="16" name="Shape 16"/>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LUS-GRAPHIC.png"/>
          <p:cNvPicPr/>
          <p:nvPr/>
        </p:nvPicPr>
        <p:blipFill>
          <a:blip r:embed="rId5"/>
          <a:stretch>
            <a:fillRect/>
          </a:stretch>
        </p:blipFill>
        <p:spPr>
          <a:xfrm>
            <a:off x="3880690" y="-1559852"/>
            <a:ext cx="5273152" cy="2813640"/>
          </a:xfrm>
          <a:prstGeom prst="rect">
            <a:avLst/>
          </a:prstGeom>
          <a:ln w="12700">
            <a:miter lim="400000"/>
          </a:ln>
        </p:spPr>
      </p:pic>
      <p:sp>
        <p:nvSpPr>
          <p:cNvPr id="3" name="Shape 3"/>
          <p:cNvSpPr>
            <a:spLocks noGrp="1"/>
          </p:cNvSpPr>
          <p:nvPr>
            <p:ph type="title"/>
          </p:nvPr>
        </p:nvSpPr>
        <p:spPr>
          <a:xfrm>
            <a:off x="763587" y="1373832"/>
            <a:ext cx="7616826" cy="634423"/>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lvl="0">
              <a:defRPr sz="1800" b="0">
                <a:solidFill>
                  <a:srgbClr val="000000"/>
                </a:solidFill>
              </a:defRPr>
            </a:pPr>
            <a:r>
              <a:rPr sz="3400" b="1">
                <a:solidFill>
                  <a:srgbClr val="0E9ED7"/>
                </a:solidFill>
              </a:rPr>
              <a:t>Title Text</a:t>
            </a:r>
          </a:p>
        </p:txBody>
      </p:sp>
      <p:sp>
        <p:nvSpPr>
          <p:cNvPr id="4" name="Shape 4"/>
          <p:cNvSpPr>
            <a:spLocks noGrp="1"/>
          </p:cNvSpPr>
          <p:nvPr>
            <p:ph type="body" idx="1"/>
          </p:nvPr>
        </p:nvSpPr>
        <p:spPr>
          <a:xfrm>
            <a:off x="761206" y="2158587"/>
            <a:ext cx="7621588" cy="444381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2pPr marL="508000" indent="-254000">
              <a:spcBef>
                <a:spcPts val="600"/>
              </a:spcBef>
              <a:buChar char="•"/>
            </a:lvl2pPr>
            <a:lvl3pPr marL="762000" indent="-254000">
              <a:spcBef>
                <a:spcPts val="600"/>
              </a:spcBef>
              <a:buChar char="-"/>
            </a:lvl3pPr>
            <a:lvl4pPr marL="1016000" indent="-254000">
              <a:spcBef>
                <a:spcPts val="600"/>
              </a:spcBef>
              <a:buChar char="-"/>
            </a:lvl4pPr>
            <a:lvl5pPr marL="1270000" indent="-254000">
              <a:spcBef>
                <a:spcPts val="600"/>
              </a:spcBef>
              <a:buChar char="-"/>
            </a:lvl5pPr>
          </a:lstStyle>
          <a:p>
            <a:pPr lvl="0">
              <a:defRPr sz="1800"/>
            </a:pPr>
            <a:r>
              <a:rPr sz="2600"/>
              <a:t>Body Level One</a:t>
            </a:r>
          </a:p>
          <a:p>
            <a:pPr lvl="1">
              <a:defRPr sz="1800"/>
            </a:pPr>
            <a:r>
              <a:rPr sz="2600"/>
              <a:t>Body Level Two</a:t>
            </a:r>
          </a:p>
          <a:p>
            <a:pPr lvl="2">
              <a:defRPr sz="1800"/>
            </a:pPr>
            <a:r>
              <a:rPr sz="2600"/>
              <a:t>Body Level Three</a:t>
            </a:r>
          </a:p>
          <a:p>
            <a:pPr lvl="3">
              <a:defRPr sz="1800"/>
            </a:pPr>
            <a:r>
              <a:rPr sz="2600"/>
              <a:t>Body Level Four</a:t>
            </a:r>
          </a:p>
          <a:p>
            <a:pPr lvl="4">
              <a:defRPr sz="1800"/>
            </a:pPr>
            <a:r>
              <a:rPr sz="2600"/>
              <a:t>Body Level Five</a:t>
            </a:r>
          </a:p>
        </p:txBody>
      </p:sp>
      <p:sp>
        <p:nvSpPr>
          <p:cNvPr id="5" name="Shape 5"/>
          <p:cNvSpPr>
            <a:spLocks noGrp="1"/>
          </p:cNvSpPr>
          <p:nvPr>
            <p:ph type="sldNum" sz="quarter" idx="2"/>
          </p:nvPr>
        </p:nvSpPr>
        <p:spPr>
          <a:xfrm>
            <a:off x="6763317" y="6443974"/>
            <a:ext cx="2133601" cy="226986"/>
          </a:xfrm>
          <a:prstGeom prst="rect">
            <a:avLst/>
          </a:prstGeom>
          <a:ln w="12700">
            <a:miter lim="400000"/>
          </a:ln>
        </p:spPr>
        <p:txBody>
          <a:bodyPr lIns="45719" rIns="45719">
            <a:spAutoFit/>
          </a:bodyPr>
          <a:lstStyle>
            <a:lvl1pPr algn="r">
              <a:defRPr sz="1000"/>
            </a:lvl1pPr>
          </a:lstStyle>
          <a:p>
            <a:pPr lvl="0"/>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a:defRPr sz="3400" b="1">
          <a:solidFill>
            <a:srgbClr val="0E9ED7"/>
          </a:solidFill>
          <a:latin typeface="Arial"/>
          <a:ea typeface="Arial"/>
          <a:cs typeface="Arial"/>
          <a:sym typeface="Arial"/>
        </a:defRPr>
      </a:lvl1pPr>
      <a:lvl2pPr>
        <a:defRPr sz="3400" b="1">
          <a:solidFill>
            <a:srgbClr val="0E9ED7"/>
          </a:solidFill>
          <a:latin typeface="Arial"/>
          <a:ea typeface="Arial"/>
          <a:cs typeface="Arial"/>
          <a:sym typeface="Arial"/>
        </a:defRPr>
      </a:lvl2pPr>
      <a:lvl3pPr>
        <a:defRPr sz="3400" b="1">
          <a:solidFill>
            <a:srgbClr val="0E9ED7"/>
          </a:solidFill>
          <a:latin typeface="Arial"/>
          <a:ea typeface="Arial"/>
          <a:cs typeface="Arial"/>
          <a:sym typeface="Arial"/>
        </a:defRPr>
      </a:lvl3pPr>
      <a:lvl4pPr>
        <a:defRPr sz="3400" b="1">
          <a:solidFill>
            <a:srgbClr val="0E9ED7"/>
          </a:solidFill>
          <a:latin typeface="Arial"/>
          <a:ea typeface="Arial"/>
          <a:cs typeface="Arial"/>
          <a:sym typeface="Arial"/>
        </a:defRPr>
      </a:lvl4pPr>
      <a:lvl5pPr>
        <a:defRPr sz="3400" b="1">
          <a:solidFill>
            <a:srgbClr val="0E9ED7"/>
          </a:solidFill>
          <a:latin typeface="Arial"/>
          <a:ea typeface="Arial"/>
          <a:cs typeface="Arial"/>
          <a:sym typeface="Arial"/>
        </a:defRPr>
      </a:lvl5pPr>
      <a:lvl6pPr indent="457200">
        <a:defRPr sz="3400" b="1">
          <a:solidFill>
            <a:srgbClr val="0E9ED7"/>
          </a:solidFill>
          <a:latin typeface="Arial"/>
          <a:ea typeface="Arial"/>
          <a:cs typeface="Arial"/>
          <a:sym typeface="Arial"/>
        </a:defRPr>
      </a:lvl6pPr>
      <a:lvl7pPr indent="914400">
        <a:defRPr sz="3400" b="1">
          <a:solidFill>
            <a:srgbClr val="0E9ED7"/>
          </a:solidFill>
          <a:latin typeface="Arial"/>
          <a:ea typeface="Arial"/>
          <a:cs typeface="Arial"/>
          <a:sym typeface="Arial"/>
        </a:defRPr>
      </a:lvl7pPr>
      <a:lvl8pPr indent="1371600">
        <a:defRPr sz="3400" b="1">
          <a:solidFill>
            <a:srgbClr val="0E9ED7"/>
          </a:solidFill>
          <a:latin typeface="Arial"/>
          <a:ea typeface="Arial"/>
          <a:cs typeface="Arial"/>
          <a:sym typeface="Arial"/>
        </a:defRPr>
      </a:lvl8pPr>
      <a:lvl9pPr indent="1828800">
        <a:defRPr sz="3400" b="1">
          <a:solidFill>
            <a:srgbClr val="0E9ED7"/>
          </a:solidFill>
          <a:latin typeface="Arial"/>
          <a:ea typeface="Arial"/>
          <a:cs typeface="Arial"/>
          <a:sym typeface="Arial"/>
        </a:defRPr>
      </a:lvl9pPr>
    </p:titleStyle>
    <p:bodyStyle>
      <a:lvl1pPr>
        <a:spcBef>
          <a:spcPts val="800"/>
        </a:spcBef>
        <a:defRPr sz="2600">
          <a:latin typeface="Arial"/>
          <a:ea typeface="Arial"/>
          <a:cs typeface="Arial"/>
          <a:sym typeface="Arial"/>
        </a:defRPr>
      </a:lvl1pPr>
      <a:lvl2pPr marL="722539" indent="-265339">
        <a:spcBef>
          <a:spcPts val="800"/>
        </a:spcBef>
        <a:buSzPct val="100000"/>
        <a:buChar char="–"/>
        <a:defRPr sz="2600">
          <a:latin typeface="Arial"/>
          <a:ea typeface="Arial"/>
          <a:cs typeface="Arial"/>
          <a:sym typeface="Arial"/>
        </a:defRPr>
      </a:lvl2pPr>
      <a:lvl3pPr marL="1162050" indent="-247650">
        <a:spcBef>
          <a:spcPts val="800"/>
        </a:spcBef>
        <a:buSzPct val="100000"/>
        <a:buChar char="•"/>
        <a:defRPr sz="2600">
          <a:latin typeface="Arial"/>
          <a:ea typeface="Arial"/>
          <a:cs typeface="Arial"/>
          <a:sym typeface="Arial"/>
        </a:defRPr>
      </a:lvl3pPr>
      <a:lvl4pPr marL="1668779" indent="-297179">
        <a:spcBef>
          <a:spcPts val="800"/>
        </a:spcBef>
        <a:buSzPct val="100000"/>
        <a:buChar char="–"/>
        <a:defRPr sz="2600">
          <a:latin typeface="Arial"/>
          <a:ea typeface="Arial"/>
          <a:cs typeface="Arial"/>
          <a:sym typeface="Arial"/>
        </a:defRPr>
      </a:lvl4pPr>
      <a:lvl5pPr marL="2125979" indent="-297179">
        <a:spcBef>
          <a:spcPts val="800"/>
        </a:spcBef>
        <a:buSzPct val="100000"/>
        <a:buChar char="»"/>
        <a:defRPr sz="2600">
          <a:latin typeface="Arial"/>
          <a:ea typeface="Arial"/>
          <a:cs typeface="Arial"/>
          <a:sym typeface="Arial"/>
        </a:defRPr>
      </a:lvl5pPr>
      <a:lvl6pPr marL="2583179" indent="-297179">
        <a:spcBef>
          <a:spcPts val="800"/>
        </a:spcBef>
        <a:buSzPct val="100000"/>
        <a:buChar char="»"/>
        <a:defRPr sz="2600">
          <a:latin typeface="Arial"/>
          <a:ea typeface="Arial"/>
          <a:cs typeface="Arial"/>
          <a:sym typeface="Arial"/>
        </a:defRPr>
      </a:lvl6pPr>
      <a:lvl7pPr marL="3040379" indent="-297179">
        <a:spcBef>
          <a:spcPts val="800"/>
        </a:spcBef>
        <a:buSzPct val="100000"/>
        <a:buChar char="»"/>
        <a:defRPr sz="2600">
          <a:latin typeface="Arial"/>
          <a:ea typeface="Arial"/>
          <a:cs typeface="Arial"/>
          <a:sym typeface="Arial"/>
        </a:defRPr>
      </a:lvl7pPr>
      <a:lvl8pPr marL="3497579" indent="-297179">
        <a:spcBef>
          <a:spcPts val="800"/>
        </a:spcBef>
        <a:buSzPct val="100000"/>
        <a:buChar char="»"/>
        <a:defRPr sz="2600">
          <a:latin typeface="Arial"/>
          <a:ea typeface="Arial"/>
          <a:cs typeface="Arial"/>
          <a:sym typeface="Arial"/>
        </a:defRPr>
      </a:lvl8pPr>
      <a:lvl9pPr marL="3954779" indent="-297179">
        <a:spcBef>
          <a:spcPts val="800"/>
        </a:spcBef>
        <a:buSzPct val="100000"/>
        <a:buChar char="»"/>
        <a:defRPr sz="2600">
          <a:latin typeface="Arial"/>
          <a:ea typeface="Arial"/>
          <a:cs typeface="Arial"/>
          <a:sym typeface="Arial"/>
        </a:defRPr>
      </a:lvl9pPr>
    </p:bodyStyle>
    <p:otherStyle>
      <a:lvl1pPr algn="r">
        <a:defRPr sz="1000">
          <a:solidFill>
            <a:schemeClr val="tx1"/>
          </a:solidFill>
          <a:latin typeface="+mn-lt"/>
          <a:ea typeface="+mn-ea"/>
          <a:cs typeface="+mn-cs"/>
          <a:sym typeface="Arial"/>
        </a:defRPr>
      </a:lvl1pPr>
      <a:lvl2pPr indent="457200" algn="r">
        <a:defRPr sz="1000">
          <a:solidFill>
            <a:schemeClr val="tx1"/>
          </a:solidFill>
          <a:latin typeface="+mn-lt"/>
          <a:ea typeface="+mn-ea"/>
          <a:cs typeface="+mn-cs"/>
          <a:sym typeface="Arial"/>
        </a:defRPr>
      </a:lvl2pPr>
      <a:lvl3pPr indent="914400" algn="r">
        <a:defRPr sz="1000">
          <a:solidFill>
            <a:schemeClr val="tx1"/>
          </a:solidFill>
          <a:latin typeface="+mn-lt"/>
          <a:ea typeface="+mn-ea"/>
          <a:cs typeface="+mn-cs"/>
          <a:sym typeface="Arial"/>
        </a:defRPr>
      </a:lvl3pPr>
      <a:lvl4pPr indent="1371600" algn="r">
        <a:defRPr sz="1000">
          <a:solidFill>
            <a:schemeClr val="tx1"/>
          </a:solidFill>
          <a:latin typeface="+mn-lt"/>
          <a:ea typeface="+mn-ea"/>
          <a:cs typeface="+mn-cs"/>
          <a:sym typeface="Arial"/>
        </a:defRPr>
      </a:lvl4pPr>
      <a:lvl5pPr indent="1828800" algn="r">
        <a:defRPr sz="1000">
          <a:solidFill>
            <a:schemeClr val="tx1"/>
          </a:solidFill>
          <a:latin typeface="+mn-lt"/>
          <a:ea typeface="+mn-ea"/>
          <a:cs typeface="+mn-cs"/>
          <a:sym typeface="Arial"/>
        </a:defRPr>
      </a:lvl5pPr>
      <a:lvl6pPr indent="2286000" algn="r">
        <a:defRPr sz="1000">
          <a:solidFill>
            <a:schemeClr val="tx1"/>
          </a:solidFill>
          <a:latin typeface="+mn-lt"/>
          <a:ea typeface="+mn-ea"/>
          <a:cs typeface="+mn-cs"/>
          <a:sym typeface="Arial"/>
        </a:defRPr>
      </a:lvl6pPr>
      <a:lvl7pPr indent="2743200" algn="r">
        <a:defRPr sz="1000">
          <a:solidFill>
            <a:schemeClr val="tx1"/>
          </a:solidFill>
          <a:latin typeface="+mn-lt"/>
          <a:ea typeface="+mn-ea"/>
          <a:cs typeface="+mn-cs"/>
          <a:sym typeface="Arial"/>
        </a:defRPr>
      </a:lvl7pPr>
      <a:lvl8pPr indent="3200400" algn="r">
        <a:defRPr sz="1000">
          <a:solidFill>
            <a:schemeClr val="tx1"/>
          </a:solidFill>
          <a:latin typeface="+mn-lt"/>
          <a:ea typeface="+mn-ea"/>
          <a:cs typeface="+mn-cs"/>
          <a:sym typeface="Arial"/>
        </a:defRPr>
      </a:lvl8pPr>
      <a:lvl9pPr indent="3657600" algn="r">
        <a:defRPr sz="1000">
          <a:solidFill>
            <a:schemeClr val="tx1"/>
          </a:solidFill>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 21"/>
          <p:cNvSpPr>
            <a:spLocks noGrp="1"/>
          </p:cNvSpPr>
          <p:nvPr>
            <p:ph type="title"/>
          </p:nvPr>
        </p:nvSpPr>
        <p:spPr>
          <a:prstGeom prst="rect">
            <a:avLst/>
          </a:prstGeom>
        </p:spPr>
        <p:txBody>
          <a:bodyPr/>
          <a:lstStyle/>
          <a:p>
            <a:pPr lvl="0">
              <a:lnSpc>
                <a:spcPct val="100000"/>
              </a:lnSpc>
            </a:pPr>
            <a:r>
              <a:rPr lang="en-AU" sz="7200" dirty="0">
                <a:latin typeface="Calibri" panose="020F0502020204030204" pitchFamily="34" charset="0"/>
                <a:cs typeface="Calibri" panose="020F0502020204030204" pitchFamily="34" charset="0"/>
              </a:rPr>
              <a:t>Capital Gains Tax</a:t>
            </a:r>
            <a:endParaRPr sz="7200" dirty="0">
              <a:latin typeface="Calibri" panose="020F0502020204030204" pitchFamily="34" charset="0"/>
              <a:cs typeface="Calibri" panose="020F0502020204030204" pitchFamily="34" charset="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1206" y="1016481"/>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What is a capital gain (loss)?	</a:t>
            </a:r>
          </a:p>
        </p:txBody>
      </p:sp>
      <p:sp>
        <p:nvSpPr>
          <p:cNvPr id="2" name="Text Placeholder 1"/>
          <p:cNvSpPr>
            <a:spLocks noGrp="1"/>
          </p:cNvSpPr>
          <p:nvPr>
            <p:ph type="body" idx="1"/>
          </p:nvPr>
        </p:nvSpPr>
        <p:spPr>
          <a:xfrm>
            <a:off x="761206" y="2027957"/>
            <a:ext cx="7621588" cy="4443810"/>
          </a:xfrm>
        </p:spPr>
        <p:txBody>
          <a:bodyPr/>
          <a:lstStyle/>
          <a:p>
            <a:r>
              <a:rPr lang="en-AU" sz="1800" dirty="0">
                <a:latin typeface="Arial" panose="020B0604020202020204" pitchFamily="34" charset="0"/>
                <a:cs typeface="Arial" panose="020B0604020202020204" pitchFamily="34" charset="0"/>
              </a:rPr>
              <a:t>If you sell a capital asset, such as real estate or shares, you usually make a capital gain or a capital loss (subject to exceptions).</a:t>
            </a:r>
          </a:p>
          <a:p>
            <a:r>
              <a:rPr lang="en-AU" sz="1800" dirty="0">
                <a:latin typeface="Arial" panose="020B0604020202020204" pitchFamily="34" charset="0"/>
                <a:cs typeface="Arial" panose="020B0604020202020204" pitchFamily="34" charset="0"/>
              </a:rPr>
              <a:t>				1) Gain		2) Loss</a:t>
            </a:r>
          </a:p>
          <a:p>
            <a:endParaRPr lang="en-AU" sz="1800" dirty="0">
              <a:latin typeface="Arial" panose="020B0604020202020204" pitchFamily="34" charset="0"/>
              <a:cs typeface="Arial" panose="020B0604020202020204" pitchFamily="34" charset="0"/>
            </a:endParaRPr>
          </a:p>
          <a:p>
            <a:r>
              <a:rPr lang="en-AU" sz="1800" dirty="0">
                <a:latin typeface="Arial" panose="020B0604020202020204" pitchFamily="34" charset="0"/>
                <a:cs typeface="Arial" panose="020B0604020202020204" pitchFamily="34" charset="0"/>
              </a:rPr>
              <a:t>Sale price			$520,000		$300,000</a:t>
            </a:r>
          </a:p>
          <a:p>
            <a:r>
              <a:rPr lang="en-AU" sz="1800" dirty="0">
                <a:latin typeface="Arial" panose="020B0604020202020204" pitchFamily="34" charset="0"/>
                <a:cs typeface="Arial" panose="020B0604020202020204" pitchFamily="34" charset="0"/>
              </a:rPr>
              <a:t>Less: purchase price		</a:t>
            </a:r>
            <a:r>
              <a:rPr lang="en-AU" sz="1800" u="sng" dirty="0">
                <a:latin typeface="Arial" panose="020B0604020202020204" pitchFamily="34" charset="0"/>
                <a:cs typeface="Arial" panose="020B0604020202020204" pitchFamily="34" charset="0"/>
              </a:rPr>
              <a:t>$300,000</a:t>
            </a:r>
            <a:r>
              <a:rPr lang="en-AU" sz="1800" dirty="0">
                <a:latin typeface="Arial" panose="020B0604020202020204" pitchFamily="34" charset="0"/>
                <a:cs typeface="Arial" panose="020B0604020202020204" pitchFamily="34" charset="0"/>
              </a:rPr>
              <a:t>		</a:t>
            </a:r>
            <a:r>
              <a:rPr lang="en-AU" sz="1800" u="sng" dirty="0">
                <a:latin typeface="Arial" panose="020B0604020202020204" pitchFamily="34" charset="0"/>
                <a:cs typeface="Arial" panose="020B0604020202020204" pitchFamily="34" charset="0"/>
              </a:rPr>
              <a:t>$400,000</a:t>
            </a:r>
          </a:p>
          <a:p>
            <a:r>
              <a:rPr lang="en-AU" sz="1800" dirty="0">
                <a:latin typeface="Arial" panose="020B0604020202020204" pitchFamily="34" charset="0"/>
                <a:cs typeface="Arial" panose="020B0604020202020204" pitchFamily="34" charset="0"/>
              </a:rPr>
              <a:t>Capital gain / loss			$220,000		($100,000)</a:t>
            </a:r>
          </a:p>
          <a:p>
            <a:endParaRPr lang="en-AU" sz="2400" dirty="0"/>
          </a:p>
          <a:p>
            <a:endParaRPr lang="en-AU" sz="2400" dirty="0"/>
          </a:p>
          <a:p>
            <a:endParaRPr lang="en-AU" dirty="0"/>
          </a:p>
          <a:p>
            <a:endParaRPr lang="en-AU" dirty="0"/>
          </a:p>
          <a:p>
            <a:endParaRPr lang="en-AU" b="1" dirty="0">
              <a:solidFill>
                <a:srgbClr val="00B0F0"/>
              </a:solidFill>
              <a:latin typeface="Calibri" panose="020F0502020204030204" pitchFamily="34" charset="0"/>
              <a:cs typeface="Calibri" panose="020F0502020204030204" pitchFamily="34" charset="0"/>
            </a:endParaRPr>
          </a:p>
          <a:p>
            <a:endParaRPr lang="en-US" b="1" dirty="0">
              <a:solidFill>
                <a:srgbClr val="00B0F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8433739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839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Who does it apply to?</a:t>
            </a:r>
          </a:p>
        </p:txBody>
      </p:sp>
      <p:sp>
        <p:nvSpPr>
          <p:cNvPr id="2" name="Text Placeholder 1"/>
          <p:cNvSpPr>
            <a:spLocks noGrp="1"/>
          </p:cNvSpPr>
          <p:nvPr>
            <p:ph type="body" idx="1"/>
          </p:nvPr>
        </p:nvSpPr>
        <p:spPr>
          <a:xfrm>
            <a:off x="573206" y="1512142"/>
            <a:ext cx="7809588" cy="4794874"/>
          </a:xfrm>
        </p:spPr>
        <p:txBody>
          <a:bodyPr/>
          <a:lstStyle/>
          <a:p>
            <a:r>
              <a:rPr lang="en-AU" sz="1800" dirty="0">
                <a:latin typeface="Calibri" panose="020F0502020204030204" pitchFamily="34" charset="0"/>
                <a:cs typeface="Calibri" panose="020F0502020204030204" pitchFamily="34" charset="0"/>
              </a:rPr>
              <a:t>If you’re an Australian resident, CGT applies to your assets anywhere in the world.</a:t>
            </a:r>
          </a:p>
          <a:p>
            <a:endParaRPr lang="en-AU" sz="1800" dirty="0">
              <a:latin typeface="Calibri" panose="020F0502020204030204" pitchFamily="34" charset="0"/>
              <a:cs typeface="Calibri" panose="020F0502020204030204" pitchFamily="34" charset="0"/>
            </a:endParaRPr>
          </a:p>
          <a:p>
            <a:r>
              <a:rPr lang="en-AU" sz="1800" dirty="0">
                <a:latin typeface="Calibri" panose="020F0502020204030204" pitchFamily="34" charset="0"/>
                <a:cs typeface="Calibri" panose="020F0502020204030204" pitchFamily="34" charset="0"/>
              </a:rPr>
              <a:t>Foreign residents make a capital gain or loss if a CGT event happens to an asset that is 'taxable Australian property.’</a:t>
            </a:r>
          </a:p>
        </p:txBody>
      </p:sp>
    </p:spTree>
    <p:extLst>
      <p:ext uri="{BB962C8B-B14F-4D97-AF65-F5344CB8AC3E}">
        <p14:creationId xmlns:p14="http://schemas.microsoft.com/office/powerpoint/2010/main" val="237788099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839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Common CGT Assets</a:t>
            </a:r>
          </a:p>
        </p:txBody>
      </p:sp>
      <p:sp>
        <p:nvSpPr>
          <p:cNvPr id="2" name="Text Placeholder 1"/>
          <p:cNvSpPr>
            <a:spLocks noGrp="1"/>
          </p:cNvSpPr>
          <p:nvPr>
            <p:ph type="body" idx="1"/>
          </p:nvPr>
        </p:nvSpPr>
        <p:spPr>
          <a:xfrm>
            <a:off x="573206" y="1512142"/>
            <a:ext cx="7809588" cy="4794874"/>
          </a:xfrm>
        </p:spPr>
        <p:txBody>
          <a:bodyPr/>
          <a:lstStyle/>
          <a:p>
            <a:pPr marL="342900" indent="-342900">
              <a:buFontTx/>
              <a:buChar char="-"/>
            </a:pPr>
            <a:r>
              <a:rPr lang="en-AU" sz="1800" dirty="0">
                <a:latin typeface="Arial" panose="020B0604020202020204" pitchFamily="34" charset="0"/>
                <a:cs typeface="Arial" panose="020B0604020202020204" pitchFamily="34" charset="0"/>
              </a:rPr>
              <a:t>Property</a:t>
            </a:r>
          </a:p>
          <a:p>
            <a:pPr marL="342900" indent="-342900">
              <a:buFontTx/>
              <a:buChar char="-"/>
            </a:pPr>
            <a:r>
              <a:rPr lang="en-AU" sz="1800" dirty="0">
                <a:latin typeface="Arial" panose="020B0604020202020204" pitchFamily="34" charset="0"/>
                <a:cs typeface="Arial" panose="020B0604020202020204" pitchFamily="34" charset="0"/>
              </a:rPr>
              <a:t>Shares</a:t>
            </a:r>
          </a:p>
          <a:p>
            <a:pPr marL="342900" indent="-342900">
              <a:buFontTx/>
              <a:buChar char="-"/>
            </a:pPr>
            <a:r>
              <a:rPr lang="en-AU" sz="1800" dirty="0">
                <a:latin typeface="Arial" panose="020B0604020202020204" pitchFamily="34" charset="0"/>
                <a:cs typeface="Arial" panose="020B0604020202020204" pitchFamily="34" charset="0"/>
              </a:rPr>
              <a:t>Leases</a:t>
            </a:r>
          </a:p>
          <a:p>
            <a:pPr marL="342900" indent="-342900">
              <a:buFontTx/>
              <a:buChar char="-"/>
            </a:pPr>
            <a:r>
              <a:rPr lang="en-AU" sz="1800" dirty="0">
                <a:latin typeface="Arial" panose="020B0604020202020204" pitchFamily="34" charset="0"/>
                <a:cs typeface="Arial" panose="020B0604020202020204" pitchFamily="34" charset="0"/>
              </a:rPr>
              <a:t>Goodwill</a:t>
            </a:r>
          </a:p>
          <a:p>
            <a:pPr marL="342900" indent="-342900">
              <a:buFontTx/>
              <a:buChar char="-"/>
            </a:pPr>
            <a:r>
              <a:rPr lang="en-AU" sz="1800" dirty="0">
                <a:latin typeface="Arial" panose="020B0604020202020204" pitchFamily="34" charset="0"/>
                <a:cs typeface="Arial" panose="020B0604020202020204" pitchFamily="34" charset="0"/>
              </a:rPr>
              <a:t>Personal use assets purchased for more than $10,000</a:t>
            </a:r>
          </a:p>
          <a:p>
            <a:pPr marL="342900" indent="-342900">
              <a:buFontTx/>
              <a:buChar char="-"/>
            </a:pPr>
            <a:r>
              <a:rPr lang="en-AU" sz="1800" dirty="0">
                <a:latin typeface="Arial" panose="020B0604020202020204" pitchFamily="34" charset="0"/>
                <a:cs typeface="Arial" panose="020B0604020202020204" pitchFamily="34" charset="0"/>
              </a:rPr>
              <a:t>Collectables (such as jewellery, antiques, and artwork)</a:t>
            </a:r>
          </a:p>
          <a:p>
            <a:endParaRPr lang="en-AU" sz="2000" dirty="0">
              <a:latin typeface="Arial" panose="020B0604020202020204" pitchFamily="34" charset="0"/>
              <a:cs typeface="Arial" panose="020B0604020202020204" pitchFamily="34" charset="0"/>
            </a:endParaRPr>
          </a:p>
          <a:p>
            <a:endParaRPr lang="en-AU"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860047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839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Question</a:t>
            </a:r>
          </a:p>
        </p:txBody>
      </p:sp>
      <p:sp>
        <p:nvSpPr>
          <p:cNvPr id="2" name="Text Placeholder 1"/>
          <p:cNvSpPr>
            <a:spLocks noGrp="1"/>
          </p:cNvSpPr>
          <p:nvPr>
            <p:ph type="body" idx="1"/>
          </p:nvPr>
        </p:nvSpPr>
        <p:spPr>
          <a:xfrm>
            <a:off x="573206" y="1512142"/>
            <a:ext cx="7809588" cy="4794874"/>
          </a:xfrm>
        </p:spPr>
        <p:txBody>
          <a:bodyPr/>
          <a:lstStyle/>
          <a:p>
            <a:r>
              <a:rPr lang="en-AU" sz="1800" dirty="0"/>
              <a:t>Are the following CGT assets or personal use assets:</a:t>
            </a:r>
          </a:p>
          <a:p>
            <a:endParaRPr lang="en-AU" sz="1800" dirty="0"/>
          </a:p>
          <a:p>
            <a:r>
              <a:rPr lang="en-AU" sz="1800" dirty="0"/>
              <a:t>1. An engagement ring which cost $5,000? </a:t>
            </a:r>
          </a:p>
          <a:p>
            <a:r>
              <a:rPr lang="en-AU" sz="1800" i="1" dirty="0">
                <a:solidFill>
                  <a:srgbClr val="FF0000"/>
                </a:solidFill>
              </a:rPr>
              <a:t>Personal use – used or kept for personal use (less than $10K)</a:t>
            </a:r>
            <a:endParaRPr lang="en-AU" sz="1800" dirty="0">
              <a:solidFill>
                <a:srgbClr val="FF0000"/>
              </a:solidFill>
            </a:endParaRPr>
          </a:p>
          <a:p>
            <a:r>
              <a:rPr lang="en-AU" sz="1800" dirty="0"/>
              <a:t>2. A second-hand car purchased for $2,000? </a:t>
            </a:r>
          </a:p>
          <a:p>
            <a:r>
              <a:rPr lang="en-AU" sz="1800" i="1" dirty="0">
                <a:solidFill>
                  <a:srgbClr val="FF0000"/>
                </a:solidFill>
              </a:rPr>
              <a:t>Personal use -</a:t>
            </a:r>
            <a:r>
              <a:rPr lang="en-AU" sz="1800" dirty="0"/>
              <a:t> </a:t>
            </a:r>
            <a:r>
              <a:rPr lang="en-AU" sz="1800" i="1" dirty="0">
                <a:solidFill>
                  <a:srgbClr val="FF0000"/>
                </a:solidFill>
              </a:rPr>
              <a:t>Gains and losses from cars are exempt</a:t>
            </a:r>
          </a:p>
          <a:p>
            <a:r>
              <a:rPr lang="en-AU" sz="1800" dirty="0"/>
              <a:t>3. Shares in BHP? </a:t>
            </a:r>
            <a:endParaRPr lang="en-AU" sz="1800" dirty="0">
              <a:solidFill>
                <a:srgbClr val="FF0000"/>
              </a:solidFill>
            </a:endParaRPr>
          </a:p>
          <a:p>
            <a:r>
              <a:rPr lang="en-AU" sz="1800" i="1" dirty="0">
                <a:solidFill>
                  <a:srgbClr val="FF0000"/>
                </a:solidFill>
              </a:rPr>
              <a:t>CGT asset</a:t>
            </a:r>
            <a:endParaRPr lang="en-AU" sz="1800" dirty="0">
              <a:solidFill>
                <a:srgbClr val="FF0000"/>
              </a:solidFill>
            </a:endParaRPr>
          </a:p>
          <a:p>
            <a:r>
              <a:rPr lang="en-AU" sz="1800" dirty="0"/>
              <a:t>4. Your home? </a:t>
            </a:r>
            <a:endParaRPr lang="en-AU" sz="1800" dirty="0">
              <a:solidFill>
                <a:srgbClr val="FF0000"/>
              </a:solidFill>
            </a:endParaRPr>
          </a:p>
          <a:p>
            <a:r>
              <a:rPr lang="en-AU" sz="1800" i="1" dirty="0">
                <a:solidFill>
                  <a:srgbClr val="FF0000"/>
                </a:solidFill>
              </a:rPr>
              <a:t>CGT asset (but exempt under main residence exemption)</a:t>
            </a:r>
            <a:endParaRPr lang="en-AU" sz="1800" dirty="0">
              <a:solidFill>
                <a:srgbClr val="FF0000"/>
              </a:solidFill>
            </a:endParaRPr>
          </a:p>
          <a:p>
            <a:r>
              <a:rPr lang="en-AU" sz="1800" dirty="0"/>
              <a:t>5. A holiday house at Torquay? </a:t>
            </a:r>
            <a:endParaRPr lang="en-AU" sz="1800" dirty="0">
              <a:solidFill>
                <a:srgbClr val="FF0000"/>
              </a:solidFill>
            </a:endParaRPr>
          </a:p>
          <a:p>
            <a:r>
              <a:rPr lang="en-AU" sz="1800" i="1" dirty="0">
                <a:solidFill>
                  <a:srgbClr val="FF0000"/>
                </a:solidFill>
              </a:rPr>
              <a:t>CGT asset</a:t>
            </a:r>
            <a:endParaRPr lang="en-AU" sz="1800" dirty="0">
              <a:solidFill>
                <a:srgbClr val="FF0000"/>
              </a:solidFill>
            </a:endParaRPr>
          </a:p>
          <a:p>
            <a:endParaRPr lang="en-AU"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3292150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839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Time of the event</a:t>
            </a:r>
          </a:p>
        </p:txBody>
      </p:sp>
      <p:sp>
        <p:nvSpPr>
          <p:cNvPr id="2" name="Text Placeholder 1"/>
          <p:cNvSpPr>
            <a:spLocks noGrp="1"/>
          </p:cNvSpPr>
          <p:nvPr>
            <p:ph type="body" idx="1"/>
          </p:nvPr>
        </p:nvSpPr>
        <p:spPr>
          <a:xfrm>
            <a:off x="573206" y="1512141"/>
            <a:ext cx="7809588" cy="5172437"/>
          </a:xfrm>
        </p:spPr>
        <p:txBody>
          <a:bodyPr/>
          <a:lstStyle/>
          <a:p>
            <a:r>
              <a:rPr lang="en-AU" sz="1800" b="1" dirty="0"/>
              <a:t>Contract date </a:t>
            </a:r>
            <a:r>
              <a:rPr lang="en-AU" sz="1800" b="1" u="sng" dirty="0"/>
              <a:t>not</a:t>
            </a:r>
            <a:r>
              <a:rPr lang="en-AU" sz="1800" b="1" dirty="0"/>
              <a:t> settlement date</a:t>
            </a:r>
          </a:p>
          <a:p>
            <a:r>
              <a:rPr lang="en-AU" sz="1800" dirty="0"/>
              <a:t>If you sign a contract to sell an investment property in June 2019, and settle in August 2019, you need to report the capital gain or loss in your 2018–19 tax return.</a:t>
            </a:r>
          </a:p>
          <a:p>
            <a:endParaRPr lang="en-AU" sz="1800" dirty="0"/>
          </a:p>
          <a:p>
            <a:endParaRPr lang="en-AU" sz="1800" dirty="0"/>
          </a:p>
          <a:p>
            <a:endParaRPr lang="en-AU" sz="1800" b="1" dirty="0"/>
          </a:p>
          <a:p>
            <a:endParaRPr lang="en-AU" sz="1800" b="1" dirty="0"/>
          </a:p>
          <a:p>
            <a:endParaRPr lang="en-AU" sz="1800" b="1" dirty="0"/>
          </a:p>
          <a:p>
            <a:r>
              <a:rPr lang="en-AU" sz="1800" b="1" dirty="0"/>
              <a:t>Pre CGT Exemption: </a:t>
            </a:r>
          </a:p>
          <a:p>
            <a:pPr marL="457200" indent="-457200">
              <a:buFont typeface="Arial" panose="020B0604020202020204" pitchFamily="34" charset="0"/>
              <a:buChar char="•"/>
            </a:pPr>
            <a:r>
              <a:rPr lang="en-AU" sz="1800" dirty="0"/>
              <a:t>On or before 20 September 1985 = CGT exempt</a:t>
            </a:r>
          </a:p>
          <a:p>
            <a:pPr marL="457200" indent="-457200">
              <a:buFont typeface="Arial" panose="020B0604020202020204" pitchFamily="34" charset="0"/>
              <a:buChar char="•"/>
            </a:pPr>
            <a:r>
              <a:rPr lang="en-AU" sz="1800" dirty="0"/>
              <a:t>After 20 September 1985 =  Subject to CGT (unless otherwise excluded)</a:t>
            </a:r>
          </a:p>
          <a:p>
            <a:endParaRPr lang="en-AU" sz="22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ABA6D45A-9E0D-44B5-9934-CE4BE32CED21}"/>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12011" y="2890004"/>
            <a:ext cx="6171051" cy="1892203"/>
          </a:xfrm>
          <a:prstGeom prst="rect">
            <a:avLst/>
          </a:prstGeom>
          <a:noFill/>
        </p:spPr>
      </p:pic>
    </p:spTree>
    <p:extLst>
      <p:ext uri="{BB962C8B-B14F-4D97-AF65-F5344CB8AC3E}">
        <p14:creationId xmlns:p14="http://schemas.microsoft.com/office/powerpoint/2010/main" val="373735249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21176"/>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Methodology</a:t>
            </a:r>
          </a:p>
        </p:txBody>
      </p:sp>
      <p:pic>
        <p:nvPicPr>
          <p:cNvPr id="5" name="Picture 4"/>
          <p:cNvPicPr>
            <a:picLocks noChangeAspect="1"/>
          </p:cNvPicPr>
          <p:nvPr/>
        </p:nvPicPr>
        <p:blipFill>
          <a:blip r:embed="rId3"/>
          <a:stretch>
            <a:fillRect/>
          </a:stretch>
        </p:blipFill>
        <p:spPr>
          <a:xfrm>
            <a:off x="1440687" y="1489858"/>
            <a:ext cx="6238875" cy="4495800"/>
          </a:xfrm>
          <a:prstGeom prst="rect">
            <a:avLst/>
          </a:prstGeom>
        </p:spPr>
      </p:pic>
      <p:sp>
        <p:nvSpPr>
          <p:cNvPr id="6" name="TextBox 5"/>
          <p:cNvSpPr txBox="1"/>
          <p:nvPr/>
        </p:nvSpPr>
        <p:spPr>
          <a:xfrm>
            <a:off x="6697684" y="6486172"/>
            <a:ext cx="2303838" cy="21544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AU" sz="800" b="0" i="0" u="none" strike="noStrike" cap="none" spc="0" normalizeH="0" baseline="0" dirty="0">
                <a:ln>
                  <a:noFill/>
                </a:ln>
                <a:solidFill>
                  <a:srgbClr val="000000"/>
                </a:solidFill>
                <a:effectLst/>
                <a:uFillTx/>
                <a:sym typeface="Arial"/>
              </a:rPr>
              <a:t>Source: CA Program Study Guide– Tax</a:t>
            </a:r>
            <a:r>
              <a:rPr lang="en-AU" sz="800" dirty="0">
                <a:solidFill>
                  <a:srgbClr val="000000"/>
                </a:solidFill>
              </a:rPr>
              <a:t>: Unit 4</a:t>
            </a:r>
            <a:endParaRPr kumimoji="0" lang="en-AU" sz="800" b="0" i="0" u="none" strike="noStrike" cap="none" spc="0" normalizeH="0" baseline="0" dirty="0">
              <a:ln>
                <a:noFill/>
              </a:ln>
              <a:solidFill>
                <a:srgbClr val="000000"/>
              </a:solidFill>
              <a:effectLst/>
              <a:uFillTx/>
              <a:sym typeface="Arial"/>
            </a:endParaRPr>
          </a:p>
        </p:txBody>
      </p:sp>
    </p:spTree>
    <p:extLst>
      <p:ext uri="{BB962C8B-B14F-4D97-AF65-F5344CB8AC3E}">
        <p14:creationId xmlns:p14="http://schemas.microsoft.com/office/powerpoint/2010/main" val="399086627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839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CGT Events</a:t>
            </a:r>
          </a:p>
        </p:txBody>
      </p:sp>
      <p:pic>
        <p:nvPicPr>
          <p:cNvPr id="5" name="Picture 4"/>
          <p:cNvPicPr>
            <a:picLocks noChangeAspect="1"/>
          </p:cNvPicPr>
          <p:nvPr/>
        </p:nvPicPr>
        <p:blipFill>
          <a:blip r:embed="rId3"/>
          <a:stretch>
            <a:fillRect/>
          </a:stretch>
        </p:blipFill>
        <p:spPr>
          <a:xfrm>
            <a:off x="573207" y="1933575"/>
            <a:ext cx="7927856" cy="3017390"/>
          </a:xfrm>
          <a:prstGeom prst="rect">
            <a:avLst/>
          </a:prstGeom>
        </p:spPr>
      </p:pic>
    </p:spTree>
    <p:extLst>
      <p:ext uri="{BB962C8B-B14F-4D97-AF65-F5344CB8AC3E}">
        <p14:creationId xmlns:p14="http://schemas.microsoft.com/office/powerpoint/2010/main" val="270656557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623887" y="395287"/>
            <a:ext cx="7896225" cy="6067425"/>
          </a:xfrm>
          <a:prstGeom prst="rect">
            <a:avLst/>
          </a:prstGeom>
        </p:spPr>
      </p:pic>
      <p:sp>
        <p:nvSpPr>
          <p:cNvPr id="3" name="TextBox 2"/>
          <p:cNvSpPr txBox="1"/>
          <p:nvPr/>
        </p:nvSpPr>
        <p:spPr>
          <a:xfrm>
            <a:off x="3420080" y="6642558"/>
            <a:ext cx="2303838" cy="21544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AU" sz="800" b="0" i="0" u="none" strike="noStrike" cap="none" spc="0" normalizeH="0" baseline="0" dirty="0">
                <a:ln>
                  <a:noFill/>
                </a:ln>
                <a:solidFill>
                  <a:srgbClr val="000000"/>
                </a:solidFill>
                <a:effectLst/>
                <a:uFillTx/>
                <a:sym typeface="Arial"/>
              </a:rPr>
              <a:t>Source: CA Program Study Guide– Tax</a:t>
            </a:r>
            <a:r>
              <a:rPr lang="en-AU" sz="800" dirty="0">
                <a:solidFill>
                  <a:srgbClr val="000000"/>
                </a:solidFill>
              </a:rPr>
              <a:t>: Unit 4</a:t>
            </a:r>
            <a:endParaRPr kumimoji="0" lang="en-AU" sz="800" b="0" i="0" u="none" strike="noStrike" cap="none" spc="0" normalizeH="0" baseline="0" dirty="0">
              <a:ln>
                <a:noFill/>
              </a:ln>
              <a:solidFill>
                <a:srgbClr val="000000"/>
              </a:solidFill>
              <a:effectLst/>
              <a:uFillTx/>
              <a:sym typeface="Arial"/>
            </a:endParaRPr>
          </a:p>
        </p:txBody>
      </p:sp>
    </p:spTree>
    <p:extLst>
      <p:ext uri="{BB962C8B-B14F-4D97-AF65-F5344CB8AC3E}">
        <p14:creationId xmlns:p14="http://schemas.microsoft.com/office/powerpoint/2010/main" val="42482387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4791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Cost base elements</a:t>
            </a:r>
          </a:p>
        </p:txBody>
      </p:sp>
      <p:sp>
        <p:nvSpPr>
          <p:cNvPr id="2" name="Text Placeholder 1"/>
          <p:cNvSpPr>
            <a:spLocks noGrp="1"/>
          </p:cNvSpPr>
          <p:nvPr>
            <p:ph type="body" idx="1"/>
          </p:nvPr>
        </p:nvSpPr>
        <p:spPr>
          <a:xfrm>
            <a:off x="573206" y="1256996"/>
            <a:ext cx="7809588" cy="5568934"/>
          </a:xfrm>
        </p:spPr>
        <p:txBody>
          <a:bodyPr/>
          <a:lstStyle/>
          <a:p>
            <a:r>
              <a:rPr lang="en-AU" sz="1800" b="1" dirty="0"/>
              <a:t>Element 1:</a:t>
            </a:r>
            <a:r>
              <a:rPr lang="en-AU" sz="1800" dirty="0"/>
              <a:t> </a:t>
            </a:r>
            <a:r>
              <a:rPr lang="en-AU" sz="1800" b="1" dirty="0"/>
              <a:t>Money</a:t>
            </a:r>
            <a:r>
              <a:rPr lang="en-AU" sz="1800" dirty="0"/>
              <a:t> </a:t>
            </a:r>
            <a:r>
              <a:rPr lang="en-AU" sz="1800" b="1" dirty="0"/>
              <a:t>or value of property given for acquisition </a:t>
            </a:r>
          </a:p>
          <a:p>
            <a:r>
              <a:rPr lang="en-GB" sz="1800" dirty="0">
                <a:latin typeface="Arial" panose="020B0604020202020204" pitchFamily="34" charset="0"/>
                <a:cs typeface="Arial" panose="020B0604020202020204" pitchFamily="34" charset="0"/>
              </a:rPr>
              <a:t>Money paid (or required to be paid) for the asset and the market value of property given (or required to be given) to acquire the asset.</a:t>
            </a:r>
            <a:r>
              <a:rPr lang="en-AU" sz="1800" dirty="0">
                <a:latin typeface="Arial" panose="020B0604020202020204" pitchFamily="34" charset="0"/>
                <a:cs typeface="Arial" panose="020B0604020202020204" pitchFamily="34" charset="0"/>
              </a:rPr>
              <a:t> </a:t>
            </a:r>
          </a:p>
          <a:p>
            <a:endParaRPr lang="en-AU" sz="1800" dirty="0">
              <a:latin typeface="Arial" panose="020B0604020202020204" pitchFamily="34" charset="0"/>
              <a:cs typeface="Arial" panose="020B0604020202020204" pitchFamily="34" charset="0"/>
            </a:endParaRPr>
          </a:p>
          <a:p>
            <a:r>
              <a:rPr lang="en-AU" sz="1800" b="1" dirty="0"/>
              <a:t>Element 2:</a:t>
            </a:r>
            <a:r>
              <a:rPr lang="en-AU" sz="1800" dirty="0"/>
              <a:t> </a:t>
            </a:r>
            <a:r>
              <a:rPr lang="en-AU" sz="1800" b="1" dirty="0"/>
              <a:t>Incidental costs related to acquisition or disposal</a:t>
            </a:r>
          </a:p>
          <a:p>
            <a:pPr marL="342900" lvl="0" indent="-342900">
              <a:buFont typeface="Arial" panose="020B0604020202020204" pitchFamily="34" charset="0"/>
              <a:buChar char="•"/>
            </a:pPr>
            <a:r>
              <a:rPr lang="en-AU" sz="1800" dirty="0"/>
              <a:t>Remuneration for legal advisor, accountant, valuer or auctioneer </a:t>
            </a:r>
          </a:p>
          <a:p>
            <a:pPr marL="342900" lvl="0" indent="-342900">
              <a:buFont typeface="Arial" panose="020B0604020202020204" pitchFamily="34" charset="0"/>
              <a:buChar char="•"/>
            </a:pPr>
            <a:r>
              <a:rPr lang="en-AU" sz="1800" dirty="0"/>
              <a:t>Cost of transfer </a:t>
            </a:r>
          </a:p>
          <a:p>
            <a:pPr marL="342900" lvl="0" indent="-342900">
              <a:buFont typeface="Arial" panose="020B0604020202020204" pitchFamily="34" charset="0"/>
              <a:buChar char="•"/>
            </a:pPr>
            <a:r>
              <a:rPr lang="en-AU" sz="1800" dirty="0"/>
              <a:t>Stamp duties</a:t>
            </a:r>
          </a:p>
          <a:p>
            <a:pPr marL="342900" lvl="0" indent="-342900">
              <a:buFont typeface="Arial" panose="020B0604020202020204" pitchFamily="34" charset="0"/>
              <a:buChar char="•"/>
            </a:pPr>
            <a:r>
              <a:rPr lang="en-AU" sz="1800" dirty="0"/>
              <a:t>Marketing and advertising </a:t>
            </a:r>
          </a:p>
          <a:p>
            <a:pPr marL="342900" lvl="0" indent="-342900">
              <a:buFont typeface="Arial" panose="020B0604020202020204" pitchFamily="34" charset="0"/>
              <a:buChar char="•"/>
            </a:pPr>
            <a:r>
              <a:rPr lang="en-AU" sz="1800" dirty="0"/>
              <a:t>Valuations </a:t>
            </a:r>
          </a:p>
          <a:p>
            <a:pPr marL="342900" lvl="0" indent="-342900">
              <a:buFont typeface="Arial" panose="020B0604020202020204" pitchFamily="34" charset="0"/>
              <a:buChar char="•"/>
            </a:pPr>
            <a:r>
              <a:rPr lang="en-AU" sz="1800" dirty="0"/>
              <a:t>Search fees </a:t>
            </a:r>
          </a:p>
          <a:p>
            <a:pPr marL="342900" lvl="0" indent="-342900">
              <a:buFont typeface="Arial" panose="020B0604020202020204" pitchFamily="34" charset="0"/>
              <a:buChar char="•"/>
            </a:pPr>
            <a:r>
              <a:rPr lang="en-AU" sz="1800" dirty="0"/>
              <a:t>Conveyancing </a:t>
            </a:r>
          </a:p>
          <a:p>
            <a:pPr marL="342900" lvl="0" indent="-342900">
              <a:buFont typeface="Arial" panose="020B0604020202020204" pitchFamily="34" charset="0"/>
              <a:buChar char="•"/>
            </a:pPr>
            <a:r>
              <a:rPr lang="en-AU" sz="1800" dirty="0"/>
              <a:t>Borrowing expenses (not apportioned)</a:t>
            </a:r>
          </a:p>
          <a:p>
            <a:pPr marL="342900" lvl="0" indent="-342900">
              <a:buFont typeface="Arial" panose="020B0604020202020204" pitchFamily="34" charset="0"/>
              <a:buChar char="•"/>
            </a:pPr>
            <a:r>
              <a:rPr lang="en-AU" sz="1800" dirty="0"/>
              <a:t>Termination or exit fees</a:t>
            </a: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0116137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10666"/>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Cost base elements</a:t>
            </a:r>
          </a:p>
        </p:txBody>
      </p:sp>
      <p:sp>
        <p:nvSpPr>
          <p:cNvPr id="2" name="Text Placeholder 1"/>
          <p:cNvSpPr>
            <a:spLocks noGrp="1"/>
          </p:cNvSpPr>
          <p:nvPr>
            <p:ph type="body" idx="1"/>
          </p:nvPr>
        </p:nvSpPr>
        <p:spPr>
          <a:xfrm>
            <a:off x="573206" y="1256996"/>
            <a:ext cx="7809588" cy="5568934"/>
          </a:xfrm>
        </p:spPr>
        <p:txBody>
          <a:bodyPr/>
          <a:lstStyle/>
          <a:p>
            <a:r>
              <a:rPr lang="en-AU" sz="1800" b="1" dirty="0">
                <a:latin typeface="Arial" panose="020B0604020202020204" pitchFamily="34" charset="0"/>
                <a:cs typeface="Arial" panose="020B0604020202020204" pitchFamily="34" charset="0"/>
              </a:rPr>
              <a:t>Element 3: Costs of ownership</a:t>
            </a:r>
          </a:p>
          <a:p>
            <a:pPr marL="285750" indent="-285750">
              <a:buFont typeface="Wingdings" panose="05000000000000000000" pitchFamily="2" charset="2"/>
              <a:buChar char="Ø"/>
            </a:pPr>
            <a:r>
              <a:rPr lang="en-GB" sz="1800" dirty="0">
                <a:latin typeface="Arial" panose="020B0604020202020204" pitchFamily="34" charset="0"/>
                <a:cs typeface="Arial" panose="020B0604020202020204" pitchFamily="34" charset="0"/>
              </a:rPr>
              <a:t>You don't include these costs if you acquired the asset </a:t>
            </a:r>
            <a:r>
              <a:rPr lang="en-GB" sz="1800" u="sng" dirty="0">
                <a:latin typeface="Arial" panose="020B0604020202020204" pitchFamily="34" charset="0"/>
                <a:cs typeface="Arial" panose="020B0604020202020204" pitchFamily="34" charset="0"/>
              </a:rPr>
              <a:t>before</a:t>
            </a:r>
            <a:r>
              <a:rPr lang="en-GB" sz="1800" dirty="0">
                <a:latin typeface="Arial" panose="020B0604020202020204" pitchFamily="34" charset="0"/>
                <a:cs typeface="Arial" panose="020B0604020202020204" pitchFamily="34" charset="0"/>
              </a:rPr>
              <a:t> 21 August 1991.</a:t>
            </a:r>
          </a:p>
          <a:p>
            <a:endParaRPr lang="en-GB" sz="1800" dirty="0">
              <a:latin typeface="Arial" panose="020B0604020202020204" pitchFamily="34" charset="0"/>
              <a:cs typeface="Arial" panose="020B0604020202020204" pitchFamily="34" charset="0"/>
            </a:endParaRPr>
          </a:p>
          <a:p>
            <a:r>
              <a:rPr lang="en-GB" sz="1800" dirty="0">
                <a:latin typeface="Arial" panose="020B0604020202020204" pitchFamily="34" charset="0"/>
                <a:cs typeface="Arial" panose="020B0604020202020204" pitchFamily="34" charset="0"/>
              </a:rPr>
              <a:t>The costs of owning an asset include rates, land taxes, repairs and insurance premiums. You also include any non-deductible interest on loans used to finance:</a:t>
            </a:r>
          </a:p>
          <a:p>
            <a:pPr marL="285750" indent="-285750">
              <a:buFont typeface="Arial" panose="020B0604020202020204" pitchFamily="34" charset="0"/>
              <a:buChar char="•"/>
            </a:pPr>
            <a:r>
              <a:rPr lang="en-GB" sz="1800" dirty="0">
                <a:latin typeface="Arial" panose="020B0604020202020204" pitchFamily="34" charset="0"/>
                <a:cs typeface="Arial" panose="020B0604020202020204" pitchFamily="34" charset="0"/>
              </a:rPr>
              <a:t>The acquisition of a CGT asset</a:t>
            </a:r>
          </a:p>
          <a:p>
            <a:pPr marL="285750" indent="-285750">
              <a:buFont typeface="Arial" panose="020B0604020202020204" pitchFamily="34" charset="0"/>
              <a:buChar char="•"/>
            </a:pPr>
            <a:r>
              <a:rPr lang="en-GB" sz="1800" dirty="0">
                <a:latin typeface="Arial" panose="020B0604020202020204" pitchFamily="34" charset="0"/>
                <a:cs typeface="Arial" panose="020B0604020202020204" pitchFamily="34" charset="0"/>
              </a:rPr>
              <a:t>Capital expenditure to increase an asset’s value.</a:t>
            </a:r>
          </a:p>
          <a:p>
            <a:endParaRPr lang="en-GB" sz="1800" dirty="0">
              <a:latin typeface="Arial" panose="020B0604020202020204" pitchFamily="34" charset="0"/>
              <a:cs typeface="Arial" panose="020B0604020202020204" pitchFamily="34" charset="0"/>
            </a:endParaRPr>
          </a:p>
          <a:p>
            <a:r>
              <a:rPr lang="en-GB" sz="1800" dirty="0">
                <a:latin typeface="Arial" panose="020B0604020202020204" pitchFamily="34" charset="0"/>
                <a:cs typeface="Arial" panose="020B0604020202020204" pitchFamily="34" charset="0"/>
              </a:rPr>
              <a:t>You can’t:</a:t>
            </a:r>
          </a:p>
          <a:p>
            <a:pPr marL="285750" indent="-285750">
              <a:buFont typeface="Arial" panose="020B0604020202020204" pitchFamily="34" charset="0"/>
              <a:buChar char="•"/>
            </a:pPr>
            <a:r>
              <a:rPr lang="en-GB" sz="1800" dirty="0">
                <a:latin typeface="Arial" panose="020B0604020202020204" pitchFamily="34" charset="0"/>
                <a:cs typeface="Arial" panose="020B0604020202020204" pitchFamily="34" charset="0"/>
              </a:rPr>
              <a:t>Include these costs in the cost base of collectables or personal use assets</a:t>
            </a:r>
          </a:p>
          <a:p>
            <a:pPr marL="285750" indent="-285750">
              <a:buFont typeface="Arial" panose="020B0604020202020204" pitchFamily="34" charset="0"/>
              <a:buChar char="•"/>
            </a:pPr>
            <a:r>
              <a:rPr lang="en-GB" sz="1800" dirty="0">
                <a:latin typeface="Arial" panose="020B0604020202020204" pitchFamily="34" charset="0"/>
                <a:cs typeface="Arial" panose="020B0604020202020204" pitchFamily="34" charset="0"/>
              </a:rPr>
              <a:t>Index these costs</a:t>
            </a:r>
          </a:p>
          <a:p>
            <a:pPr marL="285750" indent="-285750">
              <a:buFont typeface="Arial" panose="020B0604020202020204" pitchFamily="34" charset="0"/>
              <a:buChar char="•"/>
            </a:pPr>
            <a:r>
              <a:rPr lang="en-GB" sz="1800" dirty="0">
                <a:latin typeface="Arial" panose="020B0604020202020204" pitchFamily="34" charset="0"/>
                <a:cs typeface="Arial" panose="020B0604020202020204" pitchFamily="34" charset="0"/>
              </a:rPr>
              <a:t>Use them to work out a capital loss.</a:t>
            </a: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3431363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10666"/>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Cost base elements</a:t>
            </a:r>
          </a:p>
        </p:txBody>
      </p:sp>
      <p:sp>
        <p:nvSpPr>
          <p:cNvPr id="2" name="Text Placeholder 1"/>
          <p:cNvSpPr>
            <a:spLocks noGrp="1"/>
          </p:cNvSpPr>
          <p:nvPr>
            <p:ph type="body" idx="1"/>
          </p:nvPr>
        </p:nvSpPr>
        <p:spPr>
          <a:xfrm>
            <a:off x="573206" y="1256996"/>
            <a:ext cx="7809588" cy="5568934"/>
          </a:xfrm>
        </p:spPr>
        <p:txBody>
          <a:bodyPr/>
          <a:lstStyle/>
          <a:p>
            <a:r>
              <a:rPr lang="en-AU" sz="1800" b="1" dirty="0">
                <a:latin typeface="Arial" panose="020B0604020202020204" pitchFamily="34" charset="0"/>
                <a:cs typeface="Arial" panose="020B0604020202020204" pitchFamily="34" charset="0"/>
              </a:rPr>
              <a:t>Element 4: Capital expenses relating to the asset</a:t>
            </a:r>
            <a:endParaRPr lang="en-GB" sz="1800" dirty="0">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AU" sz="1800" dirty="0">
                <a:latin typeface="Arial" panose="020B0604020202020204" pitchFamily="34" charset="0"/>
                <a:cs typeface="Arial" panose="020B0604020202020204" pitchFamily="34" charset="0"/>
              </a:rPr>
              <a:t>Expense to increase or preserve asset’s value </a:t>
            </a:r>
          </a:p>
          <a:p>
            <a:pPr marL="285750" lvl="0" indent="-285750">
              <a:buFont typeface="Arial" panose="020B0604020202020204" pitchFamily="34" charset="0"/>
              <a:buChar char="•"/>
            </a:pPr>
            <a:r>
              <a:rPr lang="en-AU" sz="1800" dirty="0">
                <a:latin typeface="Arial" panose="020B0604020202020204" pitchFamily="34" charset="0"/>
                <a:cs typeface="Arial" panose="020B0604020202020204" pitchFamily="34" charset="0"/>
              </a:rPr>
              <a:t>Expense to install or move the asset</a:t>
            </a:r>
          </a:p>
          <a:p>
            <a:pPr lvl="0"/>
            <a:endParaRPr lang="en-AU" sz="1800" dirty="0">
              <a:latin typeface="Arial" panose="020B0604020202020204" pitchFamily="34" charset="0"/>
              <a:cs typeface="Arial" panose="020B0604020202020204" pitchFamily="34" charset="0"/>
            </a:endParaRPr>
          </a:p>
          <a:p>
            <a:pPr lvl="0"/>
            <a:r>
              <a:rPr lang="en-AU" sz="1800" dirty="0">
                <a:latin typeface="Arial" panose="020B0604020202020204" pitchFamily="34" charset="0"/>
                <a:cs typeface="Arial" panose="020B0604020202020204" pitchFamily="34" charset="0"/>
              </a:rPr>
              <a:t>Does not include costs related to goodwill</a:t>
            </a:r>
          </a:p>
          <a:p>
            <a:pPr lvl="0"/>
            <a:r>
              <a:rPr lang="en-AU" sz="1800" b="1" dirty="0">
                <a:latin typeface="Arial" panose="020B0604020202020204" pitchFamily="34" charset="0"/>
                <a:cs typeface="Arial" panose="020B0604020202020204" pitchFamily="34" charset="0"/>
              </a:rPr>
              <a:t>E.g. </a:t>
            </a:r>
            <a:r>
              <a:rPr lang="en-AU" sz="1800" dirty="0">
                <a:latin typeface="Arial" panose="020B0604020202020204" pitchFamily="34" charset="0"/>
                <a:cs typeface="Arial" panose="020B0604020202020204" pitchFamily="34" charset="0"/>
              </a:rPr>
              <a:t>Expenses for renovating a house would fall under this element</a:t>
            </a:r>
          </a:p>
          <a:p>
            <a:endParaRPr lang="en-AU" sz="1800" dirty="0">
              <a:latin typeface="Arial" panose="020B0604020202020204" pitchFamily="34" charset="0"/>
              <a:cs typeface="Arial" panose="020B0604020202020204" pitchFamily="34" charset="0"/>
            </a:endParaRPr>
          </a:p>
          <a:p>
            <a:r>
              <a:rPr lang="en-AU" sz="1800" b="1" dirty="0">
                <a:latin typeface="Arial" panose="020B0604020202020204" pitchFamily="34" charset="0"/>
                <a:cs typeface="Arial" panose="020B0604020202020204" pitchFamily="34" charset="0"/>
              </a:rPr>
              <a:t>Element 5: Capital expenses relating to title/ ownership of the asset</a:t>
            </a:r>
          </a:p>
          <a:p>
            <a:pPr marL="285750" lvl="0" indent="-285750">
              <a:buFont typeface="Arial" panose="020B0604020202020204" pitchFamily="34" charset="0"/>
              <a:buChar char="•"/>
            </a:pPr>
            <a:r>
              <a:rPr lang="en-AU" sz="1800" dirty="0"/>
              <a:t>Preserving the assets title</a:t>
            </a:r>
          </a:p>
          <a:p>
            <a:pPr marL="285750" lvl="0" indent="-285750">
              <a:buFont typeface="Arial" panose="020B0604020202020204" pitchFamily="34" charset="0"/>
              <a:buChar char="•"/>
            </a:pPr>
            <a:r>
              <a:rPr lang="en-AU" sz="1800" dirty="0"/>
              <a:t>May arise where you litigate to reinforce your title. </a:t>
            </a:r>
          </a:p>
          <a:p>
            <a:pPr marL="793750" lvl="1" indent="-285750">
              <a:buFont typeface="Courier New" panose="02070309020205020404" pitchFamily="49" charset="0"/>
              <a:buChar char="o"/>
            </a:pPr>
            <a:r>
              <a:rPr lang="en-AU" sz="1800" b="1" dirty="0"/>
              <a:t>E.g. </a:t>
            </a:r>
            <a:r>
              <a:rPr lang="en-AU" sz="1800" dirty="0"/>
              <a:t>Litigation regarding adverse possession or land boundary disputes</a:t>
            </a:r>
          </a:p>
          <a:p>
            <a:endParaRPr lang="en-AU"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268083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10666"/>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Scenario</a:t>
            </a:r>
          </a:p>
        </p:txBody>
      </p:sp>
      <p:sp>
        <p:nvSpPr>
          <p:cNvPr id="2" name="Text Placeholder 1"/>
          <p:cNvSpPr>
            <a:spLocks noGrp="1"/>
          </p:cNvSpPr>
          <p:nvPr>
            <p:ph type="body" idx="1"/>
          </p:nvPr>
        </p:nvSpPr>
        <p:spPr>
          <a:xfrm>
            <a:off x="573206" y="1256996"/>
            <a:ext cx="7809588" cy="5568934"/>
          </a:xfrm>
        </p:spPr>
        <p:txBody>
          <a:bodyPr/>
          <a:lstStyle/>
          <a:p>
            <a:r>
              <a:rPr lang="en-AU" sz="1800" dirty="0"/>
              <a:t>Frank has recently sold his beach house at Lorne. The beach house was acquired on 1 July 2015 for $600,000 and rented to tenants for the first two years. </a:t>
            </a:r>
          </a:p>
          <a:p>
            <a:endParaRPr lang="en-AU" sz="1800" dirty="0"/>
          </a:p>
          <a:p>
            <a:r>
              <a:rPr lang="en-AU" sz="1800" dirty="0"/>
              <a:t>From 1 July 2017 to the date of sale (30 June 2019), the property was used solely by Frank and his family for private use. </a:t>
            </a:r>
          </a:p>
          <a:p>
            <a:endParaRPr lang="en-AU" sz="1800" dirty="0"/>
          </a:p>
          <a:p>
            <a:r>
              <a:rPr lang="en-AU" sz="1800" dirty="0"/>
              <a:t>Frank has asked you to calculate the capital gain or loss on the sale of the beach house. </a:t>
            </a:r>
          </a:p>
          <a:p>
            <a:endParaRPr lang="en-AU" sz="1800" dirty="0"/>
          </a:p>
        </p:txBody>
      </p:sp>
    </p:spTree>
    <p:extLst>
      <p:ext uri="{BB962C8B-B14F-4D97-AF65-F5344CB8AC3E}">
        <p14:creationId xmlns:p14="http://schemas.microsoft.com/office/powerpoint/2010/main" val="275821133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10666"/>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Scenario</a:t>
            </a:r>
          </a:p>
        </p:txBody>
      </p:sp>
      <p:sp>
        <p:nvSpPr>
          <p:cNvPr id="2" name="Text Placeholder 1"/>
          <p:cNvSpPr>
            <a:spLocks noGrp="1"/>
          </p:cNvSpPr>
          <p:nvPr>
            <p:ph type="body" idx="1"/>
          </p:nvPr>
        </p:nvSpPr>
        <p:spPr>
          <a:xfrm>
            <a:off x="573206" y="1256996"/>
            <a:ext cx="7809588" cy="5568934"/>
          </a:xfrm>
        </p:spPr>
        <p:txBody>
          <a:bodyPr/>
          <a:lstStyle/>
          <a:p>
            <a:r>
              <a:rPr lang="en-AU" sz="1800" b="1" dirty="0"/>
              <a:t>What cost base elements do the below examples fall into:</a:t>
            </a:r>
          </a:p>
          <a:p>
            <a:r>
              <a:rPr lang="en-AU" sz="1400" dirty="0"/>
              <a:t>1. Purchase price: $600,000?  </a:t>
            </a:r>
          </a:p>
          <a:p>
            <a:r>
              <a:rPr lang="en-AU" sz="1400" dirty="0">
                <a:solidFill>
                  <a:srgbClr val="FF0000"/>
                </a:solidFill>
              </a:rPr>
              <a:t>Element 1: Money given for acquisition </a:t>
            </a:r>
          </a:p>
          <a:p>
            <a:r>
              <a:rPr lang="en-AU" sz="1400" dirty="0"/>
              <a:t>2. Stamp duty paid to the Victorian Government: $80,000? </a:t>
            </a:r>
          </a:p>
          <a:p>
            <a:r>
              <a:rPr lang="en-AU" sz="1400" dirty="0">
                <a:solidFill>
                  <a:srgbClr val="FF0000"/>
                </a:solidFill>
              </a:rPr>
              <a:t>Element 2: Incidental costs related to acquisition or disposal</a:t>
            </a:r>
            <a:endParaRPr lang="en-AU" sz="1400" dirty="0"/>
          </a:p>
          <a:p>
            <a:r>
              <a:rPr lang="en-AU" sz="1400" dirty="0"/>
              <a:t>3. Repairs (which were not expensed): $6,600? </a:t>
            </a:r>
          </a:p>
          <a:p>
            <a:r>
              <a:rPr lang="en-AU" sz="1400" dirty="0">
                <a:solidFill>
                  <a:srgbClr val="FF0000"/>
                </a:solidFill>
                <a:latin typeface="Arial" panose="020B0604020202020204" pitchFamily="34" charset="0"/>
                <a:cs typeface="Arial" panose="020B0604020202020204" pitchFamily="34" charset="0"/>
              </a:rPr>
              <a:t>Element 4: Capital expenses relating to the asset</a:t>
            </a:r>
            <a:endParaRPr lang="en-AU" sz="1400" dirty="0">
              <a:solidFill>
                <a:srgbClr val="FF0000"/>
              </a:solidFill>
            </a:endParaRPr>
          </a:p>
          <a:p>
            <a:r>
              <a:rPr lang="en-AU" sz="1400" dirty="0"/>
              <a:t>4. Legal fees relating to 2018 boundary dispute with neighbour: $4,000? </a:t>
            </a:r>
          </a:p>
          <a:p>
            <a:r>
              <a:rPr lang="en-AU" sz="1400" dirty="0">
                <a:solidFill>
                  <a:srgbClr val="FF0000"/>
                </a:solidFill>
                <a:latin typeface="Arial" panose="020B0604020202020204" pitchFamily="34" charset="0"/>
                <a:cs typeface="Arial" panose="020B0604020202020204" pitchFamily="34" charset="0"/>
              </a:rPr>
              <a:t>Element 5: Capital expenses relating to title/ ownership of the asset</a:t>
            </a:r>
            <a:endParaRPr lang="en-AU" sz="1400" dirty="0">
              <a:solidFill>
                <a:srgbClr val="FF0000"/>
              </a:solidFill>
            </a:endParaRPr>
          </a:p>
          <a:p>
            <a:r>
              <a:rPr lang="en-AU" sz="1400" dirty="0"/>
              <a:t>5. Land tax: $6,000 (deducted in 2017 tax return)? </a:t>
            </a:r>
          </a:p>
          <a:p>
            <a:r>
              <a:rPr lang="en-AU" sz="1400" dirty="0">
                <a:solidFill>
                  <a:srgbClr val="FF0000"/>
                </a:solidFill>
                <a:latin typeface="Arial" panose="020B0604020202020204" pitchFamily="34" charset="0"/>
                <a:cs typeface="Arial" panose="020B0604020202020204" pitchFamily="34" charset="0"/>
              </a:rPr>
              <a:t>Does not form part of the cost base</a:t>
            </a:r>
            <a:endParaRPr lang="en-AU" sz="1400" dirty="0">
              <a:solidFill>
                <a:srgbClr val="FF0000"/>
              </a:solidFill>
            </a:endParaRPr>
          </a:p>
          <a:p>
            <a:r>
              <a:rPr lang="en-AU" sz="1400" dirty="0"/>
              <a:t>6. Agent’s commission: $30,000? </a:t>
            </a:r>
          </a:p>
          <a:p>
            <a:r>
              <a:rPr lang="en-AU" sz="1400" dirty="0">
                <a:solidFill>
                  <a:srgbClr val="FF0000"/>
                </a:solidFill>
              </a:rPr>
              <a:t>Element 2: Incidental costs related to acquisition or disposal</a:t>
            </a:r>
            <a:endParaRPr lang="en-AU" sz="1400" dirty="0"/>
          </a:p>
          <a:p>
            <a:r>
              <a:rPr lang="en-AU" sz="1400" dirty="0"/>
              <a:t>7. Fine imposed by Surf Coast Shire for erecting illegal ‘For Sale’ signs (breach of </a:t>
            </a:r>
            <a:r>
              <a:rPr lang="en-AU" sz="1400" i="1" dirty="0"/>
              <a:t>Local Government Act 1989</a:t>
            </a:r>
            <a:r>
              <a:rPr lang="en-AU" sz="1400" dirty="0"/>
              <a:t>): $300? </a:t>
            </a:r>
          </a:p>
          <a:p>
            <a:r>
              <a:rPr lang="en-AU" sz="1400" dirty="0">
                <a:solidFill>
                  <a:srgbClr val="FF0000"/>
                </a:solidFill>
              </a:rPr>
              <a:t>Does not form part of the cost base</a:t>
            </a:r>
          </a:p>
          <a:p>
            <a:endParaRPr lang="en-AU" sz="1800" dirty="0"/>
          </a:p>
          <a:p>
            <a:endParaRPr lang="en-AU"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977196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10666"/>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Modifications to capital gains</a:t>
            </a:r>
          </a:p>
        </p:txBody>
      </p:sp>
      <p:sp>
        <p:nvSpPr>
          <p:cNvPr id="2" name="Text Placeholder 1"/>
          <p:cNvSpPr>
            <a:spLocks noGrp="1"/>
          </p:cNvSpPr>
          <p:nvPr>
            <p:ph type="body" idx="1"/>
          </p:nvPr>
        </p:nvSpPr>
        <p:spPr>
          <a:xfrm>
            <a:off x="573206" y="1256996"/>
            <a:ext cx="7809588" cy="5568934"/>
          </a:xfrm>
        </p:spPr>
        <p:txBody>
          <a:bodyPr/>
          <a:lstStyle/>
          <a:p>
            <a:pPr marL="342900" lvl="0" indent="-342900">
              <a:buFont typeface="+mj-lt"/>
              <a:buAutoNum type="arabicPeriod"/>
            </a:pPr>
            <a:r>
              <a:rPr lang="en-AU" sz="1800" dirty="0"/>
              <a:t>Market value substitution rule</a:t>
            </a:r>
          </a:p>
          <a:p>
            <a:pPr marL="342900" lvl="0" indent="-342900">
              <a:buFont typeface="+mj-lt"/>
              <a:buAutoNum type="arabicPeriod"/>
            </a:pPr>
            <a:r>
              <a:rPr lang="en-AU" sz="1800" dirty="0"/>
              <a:t>Apportionment rule</a:t>
            </a:r>
          </a:p>
          <a:p>
            <a:pPr marL="342900" lvl="0" indent="-342900">
              <a:buFont typeface="+mj-lt"/>
              <a:buAutoNum type="arabicPeriod"/>
            </a:pPr>
            <a:r>
              <a:rPr lang="en-AU" sz="1800" dirty="0"/>
              <a:t>Non-receipt rule</a:t>
            </a:r>
          </a:p>
          <a:p>
            <a:pPr marL="342900" lvl="0" indent="-342900">
              <a:buFont typeface="+mj-lt"/>
              <a:buAutoNum type="arabicPeriod"/>
            </a:pPr>
            <a:r>
              <a:rPr lang="en-AU" sz="1800" dirty="0"/>
              <a:t>Repaid rule</a:t>
            </a:r>
          </a:p>
          <a:p>
            <a:pPr marL="342900" lvl="0" indent="-342900">
              <a:buFont typeface="+mj-lt"/>
              <a:buAutoNum type="arabicPeriod"/>
            </a:pPr>
            <a:r>
              <a:rPr lang="en-AU" sz="1800" dirty="0"/>
              <a:t>Assumption of liability rule</a:t>
            </a:r>
          </a:p>
          <a:p>
            <a:pPr marL="342900" lvl="0" indent="-342900">
              <a:buFont typeface="+mj-lt"/>
              <a:buAutoNum type="arabicPeriod"/>
            </a:pPr>
            <a:r>
              <a:rPr lang="en-AU" sz="1800" dirty="0"/>
              <a:t>Misappropriation rule</a:t>
            </a:r>
          </a:p>
          <a:p>
            <a:endParaRPr lang="en-AU"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102229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10666"/>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1. “Market value” Modification</a:t>
            </a:r>
          </a:p>
        </p:txBody>
      </p:sp>
      <p:sp>
        <p:nvSpPr>
          <p:cNvPr id="2" name="Text Placeholder 1"/>
          <p:cNvSpPr>
            <a:spLocks noGrp="1"/>
          </p:cNvSpPr>
          <p:nvPr>
            <p:ph type="body" idx="1"/>
          </p:nvPr>
        </p:nvSpPr>
        <p:spPr>
          <a:xfrm>
            <a:off x="573206" y="1256996"/>
            <a:ext cx="7809588" cy="5568934"/>
          </a:xfrm>
        </p:spPr>
        <p:txBody>
          <a:bodyPr/>
          <a:lstStyle/>
          <a:p>
            <a:pPr lvl="0"/>
            <a:r>
              <a:rPr lang="en-AU" sz="1800" dirty="0"/>
              <a:t>Applies when the taxpayer:</a:t>
            </a:r>
          </a:p>
          <a:p>
            <a:pPr lvl="1"/>
            <a:r>
              <a:rPr lang="en-AU" sz="1800" dirty="0"/>
              <a:t>Receives no capital proceeds;</a:t>
            </a:r>
          </a:p>
          <a:p>
            <a:pPr lvl="1"/>
            <a:r>
              <a:rPr lang="en-AU" sz="1800" dirty="0"/>
              <a:t>Some or all capital proceeds cannot be valued; or</a:t>
            </a:r>
          </a:p>
          <a:p>
            <a:pPr lvl="1"/>
            <a:r>
              <a:rPr lang="en-AU" sz="1800" dirty="0"/>
              <a:t>Did not deal at ‘arm’s length’ with the other entity.</a:t>
            </a:r>
          </a:p>
          <a:p>
            <a:pPr lvl="0"/>
            <a:endParaRPr lang="en-AU" sz="1800" dirty="0"/>
          </a:p>
          <a:p>
            <a:pPr lvl="0"/>
            <a:r>
              <a:rPr lang="en-AU" sz="1800" dirty="0"/>
              <a:t>Capital proceeds are deemed to be the market value.</a:t>
            </a:r>
            <a:r>
              <a:rPr lang="en-AU" sz="1800" b="1" i="1" dirty="0"/>
              <a:t> </a:t>
            </a:r>
          </a:p>
          <a:p>
            <a:pPr lvl="0"/>
            <a:endParaRPr lang="en-AU" sz="1800" b="1" i="1" dirty="0"/>
          </a:p>
          <a:p>
            <a:pPr lvl="0"/>
            <a:r>
              <a:rPr lang="en-AU" sz="1800" b="1" i="1" dirty="0"/>
              <a:t>‘Arms-length’</a:t>
            </a:r>
            <a:r>
              <a:rPr lang="en-AU" sz="1800" b="1" dirty="0"/>
              <a:t>: </a:t>
            </a:r>
            <a:r>
              <a:rPr lang="en-AU" sz="1800" dirty="0"/>
              <a:t>an unrealistic value for purchase normally because of the relationship (e.g. Candice sold me her house for $10 because we’re friends). </a:t>
            </a:r>
          </a:p>
          <a:p>
            <a:pPr lvl="0"/>
            <a:endParaRPr lang="en-AU" sz="1800" b="1" dirty="0"/>
          </a:p>
          <a:p>
            <a:pPr lvl="0"/>
            <a:r>
              <a:rPr lang="en-AU" sz="1800" b="1" dirty="0"/>
              <a:t>Would the reasonable person consider the sale at arm’s length?</a:t>
            </a:r>
            <a:endParaRPr lang="en-AU" sz="1800" dirty="0"/>
          </a:p>
          <a:p>
            <a:endParaRPr lang="en-AU"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501677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10666"/>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2. Apportionment Modification</a:t>
            </a:r>
          </a:p>
        </p:txBody>
      </p:sp>
      <p:sp>
        <p:nvSpPr>
          <p:cNvPr id="2" name="Text Placeholder 1"/>
          <p:cNvSpPr>
            <a:spLocks noGrp="1"/>
          </p:cNvSpPr>
          <p:nvPr>
            <p:ph type="body" idx="1"/>
          </p:nvPr>
        </p:nvSpPr>
        <p:spPr>
          <a:xfrm>
            <a:off x="573206" y="1256996"/>
            <a:ext cx="7809588" cy="5568934"/>
          </a:xfrm>
        </p:spPr>
        <p:txBody>
          <a:bodyPr/>
          <a:lstStyle/>
          <a:p>
            <a:pPr lvl="0"/>
            <a:r>
              <a:rPr lang="en-AU" sz="1800" dirty="0"/>
              <a:t>When a single proceed is the total of two or more events, the proceeds must be apportioned between those events.</a:t>
            </a:r>
          </a:p>
          <a:p>
            <a:pPr lvl="0"/>
            <a:endParaRPr lang="en-AU" sz="1800" dirty="0"/>
          </a:p>
          <a:p>
            <a:pPr lvl="0"/>
            <a:r>
              <a:rPr lang="en-AU" sz="1800" b="1" dirty="0"/>
              <a:t>E.g. </a:t>
            </a:r>
            <a:r>
              <a:rPr lang="en-AU" sz="1800" dirty="0"/>
              <a:t>A lump sum of $800,000 for the sale of house and a yacht, these will need to be apportioned to determine the value of each</a:t>
            </a:r>
          </a:p>
          <a:p>
            <a:endParaRPr lang="en-AU" sz="1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9A29ABB-A338-4659-941A-1E15B31FE7EB}"/>
              </a:ext>
            </a:extLst>
          </p:cNvPr>
          <p:cNvPicPr/>
          <p:nvPr/>
        </p:nvPicPr>
        <p:blipFill rotWithShape="1">
          <a:blip r:embed="rId3"/>
          <a:srcRect l="20192" t="55630" r="18876" b="4309"/>
          <a:stretch/>
        </p:blipFill>
        <p:spPr bwMode="auto">
          <a:xfrm>
            <a:off x="895626" y="2974697"/>
            <a:ext cx="6971985" cy="365894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5657127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10666"/>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3. Non-receipt Rule</a:t>
            </a:r>
          </a:p>
        </p:txBody>
      </p:sp>
      <p:sp>
        <p:nvSpPr>
          <p:cNvPr id="2" name="Text Placeholder 1"/>
          <p:cNvSpPr>
            <a:spLocks noGrp="1"/>
          </p:cNvSpPr>
          <p:nvPr>
            <p:ph type="body" idx="1"/>
          </p:nvPr>
        </p:nvSpPr>
        <p:spPr>
          <a:xfrm>
            <a:off x="573206" y="1256996"/>
            <a:ext cx="7809588" cy="5296204"/>
          </a:xfrm>
        </p:spPr>
        <p:txBody>
          <a:bodyPr/>
          <a:lstStyle/>
          <a:p>
            <a:r>
              <a:rPr lang="en-AU" sz="1800" dirty="0"/>
              <a:t>Allows the Capital Proceeds to be reduced by any amount that you have not received and will not receive after all reasonable attempts have been made to get it.</a:t>
            </a:r>
          </a:p>
          <a:p>
            <a:endParaRPr lang="en-AU" sz="1800" dirty="0">
              <a:latin typeface="Arial" panose="020B0604020202020204" pitchFamily="34" charset="0"/>
              <a:cs typeface="Arial" panose="020B0604020202020204" pitchFamily="34" charset="0"/>
            </a:endParaRPr>
          </a:p>
          <a:p>
            <a:endParaRPr lang="en-AU" sz="1800" dirty="0">
              <a:latin typeface="Arial" panose="020B0604020202020204" pitchFamily="34" charset="0"/>
              <a:cs typeface="Arial" panose="020B0604020202020204" pitchFamily="34" charset="0"/>
            </a:endParaRPr>
          </a:p>
          <a:p>
            <a:endParaRPr lang="en-AU" sz="1800" dirty="0">
              <a:latin typeface="Arial" panose="020B0604020202020204" pitchFamily="34" charset="0"/>
              <a:cs typeface="Arial" panose="020B0604020202020204" pitchFamily="34" charset="0"/>
            </a:endParaRPr>
          </a:p>
          <a:p>
            <a:endParaRPr lang="en-AU" sz="1800" dirty="0"/>
          </a:p>
          <a:p>
            <a:r>
              <a:rPr lang="en-AU" sz="1800" dirty="0"/>
              <a:t>Capital proceeds are reduced to the extent the taxpayer has to repay capital proceeds already received.</a:t>
            </a:r>
          </a:p>
          <a:p>
            <a:endParaRPr lang="en-AU" sz="1800" dirty="0">
              <a:latin typeface="Arial" panose="020B0604020202020204" pitchFamily="34" charset="0"/>
              <a:cs typeface="Arial" panose="020B0604020202020204" pitchFamily="34" charset="0"/>
            </a:endParaRPr>
          </a:p>
        </p:txBody>
      </p:sp>
      <p:sp>
        <p:nvSpPr>
          <p:cNvPr id="5" name="Title 2"/>
          <p:cNvSpPr txBox="1">
            <a:spLocks/>
          </p:cNvSpPr>
          <p:nvPr/>
        </p:nvSpPr>
        <p:spPr>
          <a:xfrm>
            <a:off x="573206" y="2937343"/>
            <a:ext cx="7616826" cy="634423"/>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defRPr sz="3400" b="1">
                <a:solidFill>
                  <a:srgbClr val="0E9ED7"/>
                </a:solidFill>
                <a:latin typeface="Arial"/>
                <a:ea typeface="Arial"/>
                <a:cs typeface="Arial"/>
                <a:sym typeface="Arial"/>
              </a:defRPr>
            </a:lvl1pPr>
            <a:lvl2pPr>
              <a:defRPr sz="3400" b="1">
                <a:solidFill>
                  <a:srgbClr val="0E9ED7"/>
                </a:solidFill>
                <a:latin typeface="Arial"/>
                <a:ea typeface="Arial"/>
                <a:cs typeface="Arial"/>
                <a:sym typeface="Arial"/>
              </a:defRPr>
            </a:lvl2pPr>
            <a:lvl3pPr>
              <a:defRPr sz="3400" b="1">
                <a:solidFill>
                  <a:srgbClr val="0E9ED7"/>
                </a:solidFill>
                <a:latin typeface="Arial"/>
                <a:ea typeface="Arial"/>
                <a:cs typeface="Arial"/>
                <a:sym typeface="Arial"/>
              </a:defRPr>
            </a:lvl3pPr>
            <a:lvl4pPr>
              <a:defRPr sz="3400" b="1">
                <a:solidFill>
                  <a:srgbClr val="0E9ED7"/>
                </a:solidFill>
                <a:latin typeface="Arial"/>
                <a:ea typeface="Arial"/>
                <a:cs typeface="Arial"/>
                <a:sym typeface="Arial"/>
              </a:defRPr>
            </a:lvl4pPr>
            <a:lvl5pPr>
              <a:defRPr sz="3400" b="1">
                <a:solidFill>
                  <a:srgbClr val="0E9ED7"/>
                </a:solidFill>
                <a:latin typeface="Arial"/>
                <a:ea typeface="Arial"/>
                <a:cs typeface="Arial"/>
                <a:sym typeface="Arial"/>
              </a:defRPr>
            </a:lvl5pPr>
            <a:lvl6pPr indent="457200">
              <a:defRPr sz="3400" b="1">
                <a:solidFill>
                  <a:srgbClr val="0E9ED7"/>
                </a:solidFill>
                <a:latin typeface="Arial"/>
                <a:ea typeface="Arial"/>
                <a:cs typeface="Arial"/>
                <a:sym typeface="Arial"/>
              </a:defRPr>
            </a:lvl6pPr>
            <a:lvl7pPr indent="914400">
              <a:defRPr sz="3400" b="1">
                <a:solidFill>
                  <a:srgbClr val="0E9ED7"/>
                </a:solidFill>
                <a:latin typeface="Arial"/>
                <a:ea typeface="Arial"/>
                <a:cs typeface="Arial"/>
                <a:sym typeface="Arial"/>
              </a:defRPr>
            </a:lvl7pPr>
            <a:lvl8pPr indent="1371600">
              <a:defRPr sz="3400" b="1">
                <a:solidFill>
                  <a:srgbClr val="0E9ED7"/>
                </a:solidFill>
                <a:latin typeface="Arial"/>
                <a:ea typeface="Arial"/>
                <a:cs typeface="Arial"/>
                <a:sym typeface="Arial"/>
              </a:defRPr>
            </a:lvl8pPr>
            <a:lvl9pPr indent="1828800">
              <a:defRPr sz="3400" b="1">
                <a:solidFill>
                  <a:srgbClr val="0E9ED7"/>
                </a:solidFill>
                <a:latin typeface="Arial"/>
                <a:ea typeface="Arial"/>
                <a:cs typeface="Arial"/>
                <a:sym typeface="Arial"/>
              </a:defRPr>
            </a:lvl9pPr>
          </a:lstStyle>
          <a:p>
            <a:r>
              <a:rPr lang="en-US" dirty="0">
                <a:solidFill>
                  <a:srgbClr val="0070C0"/>
                </a:solidFill>
                <a:latin typeface="Calibri" panose="020F0502020204030204" pitchFamily="34" charset="0"/>
                <a:cs typeface="Calibri" panose="020F0502020204030204" pitchFamily="34" charset="0"/>
              </a:rPr>
              <a:t>4. Repaid Rule</a:t>
            </a:r>
          </a:p>
        </p:txBody>
      </p:sp>
    </p:spTree>
    <p:extLst>
      <p:ext uri="{BB962C8B-B14F-4D97-AF65-F5344CB8AC3E}">
        <p14:creationId xmlns:p14="http://schemas.microsoft.com/office/powerpoint/2010/main" val="387294068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10666"/>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5. Assumption of Liability Rule</a:t>
            </a:r>
          </a:p>
        </p:txBody>
      </p:sp>
      <p:sp>
        <p:nvSpPr>
          <p:cNvPr id="2" name="Text Placeholder 1"/>
          <p:cNvSpPr>
            <a:spLocks noGrp="1"/>
          </p:cNvSpPr>
          <p:nvPr>
            <p:ph type="body" idx="1"/>
          </p:nvPr>
        </p:nvSpPr>
        <p:spPr>
          <a:xfrm>
            <a:off x="573206" y="1256996"/>
            <a:ext cx="7809588" cy="5296204"/>
          </a:xfrm>
        </p:spPr>
        <p:txBody>
          <a:bodyPr/>
          <a:lstStyle/>
          <a:p>
            <a:pPr lvl="0"/>
            <a:r>
              <a:rPr lang="en-AU" sz="1800" dirty="0"/>
              <a:t>Capital proceeds are increased if another entity assumes liability in connection with the CGT event. (I.e. pay you $100k plus take over mortgage for $100k).</a:t>
            </a:r>
          </a:p>
          <a:p>
            <a:pPr lvl="0"/>
            <a:endParaRPr lang="en-AU" sz="1800" dirty="0"/>
          </a:p>
          <a:p>
            <a:pPr lvl="0"/>
            <a:r>
              <a:rPr lang="en-AU" sz="1800" b="1" dirty="0"/>
              <a:t>E.g. </a:t>
            </a:r>
            <a:r>
              <a:rPr lang="en-AU" sz="1800" dirty="0"/>
              <a:t>John sells apartment for $250,000 and purchaser took over $50,000 debt = capital proceeds will be $300,000</a:t>
            </a:r>
          </a:p>
          <a:p>
            <a:endParaRPr lang="en-AU" sz="1800" dirty="0">
              <a:latin typeface="Arial" panose="020B0604020202020204" pitchFamily="34" charset="0"/>
              <a:cs typeface="Arial" panose="020B0604020202020204" pitchFamily="34" charset="0"/>
            </a:endParaRPr>
          </a:p>
          <a:p>
            <a:endParaRPr lang="en-AU" sz="1800" dirty="0">
              <a:latin typeface="Arial" panose="020B0604020202020204" pitchFamily="34" charset="0"/>
              <a:cs typeface="Arial" panose="020B0604020202020204" pitchFamily="34" charset="0"/>
            </a:endParaRPr>
          </a:p>
          <a:p>
            <a:endParaRPr lang="en-AU" sz="1800" dirty="0">
              <a:latin typeface="Arial" panose="020B0604020202020204" pitchFamily="34" charset="0"/>
              <a:cs typeface="Arial" panose="020B0604020202020204" pitchFamily="34" charset="0"/>
            </a:endParaRPr>
          </a:p>
          <a:p>
            <a:pPr lvl="0"/>
            <a:r>
              <a:rPr lang="en-AU" sz="1800" dirty="0"/>
              <a:t>Allows you to reduce capital proceeds by any amount misappropriated by an </a:t>
            </a:r>
            <a:r>
              <a:rPr lang="en-AU" sz="1800" b="1" dirty="0"/>
              <a:t>employee or agent</a:t>
            </a:r>
            <a:r>
              <a:rPr lang="en-AU" sz="1800" dirty="0"/>
              <a:t>. </a:t>
            </a:r>
          </a:p>
          <a:p>
            <a:pPr lvl="0"/>
            <a:endParaRPr lang="en-AU" sz="1800" dirty="0"/>
          </a:p>
          <a:p>
            <a:pPr lvl="0"/>
            <a:r>
              <a:rPr lang="en-AU" sz="1800" b="1" dirty="0"/>
              <a:t>E.g. </a:t>
            </a:r>
            <a:r>
              <a:rPr lang="en-AU" sz="1800" dirty="0"/>
              <a:t>Real estate agent takes the 10% deposit from a house sale, this 10% will be deducted</a:t>
            </a:r>
          </a:p>
          <a:p>
            <a:endParaRPr lang="en-AU" sz="1800" dirty="0">
              <a:latin typeface="Arial" panose="020B0604020202020204" pitchFamily="34" charset="0"/>
              <a:cs typeface="Arial" panose="020B0604020202020204" pitchFamily="34" charset="0"/>
            </a:endParaRPr>
          </a:p>
        </p:txBody>
      </p:sp>
      <p:sp>
        <p:nvSpPr>
          <p:cNvPr id="4" name="Title 2"/>
          <p:cNvSpPr txBox="1">
            <a:spLocks/>
          </p:cNvSpPr>
          <p:nvPr/>
        </p:nvSpPr>
        <p:spPr>
          <a:xfrm>
            <a:off x="573206" y="3587886"/>
            <a:ext cx="7616826" cy="634423"/>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defRPr sz="3400" b="1">
                <a:solidFill>
                  <a:srgbClr val="0E9ED7"/>
                </a:solidFill>
                <a:latin typeface="Arial"/>
                <a:ea typeface="Arial"/>
                <a:cs typeface="Arial"/>
                <a:sym typeface="Arial"/>
              </a:defRPr>
            </a:lvl1pPr>
            <a:lvl2pPr>
              <a:defRPr sz="3400" b="1">
                <a:solidFill>
                  <a:srgbClr val="0E9ED7"/>
                </a:solidFill>
                <a:latin typeface="Arial"/>
                <a:ea typeface="Arial"/>
                <a:cs typeface="Arial"/>
                <a:sym typeface="Arial"/>
              </a:defRPr>
            </a:lvl2pPr>
            <a:lvl3pPr>
              <a:defRPr sz="3400" b="1">
                <a:solidFill>
                  <a:srgbClr val="0E9ED7"/>
                </a:solidFill>
                <a:latin typeface="Arial"/>
                <a:ea typeface="Arial"/>
                <a:cs typeface="Arial"/>
                <a:sym typeface="Arial"/>
              </a:defRPr>
            </a:lvl3pPr>
            <a:lvl4pPr>
              <a:defRPr sz="3400" b="1">
                <a:solidFill>
                  <a:srgbClr val="0E9ED7"/>
                </a:solidFill>
                <a:latin typeface="Arial"/>
                <a:ea typeface="Arial"/>
                <a:cs typeface="Arial"/>
                <a:sym typeface="Arial"/>
              </a:defRPr>
            </a:lvl4pPr>
            <a:lvl5pPr>
              <a:defRPr sz="3400" b="1">
                <a:solidFill>
                  <a:srgbClr val="0E9ED7"/>
                </a:solidFill>
                <a:latin typeface="Arial"/>
                <a:ea typeface="Arial"/>
                <a:cs typeface="Arial"/>
                <a:sym typeface="Arial"/>
              </a:defRPr>
            </a:lvl5pPr>
            <a:lvl6pPr indent="457200">
              <a:defRPr sz="3400" b="1">
                <a:solidFill>
                  <a:srgbClr val="0E9ED7"/>
                </a:solidFill>
                <a:latin typeface="Arial"/>
                <a:ea typeface="Arial"/>
                <a:cs typeface="Arial"/>
                <a:sym typeface="Arial"/>
              </a:defRPr>
            </a:lvl6pPr>
            <a:lvl7pPr indent="914400">
              <a:defRPr sz="3400" b="1">
                <a:solidFill>
                  <a:srgbClr val="0E9ED7"/>
                </a:solidFill>
                <a:latin typeface="Arial"/>
                <a:ea typeface="Arial"/>
                <a:cs typeface="Arial"/>
                <a:sym typeface="Arial"/>
              </a:defRPr>
            </a:lvl7pPr>
            <a:lvl8pPr indent="1371600">
              <a:defRPr sz="3400" b="1">
                <a:solidFill>
                  <a:srgbClr val="0E9ED7"/>
                </a:solidFill>
                <a:latin typeface="Arial"/>
                <a:ea typeface="Arial"/>
                <a:cs typeface="Arial"/>
                <a:sym typeface="Arial"/>
              </a:defRPr>
            </a:lvl8pPr>
            <a:lvl9pPr indent="1828800">
              <a:defRPr sz="3400" b="1">
                <a:solidFill>
                  <a:srgbClr val="0E9ED7"/>
                </a:solidFill>
                <a:latin typeface="Arial"/>
                <a:ea typeface="Arial"/>
                <a:cs typeface="Arial"/>
                <a:sym typeface="Arial"/>
              </a:defRPr>
            </a:lvl9pPr>
          </a:lstStyle>
          <a:p>
            <a:r>
              <a:rPr lang="en-US" dirty="0">
                <a:solidFill>
                  <a:srgbClr val="0070C0"/>
                </a:solidFill>
                <a:latin typeface="Calibri" panose="020F0502020204030204" pitchFamily="34" charset="0"/>
                <a:cs typeface="Calibri" panose="020F0502020204030204" pitchFamily="34" charset="0"/>
              </a:rPr>
              <a:t>6. Misappropriation Rule</a:t>
            </a:r>
          </a:p>
        </p:txBody>
      </p:sp>
    </p:spTree>
    <p:extLst>
      <p:ext uri="{BB962C8B-B14F-4D97-AF65-F5344CB8AC3E}">
        <p14:creationId xmlns:p14="http://schemas.microsoft.com/office/powerpoint/2010/main" val="181641041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839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Exempt Assets </a:t>
            </a:r>
          </a:p>
        </p:txBody>
      </p:sp>
      <p:sp>
        <p:nvSpPr>
          <p:cNvPr id="2" name="Text Placeholder 1"/>
          <p:cNvSpPr>
            <a:spLocks noGrp="1"/>
          </p:cNvSpPr>
          <p:nvPr>
            <p:ph type="body" idx="1"/>
          </p:nvPr>
        </p:nvSpPr>
        <p:spPr>
          <a:xfrm>
            <a:off x="573206" y="1512142"/>
            <a:ext cx="7809588" cy="4794874"/>
          </a:xfrm>
        </p:spPr>
        <p:txBody>
          <a:bodyPr/>
          <a:lstStyle/>
          <a:p>
            <a:pPr marL="342900" lvl="0" indent="-342900">
              <a:buFont typeface="Arial" panose="020B0604020202020204" pitchFamily="34" charset="0"/>
              <a:buChar char="•"/>
            </a:pPr>
            <a:r>
              <a:rPr lang="en-AU" sz="1800" dirty="0"/>
              <a:t>Cars and motorcycles - (s 118-5)</a:t>
            </a:r>
          </a:p>
          <a:p>
            <a:pPr marL="342900" lvl="0" indent="-342900">
              <a:buFont typeface="Arial" panose="020B0604020202020204" pitchFamily="34" charset="0"/>
              <a:buChar char="•"/>
            </a:pPr>
            <a:r>
              <a:rPr lang="en-AU" sz="1800" dirty="0"/>
              <a:t>Personal use assets - (s 109-20)</a:t>
            </a:r>
          </a:p>
          <a:p>
            <a:pPr marL="342900" lvl="0" indent="-342900">
              <a:buFont typeface="Arial" panose="020B0604020202020204" pitchFamily="34" charset="0"/>
              <a:buChar char="•"/>
            </a:pPr>
            <a:r>
              <a:rPr lang="en-AU" sz="1800" dirty="0"/>
              <a:t>Assets used to produce exempt income - (s 118-12(1))</a:t>
            </a:r>
          </a:p>
          <a:p>
            <a:pPr marL="342900" lvl="0" indent="-342900">
              <a:buFont typeface="Arial" panose="020B0604020202020204" pitchFamily="34" charset="0"/>
              <a:buChar char="•"/>
            </a:pPr>
            <a:r>
              <a:rPr lang="en-AU" sz="1800" dirty="0"/>
              <a:t>Shares in a pooled development fund - (s 118-13) </a:t>
            </a:r>
          </a:p>
          <a:p>
            <a:pPr marL="342900" lvl="0" indent="-342900">
              <a:buFont typeface="Arial" panose="020B0604020202020204" pitchFamily="34" charset="0"/>
              <a:buChar char="•"/>
            </a:pPr>
            <a:r>
              <a:rPr lang="en-AU" sz="1800" dirty="0"/>
              <a:t>Investments made in start-up companies - (</a:t>
            </a:r>
            <a:r>
              <a:rPr lang="en-AU" sz="1800" dirty="0" err="1"/>
              <a:t>Subdiv</a:t>
            </a:r>
            <a:r>
              <a:rPr lang="en-AU" sz="1800" dirty="0"/>
              <a:t> 360-A)</a:t>
            </a:r>
          </a:p>
          <a:p>
            <a:pPr marL="342900" lvl="0" indent="-342900">
              <a:buFont typeface="Arial" panose="020B0604020202020204" pitchFamily="34" charset="0"/>
              <a:buChar char="•"/>
            </a:pPr>
            <a:r>
              <a:rPr lang="en-AU" sz="1800" dirty="0"/>
              <a:t>Depreciating assets - (s 118-24(1))</a:t>
            </a:r>
          </a:p>
          <a:p>
            <a:pPr marL="342900" lvl="0" indent="-342900">
              <a:buFont typeface="Arial" panose="020B0604020202020204" pitchFamily="34" charset="0"/>
              <a:buChar char="•"/>
            </a:pPr>
            <a:r>
              <a:rPr lang="en-AU" sz="1800" dirty="0"/>
              <a:t>Trading stock - (s 118-25)</a:t>
            </a:r>
          </a:p>
          <a:p>
            <a:pPr marL="342900" lvl="0" indent="-342900">
              <a:buFont typeface="Arial" panose="020B0604020202020204" pitchFamily="34" charset="0"/>
              <a:buChar char="•"/>
            </a:pPr>
            <a:r>
              <a:rPr lang="en-AU" sz="1800" dirty="0"/>
              <a:t>Personal compensation – (s 118-37(1)(a) &amp; (b)) </a:t>
            </a:r>
          </a:p>
          <a:p>
            <a:pPr lvl="3">
              <a:buFont typeface="Courier New" panose="02070309020205020404" pitchFamily="49" charset="0"/>
              <a:buChar char="o"/>
            </a:pPr>
            <a:r>
              <a:rPr lang="en-AU" sz="1800" dirty="0"/>
              <a:t>Personal wrong, injury or illness</a:t>
            </a:r>
          </a:p>
          <a:p>
            <a:pPr marL="342900" lvl="0" indent="-342900">
              <a:buFont typeface="Arial" panose="020B0604020202020204" pitchFamily="34" charset="0"/>
              <a:buChar char="•"/>
            </a:pPr>
            <a:r>
              <a:rPr lang="en-AU" sz="1800" dirty="0"/>
              <a:t>Private lease ending – (s 118-40) </a:t>
            </a:r>
          </a:p>
          <a:p>
            <a:pPr marL="342900" lvl="0" indent="-342900">
              <a:buFont typeface="Arial" panose="020B0604020202020204" pitchFamily="34" charset="0"/>
              <a:buChar char="•"/>
            </a:pPr>
            <a:r>
              <a:rPr lang="en-AU" sz="1800" dirty="0"/>
              <a:t>Gambling and competitions with prizes – (s 118-37(1)(c))</a:t>
            </a:r>
          </a:p>
          <a:p>
            <a:pPr marL="342900" indent="-342900">
              <a:buFont typeface="Arial" panose="020B0604020202020204" pitchFamily="34" charset="0"/>
              <a:buChar char="•"/>
            </a:pPr>
            <a:endParaRPr lang="en-AU"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3668215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60507"/>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Exemptions</a:t>
            </a:r>
          </a:p>
        </p:txBody>
      </p:sp>
      <p:sp>
        <p:nvSpPr>
          <p:cNvPr id="2" name="Text Placeholder 1"/>
          <p:cNvSpPr>
            <a:spLocks noGrp="1"/>
          </p:cNvSpPr>
          <p:nvPr>
            <p:ph type="body" idx="1"/>
          </p:nvPr>
        </p:nvSpPr>
        <p:spPr>
          <a:xfrm>
            <a:off x="573206" y="1170660"/>
            <a:ext cx="7809588" cy="4794874"/>
          </a:xfrm>
        </p:spPr>
        <p:txBody>
          <a:bodyPr/>
          <a:lstStyle/>
          <a:p>
            <a:pPr marL="457200" indent="-457200">
              <a:buFont typeface="Arial" panose="020B0604020202020204" pitchFamily="34" charset="0"/>
              <a:buChar char="•"/>
            </a:pPr>
            <a:r>
              <a:rPr lang="en-AU" sz="1800" dirty="0">
                <a:latin typeface="Calibri" panose="020F0502020204030204" pitchFamily="34" charset="0"/>
                <a:cs typeface="Calibri" panose="020F0502020204030204" pitchFamily="34" charset="0"/>
              </a:rPr>
              <a:t>Main residence exemption; </a:t>
            </a:r>
          </a:p>
          <a:p>
            <a:pPr marL="457200" indent="-457200">
              <a:buFont typeface="Arial" panose="020B0604020202020204" pitchFamily="34" charset="0"/>
              <a:buChar char="•"/>
            </a:pPr>
            <a:r>
              <a:rPr lang="en-AU" sz="1800" dirty="0">
                <a:latin typeface="Calibri" panose="020F0502020204030204" pitchFamily="34" charset="0"/>
                <a:cs typeface="Calibri" panose="020F0502020204030204" pitchFamily="34" charset="0"/>
              </a:rPr>
              <a:t>50% discount (if held for 12 months or more); </a:t>
            </a:r>
          </a:p>
          <a:p>
            <a:pPr marL="457200" indent="-457200">
              <a:buFont typeface="Arial" panose="020B0604020202020204" pitchFamily="34" charset="0"/>
              <a:buChar char="•"/>
            </a:pPr>
            <a:endParaRPr lang="en-AU" sz="1800" dirty="0">
              <a:latin typeface="Calibri" panose="020F0502020204030204" pitchFamily="34" charset="0"/>
              <a:cs typeface="Calibri" panose="020F0502020204030204" pitchFamily="34" charset="0"/>
            </a:endParaRPr>
          </a:p>
          <a:p>
            <a:endParaRPr lang="en-AU" sz="1800" dirty="0">
              <a:latin typeface="Calibri" panose="020F0502020204030204" pitchFamily="34" charset="0"/>
              <a:cs typeface="Calibri" panose="020F0502020204030204" pitchFamily="34" charset="0"/>
            </a:endParaRPr>
          </a:p>
          <a:p>
            <a:endParaRPr lang="en-US" sz="1800" b="1" dirty="0">
              <a:solidFill>
                <a:srgbClr val="0070C0"/>
              </a:solidFill>
              <a:latin typeface="Calibri" panose="020F0502020204030204" pitchFamily="34" charset="0"/>
              <a:cs typeface="Calibri" panose="020F0502020204030204" pitchFamily="34" charset="0"/>
            </a:endParaRPr>
          </a:p>
          <a:p>
            <a:endParaRPr lang="en-US" sz="1800" b="1" dirty="0">
              <a:solidFill>
                <a:srgbClr val="0070C0"/>
              </a:solidFill>
              <a:latin typeface="Calibri" panose="020F0502020204030204" pitchFamily="34" charset="0"/>
              <a:cs typeface="Calibri" panose="020F0502020204030204" pitchFamily="34" charset="0"/>
            </a:endParaRPr>
          </a:p>
          <a:p>
            <a:pPr marL="514350" indent="-514350">
              <a:buFont typeface="Arial" panose="020B0604020202020204" pitchFamily="34" charset="0"/>
              <a:buChar char="•"/>
            </a:pPr>
            <a:r>
              <a:rPr lang="en-AU" sz="1800" dirty="0">
                <a:latin typeface="Calibri" panose="020F0502020204030204" pitchFamily="34" charset="0"/>
                <a:cs typeface="Calibri" panose="020F0502020204030204" pitchFamily="34" charset="0"/>
              </a:rPr>
              <a:t>15-year exemption; </a:t>
            </a:r>
          </a:p>
          <a:p>
            <a:pPr marL="514350" indent="-514350">
              <a:buFont typeface="Arial" panose="020B0604020202020204" pitchFamily="34" charset="0"/>
              <a:buChar char="•"/>
            </a:pPr>
            <a:r>
              <a:rPr lang="en-AU" sz="1800" dirty="0">
                <a:latin typeface="Calibri" panose="020F0502020204030204" pitchFamily="34" charset="0"/>
                <a:cs typeface="Calibri" panose="020F0502020204030204" pitchFamily="34" charset="0"/>
              </a:rPr>
              <a:t>50% active asset exemption; </a:t>
            </a:r>
          </a:p>
          <a:p>
            <a:pPr marL="514350" indent="-514350">
              <a:buFont typeface="Arial" panose="020B0604020202020204" pitchFamily="34" charset="0"/>
              <a:buChar char="•"/>
            </a:pPr>
            <a:r>
              <a:rPr lang="en-AU" sz="1800" dirty="0">
                <a:latin typeface="Calibri" panose="020F0502020204030204" pitchFamily="34" charset="0"/>
                <a:cs typeface="Calibri" panose="020F0502020204030204" pitchFamily="34" charset="0"/>
              </a:rPr>
              <a:t>Retirement exemption; and</a:t>
            </a:r>
          </a:p>
          <a:p>
            <a:pPr marL="514350" indent="-514350">
              <a:buFont typeface="Arial" panose="020B0604020202020204" pitchFamily="34" charset="0"/>
              <a:buChar char="•"/>
            </a:pPr>
            <a:r>
              <a:rPr lang="en-AU" sz="1800" dirty="0">
                <a:latin typeface="Calibri" panose="020F0502020204030204" pitchFamily="34" charset="0"/>
                <a:cs typeface="Calibri" panose="020F0502020204030204" pitchFamily="34" charset="0"/>
              </a:rPr>
              <a:t>Rollover; and</a:t>
            </a:r>
          </a:p>
          <a:p>
            <a:pPr marL="965200" lvl="1" indent="-457200">
              <a:buFont typeface="Courier New" panose="02070309020205020404" pitchFamily="49" charset="0"/>
              <a:buChar char="o"/>
            </a:pPr>
            <a:r>
              <a:rPr lang="en-AU" sz="1800" dirty="0">
                <a:latin typeface="Calibri" panose="020F0502020204030204" pitchFamily="34" charset="0"/>
                <a:cs typeface="Calibri" panose="020F0502020204030204" pitchFamily="34" charset="0"/>
              </a:rPr>
              <a:t>Small business restructure rollover (accessible for businesses with 10M or less turnover);</a:t>
            </a:r>
          </a:p>
          <a:p>
            <a:endParaRPr lang="en-AU"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endParaRPr lang="en-AU" dirty="0">
              <a:latin typeface="Calibri" panose="020F0502020204030204" pitchFamily="34" charset="0"/>
              <a:cs typeface="Calibri" panose="020F0502020204030204" pitchFamily="34" charset="0"/>
            </a:endParaRPr>
          </a:p>
        </p:txBody>
      </p:sp>
      <p:sp>
        <p:nvSpPr>
          <p:cNvPr id="4" name="Title 2"/>
          <p:cNvSpPr txBox="1">
            <a:spLocks/>
          </p:cNvSpPr>
          <p:nvPr/>
        </p:nvSpPr>
        <p:spPr>
          <a:xfrm>
            <a:off x="573206" y="2794577"/>
            <a:ext cx="7616826" cy="634423"/>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defRPr sz="3400" b="1">
                <a:solidFill>
                  <a:srgbClr val="0E9ED7"/>
                </a:solidFill>
                <a:latin typeface="Arial"/>
                <a:ea typeface="Arial"/>
                <a:cs typeface="Arial"/>
                <a:sym typeface="Arial"/>
              </a:defRPr>
            </a:lvl1pPr>
            <a:lvl2pPr>
              <a:defRPr sz="3400" b="1">
                <a:solidFill>
                  <a:srgbClr val="0E9ED7"/>
                </a:solidFill>
                <a:latin typeface="Arial"/>
                <a:ea typeface="Arial"/>
                <a:cs typeface="Arial"/>
                <a:sym typeface="Arial"/>
              </a:defRPr>
            </a:lvl2pPr>
            <a:lvl3pPr>
              <a:defRPr sz="3400" b="1">
                <a:solidFill>
                  <a:srgbClr val="0E9ED7"/>
                </a:solidFill>
                <a:latin typeface="Arial"/>
                <a:ea typeface="Arial"/>
                <a:cs typeface="Arial"/>
                <a:sym typeface="Arial"/>
              </a:defRPr>
            </a:lvl3pPr>
            <a:lvl4pPr>
              <a:defRPr sz="3400" b="1">
                <a:solidFill>
                  <a:srgbClr val="0E9ED7"/>
                </a:solidFill>
                <a:latin typeface="Arial"/>
                <a:ea typeface="Arial"/>
                <a:cs typeface="Arial"/>
                <a:sym typeface="Arial"/>
              </a:defRPr>
            </a:lvl4pPr>
            <a:lvl5pPr>
              <a:defRPr sz="3400" b="1">
                <a:solidFill>
                  <a:srgbClr val="0E9ED7"/>
                </a:solidFill>
                <a:latin typeface="Arial"/>
                <a:ea typeface="Arial"/>
                <a:cs typeface="Arial"/>
                <a:sym typeface="Arial"/>
              </a:defRPr>
            </a:lvl5pPr>
            <a:lvl6pPr indent="457200">
              <a:defRPr sz="3400" b="1">
                <a:solidFill>
                  <a:srgbClr val="0E9ED7"/>
                </a:solidFill>
                <a:latin typeface="Arial"/>
                <a:ea typeface="Arial"/>
                <a:cs typeface="Arial"/>
                <a:sym typeface="Arial"/>
              </a:defRPr>
            </a:lvl6pPr>
            <a:lvl7pPr indent="914400">
              <a:defRPr sz="3400" b="1">
                <a:solidFill>
                  <a:srgbClr val="0E9ED7"/>
                </a:solidFill>
                <a:latin typeface="Arial"/>
                <a:ea typeface="Arial"/>
                <a:cs typeface="Arial"/>
                <a:sym typeface="Arial"/>
              </a:defRPr>
            </a:lvl7pPr>
            <a:lvl8pPr indent="1371600">
              <a:defRPr sz="3400" b="1">
                <a:solidFill>
                  <a:srgbClr val="0E9ED7"/>
                </a:solidFill>
                <a:latin typeface="Arial"/>
                <a:ea typeface="Arial"/>
                <a:cs typeface="Arial"/>
                <a:sym typeface="Arial"/>
              </a:defRPr>
            </a:lvl8pPr>
            <a:lvl9pPr indent="1828800">
              <a:defRPr sz="3400" b="1">
                <a:solidFill>
                  <a:srgbClr val="0E9ED7"/>
                </a:solidFill>
                <a:latin typeface="Arial"/>
                <a:ea typeface="Arial"/>
                <a:cs typeface="Arial"/>
                <a:sym typeface="Arial"/>
              </a:defRPr>
            </a:lvl9pPr>
          </a:lstStyle>
          <a:p>
            <a:r>
              <a:rPr lang="en-US" dirty="0">
                <a:solidFill>
                  <a:srgbClr val="0070C0"/>
                </a:solidFill>
                <a:latin typeface="Calibri" panose="020F0502020204030204" pitchFamily="34" charset="0"/>
                <a:cs typeface="Calibri" panose="020F0502020204030204" pitchFamily="34" charset="0"/>
              </a:rPr>
              <a:t>SBE Concessions</a:t>
            </a:r>
          </a:p>
        </p:txBody>
      </p:sp>
    </p:spTree>
    <p:extLst>
      <p:ext uri="{BB962C8B-B14F-4D97-AF65-F5344CB8AC3E}">
        <p14:creationId xmlns:p14="http://schemas.microsoft.com/office/powerpoint/2010/main" val="1211483821"/>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60507"/>
            <a:ext cx="7616826" cy="634423"/>
          </a:xfrm>
        </p:spPr>
        <p:txBody>
          <a:bodyPr/>
          <a:lstStyle/>
          <a:p>
            <a:r>
              <a:rPr lang="en-AU" dirty="0">
                <a:solidFill>
                  <a:srgbClr val="0070C0"/>
                </a:solidFill>
                <a:latin typeface="Calibri" panose="020F0502020204030204" pitchFamily="34" charset="0"/>
                <a:cs typeface="Calibri" panose="020F0502020204030204" pitchFamily="34" charset="0"/>
              </a:rPr>
              <a:t>Main residence exemption</a:t>
            </a:r>
            <a:endParaRPr lang="en-US" dirty="0">
              <a:solidFill>
                <a:srgbClr val="0070C0"/>
              </a:solidFill>
              <a:latin typeface="Calibri" panose="020F0502020204030204" pitchFamily="34" charset="0"/>
              <a:cs typeface="Calibri" panose="020F0502020204030204" pitchFamily="34" charset="0"/>
            </a:endParaRPr>
          </a:p>
        </p:txBody>
      </p:sp>
      <p:sp>
        <p:nvSpPr>
          <p:cNvPr id="2" name="Text Placeholder 1"/>
          <p:cNvSpPr>
            <a:spLocks noGrp="1"/>
          </p:cNvSpPr>
          <p:nvPr>
            <p:ph type="body" idx="1"/>
          </p:nvPr>
        </p:nvSpPr>
        <p:spPr>
          <a:xfrm>
            <a:off x="573206" y="1170660"/>
            <a:ext cx="7809588" cy="4794874"/>
          </a:xfrm>
        </p:spPr>
        <p:txBody>
          <a:bodyPr/>
          <a:lstStyle/>
          <a:p>
            <a:r>
              <a:rPr lang="en-AU" sz="1800" dirty="0">
                <a:latin typeface="Calibri" panose="020F0502020204030204" pitchFamily="34" charset="0"/>
                <a:cs typeface="Calibri" panose="020F0502020204030204" pitchFamily="34" charset="0"/>
              </a:rPr>
              <a:t>Any capital gain or capital loss that an individual taxpayer makes from a CGT event happening in relation to a dwelling (or interest in a dwelling) that is the person’s main residence is disregarded.</a:t>
            </a:r>
          </a:p>
          <a:p>
            <a:endParaRPr lang="en-AU" sz="1800" dirty="0">
              <a:latin typeface="Calibri" panose="020F0502020204030204" pitchFamily="34" charset="0"/>
              <a:cs typeface="Calibri" panose="020F0502020204030204" pitchFamily="34" charset="0"/>
            </a:endParaRPr>
          </a:p>
          <a:p>
            <a:r>
              <a:rPr lang="en-AU" sz="1800" dirty="0">
                <a:latin typeface="Calibri" panose="020F0502020204030204" pitchFamily="34" charset="0"/>
                <a:cs typeface="Calibri" panose="020F0502020204030204" pitchFamily="34" charset="0"/>
              </a:rPr>
              <a:t>A dwelling includes a unit of accommodation that is:</a:t>
            </a:r>
          </a:p>
          <a:p>
            <a:pPr marL="285750" indent="-285750">
              <a:buFont typeface="Arial" panose="020B0604020202020204" pitchFamily="34" charset="0"/>
              <a:buChar char="•"/>
            </a:pPr>
            <a:r>
              <a:rPr lang="en-AU" sz="1800" dirty="0">
                <a:latin typeface="Calibri" panose="020F0502020204030204" pitchFamily="34" charset="0"/>
                <a:cs typeface="Calibri" panose="020F0502020204030204" pitchFamily="34" charset="0"/>
              </a:rPr>
              <a:t>a building or is contained in a building, and consists wholly or mainly of residential accommodation; and</a:t>
            </a:r>
          </a:p>
          <a:p>
            <a:pPr marL="285750" indent="-285750">
              <a:buFont typeface="Arial" panose="020B0604020202020204" pitchFamily="34" charset="0"/>
              <a:buChar char="•"/>
            </a:pPr>
            <a:r>
              <a:rPr lang="en-AU" sz="1800" dirty="0">
                <a:latin typeface="Calibri" panose="020F0502020204030204" pitchFamily="34" charset="0"/>
                <a:cs typeface="Calibri" panose="020F0502020204030204" pitchFamily="34" charset="0"/>
              </a:rPr>
              <a:t>a caravan, houseboat or other mobile home,</a:t>
            </a:r>
          </a:p>
          <a:p>
            <a:r>
              <a:rPr lang="en-AU" sz="1800" dirty="0">
                <a:latin typeface="Calibri" panose="020F0502020204030204" pitchFamily="34" charset="0"/>
                <a:cs typeface="Calibri" panose="020F0502020204030204" pitchFamily="34" charset="0"/>
              </a:rPr>
              <a:t>and any land immediately under the unit of accommodation (s 118-115).</a:t>
            </a:r>
          </a:p>
          <a:p>
            <a:endParaRPr lang="en-AU" sz="1800" dirty="0">
              <a:latin typeface="Calibri" panose="020F0502020204030204" pitchFamily="34" charset="0"/>
              <a:cs typeface="Calibri" panose="020F0502020204030204" pitchFamily="34" charset="0"/>
            </a:endParaRPr>
          </a:p>
          <a:p>
            <a:r>
              <a:rPr lang="en-AU" sz="1800" b="0" i="0" u="none" strike="noStrike" baseline="0" dirty="0">
                <a:solidFill>
                  <a:srgbClr val="000000"/>
                </a:solidFill>
                <a:latin typeface="Calibri" panose="020F0502020204030204" pitchFamily="34" charset="0"/>
              </a:rPr>
              <a:t>The MRE applies </a:t>
            </a:r>
            <a:r>
              <a:rPr lang="en-AU" sz="1800" b="1" i="0" u="none" strike="noStrike" baseline="0" dirty="0">
                <a:solidFill>
                  <a:srgbClr val="000000"/>
                </a:solidFill>
                <a:latin typeface="Calibri" panose="020F0502020204030204" pitchFamily="34" charset="0"/>
              </a:rPr>
              <a:t>only </a:t>
            </a:r>
            <a:r>
              <a:rPr lang="en-AU" sz="1800" b="0" i="0" u="none" strike="noStrike" baseline="0" dirty="0">
                <a:solidFill>
                  <a:srgbClr val="000000"/>
                </a:solidFill>
                <a:latin typeface="Calibri" panose="020F0502020204030204" pitchFamily="34" charset="0"/>
              </a:rPr>
              <a:t>where an </a:t>
            </a:r>
            <a:r>
              <a:rPr lang="en-AU" sz="1800" b="1" i="0" u="none" strike="noStrike" baseline="0" dirty="0">
                <a:solidFill>
                  <a:srgbClr val="000000"/>
                </a:solidFill>
                <a:latin typeface="Calibri" panose="020F0502020204030204" pitchFamily="34" charset="0"/>
              </a:rPr>
              <a:t>individual or individuals </a:t>
            </a:r>
            <a:r>
              <a:rPr lang="en-AU" sz="1800" b="0" i="0" u="none" strike="noStrike" baseline="0" dirty="0">
                <a:solidFill>
                  <a:srgbClr val="000000"/>
                </a:solidFill>
                <a:latin typeface="Calibri" panose="020F0502020204030204" pitchFamily="34" charset="0"/>
              </a:rPr>
              <a:t>make the capital gain. For example, the exemption cannot apply to a residence that is owned by a family trust even if the family occupies it as their main residence. </a:t>
            </a:r>
            <a:endParaRPr lang="en-AU" sz="1800"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8170233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60507"/>
            <a:ext cx="7616826" cy="634423"/>
          </a:xfrm>
        </p:spPr>
        <p:txBody>
          <a:bodyPr/>
          <a:lstStyle/>
          <a:p>
            <a:r>
              <a:rPr lang="en-AU" dirty="0">
                <a:solidFill>
                  <a:srgbClr val="0070C0"/>
                </a:solidFill>
                <a:latin typeface="Calibri" panose="020F0502020204030204" pitchFamily="34" charset="0"/>
                <a:cs typeface="Calibri" panose="020F0502020204030204" pitchFamily="34" charset="0"/>
              </a:rPr>
              <a:t>Main residence exemption</a:t>
            </a:r>
            <a:endParaRPr lang="en-US" dirty="0">
              <a:solidFill>
                <a:srgbClr val="0070C0"/>
              </a:solidFill>
              <a:latin typeface="Calibri" panose="020F0502020204030204" pitchFamily="34" charset="0"/>
              <a:cs typeface="Calibri" panose="020F0502020204030204" pitchFamily="34" charset="0"/>
            </a:endParaRPr>
          </a:p>
        </p:txBody>
      </p:sp>
      <p:sp>
        <p:nvSpPr>
          <p:cNvPr id="2" name="Text Placeholder 1"/>
          <p:cNvSpPr>
            <a:spLocks noGrp="1"/>
          </p:cNvSpPr>
          <p:nvPr>
            <p:ph type="body" idx="1"/>
          </p:nvPr>
        </p:nvSpPr>
        <p:spPr>
          <a:xfrm>
            <a:off x="573206" y="1170660"/>
            <a:ext cx="7809588" cy="4794874"/>
          </a:xfrm>
        </p:spPr>
        <p:txBody>
          <a:bodyPr/>
          <a:lstStyle/>
          <a:p>
            <a:r>
              <a:rPr lang="en-AU" sz="1800" b="1" i="0" u="none" strike="noStrike" baseline="0" dirty="0">
                <a:solidFill>
                  <a:srgbClr val="000000"/>
                </a:solidFill>
                <a:latin typeface="Calibri" panose="020F0502020204030204" pitchFamily="34" charset="0"/>
              </a:rPr>
              <a:t>Adjacent land</a:t>
            </a:r>
          </a:p>
          <a:p>
            <a:r>
              <a:rPr lang="en-AU" sz="1800" b="0" i="0" u="none" strike="noStrike" baseline="0" dirty="0">
                <a:solidFill>
                  <a:srgbClr val="000000"/>
                </a:solidFill>
                <a:latin typeface="Calibri" panose="020F0502020204030204" pitchFamily="34" charset="0"/>
              </a:rPr>
              <a:t>Where a CGT event also happens to land adjacent to a dwelling (or part of the dwelling), that is also used primarily for private or domestic purposes, the exemption will apply to a total of two hectares of land. That includes the land on which the dwelling is built. A taxpayer can choose the two hectares to which the MRE applies. Refer to </a:t>
            </a:r>
            <a:r>
              <a:rPr lang="en-AU" sz="1800" b="1" i="0" u="none" strike="noStrike" baseline="0" dirty="0">
                <a:solidFill>
                  <a:srgbClr val="000000"/>
                </a:solidFill>
                <a:latin typeface="Calibri" panose="020F0502020204030204" pitchFamily="34" charset="0"/>
              </a:rPr>
              <a:t>TD 1999/67 </a:t>
            </a:r>
            <a:r>
              <a:rPr lang="en-AU" sz="1800" b="0" i="0" u="none" strike="noStrike" baseline="0" dirty="0">
                <a:solidFill>
                  <a:srgbClr val="000000"/>
                </a:solidFill>
                <a:latin typeface="Calibri" panose="020F0502020204030204" pitchFamily="34" charset="0"/>
              </a:rPr>
              <a:t>for examples. </a:t>
            </a:r>
            <a:endParaRPr lang="en-AU" sz="1800"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0055745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560507"/>
            <a:ext cx="7616826" cy="634423"/>
          </a:xfrm>
        </p:spPr>
        <p:txBody>
          <a:bodyPr/>
          <a:lstStyle/>
          <a:p>
            <a:r>
              <a:rPr lang="en-AU" dirty="0">
                <a:solidFill>
                  <a:srgbClr val="0070C0"/>
                </a:solidFill>
                <a:latin typeface="Calibri" panose="020F0502020204030204" pitchFamily="34" charset="0"/>
                <a:cs typeface="Calibri" panose="020F0502020204030204" pitchFamily="34" charset="0"/>
              </a:rPr>
              <a:t>Changing main residences</a:t>
            </a:r>
            <a:endParaRPr lang="en-US" dirty="0">
              <a:solidFill>
                <a:srgbClr val="0070C0"/>
              </a:solidFill>
              <a:latin typeface="Calibri" panose="020F0502020204030204" pitchFamily="34" charset="0"/>
              <a:cs typeface="Calibri" panose="020F0502020204030204" pitchFamily="34" charset="0"/>
            </a:endParaRPr>
          </a:p>
        </p:txBody>
      </p:sp>
      <p:sp>
        <p:nvSpPr>
          <p:cNvPr id="2" name="Text Placeholder 1"/>
          <p:cNvSpPr>
            <a:spLocks noGrp="1"/>
          </p:cNvSpPr>
          <p:nvPr>
            <p:ph type="body" idx="1"/>
          </p:nvPr>
        </p:nvSpPr>
        <p:spPr>
          <a:xfrm>
            <a:off x="573206" y="1170660"/>
            <a:ext cx="7809588" cy="4794874"/>
          </a:xfrm>
        </p:spPr>
        <p:txBody>
          <a:bodyPr/>
          <a:lstStyle/>
          <a:p>
            <a:r>
              <a:rPr lang="en-AU" sz="1800" b="0" i="0" u="none" strike="noStrike" baseline="0" dirty="0">
                <a:solidFill>
                  <a:srgbClr val="000000"/>
                </a:solidFill>
                <a:latin typeface="Calibri" panose="020F0502020204030204" pitchFamily="34" charset="0"/>
              </a:rPr>
              <a:t>Where a taxpayer acquires a dwelling that is to become a main residence, and already has a main residence, both residences can benefit from the exemption for the shorter of: </a:t>
            </a:r>
          </a:p>
          <a:p>
            <a:pPr marL="285750" indent="-285750">
              <a:buFont typeface="Arial" panose="020B0604020202020204" pitchFamily="34" charset="0"/>
              <a:buChar char="•"/>
            </a:pPr>
            <a:r>
              <a:rPr lang="en-AU" sz="1800" b="0" i="0" u="none" strike="noStrike" baseline="0" dirty="0">
                <a:solidFill>
                  <a:srgbClr val="000000"/>
                </a:solidFill>
                <a:latin typeface="Calibri" panose="020F0502020204030204" pitchFamily="34" charset="0"/>
              </a:rPr>
              <a:t>six months (ending when the CGT event happened to the existing residence); or </a:t>
            </a:r>
          </a:p>
          <a:p>
            <a:pPr marL="285750" indent="-285750">
              <a:buFont typeface="Arial" panose="020B0604020202020204" pitchFamily="34" charset="0"/>
              <a:buChar char="•"/>
            </a:pPr>
            <a:r>
              <a:rPr lang="en-AU" sz="1800" b="0" i="0" u="none" strike="noStrike" baseline="0" dirty="0">
                <a:solidFill>
                  <a:srgbClr val="000000"/>
                </a:solidFill>
                <a:latin typeface="Calibri" panose="020F0502020204030204" pitchFamily="34" charset="0"/>
              </a:rPr>
              <a:t>the period from the acquisition of the new residence to the CGT event happening to the existing residence. </a:t>
            </a:r>
          </a:p>
          <a:p>
            <a:endParaRPr lang="en-AU" sz="1800" b="0" i="0" u="none" strike="noStrike" baseline="0" dirty="0">
              <a:solidFill>
                <a:srgbClr val="000000"/>
              </a:solidFill>
              <a:latin typeface="Calibri" panose="020F0502020204030204" pitchFamily="34" charset="0"/>
            </a:endParaRPr>
          </a:p>
          <a:p>
            <a:r>
              <a:rPr lang="en-AU" sz="1800" b="0" i="0" u="none" strike="noStrike" baseline="0" dirty="0">
                <a:solidFill>
                  <a:srgbClr val="000000"/>
                </a:solidFill>
                <a:latin typeface="Calibri" panose="020F0502020204030204" pitchFamily="34" charset="0"/>
              </a:rPr>
              <a:t>However, this exemption is only available if the existing main residence was the main residence for </a:t>
            </a:r>
            <a:r>
              <a:rPr lang="en-AU" sz="1800" b="1" i="0" u="none" strike="noStrike" baseline="0" dirty="0">
                <a:solidFill>
                  <a:srgbClr val="000000"/>
                </a:solidFill>
                <a:latin typeface="Calibri" panose="020F0502020204030204" pitchFamily="34" charset="0"/>
              </a:rPr>
              <a:t>at least three months in the 12 months prior to the CGT event</a:t>
            </a:r>
            <a:r>
              <a:rPr lang="en-AU" sz="1800" b="0" i="0" u="none" strike="noStrike" baseline="0" dirty="0">
                <a:solidFill>
                  <a:srgbClr val="000000"/>
                </a:solidFill>
                <a:latin typeface="Calibri" panose="020F0502020204030204" pitchFamily="34" charset="0"/>
              </a:rPr>
              <a:t>, and provided that it was not used to produce assessable income in that 12-month period when it was not the main residence.</a:t>
            </a:r>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639731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22734" y="300943"/>
            <a:ext cx="5607676" cy="1256312"/>
          </a:xfrm>
        </p:spPr>
        <p:txBody>
          <a:bodyPr/>
          <a:lstStyle/>
          <a:p>
            <a:r>
              <a:rPr lang="en-US" dirty="0">
                <a:solidFill>
                  <a:srgbClr val="0070C0"/>
                </a:solidFill>
                <a:latin typeface="Calibri" panose="020F0502020204030204" pitchFamily="34" charset="0"/>
                <a:cs typeface="Calibri" panose="020F0502020204030204" pitchFamily="34" charset="0"/>
              </a:rPr>
              <a:t>Basic Conditions for Small Business CGT Concessions </a:t>
            </a:r>
          </a:p>
        </p:txBody>
      </p:sp>
      <p:sp>
        <p:nvSpPr>
          <p:cNvPr id="2" name="Text Placeholder 1"/>
          <p:cNvSpPr>
            <a:spLocks noGrp="1"/>
          </p:cNvSpPr>
          <p:nvPr>
            <p:ph type="body" idx="1"/>
          </p:nvPr>
        </p:nvSpPr>
        <p:spPr>
          <a:xfrm>
            <a:off x="667206" y="1901079"/>
            <a:ext cx="7809588" cy="4794874"/>
          </a:xfrm>
        </p:spPr>
        <p:txBody>
          <a:bodyPr/>
          <a:lstStyle/>
          <a:p>
            <a:r>
              <a:rPr lang="en-AU" sz="1800" b="1" dirty="0"/>
              <a:t>Step 1: </a:t>
            </a:r>
            <a:r>
              <a:rPr lang="en-AU" sz="1800" dirty="0"/>
              <a:t>You must satisfy one for the following:</a:t>
            </a:r>
          </a:p>
          <a:p>
            <a:pPr marL="342900" indent="-342900">
              <a:buFont typeface="Wingdings" panose="05000000000000000000" pitchFamily="2" charset="2"/>
              <a:buChar char="q"/>
            </a:pPr>
            <a:r>
              <a:rPr lang="en-AU" sz="1800" dirty="0"/>
              <a:t>You're a small business entity with an aggregated turnover of less than $2 million</a:t>
            </a:r>
          </a:p>
          <a:p>
            <a:pPr marL="342900" indent="-342900">
              <a:buFont typeface="Wingdings" panose="05000000000000000000" pitchFamily="2" charset="2"/>
              <a:buChar char="q"/>
            </a:pPr>
            <a:r>
              <a:rPr lang="en-AU" sz="1800" dirty="0"/>
              <a:t>You don't carry on business (other than as a partner) but your CGT asset is used in a business carried on by a small business entity that is your affiliate or an entity connected with you (passively-held assets)</a:t>
            </a:r>
          </a:p>
          <a:p>
            <a:pPr marL="342900" indent="-342900">
              <a:buFont typeface="Arial" panose="020B0604020202020204" pitchFamily="34" charset="0"/>
              <a:buChar char="•"/>
            </a:pPr>
            <a:r>
              <a:rPr lang="en-AU" sz="1800" dirty="0"/>
              <a:t>You're a partner in a partnership that is a small business entity, and the CGT asset is either -</a:t>
            </a:r>
          </a:p>
          <a:p>
            <a:pPr marL="850900" lvl="1" indent="-342900">
              <a:buFont typeface="Wingdings" panose="05000000000000000000" pitchFamily="2" charset="2"/>
              <a:buChar char="q"/>
            </a:pPr>
            <a:r>
              <a:rPr lang="en-AU" sz="1800" dirty="0"/>
              <a:t>an interest in a partnership asset (partnership assets)</a:t>
            </a:r>
          </a:p>
          <a:p>
            <a:pPr marL="850900" lvl="1" indent="-342900">
              <a:buFont typeface="Wingdings" panose="05000000000000000000" pitchFamily="2" charset="2"/>
              <a:buChar char="q"/>
            </a:pPr>
            <a:r>
              <a:rPr lang="en-AU" sz="1800" dirty="0"/>
              <a:t>an asset you own that is not an interest in a partnership asset (partner's assets) but is used in the business of the partnership</a:t>
            </a:r>
          </a:p>
          <a:p>
            <a:pPr marL="342900" indent="-342900">
              <a:buFont typeface="Wingdings" panose="05000000000000000000" pitchFamily="2" charset="2"/>
              <a:buChar char="q"/>
            </a:pPr>
            <a:r>
              <a:rPr lang="en-AU" sz="1800" dirty="0"/>
              <a:t>You satisfy the maximum net asset value test (&lt;$6M net assets for assets owned by you and certain affiliates).</a:t>
            </a: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1709758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22734" y="300943"/>
            <a:ext cx="5607676" cy="1256312"/>
          </a:xfrm>
        </p:spPr>
        <p:txBody>
          <a:bodyPr/>
          <a:lstStyle/>
          <a:p>
            <a:r>
              <a:rPr lang="en-US" dirty="0">
                <a:solidFill>
                  <a:srgbClr val="0070C0"/>
                </a:solidFill>
                <a:latin typeface="Calibri" panose="020F0502020204030204" pitchFamily="34" charset="0"/>
                <a:cs typeface="Calibri" panose="020F0502020204030204" pitchFamily="34" charset="0"/>
              </a:rPr>
              <a:t>Basic Conditions for Small Business CGT Concessions </a:t>
            </a:r>
          </a:p>
        </p:txBody>
      </p:sp>
      <p:sp>
        <p:nvSpPr>
          <p:cNvPr id="2" name="Text Placeholder 1"/>
          <p:cNvSpPr>
            <a:spLocks noGrp="1"/>
          </p:cNvSpPr>
          <p:nvPr>
            <p:ph type="body" idx="1"/>
          </p:nvPr>
        </p:nvSpPr>
        <p:spPr>
          <a:xfrm>
            <a:off x="667206" y="1901079"/>
            <a:ext cx="7809588" cy="4794874"/>
          </a:xfrm>
        </p:spPr>
        <p:txBody>
          <a:bodyPr/>
          <a:lstStyle/>
          <a:p>
            <a:r>
              <a:rPr lang="en-AU" sz="1800" b="1" dirty="0"/>
              <a:t>Step 2: </a:t>
            </a:r>
            <a:r>
              <a:rPr lang="en-AU" sz="1800" dirty="0"/>
              <a:t>Active asset test. A CGT asset is an active asset if:</a:t>
            </a:r>
          </a:p>
          <a:p>
            <a:pPr marL="285750" indent="-285750">
              <a:buFont typeface="Wingdings" panose="05000000000000000000" pitchFamily="2" charset="2"/>
              <a:buChar char="q"/>
            </a:pPr>
            <a:r>
              <a:rPr lang="en-AU" sz="1800" dirty="0"/>
              <a:t>You own it.</a:t>
            </a:r>
          </a:p>
          <a:p>
            <a:pPr marL="285750" indent="-285750">
              <a:buFont typeface="Wingdings" panose="05000000000000000000" pitchFamily="2" charset="2"/>
              <a:buChar char="q"/>
            </a:pPr>
            <a:r>
              <a:rPr lang="en-AU" sz="1800" dirty="0"/>
              <a:t>You use it or hold it ready for use in the course of carrying on a business (whether alone or in partnership)</a:t>
            </a:r>
          </a:p>
          <a:p>
            <a:pPr marL="285750" indent="-285750">
              <a:buFont typeface="Wingdings" panose="05000000000000000000" pitchFamily="2" charset="2"/>
              <a:buChar char="q"/>
            </a:pPr>
            <a:r>
              <a:rPr lang="en-AU" sz="1800" dirty="0"/>
              <a:t>It is an intangible asset (for example, goodwill) inherently connected with a business you carry on (whether alone or in partnership).</a:t>
            </a:r>
          </a:p>
          <a:p>
            <a:pPr marL="285750" indent="-285750">
              <a:buFont typeface="Wingdings" panose="05000000000000000000" pitchFamily="2" charset="2"/>
              <a:buChar char="q"/>
            </a:pPr>
            <a:r>
              <a:rPr lang="en-AU" sz="1800" dirty="0"/>
              <a:t>The asset was owned for a total of at least 7½ years during the test period, if you've owned it for more than 15 years, or for at least half of the test period, if you've owned it for 15 years or less.</a:t>
            </a:r>
          </a:p>
          <a:p>
            <a:endParaRPr lang="en-AU" dirty="0">
              <a:latin typeface="Calibri" panose="020F0502020204030204" pitchFamily="34" charset="0"/>
              <a:cs typeface="Calibri" panose="020F0502020204030204" pitchFamily="34" charset="0"/>
            </a:endParaRPr>
          </a:p>
          <a:p>
            <a:r>
              <a:rPr lang="en-AU" sz="1800" dirty="0">
                <a:latin typeface="Calibri" panose="020F0502020204030204" pitchFamily="34" charset="0"/>
                <a:cs typeface="Calibri" panose="020F0502020204030204" pitchFamily="34" charset="0"/>
              </a:rPr>
              <a:t>The asset does not need to be an active asset just before the CGT event.</a:t>
            </a:r>
          </a:p>
        </p:txBody>
      </p:sp>
    </p:spTree>
    <p:extLst>
      <p:ext uri="{BB962C8B-B14F-4D97-AF65-F5344CB8AC3E}">
        <p14:creationId xmlns:p14="http://schemas.microsoft.com/office/powerpoint/2010/main" val="228089892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22734" y="300943"/>
            <a:ext cx="5607676" cy="1256312"/>
          </a:xfrm>
        </p:spPr>
        <p:txBody>
          <a:bodyPr/>
          <a:lstStyle/>
          <a:p>
            <a:r>
              <a:rPr lang="en-US" dirty="0">
                <a:solidFill>
                  <a:srgbClr val="0070C0"/>
                </a:solidFill>
                <a:latin typeface="Calibri" panose="020F0502020204030204" pitchFamily="34" charset="0"/>
                <a:cs typeface="Calibri" panose="020F0502020204030204" pitchFamily="34" charset="0"/>
              </a:rPr>
              <a:t>Basic Conditions for Small Business CGT Concessions </a:t>
            </a:r>
          </a:p>
        </p:txBody>
      </p:sp>
      <p:sp>
        <p:nvSpPr>
          <p:cNvPr id="2" name="Text Placeholder 1"/>
          <p:cNvSpPr>
            <a:spLocks noGrp="1"/>
          </p:cNvSpPr>
          <p:nvPr>
            <p:ph type="body" idx="1"/>
          </p:nvPr>
        </p:nvSpPr>
        <p:spPr>
          <a:xfrm>
            <a:off x="667206" y="1901079"/>
            <a:ext cx="7809588" cy="4794874"/>
          </a:xfrm>
        </p:spPr>
        <p:txBody>
          <a:bodyPr/>
          <a:lstStyle/>
          <a:p>
            <a:r>
              <a:rPr lang="en-AU" sz="1800" b="1" dirty="0"/>
              <a:t>Active asset test – Example</a:t>
            </a:r>
          </a:p>
          <a:p>
            <a:r>
              <a:rPr lang="en-AU" sz="1800" dirty="0"/>
              <a:t>Jodie ran a florist business from a shop she owned for eight years. She ran the business for five years, and then leased it to an unrelated party for three years before selling. The shop satisfies the active asset test because it was actively used in Jodie’s business for more than half the period of ownership, even though the property was not used in the business just before it was disposed of.</a:t>
            </a: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26539264"/>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22733" y="300943"/>
            <a:ext cx="5954917" cy="1256312"/>
          </a:xfrm>
        </p:spPr>
        <p:txBody>
          <a:bodyPr/>
          <a:lstStyle/>
          <a:p>
            <a:r>
              <a:rPr lang="en-US" dirty="0">
                <a:solidFill>
                  <a:srgbClr val="0070C0"/>
                </a:solidFill>
                <a:latin typeface="Calibri" panose="020F0502020204030204" pitchFamily="34" charset="0"/>
                <a:cs typeface="Calibri" panose="020F0502020204030204" pitchFamily="34" charset="0"/>
              </a:rPr>
              <a:t>Small Business 15-year Exemption</a:t>
            </a:r>
          </a:p>
        </p:txBody>
      </p:sp>
      <p:sp>
        <p:nvSpPr>
          <p:cNvPr id="2" name="Text Placeholder 1"/>
          <p:cNvSpPr>
            <a:spLocks noGrp="1"/>
          </p:cNvSpPr>
          <p:nvPr>
            <p:ph type="body" idx="1"/>
          </p:nvPr>
        </p:nvSpPr>
        <p:spPr>
          <a:xfrm>
            <a:off x="667206" y="1901079"/>
            <a:ext cx="7809588" cy="4794874"/>
          </a:xfrm>
        </p:spPr>
        <p:txBody>
          <a:bodyPr/>
          <a:lstStyle/>
          <a:p>
            <a:r>
              <a:rPr lang="en-AU" sz="1800" dirty="0">
                <a:latin typeface="Arial" panose="020B0604020202020204" pitchFamily="34" charset="0"/>
                <a:cs typeface="Arial" panose="020B0604020202020204" pitchFamily="34" charset="0"/>
              </a:rPr>
              <a:t>You can </a:t>
            </a:r>
            <a:r>
              <a:rPr lang="en-AU" sz="1800" b="1" dirty="0">
                <a:latin typeface="Arial" panose="020B0604020202020204" pitchFamily="34" charset="0"/>
                <a:cs typeface="Arial" panose="020B0604020202020204" pitchFamily="34" charset="0"/>
              </a:rPr>
              <a:t>entirely disregard the capital gain </a:t>
            </a:r>
            <a:r>
              <a:rPr lang="en-AU" sz="1800" dirty="0">
                <a:latin typeface="Arial" panose="020B0604020202020204" pitchFamily="34" charset="0"/>
                <a:cs typeface="Arial" panose="020B0604020202020204" pitchFamily="34" charset="0"/>
              </a:rPr>
              <a:t>and don't need to apply any other concessions if:</a:t>
            </a:r>
          </a:p>
          <a:p>
            <a:pPr marL="457200" indent="-457200">
              <a:buFont typeface="Wingdings" panose="05000000000000000000" pitchFamily="2" charset="2"/>
              <a:buChar char="q"/>
            </a:pPr>
            <a:r>
              <a:rPr lang="en-AU" sz="1800" dirty="0">
                <a:latin typeface="Arial" panose="020B0604020202020204" pitchFamily="34" charset="0"/>
                <a:cs typeface="Arial" panose="020B0604020202020204" pitchFamily="34" charset="0"/>
              </a:rPr>
              <a:t>It is an active asset</a:t>
            </a:r>
          </a:p>
          <a:p>
            <a:pPr marL="457200" indent="-457200">
              <a:buFont typeface="Wingdings" panose="05000000000000000000" pitchFamily="2" charset="2"/>
              <a:buChar char="q"/>
            </a:pPr>
            <a:r>
              <a:rPr lang="en-AU" sz="1800" dirty="0">
                <a:latin typeface="Arial" panose="020B0604020202020204" pitchFamily="34" charset="0"/>
                <a:cs typeface="Arial" panose="020B0604020202020204" pitchFamily="34" charset="0"/>
              </a:rPr>
              <a:t>You continuously owned the asset for the 15-year period just before the CGT event</a:t>
            </a:r>
          </a:p>
          <a:p>
            <a:pPr marL="457200" indent="-457200">
              <a:buFont typeface="Wingdings" panose="05000000000000000000" pitchFamily="2" charset="2"/>
              <a:buChar char="q"/>
            </a:pPr>
            <a:endParaRPr lang="en-AU" sz="1800" dirty="0">
              <a:latin typeface="Arial" panose="020B0604020202020204" pitchFamily="34" charset="0"/>
              <a:cs typeface="Arial" panose="020B0604020202020204" pitchFamily="34" charset="0"/>
            </a:endParaRPr>
          </a:p>
          <a:p>
            <a:r>
              <a:rPr lang="en-AU" sz="1800" b="1" dirty="0">
                <a:latin typeface="Arial" panose="020B0604020202020204" pitchFamily="34" charset="0"/>
                <a:cs typeface="Arial" panose="020B0604020202020204" pitchFamily="34" charset="0"/>
              </a:rPr>
              <a:t>Conditions for individuals:</a:t>
            </a:r>
          </a:p>
          <a:p>
            <a:pPr marL="285750" indent="-285750">
              <a:buFont typeface="Arial" panose="020B0604020202020204" pitchFamily="34" charset="0"/>
              <a:buChar char="•"/>
            </a:pPr>
            <a:r>
              <a:rPr lang="en-AU" sz="1800" dirty="0">
                <a:latin typeface="Arial" panose="020B0604020202020204" pitchFamily="34" charset="0"/>
                <a:cs typeface="Arial" panose="020B0604020202020204" pitchFamily="34" charset="0"/>
              </a:rPr>
              <a:t>You were permanently incapacitated, or</a:t>
            </a:r>
          </a:p>
          <a:p>
            <a:pPr marL="285750" indent="-285750">
              <a:buFont typeface="Arial" panose="020B0604020202020204" pitchFamily="34" charset="0"/>
              <a:buChar char="•"/>
            </a:pPr>
            <a:r>
              <a:rPr lang="en-AU" sz="1800" dirty="0">
                <a:latin typeface="Arial" panose="020B0604020202020204" pitchFamily="34" charset="0"/>
                <a:cs typeface="Arial" panose="020B0604020202020204" pitchFamily="34" charset="0"/>
              </a:rPr>
              <a:t>At least 55 years old and the event happened in connection with your retirement</a:t>
            </a:r>
          </a:p>
        </p:txBody>
      </p:sp>
    </p:spTree>
    <p:extLst>
      <p:ext uri="{BB962C8B-B14F-4D97-AF65-F5344CB8AC3E}">
        <p14:creationId xmlns:p14="http://schemas.microsoft.com/office/powerpoint/2010/main" val="1101636952"/>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22733" y="300943"/>
            <a:ext cx="5954917" cy="1256312"/>
          </a:xfrm>
        </p:spPr>
        <p:txBody>
          <a:bodyPr/>
          <a:lstStyle/>
          <a:p>
            <a:r>
              <a:rPr lang="en-US" dirty="0">
                <a:solidFill>
                  <a:srgbClr val="0070C0"/>
                </a:solidFill>
                <a:latin typeface="Calibri" panose="020F0502020204030204" pitchFamily="34" charset="0"/>
                <a:cs typeface="Calibri" panose="020F0502020204030204" pitchFamily="34" charset="0"/>
              </a:rPr>
              <a:t>Small Business 15-year Exemption</a:t>
            </a:r>
          </a:p>
        </p:txBody>
      </p:sp>
      <p:sp>
        <p:nvSpPr>
          <p:cNvPr id="2" name="Text Placeholder 1"/>
          <p:cNvSpPr>
            <a:spLocks noGrp="1"/>
          </p:cNvSpPr>
          <p:nvPr>
            <p:ph type="body" idx="1"/>
          </p:nvPr>
        </p:nvSpPr>
        <p:spPr>
          <a:xfrm>
            <a:off x="667206" y="1901079"/>
            <a:ext cx="7809588" cy="4794874"/>
          </a:xfrm>
        </p:spPr>
        <p:txBody>
          <a:bodyPr/>
          <a:lstStyle/>
          <a:p>
            <a:r>
              <a:rPr lang="en-AU" sz="1800" b="1" dirty="0">
                <a:latin typeface="Arial" panose="020B0604020202020204" pitchFamily="34" charset="0"/>
                <a:cs typeface="Arial" panose="020B0604020202020204" pitchFamily="34" charset="0"/>
              </a:rPr>
              <a:t>Conditions for companies and trusts:</a:t>
            </a:r>
          </a:p>
          <a:p>
            <a:pPr marL="285750" indent="-285750">
              <a:buFont typeface="Wingdings" panose="05000000000000000000" pitchFamily="2" charset="2"/>
              <a:buChar char="q"/>
            </a:pPr>
            <a:r>
              <a:rPr lang="en-AU" sz="1800" dirty="0">
                <a:latin typeface="Arial" panose="020B0604020202020204" pitchFamily="34" charset="0"/>
                <a:cs typeface="Arial" panose="020B0604020202020204" pitchFamily="34" charset="0"/>
              </a:rPr>
              <a:t>You had a significant individual for a total of at least 15 years of the whole period of ownership (even if it </a:t>
            </a:r>
            <a:r>
              <a:rPr lang="en-AU" sz="1800" u="sng" dirty="0">
                <a:latin typeface="Arial" panose="020B0604020202020204" pitchFamily="34" charset="0"/>
                <a:cs typeface="Arial" panose="020B0604020202020204" pitchFamily="34" charset="0"/>
              </a:rPr>
              <a:t>was not the same significant individual </a:t>
            </a:r>
            <a:r>
              <a:rPr lang="en-AU" sz="1800" dirty="0">
                <a:latin typeface="Arial" panose="020B0604020202020204" pitchFamily="34" charset="0"/>
                <a:cs typeface="Arial" panose="020B0604020202020204" pitchFamily="34" charset="0"/>
              </a:rPr>
              <a:t>during the whole period), and</a:t>
            </a:r>
          </a:p>
          <a:p>
            <a:pPr marL="285750" indent="-285750">
              <a:buFont typeface="Arial" panose="020B0604020202020204" pitchFamily="34" charset="0"/>
              <a:buChar char="•"/>
            </a:pPr>
            <a:r>
              <a:rPr lang="en-AU" sz="1800" dirty="0">
                <a:latin typeface="Arial" panose="020B0604020202020204" pitchFamily="34" charset="0"/>
                <a:cs typeface="Arial" panose="020B0604020202020204" pitchFamily="34" charset="0"/>
              </a:rPr>
              <a:t>The individual who was a significant individual just before the CGT event was:  </a:t>
            </a:r>
          </a:p>
          <a:p>
            <a:pPr marL="793750" lvl="1" indent="-285750">
              <a:buFont typeface="Wingdings" panose="05000000000000000000" pitchFamily="2" charset="2"/>
              <a:buChar char="q"/>
            </a:pPr>
            <a:r>
              <a:rPr lang="en-AU" sz="1800" dirty="0">
                <a:latin typeface="Arial" panose="020B0604020202020204" pitchFamily="34" charset="0"/>
                <a:cs typeface="Arial" panose="020B0604020202020204" pitchFamily="34" charset="0"/>
              </a:rPr>
              <a:t>At least 55 years old at that time and the event happened in connection with their retirement, or</a:t>
            </a:r>
          </a:p>
          <a:p>
            <a:pPr marL="793750" lvl="1" indent="-285750">
              <a:buFont typeface="Wingdings" panose="05000000000000000000" pitchFamily="2" charset="2"/>
              <a:buChar char="q"/>
            </a:pPr>
            <a:r>
              <a:rPr lang="en-AU" sz="1800" dirty="0">
                <a:latin typeface="Arial" panose="020B0604020202020204" pitchFamily="34" charset="0"/>
                <a:cs typeface="Arial" panose="020B0604020202020204" pitchFamily="34" charset="0"/>
              </a:rPr>
              <a:t>Permanently incapacitated at that time.</a:t>
            </a:r>
          </a:p>
        </p:txBody>
      </p:sp>
    </p:spTree>
    <p:extLst>
      <p:ext uri="{BB962C8B-B14F-4D97-AF65-F5344CB8AC3E}">
        <p14:creationId xmlns:p14="http://schemas.microsoft.com/office/powerpoint/2010/main" val="237578387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22733" y="300943"/>
            <a:ext cx="5954917" cy="1256312"/>
          </a:xfrm>
        </p:spPr>
        <p:txBody>
          <a:bodyPr/>
          <a:lstStyle/>
          <a:p>
            <a:r>
              <a:rPr lang="en-US" dirty="0">
                <a:solidFill>
                  <a:srgbClr val="0070C0"/>
                </a:solidFill>
                <a:latin typeface="Calibri" panose="020F0502020204030204" pitchFamily="34" charset="0"/>
                <a:cs typeface="Calibri" panose="020F0502020204030204" pitchFamily="34" charset="0"/>
              </a:rPr>
              <a:t>Small Business 50% Active Asset Reduction</a:t>
            </a:r>
          </a:p>
        </p:txBody>
      </p:sp>
      <p:sp>
        <p:nvSpPr>
          <p:cNvPr id="2" name="Text Placeholder 1"/>
          <p:cNvSpPr>
            <a:spLocks noGrp="1"/>
          </p:cNvSpPr>
          <p:nvPr>
            <p:ph type="body" idx="1"/>
          </p:nvPr>
        </p:nvSpPr>
        <p:spPr>
          <a:xfrm>
            <a:off x="667206" y="1901079"/>
            <a:ext cx="7809588" cy="4794874"/>
          </a:xfrm>
        </p:spPr>
        <p:txBody>
          <a:bodyPr/>
          <a:lstStyle/>
          <a:p>
            <a:r>
              <a:rPr lang="en-AU" sz="1800" dirty="0">
                <a:latin typeface="Arial" panose="020B0604020202020204" pitchFamily="34" charset="0"/>
                <a:cs typeface="Arial" panose="020B0604020202020204" pitchFamily="34" charset="0"/>
              </a:rPr>
              <a:t>You can reduce the capital gain on an active asset by 50% (in addition to the 50% CGT discount if you've owned it for 12 months or more).</a:t>
            </a:r>
          </a:p>
          <a:p>
            <a:endParaRPr lang="en-AU" sz="1800" dirty="0">
              <a:latin typeface="Arial" panose="020B0604020202020204" pitchFamily="34" charset="0"/>
              <a:cs typeface="Arial" panose="020B0604020202020204" pitchFamily="34" charset="0"/>
            </a:endParaRPr>
          </a:p>
          <a:p>
            <a:r>
              <a:rPr lang="en-AU" sz="1800" dirty="0">
                <a:latin typeface="Arial" panose="020B0604020202020204" pitchFamily="34" charset="0"/>
                <a:cs typeface="Arial" panose="020B0604020202020204" pitchFamily="34" charset="0"/>
              </a:rPr>
              <a:t>To apply the small business 50% active asset reduction, you need to satisfy only the basic conditions discussed previously. There are no further requirements.</a:t>
            </a:r>
          </a:p>
          <a:p>
            <a:endParaRPr lang="en-AU" sz="18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AU" sz="1800" dirty="0">
                <a:latin typeface="Arial" panose="020B0604020202020204" pitchFamily="34" charset="0"/>
                <a:cs typeface="Arial" panose="020B0604020202020204" pitchFamily="34" charset="0"/>
              </a:rPr>
              <a:t>Can choose for it not to apply. </a:t>
            </a:r>
          </a:p>
        </p:txBody>
      </p:sp>
    </p:spTree>
    <p:extLst>
      <p:ext uri="{BB962C8B-B14F-4D97-AF65-F5344CB8AC3E}">
        <p14:creationId xmlns:p14="http://schemas.microsoft.com/office/powerpoint/2010/main" val="1166862877"/>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22733" y="300943"/>
            <a:ext cx="5954917" cy="1256312"/>
          </a:xfrm>
        </p:spPr>
        <p:txBody>
          <a:bodyPr/>
          <a:lstStyle/>
          <a:p>
            <a:r>
              <a:rPr lang="en-US" dirty="0">
                <a:solidFill>
                  <a:srgbClr val="0070C0"/>
                </a:solidFill>
                <a:latin typeface="Calibri" panose="020F0502020204030204" pitchFamily="34" charset="0"/>
                <a:cs typeface="Calibri" panose="020F0502020204030204" pitchFamily="34" charset="0"/>
              </a:rPr>
              <a:t>Small Business Retirement Exemption</a:t>
            </a:r>
          </a:p>
        </p:txBody>
      </p:sp>
      <p:sp>
        <p:nvSpPr>
          <p:cNvPr id="2" name="Text Placeholder 1"/>
          <p:cNvSpPr>
            <a:spLocks noGrp="1"/>
          </p:cNvSpPr>
          <p:nvPr>
            <p:ph type="body" idx="1"/>
          </p:nvPr>
        </p:nvSpPr>
        <p:spPr>
          <a:xfrm>
            <a:off x="667206" y="1901079"/>
            <a:ext cx="7809588" cy="4794874"/>
          </a:xfrm>
        </p:spPr>
        <p:txBody>
          <a:bodyPr/>
          <a:lstStyle/>
          <a:p>
            <a:r>
              <a:rPr lang="en-AU" sz="1800" dirty="0">
                <a:latin typeface="Arial" panose="020B0604020202020204" pitchFamily="34" charset="0"/>
                <a:cs typeface="Arial" panose="020B0604020202020204" pitchFamily="34" charset="0"/>
              </a:rPr>
              <a:t>You may choose to disregard all or part of a capital gain under the small business retirement exemption if you satisfy certain conditions. </a:t>
            </a:r>
          </a:p>
          <a:p>
            <a:endParaRPr lang="en-AU" sz="1800" dirty="0">
              <a:latin typeface="Arial" panose="020B0604020202020204" pitchFamily="34" charset="0"/>
              <a:cs typeface="Arial" panose="020B0604020202020204" pitchFamily="34" charset="0"/>
            </a:endParaRPr>
          </a:p>
          <a:p>
            <a:r>
              <a:rPr lang="en-AU" sz="1800" dirty="0">
                <a:latin typeface="Arial" panose="020B0604020202020204" pitchFamily="34" charset="0"/>
                <a:cs typeface="Arial" panose="020B0604020202020204" pitchFamily="34" charset="0"/>
              </a:rPr>
              <a:t>If you're an individual who chooses the retirement exemption, you don't need to terminate any activity or cease business.</a:t>
            </a:r>
          </a:p>
          <a:p>
            <a:endParaRPr lang="en-AU" sz="1800" dirty="0">
              <a:latin typeface="Arial" panose="020B0604020202020204" pitchFamily="34" charset="0"/>
              <a:cs typeface="Arial" panose="020B0604020202020204" pitchFamily="34" charset="0"/>
            </a:endParaRPr>
          </a:p>
          <a:p>
            <a:r>
              <a:rPr lang="en-AU" sz="1800" dirty="0">
                <a:latin typeface="Arial" panose="020B0604020202020204" pitchFamily="34" charset="0"/>
                <a:cs typeface="Arial" panose="020B0604020202020204" pitchFamily="34" charset="0"/>
              </a:rPr>
              <a:t>You may apply this small business rollover concession:</a:t>
            </a:r>
          </a:p>
          <a:p>
            <a:pPr marL="285750" indent="-285750">
              <a:buFont typeface="Arial" panose="020B0604020202020204" pitchFamily="34" charset="0"/>
              <a:buChar char="•"/>
            </a:pPr>
            <a:r>
              <a:rPr lang="en-AU" sz="1800" dirty="0">
                <a:latin typeface="Arial" panose="020B0604020202020204" pitchFamily="34" charset="0"/>
                <a:cs typeface="Arial" panose="020B0604020202020204" pitchFamily="34" charset="0"/>
              </a:rPr>
              <a:t>After firstly using the small business 50% active asset reduction (if you choose to apply it), and then the 50% CGT discount (if applicable), or</a:t>
            </a:r>
          </a:p>
          <a:p>
            <a:pPr marL="285750" indent="-285750">
              <a:buFont typeface="Arial" panose="020B0604020202020204" pitchFamily="34" charset="0"/>
              <a:buChar char="•"/>
            </a:pPr>
            <a:r>
              <a:rPr lang="en-AU" sz="1800" dirty="0">
                <a:latin typeface="Arial" panose="020B0604020202020204" pitchFamily="34" charset="0"/>
                <a:cs typeface="Arial" panose="020B0604020202020204" pitchFamily="34" charset="0"/>
              </a:rPr>
              <a:t>After you've applied any capital losses and CGT discount (if applicable)</a:t>
            </a:r>
          </a:p>
        </p:txBody>
      </p:sp>
    </p:spTree>
    <p:extLst>
      <p:ext uri="{BB962C8B-B14F-4D97-AF65-F5344CB8AC3E}">
        <p14:creationId xmlns:p14="http://schemas.microsoft.com/office/powerpoint/2010/main" val="2265657426"/>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22733" y="300943"/>
            <a:ext cx="5954917" cy="1256312"/>
          </a:xfrm>
        </p:spPr>
        <p:txBody>
          <a:bodyPr/>
          <a:lstStyle/>
          <a:p>
            <a:r>
              <a:rPr lang="en-US" dirty="0">
                <a:solidFill>
                  <a:srgbClr val="0070C0"/>
                </a:solidFill>
                <a:latin typeface="Calibri" panose="020F0502020204030204" pitchFamily="34" charset="0"/>
                <a:cs typeface="Calibri" panose="020F0502020204030204" pitchFamily="34" charset="0"/>
              </a:rPr>
              <a:t>Small Business Retirement Exemption</a:t>
            </a:r>
          </a:p>
        </p:txBody>
      </p:sp>
      <p:sp>
        <p:nvSpPr>
          <p:cNvPr id="2" name="Text Placeholder 1"/>
          <p:cNvSpPr>
            <a:spLocks noGrp="1"/>
          </p:cNvSpPr>
          <p:nvPr>
            <p:ph type="body" idx="1"/>
          </p:nvPr>
        </p:nvSpPr>
        <p:spPr>
          <a:xfrm>
            <a:off x="667206" y="1901079"/>
            <a:ext cx="7809588" cy="4794874"/>
          </a:xfrm>
        </p:spPr>
        <p:txBody>
          <a:bodyPr/>
          <a:lstStyle/>
          <a:p>
            <a:r>
              <a:rPr lang="en-AU" sz="1800" b="1" dirty="0">
                <a:latin typeface="Arial" panose="020B0604020202020204" pitchFamily="34" charset="0"/>
                <a:cs typeface="Arial" panose="020B0604020202020204" pitchFamily="34" charset="0"/>
              </a:rPr>
              <a:t>Conditions for individuals:</a:t>
            </a:r>
          </a:p>
          <a:p>
            <a:r>
              <a:rPr lang="en-AU" sz="1800" dirty="0">
                <a:latin typeface="Arial" panose="020B0604020202020204" pitchFamily="34" charset="0"/>
                <a:cs typeface="Arial" panose="020B0604020202020204" pitchFamily="34" charset="0"/>
              </a:rPr>
              <a:t>You can choose to disregard all or part of a capital gain if:</a:t>
            </a:r>
          </a:p>
          <a:p>
            <a:pPr marL="285750" indent="-285750">
              <a:buFont typeface="Wingdings" panose="05000000000000000000" pitchFamily="2" charset="2"/>
              <a:buChar char="q"/>
            </a:pPr>
            <a:r>
              <a:rPr lang="en-AU" sz="1800" dirty="0">
                <a:latin typeface="Arial" panose="020B0604020202020204" pitchFamily="34" charset="0"/>
                <a:cs typeface="Arial" panose="020B0604020202020204" pitchFamily="34" charset="0"/>
              </a:rPr>
              <a:t>You satisfy the basic conditions for the small business CGT concessions (mentioned earlier)</a:t>
            </a:r>
          </a:p>
          <a:p>
            <a:pPr marL="285750" indent="-285750">
              <a:buFont typeface="Wingdings" panose="05000000000000000000" pitchFamily="2" charset="2"/>
              <a:buChar char="q"/>
            </a:pPr>
            <a:r>
              <a:rPr lang="en-AU" sz="1800" dirty="0">
                <a:latin typeface="Arial" panose="020B0604020202020204" pitchFamily="34" charset="0"/>
                <a:cs typeface="Arial" panose="020B0604020202020204" pitchFamily="34" charset="0"/>
              </a:rPr>
              <a:t>You keep a written record of the amount you chose to disregard (the CGT exempt amount), and</a:t>
            </a:r>
          </a:p>
          <a:p>
            <a:pPr marL="285750" indent="-285750">
              <a:buFont typeface="Wingdings" panose="05000000000000000000" pitchFamily="2" charset="2"/>
              <a:buChar char="q"/>
            </a:pPr>
            <a:r>
              <a:rPr lang="en-AU" sz="1800" dirty="0">
                <a:latin typeface="Arial" panose="020B0604020202020204" pitchFamily="34" charset="0"/>
                <a:cs typeface="Arial" panose="020B0604020202020204" pitchFamily="34" charset="0"/>
              </a:rPr>
              <a:t>If you're under 55 years old just before you choose to use the retirement exemption, you </a:t>
            </a:r>
            <a:r>
              <a:rPr lang="en-AU" sz="1800" u="sng" dirty="0">
                <a:latin typeface="Arial" panose="020B0604020202020204" pitchFamily="34" charset="0"/>
                <a:cs typeface="Arial" panose="020B0604020202020204" pitchFamily="34" charset="0"/>
              </a:rPr>
              <a:t>make a personal contribution equal to the exempt amount </a:t>
            </a:r>
            <a:r>
              <a:rPr lang="en-AU" sz="1800" dirty="0">
                <a:latin typeface="Arial" panose="020B0604020202020204" pitchFamily="34" charset="0"/>
                <a:cs typeface="Arial" panose="020B0604020202020204" pitchFamily="34" charset="0"/>
              </a:rPr>
              <a:t>to a complying super fund</a:t>
            </a:r>
          </a:p>
          <a:p>
            <a:pPr marL="793750" lvl="1" indent="-285750">
              <a:buFont typeface="Arial" panose="020B0604020202020204" pitchFamily="34" charset="0"/>
              <a:buChar char="•"/>
            </a:pPr>
            <a:r>
              <a:rPr lang="en-AU" sz="1800" dirty="0">
                <a:latin typeface="Arial" panose="020B0604020202020204" pitchFamily="34" charset="0"/>
                <a:cs typeface="Arial" panose="020B0604020202020204" pitchFamily="34" charset="0"/>
              </a:rPr>
              <a:t>You are not required to make the contribution until your tax return is lodged. Accordingly, you may use the capital proceeds for other purposes before lodging the return. However, once it is lodged, you must immediately make a contribution of an amount equal to the exempt amount.</a:t>
            </a:r>
          </a:p>
        </p:txBody>
      </p:sp>
    </p:spTree>
    <p:extLst>
      <p:ext uri="{BB962C8B-B14F-4D97-AF65-F5344CB8AC3E}">
        <p14:creationId xmlns:p14="http://schemas.microsoft.com/office/powerpoint/2010/main" val="491852669"/>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457" y="208346"/>
            <a:ext cx="5954917" cy="1256312"/>
          </a:xfrm>
        </p:spPr>
        <p:txBody>
          <a:bodyPr/>
          <a:lstStyle/>
          <a:p>
            <a:r>
              <a:rPr lang="en-US" dirty="0">
                <a:solidFill>
                  <a:srgbClr val="0070C0"/>
                </a:solidFill>
                <a:latin typeface="Calibri" panose="020F0502020204030204" pitchFamily="34" charset="0"/>
                <a:cs typeface="Calibri" panose="020F0502020204030204" pitchFamily="34" charset="0"/>
              </a:rPr>
              <a:t>Small Business Retirement Exemption</a:t>
            </a:r>
          </a:p>
        </p:txBody>
      </p:sp>
      <p:sp>
        <p:nvSpPr>
          <p:cNvPr id="2" name="Text Placeholder 1"/>
          <p:cNvSpPr>
            <a:spLocks noGrp="1"/>
          </p:cNvSpPr>
          <p:nvPr>
            <p:ph type="body" idx="1"/>
          </p:nvPr>
        </p:nvSpPr>
        <p:spPr>
          <a:xfrm>
            <a:off x="667206" y="1296365"/>
            <a:ext cx="7809588" cy="5055764"/>
          </a:xfrm>
        </p:spPr>
        <p:txBody>
          <a:bodyPr/>
          <a:lstStyle/>
          <a:p>
            <a:r>
              <a:rPr lang="en-AU" sz="1800" b="1" dirty="0">
                <a:latin typeface="Arial" panose="020B0604020202020204" pitchFamily="34" charset="0"/>
                <a:cs typeface="Arial" panose="020B0604020202020204" pitchFamily="34" charset="0"/>
              </a:rPr>
              <a:t>Conditions for companies and trusts:</a:t>
            </a:r>
          </a:p>
          <a:p>
            <a:r>
              <a:rPr lang="en-AU" sz="1800" dirty="0">
                <a:latin typeface="Arial" panose="020B0604020202020204" pitchFamily="34" charset="0"/>
                <a:cs typeface="Arial" panose="020B0604020202020204" pitchFamily="34" charset="0"/>
              </a:rPr>
              <a:t>You can choose to disregard all or part of a capital gain if:</a:t>
            </a:r>
          </a:p>
          <a:p>
            <a:pPr marL="285750" indent="-285750">
              <a:buFont typeface="Wingdings" panose="05000000000000000000" pitchFamily="2" charset="2"/>
              <a:buChar char="q"/>
            </a:pPr>
            <a:r>
              <a:rPr lang="en-AU" sz="1800" dirty="0">
                <a:latin typeface="Arial" panose="020B0604020202020204" pitchFamily="34" charset="0"/>
                <a:cs typeface="Arial" panose="020B0604020202020204" pitchFamily="34" charset="0"/>
              </a:rPr>
              <a:t>You satisfy the basic conditions</a:t>
            </a:r>
          </a:p>
          <a:p>
            <a:pPr marL="285750" indent="-285750">
              <a:buFont typeface="Wingdings" panose="05000000000000000000" pitchFamily="2" charset="2"/>
              <a:buChar char="q"/>
            </a:pPr>
            <a:r>
              <a:rPr lang="en-AU" sz="1800" dirty="0">
                <a:latin typeface="Arial" panose="020B0604020202020204" pitchFamily="34" charset="0"/>
                <a:cs typeface="Arial" panose="020B0604020202020204" pitchFamily="34" charset="0"/>
              </a:rPr>
              <a:t>You satisfy the significant individual test (as mentioned earlier)</a:t>
            </a:r>
          </a:p>
          <a:p>
            <a:pPr marL="285750" indent="-285750">
              <a:buFont typeface="Wingdings" panose="05000000000000000000" pitchFamily="2" charset="2"/>
              <a:buChar char="q"/>
            </a:pPr>
            <a:r>
              <a:rPr lang="en-AU" sz="1800" dirty="0">
                <a:latin typeface="Arial" panose="020B0604020202020204" pitchFamily="34" charset="0"/>
                <a:cs typeface="Arial" panose="020B0604020202020204" pitchFamily="34" charset="0"/>
              </a:rPr>
              <a:t>You keep a written record of the amount you choose to disregard (the exempt amount) and, if there is more than one CGT concession stakeholder, each stakeholder’s percentage of the exempt amount (one may be nil, but together they must add up to 100%)</a:t>
            </a:r>
          </a:p>
          <a:p>
            <a:pPr marL="285750" indent="-285750">
              <a:buFont typeface="Wingdings" panose="05000000000000000000" pitchFamily="2" charset="2"/>
              <a:buChar char="q"/>
            </a:pPr>
            <a:r>
              <a:rPr lang="en-AU" sz="1800" dirty="0">
                <a:latin typeface="Arial" panose="020B0604020202020204" pitchFamily="34" charset="0"/>
                <a:cs typeface="Arial" panose="020B0604020202020204" pitchFamily="34" charset="0"/>
              </a:rPr>
              <a:t>You make a payment to at least one of your CGT concession stakeholders worked out by reference to each individual’s percentage of the exempt amount</a:t>
            </a:r>
          </a:p>
          <a:p>
            <a:pPr marL="285750" indent="-285750">
              <a:buFont typeface="Wingdings" panose="05000000000000000000" pitchFamily="2" charset="2"/>
              <a:buChar char="q"/>
            </a:pPr>
            <a:r>
              <a:rPr lang="en-AU" sz="1800" dirty="0">
                <a:latin typeface="Arial" panose="020B0604020202020204" pitchFamily="34" charset="0"/>
                <a:cs typeface="Arial" panose="020B0604020202020204" pitchFamily="34" charset="0"/>
              </a:rPr>
              <a:t>The payment is equal to the exempt amount or the amount of capital proceeds, whichever is less</a:t>
            </a:r>
          </a:p>
          <a:p>
            <a:pPr marL="285750" indent="-285750">
              <a:buFont typeface="Arial" panose="020B0604020202020204" pitchFamily="34" charset="0"/>
              <a:buChar char="•"/>
            </a:pPr>
            <a:r>
              <a:rPr lang="en-AU" sz="1800" dirty="0">
                <a:latin typeface="Arial" panose="020B0604020202020204" pitchFamily="34" charset="0"/>
                <a:cs typeface="Arial" panose="020B0604020202020204" pitchFamily="34" charset="0"/>
              </a:rPr>
              <a:t>Payment is made by the later of</a:t>
            </a:r>
          </a:p>
          <a:p>
            <a:pPr marL="793750" lvl="1" indent="-285750">
              <a:buFont typeface="Wingdings" panose="05000000000000000000" pitchFamily="2" charset="2"/>
              <a:buChar char="q"/>
            </a:pPr>
            <a:r>
              <a:rPr lang="en-AU" sz="1800" dirty="0">
                <a:latin typeface="Arial" panose="020B0604020202020204" pitchFamily="34" charset="0"/>
                <a:cs typeface="Arial" panose="020B0604020202020204" pitchFamily="34" charset="0"/>
              </a:rPr>
              <a:t>seven days after you choose to disregard the capital gain</a:t>
            </a:r>
          </a:p>
          <a:p>
            <a:pPr marL="793750" lvl="1" indent="-285750">
              <a:buFont typeface="Wingdings" panose="05000000000000000000" pitchFamily="2" charset="2"/>
              <a:buChar char="q"/>
            </a:pPr>
            <a:r>
              <a:rPr lang="en-AU" sz="1800" dirty="0">
                <a:latin typeface="Arial" panose="020B0604020202020204" pitchFamily="34" charset="0"/>
                <a:cs typeface="Arial" panose="020B0604020202020204" pitchFamily="34" charset="0"/>
              </a:rPr>
              <a:t>seven days after you receive the capital proceeds from the CGT event.</a:t>
            </a:r>
          </a:p>
        </p:txBody>
      </p:sp>
    </p:spTree>
    <p:extLst>
      <p:ext uri="{BB962C8B-B14F-4D97-AF65-F5344CB8AC3E}">
        <p14:creationId xmlns:p14="http://schemas.microsoft.com/office/powerpoint/2010/main" val="2287254466"/>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839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Small Business Rollover	</a:t>
            </a:r>
          </a:p>
        </p:txBody>
      </p:sp>
      <p:sp>
        <p:nvSpPr>
          <p:cNvPr id="2" name="Text Placeholder 1"/>
          <p:cNvSpPr>
            <a:spLocks noGrp="1"/>
          </p:cNvSpPr>
          <p:nvPr>
            <p:ph type="body" idx="1"/>
          </p:nvPr>
        </p:nvSpPr>
        <p:spPr>
          <a:xfrm>
            <a:off x="573206" y="1512142"/>
            <a:ext cx="7809588" cy="4794874"/>
          </a:xfrm>
        </p:spPr>
        <p:txBody>
          <a:bodyPr/>
          <a:lstStyle/>
          <a:p>
            <a:r>
              <a:rPr lang="en-AU" sz="1800" dirty="0"/>
              <a:t>The small business rollover allows you to defer all or part of a capital gain made from a CGT event happening to an active asset.</a:t>
            </a:r>
          </a:p>
          <a:p>
            <a:endParaRPr lang="en-AU" sz="1800" dirty="0"/>
          </a:p>
          <a:p>
            <a:r>
              <a:rPr lang="en-AU" sz="1800" dirty="0"/>
              <a:t>You may apply this small business rollover concession:</a:t>
            </a:r>
          </a:p>
          <a:p>
            <a:pPr marL="285750" indent="-285750">
              <a:buFont typeface="Arial" panose="020B0604020202020204" pitchFamily="34" charset="0"/>
              <a:buChar char="•"/>
            </a:pPr>
            <a:r>
              <a:rPr lang="en-AU" sz="1800" dirty="0"/>
              <a:t>After firstly using the small business 50% active asset reduction (if you choose to apply it), and then the 50% CGT discount (if applicable), or</a:t>
            </a:r>
          </a:p>
          <a:p>
            <a:pPr marL="285750" indent="-285750">
              <a:buFont typeface="Arial" panose="020B0604020202020204" pitchFamily="34" charset="0"/>
              <a:buChar char="•"/>
            </a:pPr>
            <a:r>
              <a:rPr lang="en-AU" sz="1800" dirty="0"/>
              <a:t>After you've applied any capital losses and CGT discount (if applicable)</a:t>
            </a:r>
          </a:p>
          <a:p>
            <a:pPr marL="285750" indent="-285750">
              <a:buFont typeface="Arial" panose="020B0604020202020204" pitchFamily="34" charset="0"/>
              <a:buChar char="•"/>
            </a:pPr>
            <a:endParaRPr lang="en-AU" sz="1800" dirty="0"/>
          </a:p>
          <a:p>
            <a:r>
              <a:rPr lang="en-AU" sz="1800" dirty="0"/>
              <a:t>If you choose the rollover, the capital gain will not be included in your assessable income.</a:t>
            </a: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59088491"/>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839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Small Business Rollover	</a:t>
            </a:r>
          </a:p>
        </p:txBody>
      </p:sp>
      <p:sp>
        <p:nvSpPr>
          <p:cNvPr id="2" name="Text Placeholder 1"/>
          <p:cNvSpPr>
            <a:spLocks noGrp="1"/>
          </p:cNvSpPr>
          <p:nvPr>
            <p:ph type="body" idx="1"/>
          </p:nvPr>
        </p:nvSpPr>
        <p:spPr>
          <a:xfrm>
            <a:off x="573206" y="1512142"/>
            <a:ext cx="7809588" cy="4794874"/>
          </a:xfrm>
        </p:spPr>
        <p:txBody>
          <a:bodyPr/>
          <a:lstStyle/>
          <a:p>
            <a:r>
              <a:rPr lang="en-AU" sz="1800" b="1" dirty="0"/>
              <a:t>Conditions:</a:t>
            </a:r>
          </a:p>
          <a:p>
            <a:pPr marL="285750" indent="-285750">
              <a:buFont typeface="Arial" panose="020B0604020202020204" pitchFamily="34" charset="0"/>
              <a:buChar char="•"/>
            </a:pPr>
            <a:r>
              <a:rPr lang="en-AU" sz="1800" dirty="0"/>
              <a:t>To qualify for the small business rollover, you need to satisfy the </a:t>
            </a:r>
            <a:r>
              <a:rPr lang="en-AU" sz="1800" b="1" dirty="0"/>
              <a:t>basic conditions</a:t>
            </a:r>
            <a:r>
              <a:rPr lang="en-AU" sz="1800" dirty="0"/>
              <a:t> for the small business CGT concessions. </a:t>
            </a:r>
          </a:p>
          <a:p>
            <a:pPr marL="285750" indent="-285750">
              <a:buFont typeface="Arial" panose="020B0604020202020204" pitchFamily="34" charset="0"/>
              <a:buChar char="•"/>
            </a:pPr>
            <a:r>
              <a:rPr lang="en-AU" sz="1800" dirty="0"/>
              <a:t>You can choose to obtain a rollover </a:t>
            </a:r>
            <a:r>
              <a:rPr lang="en-AU" sz="1800" u="sng" dirty="0"/>
              <a:t>even if you haven't yet acquired a replacement asset or incurred expenditure on a capital improvement to an existing asset.</a:t>
            </a:r>
          </a:p>
          <a:p>
            <a:pPr marL="285750" indent="-285750">
              <a:buFont typeface="Arial" panose="020B0604020202020204" pitchFamily="34" charset="0"/>
              <a:buChar char="•"/>
            </a:pPr>
            <a:endParaRPr lang="en-AU" sz="1800" u="sng" dirty="0"/>
          </a:p>
          <a:p>
            <a:endParaRPr lang="en-AU" sz="1800" u="sng" dirty="0"/>
          </a:p>
          <a:p>
            <a:endParaRPr lang="en-AU"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0523531"/>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839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Small Business Rollover	</a:t>
            </a:r>
          </a:p>
        </p:txBody>
      </p:sp>
      <p:sp>
        <p:nvSpPr>
          <p:cNvPr id="2" name="Text Placeholder 1"/>
          <p:cNvSpPr>
            <a:spLocks noGrp="1"/>
          </p:cNvSpPr>
          <p:nvPr>
            <p:ph type="body" idx="1"/>
          </p:nvPr>
        </p:nvSpPr>
        <p:spPr>
          <a:xfrm>
            <a:off x="573206" y="1512142"/>
            <a:ext cx="7809588" cy="4794874"/>
          </a:xfrm>
        </p:spPr>
        <p:txBody>
          <a:bodyPr/>
          <a:lstStyle/>
          <a:p>
            <a:r>
              <a:rPr lang="en-AU" sz="1800" b="1" dirty="0"/>
              <a:t>What happens after you elect to rollover?</a:t>
            </a:r>
          </a:p>
          <a:p>
            <a:r>
              <a:rPr lang="en-AU" sz="1800" dirty="0"/>
              <a:t>You need to acquire a replacement asset or make capital improvements to existing assets within the replacement asset period. </a:t>
            </a:r>
          </a:p>
          <a:p>
            <a:endParaRPr lang="en-AU" sz="1800" dirty="0"/>
          </a:p>
          <a:p>
            <a:r>
              <a:rPr lang="en-AU" sz="1800" dirty="0"/>
              <a:t>This period starts one year before the last CGT event in the income year for which you obtained the rollover and ends at the later of:</a:t>
            </a:r>
          </a:p>
          <a:p>
            <a:pPr marL="285750" indent="-285750">
              <a:buFont typeface="Arial" panose="020B0604020202020204" pitchFamily="34" charset="0"/>
              <a:buChar char="•"/>
            </a:pPr>
            <a:r>
              <a:rPr lang="en-AU" sz="1800" dirty="0"/>
              <a:t>two years after that last CGT event</a:t>
            </a:r>
          </a:p>
          <a:p>
            <a:pPr marL="285750" indent="-285750">
              <a:buFont typeface="Arial" panose="020B0604020202020204" pitchFamily="34" charset="0"/>
              <a:buChar char="•"/>
            </a:pPr>
            <a:r>
              <a:rPr lang="en-AU" sz="1800" dirty="0"/>
              <a:t>six months after the latest time a possible financial benefit becomes or could become due under a look-through earnout right relating to the CGT asset and the disposal.</a:t>
            </a:r>
          </a:p>
          <a:p>
            <a:endParaRPr lang="en-AU" sz="1800" u="sng" dirty="0"/>
          </a:p>
          <a:p>
            <a:endParaRPr lang="en-AU"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78825377"/>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839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Small Business Rollover	</a:t>
            </a:r>
          </a:p>
        </p:txBody>
      </p:sp>
      <p:sp>
        <p:nvSpPr>
          <p:cNvPr id="2" name="Text Placeholder 1"/>
          <p:cNvSpPr>
            <a:spLocks noGrp="1"/>
          </p:cNvSpPr>
          <p:nvPr>
            <p:ph type="body" idx="1"/>
          </p:nvPr>
        </p:nvSpPr>
        <p:spPr>
          <a:xfrm>
            <a:off x="573206" y="1512142"/>
            <a:ext cx="7809588" cy="4794874"/>
          </a:xfrm>
        </p:spPr>
        <p:txBody>
          <a:bodyPr/>
          <a:lstStyle/>
          <a:p>
            <a:r>
              <a:rPr lang="en-AU" sz="1800" b="1" dirty="0"/>
              <a:t>Further CGT events will happen, and a capital gain will arise, if:</a:t>
            </a:r>
          </a:p>
          <a:p>
            <a:pPr marL="285750" indent="-285750">
              <a:buFont typeface="Arial" panose="020B0604020202020204" pitchFamily="34" charset="0"/>
              <a:buChar char="•"/>
            </a:pPr>
            <a:r>
              <a:rPr lang="en-AU" sz="1800" dirty="0"/>
              <a:t>You don't acquire the replacement assets or make capital improvements to existing assets within the replacement asset period, or the assets are not active assets at the end of that period (CGT event J5). The time of the CGT event is </a:t>
            </a:r>
            <a:r>
              <a:rPr lang="en-AU" sz="1800" u="sng" dirty="0"/>
              <a:t>at the end of the replacement period</a:t>
            </a:r>
            <a:r>
              <a:rPr lang="en-AU" sz="1800" dirty="0"/>
              <a:t>. </a:t>
            </a:r>
          </a:p>
          <a:p>
            <a:pPr marL="285750" indent="-285750">
              <a:buFont typeface="Arial" panose="020B0604020202020204" pitchFamily="34" charset="0"/>
              <a:buChar char="•"/>
            </a:pPr>
            <a:r>
              <a:rPr lang="en-AU" sz="1800" dirty="0"/>
              <a:t>The rollover amount is greater than your expenditure on the replacement asset or capital improved asset (CGT event J6)</a:t>
            </a:r>
          </a:p>
          <a:p>
            <a:pPr marL="285750" indent="-285750">
              <a:buFont typeface="Arial" panose="020B0604020202020204" pitchFamily="34" charset="0"/>
              <a:buChar char="•"/>
            </a:pPr>
            <a:r>
              <a:rPr lang="en-AU" sz="1800" dirty="0"/>
              <a:t>After the end of the replacement asset period, there's a change in the status of a replacement or capital improved asset you chose for the small business rollover (CGT event J2). E.g. You dispose of the replacement asset or you stop using it ready for use in your business. The timing of this CGT event is when the change happens. </a:t>
            </a:r>
          </a:p>
          <a:p>
            <a:endParaRPr lang="en-AU" sz="1800" u="sng" dirty="0"/>
          </a:p>
          <a:p>
            <a:endParaRPr lang="en-AU"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87617437"/>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839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Small Business Rollover	</a:t>
            </a:r>
          </a:p>
        </p:txBody>
      </p:sp>
      <p:sp>
        <p:nvSpPr>
          <p:cNvPr id="2" name="Text Placeholder 1"/>
          <p:cNvSpPr>
            <a:spLocks noGrp="1"/>
          </p:cNvSpPr>
          <p:nvPr>
            <p:ph type="body" idx="1"/>
          </p:nvPr>
        </p:nvSpPr>
        <p:spPr>
          <a:xfrm>
            <a:off x="573206" y="1512142"/>
            <a:ext cx="7809588" cy="4794874"/>
          </a:xfrm>
        </p:spPr>
        <p:txBody>
          <a:bodyPr/>
          <a:lstStyle/>
          <a:p>
            <a:r>
              <a:rPr lang="en-AU" sz="1800" b="1" dirty="0"/>
              <a:t>Example:</a:t>
            </a:r>
          </a:p>
          <a:p>
            <a:r>
              <a:rPr lang="en-AU" sz="1800" dirty="0"/>
              <a:t>In September 2014, Jacquie made a capital gain of $80,000 on an active asset and met the maximum net asset value test. Jacquie disregarded the whole capital gain under the small business rollover.</a:t>
            </a:r>
          </a:p>
          <a:p>
            <a:endParaRPr lang="en-AU" sz="1800" dirty="0"/>
          </a:p>
          <a:p>
            <a:r>
              <a:rPr lang="en-AU" sz="1800" dirty="0"/>
              <a:t>In September 2016 (the end of the two-year period), Jacquie did not have any replacement or capital improved assets. CGT event J5 happens and Jacquie makes a capital gain of $80,000 in September 2016.</a:t>
            </a:r>
          </a:p>
          <a:p>
            <a:endParaRPr lang="en-AU" sz="1800" u="sng" dirty="0"/>
          </a:p>
          <a:p>
            <a:endParaRPr lang="en-AU"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5379126"/>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6078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Small Business Restructure Rollover	</a:t>
            </a:r>
          </a:p>
        </p:txBody>
      </p:sp>
      <p:sp>
        <p:nvSpPr>
          <p:cNvPr id="2" name="Text Placeholder 1"/>
          <p:cNvSpPr>
            <a:spLocks noGrp="1"/>
          </p:cNvSpPr>
          <p:nvPr>
            <p:ph type="body" idx="1"/>
          </p:nvPr>
        </p:nvSpPr>
        <p:spPr>
          <a:xfrm>
            <a:off x="573206" y="1512142"/>
            <a:ext cx="7809588" cy="4794874"/>
          </a:xfrm>
        </p:spPr>
        <p:txBody>
          <a:bodyPr/>
          <a:lstStyle/>
          <a:p>
            <a:r>
              <a:rPr lang="en-AU" sz="1800" dirty="0"/>
              <a:t>This rollover allows small businesses to transfer active assets from one entity (the transferor) to one or more other entities (transferees), on or after 1 July 2016, without incurring an income tax liability.</a:t>
            </a:r>
          </a:p>
          <a:p>
            <a:endParaRPr lang="en-AU" sz="1800" dirty="0"/>
          </a:p>
          <a:p>
            <a:r>
              <a:rPr lang="en-AU" sz="1800" dirty="0"/>
              <a:t>This applies to the transfer of active assets that are capital gains tax (CGT) assets, trading stock, revenue assets or depreciating assets.</a:t>
            </a:r>
          </a:p>
          <a:p>
            <a:endParaRPr lang="en-AU" sz="1800" dirty="0"/>
          </a:p>
          <a:p>
            <a:r>
              <a:rPr lang="en-AU" sz="1800" dirty="0"/>
              <a:t>You can access this concession if your aggregated turnover is less than $10 million. There must be no change in ultimate economic ownership of transferred assets. </a:t>
            </a:r>
          </a:p>
          <a:p>
            <a:endParaRPr lang="en-AU" sz="1800" dirty="0"/>
          </a:p>
          <a:p>
            <a:endParaRPr lang="en-AU"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36190472"/>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6078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Small Business Restructure Rollover	</a:t>
            </a:r>
          </a:p>
        </p:txBody>
      </p:sp>
      <p:sp>
        <p:nvSpPr>
          <p:cNvPr id="2" name="Text Placeholder 1"/>
          <p:cNvSpPr>
            <a:spLocks noGrp="1"/>
          </p:cNvSpPr>
          <p:nvPr>
            <p:ph type="body" idx="1"/>
          </p:nvPr>
        </p:nvSpPr>
        <p:spPr>
          <a:xfrm>
            <a:off x="573206" y="1512142"/>
            <a:ext cx="7809588" cy="4794874"/>
          </a:xfrm>
        </p:spPr>
        <p:txBody>
          <a:bodyPr/>
          <a:lstStyle/>
          <a:p>
            <a:r>
              <a:rPr lang="en-AU" sz="1800" b="1" dirty="0"/>
              <a:t>Eligible entities</a:t>
            </a:r>
          </a:p>
          <a:p>
            <a:r>
              <a:rPr lang="en-AU" sz="1800" dirty="0"/>
              <a:t>The rollover applies if each party to the transfer is one of the following in the income year in which the transfer occurs:</a:t>
            </a:r>
          </a:p>
          <a:p>
            <a:pPr marL="285750" indent="-285750">
              <a:buFont typeface="Arial" panose="020B0604020202020204" pitchFamily="34" charset="0"/>
              <a:buChar char="•"/>
            </a:pPr>
            <a:r>
              <a:rPr lang="en-AU" sz="1800" dirty="0"/>
              <a:t>A small business entity</a:t>
            </a:r>
          </a:p>
          <a:p>
            <a:pPr marL="285750" indent="-285750">
              <a:buFont typeface="Arial" panose="020B0604020202020204" pitchFamily="34" charset="0"/>
              <a:buChar char="•"/>
            </a:pPr>
            <a:r>
              <a:rPr lang="en-AU" sz="1800" dirty="0"/>
              <a:t>An entity that has an affiliate that is a small business entity</a:t>
            </a:r>
          </a:p>
          <a:p>
            <a:pPr marL="285750" indent="-285750">
              <a:buFont typeface="Arial" panose="020B0604020202020204" pitchFamily="34" charset="0"/>
              <a:buChar char="•"/>
            </a:pPr>
            <a:r>
              <a:rPr lang="en-AU" sz="1800" dirty="0"/>
              <a:t>An entity that is connected with a small business entity</a:t>
            </a:r>
          </a:p>
          <a:p>
            <a:pPr marL="285750" indent="-285750">
              <a:buFont typeface="Arial" panose="020B0604020202020204" pitchFamily="34" charset="0"/>
              <a:buChar char="•"/>
            </a:pPr>
            <a:r>
              <a:rPr lang="en-AU" sz="1800" dirty="0"/>
              <a:t>A partner in a partnership that is a small business entity.</a:t>
            </a:r>
          </a:p>
          <a:p>
            <a:endParaRPr lang="en-AU" sz="1800" dirty="0"/>
          </a:p>
          <a:p>
            <a:endParaRPr lang="en-AU"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20298066"/>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6078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Small Business Restructure Rollover	</a:t>
            </a:r>
          </a:p>
        </p:txBody>
      </p:sp>
      <p:sp>
        <p:nvSpPr>
          <p:cNvPr id="2" name="Text Placeholder 1"/>
          <p:cNvSpPr>
            <a:spLocks noGrp="1"/>
          </p:cNvSpPr>
          <p:nvPr>
            <p:ph type="body" idx="1"/>
          </p:nvPr>
        </p:nvSpPr>
        <p:spPr>
          <a:xfrm>
            <a:off x="573206" y="1395207"/>
            <a:ext cx="7809588" cy="4794874"/>
          </a:xfrm>
        </p:spPr>
        <p:txBody>
          <a:bodyPr numCol="2"/>
          <a:lstStyle/>
          <a:p>
            <a:r>
              <a:rPr lang="en-AU" sz="1800" b="1" dirty="0"/>
              <a:t>Example:</a:t>
            </a:r>
          </a:p>
          <a:p>
            <a:r>
              <a:rPr lang="en-AU" sz="1600" dirty="0"/>
              <a:t>Amy, Joanna and Remy run a delivery business as </a:t>
            </a:r>
            <a:r>
              <a:rPr lang="en-AU" sz="1600" u="sng" dirty="0"/>
              <a:t>equal</a:t>
            </a:r>
            <a:r>
              <a:rPr lang="en-AU" sz="1600" dirty="0"/>
              <a:t> partners and want to transfer their interests in the assets of the partnership to a company. Joanna and Remy are a couple.</a:t>
            </a:r>
          </a:p>
          <a:p>
            <a:r>
              <a:rPr lang="en-AU" sz="1600" dirty="0"/>
              <a:t>Amy, Joanna and Remy establish a company, whereby 300 identical shares are issued:</a:t>
            </a:r>
          </a:p>
          <a:p>
            <a:pPr marL="285750" indent="-285750">
              <a:buFont typeface="Arial" panose="020B0604020202020204" pitchFamily="34" charset="0"/>
              <a:buChar char="•"/>
            </a:pPr>
            <a:r>
              <a:rPr lang="en-AU" sz="1600" dirty="0"/>
              <a:t>100 shares are issued to Amy</a:t>
            </a:r>
          </a:p>
          <a:p>
            <a:pPr marL="285750" indent="-285750">
              <a:buFont typeface="Arial" panose="020B0604020202020204" pitchFamily="34" charset="0"/>
              <a:buChar char="•"/>
            </a:pPr>
            <a:r>
              <a:rPr lang="en-AU" sz="1600" dirty="0"/>
              <a:t>150 shares are issued to Joanna</a:t>
            </a:r>
          </a:p>
          <a:p>
            <a:pPr marL="285750" indent="-285750">
              <a:buFont typeface="Arial" panose="020B0604020202020204" pitchFamily="34" charset="0"/>
              <a:buChar char="•"/>
            </a:pPr>
            <a:r>
              <a:rPr lang="en-AU" sz="1600" dirty="0"/>
              <a:t>50 shares are issued to Remy.</a:t>
            </a:r>
          </a:p>
          <a:p>
            <a:endParaRPr lang="en-AU" sz="1600" dirty="0"/>
          </a:p>
          <a:p>
            <a:r>
              <a:rPr lang="en-AU" sz="1600" dirty="0"/>
              <a:t>This is because Remy has other income and Joanna and Remy, as a couple, want to lower their overall income tax bill.</a:t>
            </a:r>
          </a:p>
          <a:p>
            <a:r>
              <a:rPr lang="en-AU" sz="1600" dirty="0"/>
              <a:t>While this doesn’t change the individuals who have the ultimate economic ownership of the asset, there is a change in the proportionate share of that ultimate economic ownership. Accordingly, Amy, Joanna and Remy cannot use the small business restructure rollover.</a:t>
            </a:r>
          </a:p>
          <a:p>
            <a:r>
              <a:rPr lang="en-AU" sz="1600" dirty="0"/>
              <a:t>However, if the shares were distributed equally between the partners, the ultimate economic ownership of the assets would be unchanged, and Amy, Joanna and Remy could use the rollover, subject to satisfying the other conditions.</a:t>
            </a:r>
          </a:p>
          <a:p>
            <a:endParaRPr lang="en-AU" sz="2000" dirty="0"/>
          </a:p>
          <a:p>
            <a:endParaRPr lang="en-AU" sz="2800" dirty="0">
              <a:latin typeface="Calibri" panose="020F0502020204030204" pitchFamily="34" charset="0"/>
              <a:cs typeface="Calibri" panose="020F0502020204030204" pitchFamily="34" charset="0"/>
            </a:endParaRPr>
          </a:p>
          <a:p>
            <a:endParaRPr lang="en-AU" sz="2800"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7435433"/>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6078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Small Business Restructure Rollover	</a:t>
            </a:r>
          </a:p>
        </p:txBody>
      </p:sp>
      <p:sp>
        <p:nvSpPr>
          <p:cNvPr id="2" name="Text Placeholder 1"/>
          <p:cNvSpPr>
            <a:spLocks noGrp="1"/>
          </p:cNvSpPr>
          <p:nvPr>
            <p:ph type="body" idx="1"/>
          </p:nvPr>
        </p:nvSpPr>
        <p:spPr>
          <a:xfrm>
            <a:off x="573206" y="1395207"/>
            <a:ext cx="7809588" cy="4794874"/>
          </a:xfrm>
        </p:spPr>
        <p:txBody>
          <a:bodyPr numCol="2"/>
          <a:lstStyle/>
          <a:p>
            <a:r>
              <a:rPr lang="en-AU" sz="1800" b="1" dirty="0"/>
              <a:t>Example:</a:t>
            </a:r>
          </a:p>
          <a:p>
            <a:r>
              <a:rPr lang="en-AU" sz="1600" dirty="0"/>
              <a:t>Amy, Joanna and Remy run a delivery business as </a:t>
            </a:r>
            <a:r>
              <a:rPr lang="en-AU" sz="1600" u="sng" dirty="0"/>
              <a:t>equal</a:t>
            </a:r>
            <a:r>
              <a:rPr lang="en-AU" sz="1600" dirty="0"/>
              <a:t> partners and want to transfer their interests in the assets of the partnership to a company. Joanna and Remy are a couple.</a:t>
            </a:r>
          </a:p>
          <a:p>
            <a:r>
              <a:rPr lang="en-AU" sz="1600" dirty="0"/>
              <a:t>Amy, Joanna and Remy establish a company, whereby 300 identical shares are issued:</a:t>
            </a:r>
          </a:p>
          <a:p>
            <a:pPr marL="285750" indent="-285750">
              <a:buFont typeface="Arial" panose="020B0604020202020204" pitchFamily="34" charset="0"/>
              <a:buChar char="•"/>
            </a:pPr>
            <a:r>
              <a:rPr lang="en-AU" sz="1600" dirty="0"/>
              <a:t>100 shares are issued to Amy</a:t>
            </a:r>
          </a:p>
          <a:p>
            <a:pPr marL="285750" indent="-285750">
              <a:buFont typeface="Arial" panose="020B0604020202020204" pitchFamily="34" charset="0"/>
              <a:buChar char="•"/>
            </a:pPr>
            <a:r>
              <a:rPr lang="en-AU" sz="1600" dirty="0"/>
              <a:t>150 shares are issued to Joanna</a:t>
            </a:r>
          </a:p>
          <a:p>
            <a:pPr marL="285750" indent="-285750">
              <a:buFont typeface="Arial" panose="020B0604020202020204" pitchFamily="34" charset="0"/>
              <a:buChar char="•"/>
            </a:pPr>
            <a:r>
              <a:rPr lang="en-AU" sz="1600" dirty="0"/>
              <a:t>50 shares are issued to Remy.</a:t>
            </a:r>
          </a:p>
          <a:p>
            <a:endParaRPr lang="en-AU" sz="1600" dirty="0"/>
          </a:p>
          <a:p>
            <a:r>
              <a:rPr lang="en-AU" sz="1600" dirty="0"/>
              <a:t>This is because Remy has other income and Joanna and Remy, as a couple, want to lower their overall income tax bill.</a:t>
            </a:r>
          </a:p>
          <a:p>
            <a:r>
              <a:rPr lang="en-AU" sz="1600" dirty="0"/>
              <a:t>While this doesn’t change the individuals who have the ultimate economic ownership of the asset, there is a change in the proportionate share of that ultimate economic ownership. Accordingly, Amy, Joanna and Remy cannot use the small business restructure rollover.</a:t>
            </a:r>
          </a:p>
          <a:p>
            <a:r>
              <a:rPr lang="en-AU" sz="1600" dirty="0"/>
              <a:t>However, if the shares were distributed equally between the partners, the ultimate economic ownership of the assets would be unchanged, and Amy, Joanna and Remy could use the rollover, subject to satisfying the other conditions.</a:t>
            </a:r>
          </a:p>
          <a:p>
            <a:endParaRPr lang="en-AU" sz="2000" dirty="0"/>
          </a:p>
          <a:p>
            <a:endParaRPr lang="en-AU" sz="2800" dirty="0">
              <a:latin typeface="Calibri" panose="020F0502020204030204" pitchFamily="34" charset="0"/>
              <a:cs typeface="Calibri" panose="020F0502020204030204" pitchFamily="34" charset="0"/>
            </a:endParaRPr>
          </a:p>
          <a:p>
            <a:endParaRPr lang="en-AU" sz="2800"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47468209"/>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6078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Scrip-for-scrip (Takeovers and Mergers)	</a:t>
            </a:r>
          </a:p>
        </p:txBody>
      </p:sp>
      <p:sp>
        <p:nvSpPr>
          <p:cNvPr id="2" name="Text Placeholder 1"/>
          <p:cNvSpPr>
            <a:spLocks noGrp="1"/>
          </p:cNvSpPr>
          <p:nvPr>
            <p:ph type="body" idx="1"/>
          </p:nvPr>
        </p:nvSpPr>
        <p:spPr>
          <a:xfrm>
            <a:off x="573206" y="1395207"/>
            <a:ext cx="7809588" cy="4794874"/>
          </a:xfrm>
        </p:spPr>
        <p:txBody>
          <a:bodyPr numCol="1"/>
          <a:lstStyle/>
          <a:p>
            <a:r>
              <a:rPr lang="en-AU" sz="1800" dirty="0"/>
              <a:t>If a company in which you own shares is taken over or merges with another company, you may have a capital gains tax (CGT) obligation.</a:t>
            </a:r>
          </a:p>
          <a:p>
            <a:endParaRPr lang="en-AU" sz="1800" dirty="0"/>
          </a:p>
          <a:p>
            <a:r>
              <a:rPr lang="en-AU" sz="1800" dirty="0"/>
              <a:t>When a company launches a takeover bid by buying shares in the market, they offer money in return for shares. If a company launches an off-market takeover bid, they don’t always offer cash in return for shares – they can either offer money or scrip (shares), or a combination of these.</a:t>
            </a:r>
          </a:p>
          <a:p>
            <a:endParaRPr lang="en-AU" sz="1800" dirty="0">
              <a:latin typeface="Calibri" panose="020F0502020204030204" pitchFamily="34" charset="0"/>
              <a:cs typeface="Calibri" panose="020F0502020204030204" pitchFamily="34" charset="0"/>
            </a:endParaRPr>
          </a:p>
          <a:p>
            <a:r>
              <a:rPr lang="en-AU" sz="1800" dirty="0"/>
              <a:t>When you receive shares, you may be able to defer paying capital gains tax until a later CGT event happens (however the cost base will carry forward from the original company’s shares). </a:t>
            </a:r>
          </a:p>
          <a:p>
            <a:endParaRPr lang="en-AU" sz="1800" dirty="0"/>
          </a:p>
          <a:p>
            <a:r>
              <a:rPr lang="en-AU" sz="1800" dirty="0"/>
              <a:t>You can choose not to apply this rollover. The rollover does not apply where a capital loss would arise. </a:t>
            </a:r>
          </a:p>
          <a:p>
            <a:endParaRPr lang="en-AU" sz="2800" dirty="0">
              <a:latin typeface="Calibri" panose="020F0502020204030204" pitchFamily="34" charset="0"/>
              <a:cs typeface="Calibri" panose="020F0502020204030204" pitchFamily="34" charset="0"/>
            </a:endParaRPr>
          </a:p>
          <a:p>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03402360"/>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839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Indexation - Eligibility</a:t>
            </a:r>
          </a:p>
        </p:txBody>
      </p:sp>
      <p:sp>
        <p:nvSpPr>
          <p:cNvPr id="2" name="Text Placeholder 1"/>
          <p:cNvSpPr>
            <a:spLocks noGrp="1"/>
          </p:cNvSpPr>
          <p:nvPr>
            <p:ph type="body" idx="1"/>
          </p:nvPr>
        </p:nvSpPr>
        <p:spPr>
          <a:xfrm>
            <a:off x="573206" y="1512142"/>
            <a:ext cx="7809588" cy="4794874"/>
          </a:xfrm>
        </p:spPr>
        <p:txBody>
          <a:bodyPr/>
          <a:lstStyle/>
          <a:p>
            <a:pPr marL="342900" indent="-342900">
              <a:buFont typeface="Arial" panose="020B0604020202020204" pitchFamily="34" charset="0"/>
              <a:buChar char="•"/>
            </a:pPr>
            <a:r>
              <a:rPr lang="en-AU" sz="1800" dirty="0">
                <a:latin typeface="Arial" panose="020B0604020202020204" pitchFamily="34" charset="0"/>
                <a:cs typeface="Arial" panose="020B0604020202020204" pitchFamily="34" charset="0"/>
              </a:rPr>
              <a:t>A capital gains tax (CGT) event happened to an asset you acquired </a:t>
            </a:r>
            <a:r>
              <a:rPr lang="en-AU" sz="1800" b="1" dirty="0">
                <a:latin typeface="Arial" panose="020B0604020202020204" pitchFamily="34" charset="0"/>
                <a:cs typeface="Arial" panose="020B0604020202020204" pitchFamily="34" charset="0"/>
              </a:rPr>
              <a:t>before 11.45am (EST) on 21 September 1999</a:t>
            </a:r>
            <a:r>
              <a:rPr lang="en-AU" sz="1800" dirty="0">
                <a:latin typeface="Arial" panose="020B0604020202020204" pitchFamily="34" charset="0"/>
                <a:cs typeface="Arial" panose="020B0604020202020204" pitchFamily="34" charset="0"/>
              </a:rPr>
              <a:t>; and</a:t>
            </a:r>
          </a:p>
          <a:p>
            <a:pPr marL="342900" indent="-342900">
              <a:buFont typeface="Arial" panose="020B0604020202020204" pitchFamily="34" charset="0"/>
              <a:buChar char="•"/>
            </a:pPr>
            <a:r>
              <a:rPr lang="en-AU" sz="1800" dirty="0">
                <a:latin typeface="Arial" panose="020B0604020202020204" pitchFamily="34" charset="0"/>
                <a:cs typeface="Arial" panose="020B0604020202020204" pitchFamily="34" charset="0"/>
              </a:rPr>
              <a:t>You owned the asset for 12 months or more.</a:t>
            </a:r>
          </a:p>
          <a:p>
            <a:pPr marL="342900" indent="-342900">
              <a:buFont typeface="Arial" panose="020B0604020202020204" pitchFamily="34" charset="0"/>
              <a:buChar char="•"/>
            </a:pPr>
            <a:r>
              <a:rPr lang="en-AU" sz="1800" dirty="0">
                <a:latin typeface="Arial" panose="020B0604020202020204" pitchFamily="34" charset="0"/>
                <a:cs typeface="Arial" panose="020B0604020202020204" pitchFamily="34" charset="0"/>
              </a:rPr>
              <a:t>If you're a company and the capital gain meets the above conditions, you must use the indexation method to calculate the capital gain.</a:t>
            </a:r>
          </a:p>
        </p:txBody>
      </p:sp>
    </p:spTree>
    <p:extLst>
      <p:ext uri="{BB962C8B-B14F-4D97-AF65-F5344CB8AC3E}">
        <p14:creationId xmlns:p14="http://schemas.microsoft.com/office/powerpoint/2010/main" val="2465356926"/>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3206" y="783934"/>
            <a:ext cx="7616826" cy="634423"/>
          </a:xfrm>
        </p:spPr>
        <p:txBody>
          <a:bodyPr/>
          <a:lstStyle/>
          <a:p>
            <a:r>
              <a:rPr lang="en-US" dirty="0">
                <a:solidFill>
                  <a:srgbClr val="0070C0"/>
                </a:solidFill>
                <a:latin typeface="Calibri" panose="020F0502020204030204" pitchFamily="34" charset="0"/>
                <a:cs typeface="Calibri" panose="020F0502020204030204" pitchFamily="34" charset="0"/>
              </a:rPr>
              <a:t>Record keeping</a:t>
            </a:r>
          </a:p>
        </p:txBody>
      </p:sp>
      <p:sp>
        <p:nvSpPr>
          <p:cNvPr id="2" name="Text Placeholder 1"/>
          <p:cNvSpPr>
            <a:spLocks noGrp="1"/>
          </p:cNvSpPr>
          <p:nvPr>
            <p:ph type="body" idx="1"/>
          </p:nvPr>
        </p:nvSpPr>
        <p:spPr>
          <a:xfrm>
            <a:off x="573206" y="1512142"/>
            <a:ext cx="7809588" cy="4794874"/>
          </a:xfrm>
        </p:spPr>
        <p:txBody>
          <a:bodyPr/>
          <a:lstStyle/>
          <a:p>
            <a:pPr lvl="0"/>
            <a:r>
              <a:rPr lang="en-AU" sz="1800" dirty="0">
                <a:latin typeface="Arial" panose="020B0604020202020204" pitchFamily="34" charset="0"/>
                <a:cs typeface="Arial" panose="020B0604020202020204" pitchFamily="34" charset="0"/>
              </a:rPr>
              <a:t>What needs to be recorded: </a:t>
            </a:r>
          </a:p>
          <a:p>
            <a:pPr marL="457200" lvl="0" indent="-457200">
              <a:buFont typeface="Wingdings" panose="05000000000000000000" pitchFamily="2" charset="2"/>
              <a:buChar char="q"/>
            </a:pPr>
            <a:r>
              <a:rPr lang="en-AU" sz="1800" dirty="0">
                <a:latin typeface="Arial" panose="020B0604020202020204" pitchFamily="34" charset="0"/>
                <a:cs typeface="Arial" panose="020B0604020202020204" pitchFamily="34" charset="0"/>
              </a:rPr>
              <a:t>All transactions effecting CGT events</a:t>
            </a:r>
          </a:p>
          <a:p>
            <a:pPr marL="457200" lvl="0" indent="-457200">
              <a:buFont typeface="Wingdings" panose="05000000000000000000" pitchFamily="2" charset="2"/>
              <a:buChar char="q"/>
            </a:pPr>
            <a:r>
              <a:rPr lang="en-AU" sz="1800" dirty="0">
                <a:latin typeface="Arial" panose="020B0604020202020204" pitchFamily="34" charset="0"/>
                <a:cs typeface="Arial" panose="020B0604020202020204" pitchFamily="34" charset="0"/>
              </a:rPr>
              <a:t>Date of acquisition and disposal</a:t>
            </a:r>
          </a:p>
          <a:p>
            <a:pPr marL="457200" lvl="0" indent="-457200">
              <a:buFont typeface="Wingdings" panose="05000000000000000000" pitchFamily="2" charset="2"/>
              <a:buChar char="q"/>
            </a:pPr>
            <a:r>
              <a:rPr lang="en-AU" sz="1800" dirty="0">
                <a:latin typeface="Arial" panose="020B0604020202020204" pitchFamily="34" charset="0"/>
                <a:cs typeface="Arial" panose="020B0604020202020204" pitchFamily="34" charset="0"/>
              </a:rPr>
              <a:t>Each cost base element</a:t>
            </a:r>
          </a:p>
          <a:p>
            <a:pPr marL="457200" lvl="0" indent="-457200">
              <a:buFont typeface="Wingdings" panose="05000000000000000000" pitchFamily="2" charset="2"/>
              <a:buChar char="q"/>
            </a:pPr>
            <a:r>
              <a:rPr lang="en-AU" sz="1800" dirty="0">
                <a:latin typeface="Arial" panose="020B0604020202020204" pitchFamily="34" charset="0"/>
                <a:cs typeface="Arial" panose="020B0604020202020204" pitchFamily="34" charset="0"/>
              </a:rPr>
              <a:t>Consideration on disposal</a:t>
            </a:r>
          </a:p>
          <a:p>
            <a:pPr marL="457200" lvl="0" indent="-457200">
              <a:buFont typeface="Wingdings" panose="05000000000000000000" pitchFamily="2" charset="2"/>
              <a:buChar char="q"/>
            </a:pPr>
            <a:r>
              <a:rPr lang="en-AU" sz="1800" dirty="0">
                <a:latin typeface="Arial" panose="020B0604020202020204" pitchFamily="34" charset="0"/>
                <a:cs typeface="Arial" panose="020B0604020202020204" pitchFamily="34" charset="0"/>
              </a:rPr>
              <a:t>Parties to the transaction</a:t>
            </a:r>
          </a:p>
          <a:p>
            <a:pPr lvl="0"/>
            <a:endParaRPr lang="en-AU" sz="1800" dirty="0">
              <a:latin typeface="Arial" panose="020B0604020202020204" pitchFamily="34" charset="0"/>
              <a:cs typeface="Arial" panose="020B0604020202020204" pitchFamily="34" charset="0"/>
            </a:endParaRPr>
          </a:p>
          <a:p>
            <a:pPr lvl="0"/>
            <a:r>
              <a:rPr lang="en-AU" sz="1800" dirty="0">
                <a:latin typeface="Arial" panose="020B0604020202020204" pitchFamily="34" charset="0"/>
                <a:cs typeface="Arial" panose="020B0604020202020204" pitchFamily="34" charset="0"/>
              </a:rPr>
              <a:t>Retain records for 5 years after disposal</a:t>
            </a:r>
          </a:p>
        </p:txBody>
      </p:sp>
    </p:spTree>
    <p:extLst>
      <p:ext uri="{BB962C8B-B14F-4D97-AF65-F5344CB8AC3E}">
        <p14:creationId xmlns:p14="http://schemas.microsoft.com/office/powerpoint/2010/main" val="3743876377"/>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5906008"/>
      </p:ext>
    </p:extLst>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BBE0E3"/>
          </a:solidFill>
          <a:prstDash val="solid"/>
          <a:bevel/>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BBE0E3"/>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BBE0E3"/>
          </a:solidFill>
          <a:prstDash val="solid"/>
          <a:bevel/>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BBE0E3"/>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TM03090430[[fn=Banded]]</Template>
  <TotalTime>996</TotalTime>
  <Words>3982</Words>
  <Application>Microsoft Office PowerPoint</Application>
  <PresentationFormat>On-screen Show (4:3)</PresentationFormat>
  <Paragraphs>358</Paragraphs>
  <Slides>46</Slides>
  <Notes>44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Courier New</vt:lpstr>
      <vt:lpstr>Helvetica Neue</vt:lpstr>
      <vt:lpstr>Wingdings</vt:lpstr>
      <vt:lpstr>Default</vt:lpstr>
      <vt:lpstr>Capital Gains Tax</vt:lpstr>
      <vt:lpstr>What is a capital gain (loss)? </vt:lpstr>
      <vt:lpstr>Who does it apply to?</vt:lpstr>
      <vt:lpstr>Common CGT Assets</vt:lpstr>
      <vt:lpstr>Question</vt:lpstr>
      <vt:lpstr>Time of the event</vt:lpstr>
      <vt:lpstr>Methodology</vt:lpstr>
      <vt:lpstr>CGT Events</vt:lpstr>
      <vt:lpstr>PowerPoint Presentation</vt:lpstr>
      <vt:lpstr>Cost base elements</vt:lpstr>
      <vt:lpstr>Cost base elements</vt:lpstr>
      <vt:lpstr>Cost base elements</vt:lpstr>
      <vt:lpstr>Scenario</vt:lpstr>
      <vt:lpstr>Scenario</vt:lpstr>
      <vt:lpstr>Modifications to capital gains</vt:lpstr>
      <vt:lpstr>1. “Market value” Modification</vt:lpstr>
      <vt:lpstr>2. Apportionment Modification</vt:lpstr>
      <vt:lpstr>3. Non-receipt Rule</vt:lpstr>
      <vt:lpstr>5. Assumption of Liability Rule</vt:lpstr>
      <vt:lpstr>Exempt Assets </vt:lpstr>
      <vt:lpstr>Exemptions</vt:lpstr>
      <vt:lpstr>Main residence exemption</vt:lpstr>
      <vt:lpstr>Main residence exemption</vt:lpstr>
      <vt:lpstr>Changing main residences</vt:lpstr>
      <vt:lpstr>Basic Conditions for Small Business CGT Concessions </vt:lpstr>
      <vt:lpstr>Basic Conditions for Small Business CGT Concessions </vt:lpstr>
      <vt:lpstr>Basic Conditions for Small Business CGT Concessions </vt:lpstr>
      <vt:lpstr>Small Business 15-year Exemption</vt:lpstr>
      <vt:lpstr>Small Business 15-year Exemption</vt:lpstr>
      <vt:lpstr>Small Business 50% Active Asset Reduction</vt:lpstr>
      <vt:lpstr>Small Business Retirement Exemption</vt:lpstr>
      <vt:lpstr>Small Business Retirement Exemption</vt:lpstr>
      <vt:lpstr>Small Business Retirement Exemption</vt:lpstr>
      <vt:lpstr>Small Business Rollover </vt:lpstr>
      <vt:lpstr>Small Business Rollover </vt:lpstr>
      <vt:lpstr>Small Business Rollover </vt:lpstr>
      <vt:lpstr>Small Business Rollover </vt:lpstr>
      <vt:lpstr>Small Business Rollover </vt:lpstr>
      <vt:lpstr>Small Business Restructure Rollover </vt:lpstr>
      <vt:lpstr>Small Business Restructure Rollover </vt:lpstr>
      <vt:lpstr>Small Business Restructure Rollover </vt:lpstr>
      <vt:lpstr>Small Business Restructure Rollover </vt:lpstr>
      <vt:lpstr>Scrip-for-scrip (Takeovers and Mergers) </vt:lpstr>
      <vt:lpstr>Indexation - Eligibility</vt:lpstr>
      <vt:lpstr>Record keeping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Kristy Court</dc:creator>
  <cp:lastModifiedBy>Jordan Edwards</cp:lastModifiedBy>
  <cp:revision>125</cp:revision>
  <dcterms:modified xsi:type="dcterms:W3CDTF">2021-01-18T06:39:17Z</dcterms:modified>
</cp:coreProperties>
</file>