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Lst>
  <p:notesMasterIdLst>
    <p:notesMasterId r:id="rId37"/>
  </p:notesMasterIdLst>
  <p:handoutMasterIdLst>
    <p:handoutMasterId r:id="rId38"/>
  </p:handoutMasterIdLst>
  <p:sldIdLst>
    <p:sldId id="257" r:id="rId4"/>
    <p:sldId id="594" r:id="rId5"/>
    <p:sldId id="258" r:id="rId6"/>
    <p:sldId id="624" r:id="rId7"/>
    <p:sldId id="591" r:id="rId8"/>
    <p:sldId id="599" r:id="rId9"/>
    <p:sldId id="718" r:id="rId10"/>
    <p:sldId id="611" r:id="rId11"/>
    <p:sldId id="678" r:id="rId12"/>
    <p:sldId id="260" r:id="rId13"/>
    <p:sldId id="651" r:id="rId14"/>
    <p:sldId id="649" r:id="rId15"/>
    <p:sldId id="657" r:id="rId16"/>
    <p:sldId id="661" r:id="rId17"/>
    <p:sldId id="662" r:id="rId18"/>
    <p:sldId id="664" r:id="rId19"/>
    <p:sldId id="666" r:id="rId20"/>
    <p:sldId id="715" r:id="rId21"/>
    <p:sldId id="716" r:id="rId22"/>
    <p:sldId id="679" r:id="rId23"/>
    <p:sldId id="680" r:id="rId24"/>
    <p:sldId id="687" r:id="rId25"/>
    <p:sldId id="688" r:id="rId26"/>
    <p:sldId id="690" r:id="rId27"/>
    <p:sldId id="695" r:id="rId28"/>
    <p:sldId id="696" r:id="rId29"/>
    <p:sldId id="717" r:id="rId30"/>
    <p:sldId id="698" r:id="rId31"/>
    <p:sldId id="699" r:id="rId32"/>
    <p:sldId id="700" r:id="rId33"/>
    <p:sldId id="707" r:id="rId34"/>
    <p:sldId id="709" r:id="rId35"/>
    <p:sldId id="25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CF40475-2DAC-5DBA-ACE6-2A173C95D6E1}" name="Letty Chen" initials="LC" userId="S::lettyc@taxbanter.com.au::f4faef78-fe9d-4032-9a31-9000c94f43f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CECE8"/>
    <a:srgbClr val="F8D7CD"/>
    <a:srgbClr val="ED7D31"/>
    <a:srgbClr val="464145"/>
    <a:srgbClr val="E8461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378E66-E3CF-49E8-AAD0-23D8C62426A4}" v="4" dt="2024-01-29T02:42:19.9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100" d="100"/>
          <a:sy n="100" d="100"/>
        </p:scale>
        <p:origin x="990" y="396"/>
      </p:cViewPr>
      <p:guideLst/>
    </p:cSldViewPr>
  </p:slideViewPr>
  <p:notesTextViewPr>
    <p:cViewPr>
      <p:scale>
        <a:sx n="3" d="2"/>
        <a:sy n="3" d="2"/>
      </p:scale>
      <p:origin x="0" y="0"/>
    </p:cViewPr>
  </p:notesTextViewPr>
  <p:notesViewPr>
    <p:cSldViewPr snapToGrid="0">
      <p:cViewPr varScale="1">
        <p:scale>
          <a:sx n="86" d="100"/>
          <a:sy n="86" d="100"/>
        </p:scale>
        <p:origin x="97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3" Type="http://schemas.openxmlformats.org/officeDocument/2006/relationships/slideMaster" Target="slideMasters/slideMaster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microsoft.com/office/2018/10/relationships/authors" Target="author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2B4D1E3-84F7-A6BB-BC28-D10E6ECDCD8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4" name="Footer Placeholder 3">
            <a:extLst>
              <a:ext uri="{FF2B5EF4-FFF2-40B4-BE49-F238E27FC236}">
                <a16:creationId xmlns:a16="http://schemas.microsoft.com/office/drawing/2014/main" id="{1AA07F8E-4CE8-7DDD-E955-58CB042E6C8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FC609224-55E4-AB1E-D0DD-AA3DBE96F9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98847-01ED-499B-A2AC-04D8D584D497}" type="slidenum">
              <a:rPr lang="en-AU" smtClean="0"/>
              <a:t>‹#›</a:t>
            </a:fld>
            <a:endParaRPr lang="en-AU"/>
          </a:p>
        </p:txBody>
      </p:sp>
    </p:spTree>
    <p:extLst>
      <p:ext uri="{BB962C8B-B14F-4D97-AF65-F5344CB8AC3E}">
        <p14:creationId xmlns:p14="http://schemas.microsoft.com/office/powerpoint/2010/main" val="35897781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4E5B35-D210-4250-9082-4BDB5DB1F9D8}" type="datetimeFigureOut">
              <a:rPr lang="en-AU" smtClean="0"/>
              <a:t>29/01/2024</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982CD-AC11-4D9B-868E-CB325E63124D}" type="slidenum">
              <a:rPr lang="en-AU" smtClean="0"/>
              <a:t>‹#›</a:t>
            </a:fld>
            <a:endParaRPr lang="en-AU"/>
          </a:p>
        </p:txBody>
      </p:sp>
    </p:spTree>
    <p:extLst>
      <p:ext uri="{BB962C8B-B14F-4D97-AF65-F5344CB8AC3E}">
        <p14:creationId xmlns:p14="http://schemas.microsoft.com/office/powerpoint/2010/main" val="4058055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pPr>
              <a:defRPr/>
            </a:pPr>
            <a:fld id="{FE40C195-1DAC-4245-B779-C42F757E7512}" type="slidenum">
              <a:rPr lang="en-AU" smtClean="0"/>
              <a:pPr>
                <a:defRPr/>
              </a:pPr>
              <a:t>2</a:t>
            </a:fld>
            <a:endParaRPr lang="en-AU" dirty="0"/>
          </a:p>
        </p:txBody>
      </p:sp>
      <p:sp>
        <p:nvSpPr>
          <p:cNvPr id="5" name="Date Placeholder 4">
            <a:extLst>
              <a:ext uri="{FF2B5EF4-FFF2-40B4-BE49-F238E27FC236}">
                <a16:creationId xmlns:a16="http://schemas.microsoft.com/office/drawing/2014/main" id="{099DEC35-7279-45C6-BEF1-1623C52B6A2B}"/>
              </a:ext>
            </a:extLst>
          </p:cNvPr>
          <p:cNvSpPr>
            <a:spLocks noGrp="1"/>
          </p:cNvSpPr>
          <p:nvPr>
            <p:ph type="dt" idx="1"/>
          </p:nvPr>
        </p:nvSpPr>
        <p:spPr/>
        <p:txBody>
          <a:bodyPr/>
          <a:lstStyle/>
          <a:p>
            <a:endParaRPr lang="en-AU" dirty="0"/>
          </a:p>
        </p:txBody>
      </p:sp>
    </p:spTree>
    <p:extLst>
      <p:ext uri="{BB962C8B-B14F-4D97-AF65-F5344CB8AC3E}">
        <p14:creationId xmlns:p14="http://schemas.microsoft.com/office/powerpoint/2010/main" val="2621738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a:defRPr/>
            </a:pPr>
            <a:fld id="{FE40C195-1DAC-4245-B779-C42F757E7512}" type="slidenum">
              <a:rPr lang="en-AU" smtClean="0"/>
              <a:pPr>
                <a:defRPr/>
              </a:pPr>
              <a:t>5</a:t>
            </a:fld>
            <a:endParaRPr lang="en-AU" dirty="0"/>
          </a:p>
        </p:txBody>
      </p:sp>
    </p:spTree>
    <p:extLst>
      <p:ext uri="{BB962C8B-B14F-4D97-AF65-F5344CB8AC3E}">
        <p14:creationId xmlns:p14="http://schemas.microsoft.com/office/powerpoint/2010/main" val="10075401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a:defRPr/>
            </a:pPr>
            <a:fld id="{FE40C195-1DAC-4245-B779-C42F757E7512}" type="slidenum">
              <a:rPr lang="en-AU" smtClean="0"/>
              <a:pPr>
                <a:defRPr/>
              </a:pPr>
              <a:t>6</a:t>
            </a:fld>
            <a:endParaRPr lang="en-AU" dirty="0"/>
          </a:p>
        </p:txBody>
      </p:sp>
    </p:spTree>
    <p:extLst>
      <p:ext uri="{BB962C8B-B14F-4D97-AF65-F5344CB8AC3E}">
        <p14:creationId xmlns:p14="http://schemas.microsoft.com/office/powerpoint/2010/main" val="9300234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a:defRPr/>
            </a:pPr>
            <a:fld id="{FE40C195-1DAC-4245-B779-C42F757E7512}" type="slidenum">
              <a:rPr lang="en-AU" smtClean="0"/>
              <a:pPr>
                <a:defRPr/>
              </a:pPr>
              <a:t>8</a:t>
            </a:fld>
            <a:endParaRPr lang="en-AU" dirty="0"/>
          </a:p>
        </p:txBody>
      </p:sp>
    </p:spTree>
    <p:extLst>
      <p:ext uri="{BB962C8B-B14F-4D97-AF65-F5344CB8AC3E}">
        <p14:creationId xmlns:p14="http://schemas.microsoft.com/office/powerpoint/2010/main" val="17731538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CBB74-50D6-43A9-9812-82BEDC3CB95C}"/>
              </a:ext>
            </a:extLst>
          </p:cNvPr>
          <p:cNvSpPr>
            <a:spLocks noGrp="1"/>
          </p:cNvSpPr>
          <p:nvPr>
            <p:ph type="ctrTitle" hasCustomPrompt="1"/>
          </p:nvPr>
        </p:nvSpPr>
        <p:spPr>
          <a:xfrm>
            <a:off x="628356" y="2704904"/>
            <a:ext cx="5200357" cy="724096"/>
          </a:xfrm>
        </p:spPr>
        <p:txBody>
          <a:bodyPr anchor="b">
            <a:noAutofit/>
          </a:bodyPr>
          <a:lstStyle>
            <a:lvl1pPr algn="l">
              <a:defRPr sz="6000">
                <a:latin typeface="+mn-lt"/>
              </a:defRPr>
            </a:lvl1pPr>
          </a:lstStyle>
          <a:p>
            <a:r>
              <a:rPr lang="en-US" dirty="0"/>
              <a:t>Insert title</a:t>
            </a:r>
            <a:endParaRPr lang="en-AU" dirty="0"/>
          </a:p>
        </p:txBody>
      </p:sp>
      <p:sp>
        <p:nvSpPr>
          <p:cNvPr id="4" name="Date Placeholder 3">
            <a:extLst>
              <a:ext uri="{FF2B5EF4-FFF2-40B4-BE49-F238E27FC236}">
                <a16:creationId xmlns:a16="http://schemas.microsoft.com/office/drawing/2014/main" id="{A9F735F0-EC1A-4999-AA95-C0500F4E4CE0}"/>
              </a:ext>
            </a:extLst>
          </p:cNvPr>
          <p:cNvSpPr>
            <a:spLocks noGrp="1"/>
          </p:cNvSpPr>
          <p:nvPr>
            <p:ph type="dt" sz="half" idx="10"/>
          </p:nvPr>
        </p:nvSpPr>
        <p:spPr/>
        <p:txBody>
          <a:bodyPr/>
          <a:lstStyle/>
          <a:p>
            <a:fld id="{CCCB0A44-AF70-4E4B-B954-2DDDFE7D34A9}" type="datetimeFigureOut">
              <a:rPr lang="en-AU" smtClean="0"/>
              <a:t>29/01/2024</a:t>
            </a:fld>
            <a:endParaRPr lang="en-AU"/>
          </a:p>
        </p:txBody>
      </p:sp>
      <p:sp>
        <p:nvSpPr>
          <p:cNvPr id="5" name="Footer Placeholder 4">
            <a:extLst>
              <a:ext uri="{FF2B5EF4-FFF2-40B4-BE49-F238E27FC236}">
                <a16:creationId xmlns:a16="http://schemas.microsoft.com/office/drawing/2014/main" id="{016F94CD-8C98-4EFB-B123-86A75275E79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A7AC5C5-7440-4FA0-A00D-CE9EF2AF3CBA}"/>
              </a:ext>
            </a:extLst>
          </p:cNvPr>
          <p:cNvSpPr>
            <a:spLocks noGrp="1"/>
          </p:cNvSpPr>
          <p:nvPr>
            <p:ph type="sldNum" sz="quarter" idx="12"/>
          </p:nvPr>
        </p:nvSpPr>
        <p:spPr/>
        <p:txBody>
          <a:bodyPr/>
          <a:lstStyle/>
          <a:p>
            <a:fld id="{28BDFF9A-9172-466D-B558-64FC65619ABD}" type="slidenum">
              <a:rPr lang="en-AU" smtClean="0"/>
              <a:t>‹#›</a:t>
            </a:fld>
            <a:endParaRPr lang="en-AU"/>
          </a:p>
        </p:txBody>
      </p:sp>
      <p:pic>
        <p:nvPicPr>
          <p:cNvPr id="15" name="Picture 14">
            <a:extLst>
              <a:ext uri="{FF2B5EF4-FFF2-40B4-BE49-F238E27FC236}">
                <a16:creationId xmlns:a16="http://schemas.microsoft.com/office/drawing/2014/main" id="{06A32DC8-7DFE-4B51-A0DB-AD1320A55734}"/>
              </a:ext>
            </a:extLst>
          </p:cNvPr>
          <p:cNvPicPr>
            <a:picLocks noChangeAspect="1"/>
          </p:cNvPicPr>
          <p:nvPr userDrawn="1"/>
        </p:nvPicPr>
        <p:blipFill rotWithShape="1">
          <a:blip r:embed="rId2"/>
          <a:srcRect r="38307" b="80952"/>
          <a:stretch/>
        </p:blipFill>
        <p:spPr>
          <a:xfrm>
            <a:off x="0" y="0"/>
            <a:ext cx="5670185" cy="984738"/>
          </a:xfrm>
          <a:prstGeom prst="rect">
            <a:avLst/>
          </a:prstGeom>
        </p:spPr>
      </p:pic>
    </p:spTree>
    <p:extLst>
      <p:ext uri="{BB962C8B-B14F-4D97-AF65-F5344CB8AC3E}">
        <p14:creationId xmlns:p14="http://schemas.microsoft.com/office/powerpoint/2010/main" val="2992493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6711F-F258-47C1-B77B-3540DBC0916E}"/>
              </a:ext>
            </a:extLst>
          </p:cNvPr>
          <p:cNvSpPr>
            <a:spLocks noGrp="1"/>
          </p:cNvSpPr>
          <p:nvPr>
            <p:ph type="title" hasCustomPrompt="1"/>
          </p:nvPr>
        </p:nvSpPr>
        <p:spPr>
          <a:xfrm>
            <a:off x="838200" y="2920291"/>
            <a:ext cx="10515600" cy="1017417"/>
          </a:xfrm>
        </p:spPr>
        <p:txBody>
          <a:bodyPr anchor="b"/>
          <a:lstStyle>
            <a:lvl1pPr>
              <a:defRPr sz="6000"/>
            </a:lvl1pPr>
          </a:lstStyle>
          <a:p>
            <a:r>
              <a:rPr lang="en-US" dirty="0"/>
              <a:t>Section heading (Heading one)</a:t>
            </a:r>
            <a:endParaRPr lang="en-AU" dirty="0"/>
          </a:p>
        </p:txBody>
      </p:sp>
      <p:pic>
        <p:nvPicPr>
          <p:cNvPr id="4" name="Picture 3">
            <a:extLst>
              <a:ext uri="{FF2B5EF4-FFF2-40B4-BE49-F238E27FC236}">
                <a16:creationId xmlns:a16="http://schemas.microsoft.com/office/drawing/2014/main" id="{A409A4C7-8755-41F2-B951-54D4BAA681E0}"/>
              </a:ext>
            </a:extLst>
          </p:cNvPr>
          <p:cNvPicPr>
            <a:picLocks noChangeAspect="1"/>
          </p:cNvPicPr>
          <p:nvPr userDrawn="1"/>
        </p:nvPicPr>
        <p:blipFill rotWithShape="1">
          <a:blip r:embed="rId2"/>
          <a:srcRect l="72923" b="89206"/>
          <a:stretch/>
        </p:blipFill>
        <p:spPr>
          <a:xfrm>
            <a:off x="9228406" y="53420"/>
            <a:ext cx="2963594" cy="664524"/>
          </a:xfrm>
          <a:prstGeom prst="rect">
            <a:avLst/>
          </a:prstGeom>
        </p:spPr>
      </p:pic>
    </p:spTree>
    <p:extLst>
      <p:ext uri="{BB962C8B-B14F-4D97-AF65-F5344CB8AC3E}">
        <p14:creationId xmlns:p14="http://schemas.microsoft.com/office/powerpoint/2010/main" val="3187398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D6DDA-4D38-4DF4-91A5-D4758447B86C}"/>
              </a:ext>
            </a:extLst>
          </p:cNvPr>
          <p:cNvSpPr>
            <a:spLocks noGrp="1"/>
          </p:cNvSpPr>
          <p:nvPr>
            <p:ph type="title" hasCustomPrompt="1"/>
          </p:nvPr>
        </p:nvSpPr>
        <p:spPr/>
        <p:txBody>
          <a:bodyPr/>
          <a:lstStyle>
            <a:lvl1pPr>
              <a:defRPr b="1"/>
            </a:lvl1pPr>
          </a:lstStyle>
          <a:p>
            <a:r>
              <a:rPr lang="en-US" dirty="0"/>
              <a:t>Title</a:t>
            </a:r>
            <a:endParaRPr lang="en-AU" dirty="0"/>
          </a:p>
        </p:txBody>
      </p:sp>
      <p:sp>
        <p:nvSpPr>
          <p:cNvPr id="3" name="Content Placeholder 2">
            <a:extLst>
              <a:ext uri="{FF2B5EF4-FFF2-40B4-BE49-F238E27FC236}">
                <a16:creationId xmlns:a16="http://schemas.microsoft.com/office/drawing/2014/main" id="{2D1A2C89-D7CF-4380-9033-2653B493A9F0}"/>
              </a:ext>
            </a:extLst>
          </p:cNvPr>
          <p:cNvSpPr>
            <a:spLocks noGrp="1"/>
          </p:cNvSpPr>
          <p:nvPr>
            <p:ph idx="1"/>
          </p:nvPr>
        </p:nvSpPr>
        <p:spPr>
          <a:xfrm>
            <a:off x="818271" y="1690688"/>
            <a:ext cx="10515600" cy="4351338"/>
          </a:xfrm>
        </p:spPr>
        <p:txBody>
          <a:bodyPr/>
          <a:lstStyle>
            <a:lvl1pPr marL="365125" indent="-365125">
              <a:buClr>
                <a:srgbClr val="E84610"/>
              </a:buClr>
              <a:buFont typeface="Wingdings" panose="05000000000000000000" pitchFamily="2" charset="2"/>
              <a:buChar char="§"/>
              <a:defRPr sz="2400"/>
            </a:lvl1pPr>
            <a:lvl2pPr marL="685800" indent="-320675">
              <a:buClr>
                <a:srgbClr val="464145"/>
              </a:buClr>
              <a:buFont typeface="Wingdings" panose="05000000000000000000" pitchFamily="2" charset="2"/>
              <a:buChar char="§"/>
              <a:defRPr sz="2000"/>
            </a:lvl2pPr>
            <a:lvl3pPr marL="1082675" indent="-365125">
              <a:buClr>
                <a:srgbClr val="E84610"/>
              </a:buClr>
              <a:buFontTx/>
              <a:buBlip>
                <a:blip r:embed="rId2">
                  <a:extLst>
                    <a:ext uri="{96DAC541-7B7A-43D3-8B79-37D633B846F1}">
                      <asvg:svgBlip xmlns:asvg="http://schemas.microsoft.com/office/drawing/2016/SVG/main" r:embed="rId3"/>
                    </a:ext>
                  </a:extLst>
                </a:blip>
              </a:buBlip>
              <a:defRPr sz="2000"/>
            </a:lvl3pPr>
            <a:lvl4pPr marL="1435100" indent="-352425">
              <a:buClr>
                <a:srgbClr val="E84610"/>
              </a:buClr>
              <a:buFont typeface="Wingdings" panose="05000000000000000000" pitchFamily="2" charset="2"/>
              <a:buChar char="§"/>
              <a:defRPr sz="2000"/>
            </a:lvl4pPr>
            <a:lvl5pPr marL="1800225" indent="-365125">
              <a:buClr>
                <a:srgbClr val="E84610"/>
              </a:buClr>
              <a:buFont typeface="Wingdings" panose="05000000000000000000" pitchFamily="2" charset="2"/>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pic>
        <p:nvPicPr>
          <p:cNvPr id="6" name="Picture 5">
            <a:extLst>
              <a:ext uri="{FF2B5EF4-FFF2-40B4-BE49-F238E27FC236}">
                <a16:creationId xmlns:a16="http://schemas.microsoft.com/office/drawing/2014/main" id="{0F26B8F4-4306-4E99-A0F1-21B9A3494CF1}"/>
              </a:ext>
            </a:extLst>
          </p:cNvPr>
          <p:cNvPicPr>
            <a:picLocks noChangeAspect="1"/>
          </p:cNvPicPr>
          <p:nvPr userDrawn="1"/>
        </p:nvPicPr>
        <p:blipFill rotWithShape="1">
          <a:blip r:embed="rId4"/>
          <a:srcRect l="72923" b="89206"/>
          <a:stretch/>
        </p:blipFill>
        <p:spPr>
          <a:xfrm>
            <a:off x="9228406" y="53420"/>
            <a:ext cx="2963594" cy="664524"/>
          </a:xfrm>
          <a:prstGeom prst="rect">
            <a:avLst/>
          </a:prstGeom>
        </p:spPr>
      </p:pic>
    </p:spTree>
    <p:extLst>
      <p:ext uri="{BB962C8B-B14F-4D97-AF65-F5344CB8AC3E}">
        <p14:creationId xmlns:p14="http://schemas.microsoft.com/office/powerpoint/2010/main" val="2919426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E5B1E-3F91-4556-9E05-269E5D210FDC}"/>
              </a:ext>
            </a:extLst>
          </p:cNvPr>
          <p:cNvSpPr>
            <a:spLocks noGrp="1"/>
          </p:cNvSpPr>
          <p:nvPr>
            <p:ph type="title" hasCustomPrompt="1"/>
          </p:nvPr>
        </p:nvSpPr>
        <p:spPr/>
        <p:txBody>
          <a:bodyPr/>
          <a:lstStyle>
            <a:lvl1pPr>
              <a:defRPr b="1"/>
            </a:lvl1pPr>
          </a:lstStyle>
          <a:p>
            <a:r>
              <a:rPr lang="en-US" dirty="0"/>
              <a:t>Title</a:t>
            </a:r>
            <a:endParaRPr lang="en-AU" dirty="0"/>
          </a:p>
        </p:txBody>
      </p:sp>
      <p:sp>
        <p:nvSpPr>
          <p:cNvPr id="3" name="Content Placeholder 2">
            <a:extLst>
              <a:ext uri="{FF2B5EF4-FFF2-40B4-BE49-F238E27FC236}">
                <a16:creationId xmlns:a16="http://schemas.microsoft.com/office/drawing/2014/main" id="{B14D7883-3D4A-4B35-B9F6-78BBD334E6FF}"/>
              </a:ext>
            </a:extLst>
          </p:cNvPr>
          <p:cNvSpPr>
            <a:spLocks noGrp="1"/>
          </p:cNvSpPr>
          <p:nvPr>
            <p:ph sz="half" idx="1"/>
          </p:nvPr>
        </p:nvSpPr>
        <p:spPr>
          <a:xfrm>
            <a:off x="838200" y="1825625"/>
            <a:ext cx="5181600" cy="4351338"/>
          </a:xfrm>
        </p:spPr>
        <p:txBody>
          <a:bodyPr/>
          <a:lstStyle>
            <a:lvl1pPr marL="365125" indent="-365125">
              <a:buClr>
                <a:srgbClr val="E84610"/>
              </a:buClr>
              <a:buFont typeface="Wingdings" panose="05000000000000000000" pitchFamily="2" charset="2"/>
              <a:buChar char="§"/>
              <a:defRPr/>
            </a:lvl1pPr>
            <a:lvl2pPr marL="717550" indent="-352425">
              <a:buClr>
                <a:srgbClr val="464145"/>
              </a:buClr>
              <a:buFont typeface="Wingdings" panose="05000000000000000000" pitchFamily="2" charset="2"/>
              <a:buChar char="§"/>
              <a:defRPr sz="2400"/>
            </a:lvl2pPr>
            <a:lvl3pPr marL="1174750" indent="-457200">
              <a:buClr>
                <a:srgbClr val="E84610"/>
              </a:buClr>
              <a:buFontTx/>
              <a:buBlip>
                <a:blip r:embed="rId2">
                  <a:extLst>
                    <a:ext uri="{96DAC541-7B7A-43D3-8B79-37D633B846F1}">
                      <asvg:svgBlip xmlns:asvg="http://schemas.microsoft.com/office/drawing/2016/SVG/main" r:embed="rId3"/>
                    </a:ext>
                  </a:extLst>
                </a:blip>
              </a:buBlip>
              <a:defRPr sz="2000"/>
            </a:lvl3pPr>
            <a:lvl4pPr marL="1435100" indent="-352425">
              <a:buClr>
                <a:srgbClr val="E84610"/>
              </a:buClr>
              <a:buFont typeface="Wingdings" panose="05000000000000000000" pitchFamily="2" charset="2"/>
              <a:buChar char="§"/>
              <a:defRPr sz="2000"/>
            </a:lvl4pPr>
            <a:lvl5pPr marL="1800225" indent="-365125">
              <a:buClr>
                <a:srgbClr val="E84610"/>
              </a:buClr>
              <a:buFont typeface="Wingdings" panose="05000000000000000000" pitchFamily="2" charset="2"/>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Content Placeholder 3">
            <a:extLst>
              <a:ext uri="{FF2B5EF4-FFF2-40B4-BE49-F238E27FC236}">
                <a16:creationId xmlns:a16="http://schemas.microsoft.com/office/drawing/2014/main" id="{21C615FA-FF87-441B-ADEB-1F309B9EC3BB}"/>
              </a:ext>
            </a:extLst>
          </p:cNvPr>
          <p:cNvSpPr>
            <a:spLocks noGrp="1"/>
          </p:cNvSpPr>
          <p:nvPr>
            <p:ph sz="half" idx="2"/>
          </p:nvPr>
        </p:nvSpPr>
        <p:spPr>
          <a:xfrm>
            <a:off x="6172200" y="1825625"/>
            <a:ext cx="5181600" cy="4351338"/>
          </a:xfrm>
        </p:spPr>
        <p:txBody>
          <a:bodyPr/>
          <a:lstStyle>
            <a:lvl1pPr marL="365125" indent="-365125">
              <a:buClr>
                <a:srgbClr val="E84610"/>
              </a:buClr>
              <a:buFont typeface="Wingdings" panose="05000000000000000000" pitchFamily="2" charset="2"/>
              <a:buChar char="§"/>
              <a:defRPr/>
            </a:lvl1pPr>
            <a:lvl2pPr marL="717550" indent="-352425">
              <a:buClr>
                <a:srgbClr val="464145"/>
              </a:buClr>
              <a:buFont typeface="Wingdings" panose="05000000000000000000" pitchFamily="2" charset="2"/>
              <a:buChar char="§"/>
              <a:defRPr sz="2400"/>
            </a:lvl2pPr>
            <a:lvl3pPr marL="1082675" indent="-365125">
              <a:buClr>
                <a:srgbClr val="E84610"/>
              </a:buClr>
              <a:buFontTx/>
              <a:buBlip>
                <a:blip r:embed="rId2">
                  <a:extLst>
                    <a:ext uri="{96DAC541-7B7A-43D3-8B79-37D633B846F1}">
                      <asvg:svgBlip xmlns:asvg="http://schemas.microsoft.com/office/drawing/2016/SVG/main" r:embed="rId3"/>
                    </a:ext>
                  </a:extLst>
                </a:blip>
              </a:buBlip>
              <a:defRPr sz="2000"/>
            </a:lvl3pPr>
            <a:lvl4pPr marL="1435100" indent="-352425">
              <a:buClr>
                <a:srgbClr val="E84610"/>
              </a:buClr>
              <a:buFont typeface="Wingdings" panose="05000000000000000000" pitchFamily="2" charset="2"/>
              <a:buChar char="§"/>
              <a:defRPr sz="2000"/>
            </a:lvl4pPr>
            <a:lvl5pPr marL="1800225" indent="-352425">
              <a:buClr>
                <a:srgbClr val="E84610"/>
              </a:buClr>
              <a:buFont typeface="Wingdings" panose="05000000000000000000" pitchFamily="2" charset="2"/>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7" name="TextBox 6">
            <a:extLst>
              <a:ext uri="{FF2B5EF4-FFF2-40B4-BE49-F238E27FC236}">
                <a16:creationId xmlns:a16="http://schemas.microsoft.com/office/drawing/2014/main" id="{FDBBF34D-2311-4B48-BC3A-A1A3D465A693}"/>
              </a:ext>
            </a:extLst>
          </p:cNvPr>
          <p:cNvSpPr txBox="1"/>
          <p:nvPr userDrawn="1"/>
        </p:nvSpPr>
        <p:spPr>
          <a:xfrm>
            <a:off x="10575387" y="6488668"/>
            <a:ext cx="1556825" cy="369332"/>
          </a:xfrm>
          <a:prstGeom prst="rect">
            <a:avLst/>
          </a:prstGeom>
          <a:noFill/>
        </p:spPr>
        <p:txBody>
          <a:bodyPr wrap="square" rtlCol="0">
            <a:spAutoFit/>
          </a:bodyPr>
          <a:lstStyle/>
          <a:p>
            <a:r>
              <a:rPr lang="en-AU" dirty="0">
                <a:solidFill>
                  <a:srgbClr val="464145"/>
                </a:solidFill>
              </a:rPr>
              <a:t>Page ref XXX</a:t>
            </a:r>
          </a:p>
        </p:txBody>
      </p:sp>
      <p:pic>
        <p:nvPicPr>
          <p:cNvPr id="9" name="Picture 8">
            <a:extLst>
              <a:ext uri="{FF2B5EF4-FFF2-40B4-BE49-F238E27FC236}">
                <a16:creationId xmlns:a16="http://schemas.microsoft.com/office/drawing/2014/main" id="{C1F5B3B0-F892-4184-B0DA-6E854AE39727}"/>
              </a:ext>
            </a:extLst>
          </p:cNvPr>
          <p:cNvPicPr>
            <a:picLocks noChangeAspect="1"/>
          </p:cNvPicPr>
          <p:nvPr userDrawn="1"/>
        </p:nvPicPr>
        <p:blipFill rotWithShape="1">
          <a:blip r:embed="rId4"/>
          <a:srcRect l="72923" b="89206"/>
          <a:stretch/>
        </p:blipFill>
        <p:spPr>
          <a:xfrm>
            <a:off x="9228406" y="53420"/>
            <a:ext cx="2963594" cy="664524"/>
          </a:xfrm>
          <a:prstGeom prst="rect">
            <a:avLst/>
          </a:prstGeom>
        </p:spPr>
      </p:pic>
    </p:spTree>
    <p:extLst>
      <p:ext uri="{BB962C8B-B14F-4D97-AF65-F5344CB8AC3E}">
        <p14:creationId xmlns:p14="http://schemas.microsoft.com/office/powerpoint/2010/main" val="3795712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E33D7-2271-4E74-A41C-1E0E8B96D51E}"/>
              </a:ext>
            </a:extLst>
          </p:cNvPr>
          <p:cNvSpPr>
            <a:spLocks noGrp="1"/>
          </p:cNvSpPr>
          <p:nvPr>
            <p:ph type="title" hasCustomPrompt="1"/>
          </p:nvPr>
        </p:nvSpPr>
        <p:spPr>
          <a:xfrm>
            <a:off x="838200" y="365126"/>
            <a:ext cx="10515600" cy="774358"/>
          </a:xfrm>
        </p:spPr>
        <p:txBody>
          <a:bodyPr/>
          <a:lstStyle>
            <a:lvl1pPr>
              <a:defRPr b="1">
                <a:solidFill>
                  <a:srgbClr val="464145"/>
                </a:solidFill>
              </a:defRPr>
            </a:lvl1pPr>
          </a:lstStyle>
          <a:p>
            <a:r>
              <a:rPr lang="en-US" dirty="0"/>
              <a:t>Case Study</a:t>
            </a:r>
            <a:endParaRPr lang="en-AU" dirty="0"/>
          </a:p>
        </p:txBody>
      </p:sp>
      <p:sp>
        <p:nvSpPr>
          <p:cNvPr id="12" name="Text Placeholder 11">
            <a:extLst>
              <a:ext uri="{FF2B5EF4-FFF2-40B4-BE49-F238E27FC236}">
                <a16:creationId xmlns:a16="http://schemas.microsoft.com/office/drawing/2014/main" id="{E2345481-908F-4EF6-9A9B-C97B8CAC2B50}"/>
              </a:ext>
            </a:extLst>
          </p:cNvPr>
          <p:cNvSpPr>
            <a:spLocks noGrp="1"/>
          </p:cNvSpPr>
          <p:nvPr>
            <p:ph type="body" sz="quarter" idx="10"/>
          </p:nvPr>
        </p:nvSpPr>
        <p:spPr>
          <a:xfrm>
            <a:off x="838200" y="1561514"/>
            <a:ext cx="10515600" cy="4486861"/>
          </a:xfrm>
        </p:spPr>
        <p:txBody>
          <a:bodyPr/>
          <a:lstStyle>
            <a:lvl1pPr marL="0" indent="0">
              <a:buClr>
                <a:srgbClr val="E84610"/>
              </a:buClr>
              <a:buNone/>
              <a:defRPr sz="2400">
                <a:solidFill>
                  <a:srgbClr val="464145"/>
                </a:solidFill>
              </a:defRPr>
            </a:lvl1pPr>
            <a:lvl2pPr marL="457200" indent="0">
              <a:buClr>
                <a:srgbClr val="E84610"/>
              </a:buClr>
              <a:buNone/>
              <a:defRPr sz="2000">
                <a:solidFill>
                  <a:srgbClr val="464145"/>
                </a:solidFill>
              </a:defRPr>
            </a:lvl2pPr>
            <a:lvl3pPr marL="914400" indent="0">
              <a:buClr>
                <a:srgbClr val="E84610"/>
              </a:buClr>
              <a:buNone/>
              <a:defRPr sz="2000">
                <a:solidFill>
                  <a:srgbClr val="464145"/>
                </a:solidFill>
              </a:defRPr>
            </a:lvl3pPr>
            <a:lvl4pPr marL="1371600" indent="0">
              <a:buClr>
                <a:srgbClr val="E84610"/>
              </a:buClr>
              <a:buNone/>
              <a:defRPr sz="2000">
                <a:solidFill>
                  <a:srgbClr val="464145"/>
                </a:solidFill>
              </a:defRPr>
            </a:lvl4pPr>
            <a:lvl5pPr marL="1828800" indent="0">
              <a:buClr>
                <a:srgbClr val="E84610"/>
              </a:buClr>
              <a:buFont typeface="Wingdings" panose="05000000000000000000" pitchFamily="2" charset="2"/>
              <a:buNone/>
              <a:defRPr sz="2000">
                <a:solidFill>
                  <a:srgbClr val="464145"/>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786422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3" name="Picture 2" descr="Graphical user interface, application, email&#10;&#10;Description automatically generated">
            <a:extLst>
              <a:ext uri="{FF2B5EF4-FFF2-40B4-BE49-F238E27FC236}">
                <a16:creationId xmlns:a16="http://schemas.microsoft.com/office/drawing/2014/main" id="{8FDA6742-D73F-4474-972B-F8C267DBF08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1428134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0C38D2-562D-4DB5-A40C-FC44E063C8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AU" dirty="0"/>
          </a:p>
        </p:txBody>
      </p:sp>
      <p:sp>
        <p:nvSpPr>
          <p:cNvPr id="3" name="Text Placeholder 2">
            <a:extLst>
              <a:ext uri="{FF2B5EF4-FFF2-40B4-BE49-F238E27FC236}">
                <a16:creationId xmlns:a16="http://schemas.microsoft.com/office/drawing/2014/main" id="{64EBD32B-E191-4A11-ADA7-4A7BC1A968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a:extLst>
              <a:ext uri="{FF2B5EF4-FFF2-40B4-BE49-F238E27FC236}">
                <a16:creationId xmlns:a16="http://schemas.microsoft.com/office/drawing/2014/main" id="{9AD86A08-9649-40D6-82E5-85C09CD848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CB0A44-AF70-4E4B-B954-2DDDFE7D34A9}" type="datetimeFigureOut">
              <a:rPr lang="en-AU" smtClean="0"/>
              <a:t>29/01/2024</a:t>
            </a:fld>
            <a:endParaRPr lang="en-AU"/>
          </a:p>
        </p:txBody>
      </p:sp>
      <p:sp>
        <p:nvSpPr>
          <p:cNvPr id="5" name="Footer Placeholder 4">
            <a:extLst>
              <a:ext uri="{FF2B5EF4-FFF2-40B4-BE49-F238E27FC236}">
                <a16:creationId xmlns:a16="http://schemas.microsoft.com/office/drawing/2014/main" id="{970006B4-C8DD-4836-A49E-2C87C00206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978CE02E-C637-4E30-9C73-FF00432DF7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BDFF9A-9172-466D-B558-64FC65619ABD}" type="slidenum">
              <a:rPr lang="en-AU" smtClean="0"/>
              <a:t>‹#›</a:t>
            </a:fld>
            <a:endParaRPr lang="en-AU"/>
          </a:p>
        </p:txBody>
      </p:sp>
      <p:sp>
        <p:nvSpPr>
          <p:cNvPr id="9" name="Rectangle 8">
            <a:extLst>
              <a:ext uri="{FF2B5EF4-FFF2-40B4-BE49-F238E27FC236}">
                <a16:creationId xmlns:a16="http://schemas.microsoft.com/office/drawing/2014/main" id="{5C07FD6A-3DA8-4B87-A2E0-C7D6A702C8A3}"/>
              </a:ext>
            </a:extLst>
          </p:cNvPr>
          <p:cNvSpPr/>
          <p:nvPr userDrawn="1"/>
        </p:nvSpPr>
        <p:spPr>
          <a:xfrm>
            <a:off x="139113" y="1566313"/>
            <a:ext cx="198511" cy="3725374"/>
          </a:xfrm>
          <a:prstGeom prst="rect">
            <a:avLst/>
          </a:prstGeom>
          <a:solidFill>
            <a:srgbClr val="E846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3360395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4" r:id="rId5"/>
    <p:sldLayoutId id="2147483655" r:id="rId6"/>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png"/><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21.svg"/></Relationships>
</file>

<file path=ppt/slides/_rels/slide1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png"/><Relationship Id="rId1" Type="http://schemas.openxmlformats.org/officeDocument/2006/relationships/slideLayout" Target="../slideLayouts/slideLayout5.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27.svg"/></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png"/><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21.svg"/></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9.svg"/><Relationship Id="rId7" Type="http://schemas.openxmlformats.org/officeDocument/2006/relationships/image" Target="../media/image33.svg"/><Relationship Id="rId2" Type="http://schemas.openxmlformats.org/officeDocument/2006/relationships/image" Target="../media/image28.png"/><Relationship Id="rId1" Type="http://schemas.openxmlformats.org/officeDocument/2006/relationships/slideLayout" Target="../slideLayouts/slideLayout5.xml"/><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png"/><Relationship Id="rId9" Type="http://schemas.openxmlformats.org/officeDocument/2006/relationships/image" Target="../media/image9.svg"/></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9.svg"/><Relationship Id="rId7" Type="http://schemas.openxmlformats.org/officeDocument/2006/relationships/image" Target="../media/image31.svg"/><Relationship Id="rId2" Type="http://schemas.openxmlformats.org/officeDocument/2006/relationships/image" Target="../media/image28.png"/><Relationship Id="rId1" Type="http://schemas.openxmlformats.org/officeDocument/2006/relationships/slideLayout" Target="../slideLayouts/slideLayout5.xml"/><Relationship Id="rId6" Type="http://schemas.openxmlformats.org/officeDocument/2006/relationships/image" Target="../media/image3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33.svg"/></Relationships>
</file>

<file path=ppt/slides/_rels/slide15.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11.svg"/><Relationship Id="rId3" Type="http://schemas.openxmlformats.org/officeDocument/2006/relationships/image" Target="../media/image29.svg"/><Relationship Id="rId7" Type="http://schemas.openxmlformats.org/officeDocument/2006/relationships/image" Target="../media/image31.svg"/><Relationship Id="rId12" Type="http://schemas.openxmlformats.org/officeDocument/2006/relationships/image" Target="../media/image10.png"/><Relationship Id="rId2" Type="http://schemas.openxmlformats.org/officeDocument/2006/relationships/image" Target="../media/image28.png"/><Relationship Id="rId1" Type="http://schemas.openxmlformats.org/officeDocument/2006/relationships/slideLayout" Target="../slideLayouts/slideLayout5.xml"/><Relationship Id="rId6" Type="http://schemas.openxmlformats.org/officeDocument/2006/relationships/image" Target="../media/image30.png"/><Relationship Id="rId11" Type="http://schemas.openxmlformats.org/officeDocument/2006/relationships/image" Target="../media/image13.svg"/><Relationship Id="rId5" Type="http://schemas.openxmlformats.org/officeDocument/2006/relationships/image" Target="../media/image9.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33.svg"/></Relationships>
</file>

<file path=ppt/slides/_rels/slide16.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11.svg"/><Relationship Id="rId3" Type="http://schemas.openxmlformats.org/officeDocument/2006/relationships/image" Target="../media/image29.svg"/><Relationship Id="rId7" Type="http://schemas.openxmlformats.org/officeDocument/2006/relationships/image" Target="../media/image31.svg"/><Relationship Id="rId12" Type="http://schemas.openxmlformats.org/officeDocument/2006/relationships/image" Target="../media/image10.png"/><Relationship Id="rId2" Type="http://schemas.openxmlformats.org/officeDocument/2006/relationships/image" Target="../media/image28.png"/><Relationship Id="rId1" Type="http://schemas.openxmlformats.org/officeDocument/2006/relationships/slideLayout" Target="../slideLayouts/slideLayout5.xml"/><Relationship Id="rId6" Type="http://schemas.openxmlformats.org/officeDocument/2006/relationships/image" Target="../media/image30.png"/><Relationship Id="rId11" Type="http://schemas.openxmlformats.org/officeDocument/2006/relationships/image" Target="../media/image13.svg"/><Relationship Id="rId5" Type="http://schemas.openxmlformats.org/officeDocument/2006/relationships/image" Target="../media/image9.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33.svg"/></Relationships>
</file>

<file path=ppt/slides/_rels/slide17.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11.svg"/><Relationship Id="rId3" Type="http://schemas.openxmlformats.org/officeDocument/2006/relationships/image" Target="../media/image29.svg"/><Relationship Id="rId7" Type="http://schemas.openxmlformats.org/officeDocument/2006/relationships/image" Target="../media/image31.svg"/><Relationship Id="rId12" Type="http://schemas.openxmlformats.org/officeDocument/2006/relationships/image" Target="../media/image10.png"/><Relationship Id="rId2" Type="http://schemas.openxmlformats.org/officeDocument/2006/relationships/image" Target="../media/image28.png"/><Relationship Id="rId1" Type="http://schemas.openxmlformats.org/officeDocument/2006/relationships/slideLayout" Target="../slideLayouts/slideLayout5.xml"/><Relationship Id="rId6" Type="http://schemas.openxmlformats.org/officeDocument/2006/relationships/image" Target="../media/image30.png"/><Relationship Id="rId11" Type="http://schemas.openxmlformats.org/officeDocument/2006/relationships/image" Target="../media/image13.svg"/><Relationship Id="rId5" Type="http://schemas.openxmlformats.org/officeDocument/2006/relationships/image" Target="../media/image9.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33.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9.svg"/><Relationship Id="rId7" Type="http://schemas.openxmlformats.org/officeDocument/2006/relationships/image" Target="../media/image25.svg"/><Relationship Id="rId2" Type="http://schemas.openxmlformats.org/officeDocument/2006/relationships/image" Target="../media/image28.png"/><Relationship Id="rId1" Type="http://schemas.openxmlformats.org/officeDocument/2006/relationships/slideLayout" Target="../slideLayouts/slideLayout5.xml"/><Relationship Id="rId6" Type="http://schemas.openxmlformats.org/officeDocument/2006/relationships/image" Target="../media/image24.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5.xml"/><Relationship Id="rId5" Type="http://schemas.openxmlformats.org/officeDocument/2006/relationships/image" Target="../media/image13.sv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hyperlink" Target="#_ftnref1"/><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9.svg"/><Relationship Id="rId7" Type="http://schemas.openxmlformats.org/officeDocument/2006/relationships/image" Target="../media/image25.svg"/><Relationship Id="rId2" Type="http://schemas.openxmlformats.org/officeDocument/2006/relationships/image" Target="../media/image28.png"/><Relationship Id="rId1" Type="http://schemas.openxmlformats.org/officeDocument/2006/relationships/slideLayout" Target="../slideLayouts/slideLayout5.xml"/><Relationship Id="rId6" Type="http://schemas.openxmlformats.org/officeDocument/2006/relationships/image" Target="../media/image24.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39.svg"/><Relationship Id="rId3" Type="http://schemas.openxmlformats.org/officeDocument/2006/relationships/image" Target="../media/image37.svg"/><Relationship Id="rId7" Type="http://schemas.openxmlformats.org/officeDocument/2006/relationships/image" Target="../media/image13.svg"/><Relationship Id="rId12" Type="http://schemas.openxmlformats.org/officeDocument/2006/relationships/image" Target="../media/image38.png"/><Relationship Id="rId2" Type="http://schemas.openxmlformats.org/officeDocument/2006/relationships/image" Target="../media/image36.png"/><Relationship Id="rId1" Type="http://schemas.openxmlformats.org/officeDocument/2006/relationships/slideLayout" Target="../slideLayouts/slideLayout5.xml"/><Relationship Id="rId6" Type="http://schemas.openxmlformats.org/officeDocument/2006/relationships/image" Target="../media/image12.png"/><Relationship Id="rId11" Type="http://schemas.openxmlformats.org/officeDocument/2006/relationships/image" Target="../media/image11.svg"/><Relationship Id="rId5" Type="http://schemas.openxmlformats.org/officeDocument/2006/relationships/image" Target="../media/image29.svg"/><Relationship Id="rId15" Type="http://schemas.openxmlformats.org/officeDocument/2006/relationships/image" Target="../media/image41.svg"/><Relationship Id="rId10" Type="http://schemas.openxmlformats.org/officeDocument/2006/relationships/image" Target="../media/image10.png"/><Relationship Id="rId4" Type="http://schemas.openxmlformats.org/officeDocument/2006/relationships/image" Target="../media/image28.png"/><Relationship Id="rId9" Type="http://schemas.openxmlformats.org/officeDocument/2006/relationships/image" Target="../media/image9.svg"/><Relationship Id="rId14" Type="http://schemas.openxmlformats.org/officeDocument/2006/relationships/image" Target="../media/image4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8D03E-2D94-4C72-A489-BC3F2809700D}"/>
              </a:ext>
            </a:extLst>
          </p:cNvPr>
          <p:cNvSpPr>
            <a:spLocks noGrp="1"/>
          </p:cNvSpPr>
          <p:nvPr>
            <p:ph type="ctrTitle"/>
          </p:nvPr>
        </p:nvSpPr>
        <p:spPr>
          <a:xfrm>
            <a:off x="585637" y="3429000"/>
            <a:ext cx="10656000" cy="724096"/>
          </a:xfrm>
        </p:spPr>
        <p:txBody>
          <a:bodyPr>
            <a:normAutofit fontScale="90000"/>
          </a:bodyPr>
          <a:lstStyle/>
          <a:p>
            <a:br>
              <a:rPr lang="en-AU" dirty="0"/>
            </a:br>
            <a:br>
              <a:rPr lang="en-AU" dirty="0"/>
            </a:br>
            <a:r>
              <a:rPr lang="en-AU" dirty="0"/>
              <a:t>Grouping for aggregated turnover purposes</a:t>
            </a:r>
          </a:p>
        </p:txBody>
      </p:sp>
    </p:spTree>
    <p:extLst>
      <p:ext uri="{BB962C8B-B14F-4D97-AF65-F5344CB8AC3E}">
        <p14:creationId xmlns:p14="http://schemas.microsoft.com/office/powerpoint/2010/main" val="4186029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365125"/>
            <a:ext cx="10515600" cy="1325563"/>
          </a:xfrm>
        </p:spPr>
        <p:txBody>
          <a:bodyPr/>
          <a:lstStyle/>
          <a:p>
            <a:r>
              <a:rPr lang="en-US" dirty="0"/>
              <a:t>Learning objectives</a:t>
            </a:r>
            <a:endParaRPr lang="en-AU" dirty="0"/>
          </a:p>
        </p:txBody>
      </p:sp>
      <p:sp>
        <p:nvSpPr>
          <p:cNvPr id="2" name="Content Placeholder 1"/>
          <p:cNvSpPr>
            <a:spLocks noGrp="1"/>
          </p:cNvSpPr>
          <p:nvPr>
            <p:ph idx="1"/>
          </p:nvPr>
        </p:nvSpPr>
        <p:spPr>
          <a:xfrm>
            <a:off x="818271" y="1690688"/>
            <a:ext cx="10515600" cy="4351338"/>
          </a:xfrm>
        </p:spPr>
        <p:txBody>
          <a:bodyPr>
            <a:normAutofit/>
          </a:bodyPr>
          <a:lstStyle/>
          <a:p>
            <a:pPr algn="just">
              <a:spcBef>
                <a:spcPts val="600"/>
              </a:spcBef>
              <a:spcAft>
                <a:spcPts val="600"/>
              </a:spcAft>
            </a:pPr>
            <a:r>
              <a:rPr lang="en-AU" dirty="0">
                <a:effectLst/>
                <a:latin typeface="Calibri" panose="020F0502020204030204" pitchFamily="34" charset="0"/>
                <a:ea typeface="Times New Roman" panose="02020603050405020304" pitchFamily="18" charset="0"/>
                <a:cs typeface="Times New Roman" panose="02020603050405020304" pitchFamily="18" charset="0"/>
              </a:rPr>
              <a:t>A practical case study-based examination of the grouping rules when working out aggregated turnover provisions for numerous tax concessions</a:t>
            </a:r>
          </a:p>
          <a:p>
            <a:pPr algn="just">
              <a:spcBef>
                <a:spcPts val="600"/>
              </a:spcBef>
              <a:spcAft>
                <a:spcPts val="600"/>
              </a:spcAft>
            </a:pPr>
            <a:r>
              <a:rPr lang="en-AU" dirty="0">
                <a:effectLst/>
                <a:latin typeface="Calibri" panose="020F0502020204030204" pitchFamily="34" charset="0"/>
                <a:ea typeface="Times New Roman" panose="02020603050405020304" pitchFamily="18" charset="0"/>
                <a:cs typeface="Times New Roman" panose="02020603050405020304" pitchFamily="18" charset="0"/>
              </a:rPr>
              <a:t>At the conclusion of this training session, participants should be able to explain:</a:t>
            </a:r>
          </a:p>
          <a:p>
            <a:pPr marL="663575" lvl="1" indent="-342900" algn="just">
              <a:spcBef>
                <a:spcPts val="600"/>
              </a:spcBef>
              <a:spcAft>
                <a:spcPts val="600"/>
              </a:spcAft>
              <a:buSzPts val="1100"/>
              <a:tabLst>
                <a:tab pos="1706245" algn="l"/>
              </a:tabLst>
            </a:pPr>
            <a:r>
              <a:rPr lang="en-AU" sz="24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why the </a:t>
            </a:r>
            <a:r>
              <a:rPr lang="en-AU" sz="24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connected entity and affiliate tests are relevant </a:t>
            </a:r>
            <a:r>
              <a:rPr lang="en-AU" sz="24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in determining eligibility for concessions</a:t>
            </a:r>
          </a:p>
          <a:p>
            <a:pPr marL="663575" lvl="1" indent="-342900" algn="just">
              <a:spcBef>
                <a:spcPts val="600"/>
              </a:spcBef>
              <a:spcAft>
                <a:spcPts val="600"/>
              </a:spcAft>
              <a:buSzPts val="1100"/>
              <a:tabLst>
                <a:tab pos="1706245" algn="l"/>
              </a:tabLst>
            </a:pPr>
            <a:r>
              <a:rPr lang="en-AU" sz="24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when </a:t>
            </a:r>
            <a:r>
              <a:rPr lang="en-AU" sz="24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one entity directly and indirectly controls another entity </a:t>
            </a:r>
            <a:r>
              <a:rPr lang="en-AU" sz="24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for the purposes of the connected entity rules</a:t>
            </a:r>
          </a:p>
          <a:p>
            <a:pPr marL="663575" lvl="1" indent="-342900" algn="just">
              <a:spcBef>
                <a:spcPts val="600"/>
              </a:spcBef>
              <a:spcAft>
                <a:spcPts val="600"/>
              </a:spcAft>
              <a:buSzPts val="1100"/>
              <a:tabLst>
                <a:tab pos="1706245" algn="l"/>
              </a:tabLst>
            </a:pPr>
            <a:r>
              <a:rPr lang="en-AU" sz="24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when the </a:t>
            </a:r>
            <a:r>
              <a:rPr lang="en-AU" sz="24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Commissioner may exercise his discretion </a:t>
            </a:r>
            <a:r>
              <a:rPr lang="en-AU" sz="24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that an entity does not control another entity</a:t>
            </a:r>
          </a:p>
          <a:p>
            <a:pPr marL="663575" lvl="1" indent="-342900" algn="just">
              <a:spcBef>
                <a:spcPts val="600"/>
              </a:spcBef>
              <a:spcAft>
                <a:spcPts val="600"/>
              </a:spcAft>
              <a:buSzPts val="1100"/>
              <a:tabLst>
                <a:tab pos="1706245" algn="l"/>
              </a:tabLst>
            </a:pPr>
            <a:r>
              <a:rPr lang="en-AU" sz="24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when an </a:t>
            </a:r>
            <a:r>
              <a:rPr lang="en-AU" sz="24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individual’s spouse or child is an affiliate of the individual</a:t>
            </a:r>
          </a:p>
          <a:p>
            <a:pPr lvl="1"/>
            <a:endParaRPr lang="en-US" dirty="0"/>
          </a:p>
        </p:txBody>
      </p:sp>
      <p:sp>
        <p:nvSpPr>
          <p:cNvPr id="4" name="TextBox 3">
            <a:extLst>
              <a:ext uri="{FF2B5EF4-FFF2-40B4-BE49-F238E27FC236}">
                <a16:creationId xmlns:a16="http://schemas.microsoft.com/office/drawing/2014/main" id="{72BB19FA-1187-1531-FF11-69EB22DAB1DD}"/>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1</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6774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5F8E1-A4E5-4A64-A690-A054748BCE55}"/>
              </a:ext>
            </a:extLst>
          </p:cNvPr>
          <p:cNvSpPr>
            <a:spLocks noGrp="1"/>
          </p:cNvSpPr>
          <p:nvPr>
            <p:ph type="title"/>
          </p:nvPr>
        </p:nvSpPr>
        <p:spPr/>
        <p:txBody>
          <a:bodyPr/>
          <a:lstStyle/>
          <a:p>
            <a:r>
              <a:rPr lang="en-AU" dirty="0"/>
              <a:t>Introduction</a:t>
            </a:r>
          </a:p>
        </p:txBody>
      </p:sp>
      <p:sp>
        <p:nvSpPr>
          <p:cNvPr id="3" name="Content Placeholder 2">
            <a:extLst>
              <a:ext uri="{FF2B5EF4-FFF2-40B4-BE49-F238E27FC236}">
                <a16:creationId xmlns:a16="http://schemas.microsoft.com/office/drawing/2014/main" id="{F4607412-4D34-4F08-B41C-2ECF41931C94}"/>
              </a:ext>
            </a:extLst>
          </p:cNvPr>
          <p:cNvSpPr>
            <a:spLocks noGrp="1"/>
          </p:cNvSpPr>
          <p:nvPr>
            <p:ph idx="1"/>
          </p:nvPr>
        </p:nvSpPr>
        <p:spPr>
          <a:xfrm>
            <a:off x="638162" y="1597821"/>
            <a:ext cx="10515600" cy="5040000"/>
          </a:xfrm>
        </p:spPr>
        <p:txBody>
          <a:bodyPr>
            <a:normAutofit fontScale="92500" lnSpcReduction="10000"/>
          </a:bodyPr>
          <a:lstStyle/>
          <a:p>
            <a:pPr marL="0" indent="0" algn="just">
              <a:spcBef>
                <a:spcPts val="600"/>
              </a:spcBef>
              <a:spcAft>
                <a:spcPts val="100"/>
              </a:spcAft>
              <a:buNone/>
            </a:pPr>
            <a:r>
              <a:rPr lang="en-AU" dirty="0">
                <a:effectLst/>
                <a:latin typeface="Calibri" panose="020F0502020204030204" pitchFamily="34" charset="0"/>
                <a:ea typeface="Times New Roman" panose="02020603050405020304" pitchFamily="18" charset="0"/>
                <a:cs typeface="Times New Roman" panose="02020603050405020304" pitchFamily="18" charset="0"/>
              </a:rPr>
              <a:t>There are several </a:t>
            </a:r>
            <a:r>
              <a:rPr lang="en-AU" b="1" dirty="0">
                <a:effectLst/>
                <a:latin typeface="Calibri" panose="020F0502020204030204" pitchFamily="34" charset="0"/>
                <a:ea typeface="Times New Roman" panose="02020603050405020304" pitchFamily="18" charset="0"/>
                <a:cs typeface="Times New Roman" panose="02020603050405020304" pitchFamily="18" charset="0"/>
              </a:rPr>
              <a:t>key steps in calculating an entity’s aggregated turnover</a:t>
            </a:r>
            <a:r>
              <a:rPr lang="en-AU" dirty="0">
                <a:effectLst/>
                <a:latin typeface="Calibri" panose="020F0502020204030204" pitchFamily="34" charset="0"/>
                <a:ea typeface="Times New Roman" panose="02020603050405020304" pitchFamily="18" charset="0"/>
                <a:cs typeface="Times New Roman" panose="02020603050405020304" pitchFamily="18" charset="0"/>
              </a:rPr>
              <a:t>:</a:t>
            </a:r>
          </a:p>
          <a:p>
            <a:pPr marL="0" indent="0" algn="just">
              <a:spcBef>
                <a:spcPts val="600"/>
              </a:spcBef>
              <a:spcAft>
                <a:spcPts val="100"/>
              </a:spcAft>
              <a:buNone/>
            </a:pPr>
            <a:endParaRPr lang="en-AU" dirty="0">
              <a:effectLst/>
              <a:latin typeface="Calibri" panose="020F0502020204030204" pitchFamily="34" charset="0"/>
              <a:ea typeface="Times New Roman" panose="02020603050405020304" pitchFamily="18" charset="0"/>
              <a:cs typeface="Times New Roman" panose="02020603050405020304" pitchFamily="18" charset="0"/>
            </a:endParaRPr>
          </a:p>
          <a:p>
            <a:pPr marL="422275" indent="-285750" algn="just">
              <a:spcBef>
                <a:spcPts val="100"/>
              </a:spcBef>
              <a:spcAft>
                <a:spcPts val="600"/>
              </a:spcAft>
              <a:buFont typeface="+mj-lt"/>
              <a:buAutoNum type="arabicPeriod"/>
            </a:pPr>
            <a:r>
              <a:rPr lang="en-AU" dirty="0">
                <a:effectLst/>
                <a:latin typeface="Calibri" panose="020F0502020204030204" pitchFamily="34" charset="0"/>
                <a:ea typeface="Times New Roman" panose="02020603050405020304" pitchFamily="18" charset="0"/>
                <a:cs typeface="Times New Roman" panose="02020603050405020304" pitchFamily="18" charset="0"/>
              </a:rPr>
              <a:t>Determining the meaning of annual turnover</a:t>
            </a:r>
          </a:p>
          <a:p>
            <a:pPr marL="422275" indent="-285750" algn="just">
              <a:spcBef>
                <a:spcPts val="100"/>
              </a:spcBef>
              <a:spcAft>
                <a:spcPts val="600"/>
              </a:spcAft>
              <a:buFont typeface="+mj-lt"/>
              <a:buAutoNum type="arabicPeriod"/>
            </a:pPr>
            <a:r>
              <a:rPr lang="en-AU" dirty="0">
                <a:latin typeface="Calibri" panose="020F0502020204030204" pitchFamily="34" charset="0"/>
                <a:ea typeface="Times New Roman" panose="02020603050405020304" pitchFamily="18" charset="0"/>
                <a:cs typeface="Times New Roman" panose="02020603050405020304" pitchFamily="18" charset="0"/>
              </a:rPr>
              <a:t>W</a:t>
            </a:r>
            <a:r>
              <a:rPr lang="en-AU" dirty="0">
                <a:effectLst/>
                <a:latin typeface="Calibri" panose="020F0502020204030204" pitchFamily="34" charset="0"/>
                <a:ea typeface="Times New Roman" panose="02020603050405020304" pitchFamily="18" charset="0"/>
                <a:cs typeface="Times New Roman" panose="02020603050405020304" pitchFamily="18" charset="0"/>
              </a:rPr>
              <a:t>orking out which entities (if any) are </a:t>
            </a:r>
            <a:r>
              <a:rPr lang="en-AU" b="1" dirty="0">
                <a:effectLst/>
                <a:latin typeface="Calibri" panose="020F0502020204030204" pitchFamily="34" charset="0"/>
                <a:ea typeface="Times New Roman" panose="02020603050405020304" pitchFamily="18" charset="0"/>
                <a:cs typeface="Times New Roman" panose="02020603050405020304" pitchFamily="18" charset="0"/>
              </a:rPr>
              <a:t>connected with</a:t>
            </a:r>
            <a:r>
              <a:rPr lang="en-AU" dirty="0">
                <a:effectLst/>
                <a:latin typeface="Calibri" panose="020F0502020204030204" pitchFamily="34" charset="0"/>
                <a:ea typeface="Times New Roman" panose="02020603050405020304" pitchFamily="18" charset="0"/>
                <a:cs typeface="Times New Roman" panose="02020603050405020304" pitchFamily="18" charset="0"/>
              </a:rPr>
              <a:t> the taxpayer</a:t>
            </a:r>
          </a:p>
          <a:p>
            <a:pPr marL="422275" indent="-285750" algn="just">
              <a:spcBef>
                <a:spcPts val="600"/>
              </a:spcBef>
              <a:spcAft>
                <a:spcPts val="600"/>
              </a:spcAft>
              <a:buFont typeface="+mj-lt"/>
              <a:buAutoNum type="arabicPeriod"/>
            </a:pPr>
            <a:r>
              <a:rPr lang="en-AU" dirty="0">
                <a:latin typeface="Calibri" panose="020F0502020204030204" pitchFamily="34" charset="0"/>
                <a:ea typeface="Times New Roman" panose="02020603050405020304" pitchFamily="18" charset="0"/>
                <a:cs typeface="Times New Roman" panose="02020603050405020304" pitchFamily="18" charset="0"/>
              </a:rPr>
              <a:t>W</a:t>
            </a:r>
            <a:r>
              <a:rPr lang="en-AU" dirty="0">
                <a:effectLst/>
                <a:latin typeface="Calibri" panose="020F0502020204030204" pitchFamily="34" charset="0"/>
                <a:ea typeface="Times New Roman" panose="02020603050405020304" pitchFamily="18" charset="0"/>
                <a:cs typeface="Times New Roman" panose="02020603050405020304" pitchFamily="18" charset="0"/>
              </a:rPr>
              <a:t>orking out which entities (if any) are </a:t>
            </a:r>
            <a:r>
              <a:rPr lang="en-AU" b="1" dirty="0">
                <a:effectLst/>
                <a:latin typeface="Calibri" panose="020F0502020204030204" pitchFamily="34" charset="0"/>
                <a:ea typeface="Times New Roman" panose="02020603050405020304" pitchFamily="18" charset="0"/>
                <a:cs typeface="Times New Roman" panose="02020603050405020304" pitchFamily="18" charset="0"/>
              </a:rPr>
              <a:t>affiliates</a:t>
            </a:r>
            <a:r>
              <a:rPr lang="en-AU" dirty="0">
                <a:effectLst/>
                <a:latin typeface="Calibri" panose="020F0502020204030204" pitchFamily="34" charset="0"/>
                <a:ea typeface="Times New Roman" panose="02020603050405020304" pitchFamily="18" charset="0"/>
                <a:cs typeface="Times New Roman" panose="02020603050405020304" pitchFamily="18" charset="0"/>
              </a:rPr>
              <a:t> of the taxpayer for the income year</a:t>
            </a:r>
          </a:p>
          <a:p>
            <a:pPr marL="422275" indent="-285750" algn="just">
              <a:spcBef>
                <a:spcPts val="600"/>
              </a:spcBef>
              <a:spcAft>
                <a:spcPts val="600"/>
              </a:spcAft>
              <a:buFont typeface="+mj-lt"/>
              <a:buAutoNum type="arabicPeriod"/>
            </a:pPr>
            <a:r>
              <a:rPr lang="en-AU" dirty="0">
                <a:latin typeface="Calibri" panose="020F0502020204030204" pitchFamily="34" charset="0"/>
                <a:ea typeface="Times New Roman" panose="02020603050405020304" pitchFamily="18" charset="0"/>
                <a:cs typeface="Times New Roman" panose="02020603050405020304" pitchFamily="18" charset="0"/>
              </a:rPr>
              <a:t>C</a:t>
            </a:r>
            <a:r>
              <a:rPr lang="en-AU" dirty="0">
                <a:effectLst/>
                <a:latin typeface="Calibri" panose="020F0502020204030204" pitchFamily="34" charset="0"/>
                <a:ea typeface="Times New Roman" panose="02020603050405020304" pitchFamily="18" charset="0"/>
                <a:cs typeface="Times New Roman" panose="02020603050405020304" pitchFamily="18" charset="0"/>
              </a:rPr>
              <a:t>alculating the </a:t>
            </a:r>
            <a:r>
              <a:rPr lang="en-AU" b="1" dirty="0">
                <a:effectLst/>
                <a:latin typeface="Calibri" panose="020F0502020204030204" pitchFamily="34" charset="0"/>
                <a:ea typeface="Times New Roman" panose="02020603050405020304" pitchFamily="18" charset="0"/>
                <a:cs typeface="Times New Roman" panose="02020603050405020304" pitchFamily="18" charset="0"/>
              </a:rPr>
              <a:t>annual turnover</a:t>
            </a:r>
            <a:r>
              <a:rPr lang="en-AU" dirty="0">
                <a:effectLst/>
                <a:latin typeface="Calibri" panose="020F0502020204030204" pitchFamily="34" charset="0"/>
                <a:ea typeface="Times New Roman" panose="02020603050405020304" pitchFamily="18" charset="0"/>
                <a:cs typeface="Times New Roman" panose="02020603050405020304" pitchFamily="18" charset="0"/>
              </a:rPr>
              <a:t> of the taxpayer, each connected entity and each affiliate</a:t>
            </a:r>
          </a:p>
          <a:p>
            <a:pPr marL="422275" indent="-285750" algn="just">
              <a:spcBef>
                <a:spcPts val="600"/>
              </a:spcBef>
              <a:spcAft>
                <a:spcPts val="600"/>
              </a:spcAft>
              <a:buFont typeface="+mj-lt"/>
              <a:buAutoNum type="arabicPeriod"/>
            </a:pPr>
            <a:r>
              <a:rPr lang="en-AU" dirty="0">
                <a:effectLst/>
                <a:latin typeface="Calibri" panose="020F0502020204030204" pitchFamily="34" charset="0"/>
                <a:ea typeface="Times New Roman" panose="02020603050405020304" pitchFamily="18" charset="0"/>
                <a:cs typeface="Times New Roman" panose="02020603050405020304" pitchFamily="18" charset="0"/>
              </a:rPr>
              <a:t>Adding up each of the annual turnovers to arrive at the </a:t>
            </a:r>
            <a:r>
              <a:rPr lang="en-AU" b="1" dirty="0">
                <a:effectLst/>
                <a:latin typeface="Calibri" panose="020F0502020204030204" pitchFamily="34" charset="0"/>
                <a:ea typeface="Times New Roman" panose="02020603050405020304" pitchFamily="18" charset="0"/>
                <a:cs typeface="Times New Roman" panose="02020603050405020304" pitchFamily="18" charset="0"/>
              </a:rPr>
              <a:t>aggregated turnover</a:t>
            </a:r>
            <a:r>
              <a:rPr lang="en-AU" dirty="0">
                <a:effectLst/>
                <a:latin typeface="Calibri" panose="020F0502020204030204" pitchFamily="34" charset="0"/>
                <a:ea typeface="Times New Roman" panose="02020603050405020304" pitchFamily="18" charset="0"/>
                <a:cs typeface="Times New Roman" panose="02020603050405020304" pitchFamily="18" charset="0"/>
              </a:rPr>
              <a:t> of the taxpayer and taking into account all exclusions</a:t>
            </a:r>
          </a:p>
          <a:p>
            <a:pPr lvl="1" algn="just">
              <a:spcBef>
                <a:spcPts val="600"/>
              </a:spcBef>
              <a:spcAft>
                <a:spcPts val="600"/>
              </a:spcAft>
            </a:pPr>
            <a:r>
              <a:rPr lang="en-AU" sz="2400" dirty="0">
                <a:effectLst/>
                <a:latin typeface="Calibri" panose="020F0502020204030204" pitchFamily="34" charset="0"/>
                <a:ea typeface="Times New Roman" panose="02020603050405020304" pitchFamily="18" charset="0"/>
                <a:cs typeface="Times New Roman" panose="02020603050405020304" pitchFamily="18" charset="0"/>
              </a:rPr>
              <a:t>The 4</a:t>
            </a:r>
            <a:r>
              <a:rPr lang="en-AU" sz="2400" baseline="30000" dirty="0">
                <a:effectLst/>
                <a:latin typeface="Calibri" panose="020F0502020204030204" pitchFamily="34" charset="0"/>
                <a:ea typeface="Times New Roman" panose="02020603050405020304" pitchFamily="18" charset="0"/>
                <a:cs typeface="Times New Roman" panose="02020603050405020304" pitchFamily="18" charset="0"/>
              </a:rPr>
              <a:t>th</a:t>
            </a:r>
            <a:r>
              <a:rPr lang="en-AU" sz="2400" dirty="0">
                <a:effectLst/>
                <a:latin typeface="Calibri" panose="020F0502020204030204" pitchFamily="34" charset="0"/>
                <a:ea typeface="Times New Roman" panose="02020603050405020304" pitchFamily="18" charset="0"/>
                <a:cs typeface="Times New Roman" panose="02020603050405020304" pitchFamily="18" charset="0"/>
              </a:rPr>
              <a:t> &amp; 5</a:t>
            </a:r>
            <a:r>
              <a:rPr lang="en-AU" sz="2400" baseline="30000" dirty="0">
                <a:effectLst/>
                <a:latin typeface="Calibri" panose="020F0502020204030204" pitchFamily="34" charset="0"/>
                <a:ea typeface="Times New Roman" panose="02020603050405020304" pitchFamily="18" charset="0"/>
                <a:cs typeface="Times New Roman" panose="02020603050405020304" pitchFamily="18" charset="0"/>
              </a:rPr>
              <a:t>th</a:t>
            </a:r>
            <a:r>
              <a:rPr lang="en-AU" sz="2400" dirty="0">
                <a:effectLst/>
                <a:latin typeface="Calibri" panose="020F0502020204030204" pitchFamily="34" charset="0"/>
                <a:ea typeface="Times New Roman" panose="02020603050405020304" pitchFamily="18" charset="0"/>
                <a:cs typeface="Times New Roman" panose="02020603050405020304" pitchFamily="18" charset="0"/>
              </a:rPr>
              <a:t> steps often require adjustments, e.g., the exclusion of dealings between members of the ‘group’ and annualising turnovers of businesses carried on for part of a year </a:t>
            </a:r>
          </a:p>
          <a:p>
            <a:pPr lvl="1" algn="just">
              <a:spcBef>
                <a:spcPts val="600"/>
              </a:spcBef>
              <a:spcAft>
                <a:spcPts val="600"/>
              </a:spcAft>
            </a:pPr>
            <a:r>
              <a:rPr lang="en-AU" sz="2400" dirty="0">
                <a:effectLst/>
                <a:latin typeface="Calibri" panose="020F0502020204030204" pitchFamily="34" charset="0"/>
                <a:ea typeface="Times New Roman" panose="02020603050405020304" pitchFamily="18" charset="0"/>
                <a:cs typeface="Times New Roman" panose="02020603050405020304" pitchFamily="18" charset="0"/>
              </a:rPr>
              <a:t>This paper focuses on the grouping rules </a:t>
            </a:r>
            <a:r>
              <a:rPr lang="en-AU" sz="2400" dirty="0">
                <a:effectLst/>
                <a:latin typeface="Calibri" panose="020F0502020204030204" pitchFamily="34" charset="0"/>
                <a:ea typeface="Times New Roman" panose="02020603050405020304" pitchFamily="18" charset="0"/>
                <a:cs typeface="Calibri" panose="020F0502020204030204" pitchFamily="34" charset="0"/>
              </a:rPr>
              <a:t>—</a:t>
            </a:r>
            <a:r>
              <a:rPr lang="en-AU" sz="2400" dirty="0">
                <a:effectLst/>
                <a:latin typeface="Calibri" panose="020F0502020204030204" pitchFamily="34" charset="0"/>
                <a:ea typeface="Times New Roman" panose="02020603050405020304" pitchFamily="18" charset="0"/>
                <a:cs typeface="Times New Roman" panose="02020603050405020304" pitchFamily="18" charset="0"/>
              </a:rPr>
              <a:t> i.e. the 2</a:t>
            </a:r>
            <a:r>
              <a:rPr lang="en-AU" sz="2400" baseline="30000" dirty="0">
                <a:effectLst/>
                <a:latin typeface="Calibri" panose="020F0502020204030204" pitchFamily="34" charset="0"/>
                <a:ea typeface="Times New Roman" panose="02020603050405020304" pitchFamily="18" charset="0"/>
                <a:cs typeface="Times New Roman" panose="02020603050405020304" pitchFamily="18" charset="0"/>
              </a:rPr>
              <a:t>nd</a:t>
            </a:r>
            <a:r>
              <a:rPr lang="en-AU" sz="2400" dirty="0">
                <a:effectLst/>
                <a:latin typeface="Calibri" panose="020F0502020204030204" pitchFamily="34" charset="0"/>
                <a:ea typeface="Times New Roman" panose="02020603050405020304" pitchFamily="18" charset="0"/>
                <a:cs typeface="Times New Roman" panose="02020603050405020304" pitchFamily="18" charset="0"/>
              </a:rPr>
              <a:t> and 3</a:t>
            </a:r>
            <a:r>
              <a:rPr lang="en-AU" sz="2400" baseline="30000" dirty="0">
                <a:effectLst/>
                <a:latin typeface="Calibri" panose="020F0502020204030204" pitchFamily="34" charset="0"/>
                <a:ea typeface="Times New Roman" panose="02020603050405020304" pitchFamily="18" charset="0"/>
                <a:cs typeface="Times New Roman" panose="02020603050405020304" pitchFamily="18" charset="0"/>
              </a:rPr>
              <a:t>rd</a:t>
            </a:r>
            <a:r>
              <a:rPr lang="en-AU" sz="2400" dirty="0">
                <a:effectLst/>
                <a:latin typeface="Calibri" panose="020F0502020204030204" pitchFamily="34" charset="0"/>
                <a:ea typeface="Times New Roman" panose="02020603050405020304" pitchFamily="18" charset="0"/>
                <a:cs typeface="Times New Roman" panose="02020603050405020304" pitchFamily="18" charset="0"/>
              </a:rPr>
              <a:t> steps</a:t>
            </a:r>
          </a:p>
          <a:p>
            <a:endParaRPr lang="en-AU" dirty="0"/>
          </a:p>
        </p:txBody>
      </p:sp>
      <p:sp>
        <p:nvSpPr>
          <p:cNvPr id="4" name="TextBox 3">
            <a:extLst>
              <a:ext uri="{FF2B5EF4-FFF2-40B4-BE49-F238E27FC236}">
                <a16:creationId xmlns:a16="http://schemas.microsoft.com/office/drawing/2014/main" id="{3D5C69B1-2A23-DC4A-9138-5C587BB804A0}"/>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4</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9408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5F8E1-A4E5-4A64-A690-A054748BCE55}"/>
              </a:ext>
            </a:extLst>
          </p:cNvPr>
          <p:cNvSpPr>
            <a:spLocks noGrp="1"/>
          </p:cNvSpPr>
          <p:nvPr>
            <p:ph type="title"/>
          </p:nvPr>
        </p:nvSpPr>
        <p:spPr/>
        <p:txBody>
          <a:bodyPr/>
          <a:lstStyle/>
          <a:p>
            <a:r>
              <a:rPr lang="en-AU" dirty="0"/>
              <a:t>Key ideas</a:t>
            </a:r>
          </a:p>
        </p:txBody>
      </p:sp>
      <p:sp>
        <p:nvSpPr>
          <p:cNvPr id="3" name="Content Placeholder 2">
            <a:extLst>
              <a:ext uri="{FF2B5EF4-FFF2-40B4-BE49-F238E27FC236}">
                <a16:creationId xmlns:a16="http://schemas.microsoft.com/office/drawing/2014/main" id="{F4607412-4D34-4F08-B41C-2ECF41931C94}"/>
              </a:ext>
            </a:extLst>
          </p:cNvPr>
          <p:cNvSpPr>
            <a:spLocks noGrp="1"/>
          </p:cNvSpPr>
          <p:nvPr>
            <p:ph idx="1"/>
          </p:nvPr>
        </p:nvSpPr>
        <p:spPr>
          <a:xfrm>
            <a:off x="707433" y="1373831"/>
            <a:ext cx="10515600" cy="5472000"/>
          </a:xfrm>
        </p:spPr>
        <p:txBody>
          <a:bodyPr>
            <a:normAutofit fontScale="92500"/>
          </a:bodyPr>
          <a:lstStyle/>
          <a:p>
            <a:pPr algn="just">
              <a:spcBef>
                <a:spcPts val="600"/>
              </a:spcBef>
              <a:spcAft>
                <a:spcPts val="600"/>
              </a:spcAft>
            </a:pPr>
            <a:r>
              <a:rPr lang="en-AU" sz="3100" dirty="0">
                <a:latin typeface="Calibri" panose="020F0502020204030204" pitchFamily="34" charset="0"/>
                <a:ea typeface="Times New Roman" panose="02020603050405020304" pitchFamily="18" charset="0"/>
                <a:cs typeface="Times New Roman" panose="02020603050405020304" pitchFamily="18" charset="0"/>
              </a:rPr>
              <a:t>Aggregated turnover — essential for determining eligibility for tax concessions</a:t>
            </a:r>
          </a:p>
          <a:p>
            <a:pPr algn="just">
              <a:spcBef>
                <a:spcPts val="600"/>
              </a:spcBef>
              <a:spcAft>
                <a:spcPts val="600"/>
              </a:spcAft>
            </a:pPr>
            <a:r>
              <a:rPr lang="en-AU" sz="3100" dirty="0">
                <a:effectLst/>
                <a:latin typeface="Calibri" panose="020F0502020204030204" pitchFamily="34" charset="0"/>
                <a:ea typeface="Times New Roman" panose="02020603050405020304" pitchFamily="18" charset="0"/>
                <a:cs typeface="Times New Roman" panose="02020603050405020304" pitchFamily="18" charset="0"/>
              </a:rPr>
              <a:t>Must establish which entities are ‘connected with’ taxpayer or ‘affiliates’ of taxpayer</a:t>
            </a:r>
          </a:p>
          <a:p>
            <a:pPr algn="just">
              <a:spcBef>
                <a:spcPts val="600"/>
              </a:spcBef>
              <a:spcAft>
                <a:spcPts val="600"/>
              </a:spcAft>
            </a:pPr>
            <a:r>
              <a:rPr lang="en-AU" sz="3100" dirty="0">
                <a:latin typeface="Calibri" panose="020F0502020204030204" pitchFamily="34" charset="0"/>
                <a:ea typeface="Times New Roman" panose="02020603050405020304" pitchFamily="18" charset="0"/>
                <a:cs typeface="Times New Roman" panose="02020603050405020304" pitchFamily="18" charset="0"/>
              </a:rPr>
              <a:t>‘Connected with’ is premised on concept of ‘control’</a:t>
            </a:r>
          </a:p>
          <a:p>
            <a:pPr lvl="1" algn="just">
              <a:spcBef>
                <a:spcPts val="600"/>
              </a:spcBef>
              <a:spcAft>
                <a:spcPts val="600"/>
              </a:spcAft>
            </a:pPr>
            <a:r>
              <a:rPr lang="en-AU" sz="2700" dirty="0">
                <a:effectLst/>
                <a:latin typeface="Calibri" panose="020F0502020204030204" pitchFamily="34" charset="0"/>
                <a:ea typeface="Times New Roman" panose="02020603050405020304" pitchFamily="18" charset="0"/>
                <a:cs typeface="Times New Roman" panose="02020603050405020304" pitchFamily="18" charset="0"/>
              </a:rPr>
              <a:t>Bright line tests, patter</a:t>
            </a:r>
            <a:r>
              <a:rPr lang="en-AU" sz="2700" dirty="0">
                <a:latin typeface="Calibri" panose="020F0502020204030204" pitchFamily="34" charset="0"/>
                <a:ea typeface="Times New Roman" panose="02020603050405020304" pitchFamily="18" charset="0"/>
                <a:cs typeface="Times New Roman" panose="02020603050405020304" pitchFamily="18" charset="0"/>
              </a:rPr>
              <a:t>n of distribution, Commissioner’s determination</a:t>
            </a:r>
          </a:p>
          <a:p>
            <a:pPr lvl="1" algn="just">
              <a:spcBef>
                <a:spcPts val="600"/>
              </a:spcBef>
              <a:spcAft>
                <a:spcPts val="600"/>
              </a:spcAft>
            </a:pPr>
            <a:r>
              <a:rPr lang="en-AU" sz="2700" dirty="0">
                <a:effectLst/>
                <a:latin typeface="Calibri" panose="020F0502020204030204" pitchFamily="34" charset="0"/>
                <a:ea typeface="Times New Roman" panose="02020603050405020304" pitchFamily="18" charset="0"/>
                <a:cs typeface="Times New Roman" panose="02020603050405020304" pitchFamily="18" charset="0"/>
              </a:rPr>
              <a:t>Indirect control </a:t>
            </a:r>
            <a:r>
              <a:rPr lang="en-AU" sz="2800" dirty="0">
                <a:latin typeface="Calibri" panose="020F0502020204030204" pitchFamily="34" charset="0"/>
                <a:ea typeface="Times New Roman" panose="02020603050405020304" pitchFamily="18" charset="0"/>
                <a:cs typeface="Times New Roman" panose="02020603050405020304" pitchFamily="18" charset="0"/>
              </a:rPr>
              <a:t>— </a:t>
            </a:r>
            <a:r>
              <a:rPr lang="en-AU" sz="2700" dirty="0">
                <a:effectLst/>
                <a:latin typeface="Calibri" panose="020F0502020204030204" pitchFamily="34" charset="0"/>
                <a:ea typeface="Times New Roman" panose="02020603050405020304" pitchFamily="18" charset="0"/>
                <a:cs typeface="Times New Roman" panose="02020603050405020304" pitchFamily="18" charset="0"/>
              </a:rPr>
              <a:t>direct control at each link</a:t>
            </a:r>
          </a:p>
          <a:p>
            <a:pPr algn="just">
              <a:spcBef>
                <a:spcPts val="600"/>
              </a:spcBef>
              <a:spcAft>
                <a:spcPts val="600"/>
              </a:spcAft>
            </a:pPr>
            <a:r>
              <a:rPr lang="en-AU" sz="3100" dirty="0">
                <a:latin typeface="Calibri" panose="020F0502020204030204" pitchFamily="34" charset="0"/>
                <a:ea typeface="Times New Roman" panose="02020603050405020304" pitchFamily="18" charset="0"/>
                <a:cs typeface="Times New Roman" panose="02020603050405020304" pitchFamily="18" charset="0"/>
              </a:rPr>
              <a:t>Affiliate relationship — one entity having influence over taxpayer’s decision making in relation to taxpayer’s business</a:t>
            </a:r>
          </a:p>
          <a:p>
            <a:pPr lvl="1" algn="just">
              <a:spcBef>
                <a:spcPts val="600"/>
              </a:spcBef>
              <a:spcAft>
                <a:spcPts val="600"/>
              </a:spcAft>
            </a:pPr>
            <a:r>
              <a:rPr lang="en-AU" sz="2700" dirty="0">
                <a:effectLst/>
                <a:latin typeface="Calibri" panose="020F0502020204030204" pitchFamily="34" charset="0"/>
                <a:ea typeface="Times New Roman" panose="02020603050405020304" pitchFamily="18" charset="0"/>
                <a:cs typeface="Times New Roman" panose="02020603050405020304" pitchFamily="18" charset="0"/>
              </a:rPr>
              <a:t>Mere legal or personal relationship is insufficient</a:t>
            </a:r>
          </a:p>
          <a:p>
            <a:pPr lvl="1" algn="just">
              <a:spcBef>
                <a:spcPts val="600"/>
              </a:spcBef>
              <a:spcAft>
                <a:spcPts val="600"/>
              </a:spcAft>
            </a:pPr>
            <a:r>
              <a:rPr lang="en-AU" sz="2700" dirty="0">
                <a:latin typeface="Calibri" panose="020F0502020204030204" pitchFamily="34" charset="0"/>
                <a:ea typeface="Times New Roman" panose="02020603050405020304" pitchFamily="18" charset="0"/>
                <a:cs typeface="Times New Roman" panose="02020603050405020304" pitchFamily="18" charset="0"/>
              </a:rPr>
              <a:t>Passively held CGT assets </a:t>
            </a:r>
            <a:r>
              <a:rPr lang="en-AU" sz="2800" dirty="0">
                <a:latin typeface="Calibri" panose="020F0502020204030204" pitchFamily="34" charset="0"/>
                <a:ea typeface="Times New Roman" panose="02020603050405020304" pitchFamily="18" charset="0"/>
                <a:cs typeface="Times New Roman" panose="02020603050405020304" pitchFamily="18" charset="0"/>
              </a:rPr>
              <a:t>—</a:t>
            </a:r>
            <a:r>
              <a:rPr lang="en-AU" sz="2700" dirty="0">
                <a:latin typeface="Calibri" panose="020F0502020204030204" pitchFamily="34" charset="0"/>
                <a:ea typeface="Times New Roman" panose="02020603050405020304" pitchFamily="18" charset="0"/>
                <a:cs typeface="Times New Roman" panose="02020603050405020304" pitchFamily="18" charset="0"/>
              </a:rPr>
              <a:t> spouse and minor child are deemed affiliates</a:t>
            </a:r>
            <a:endParaRPr lang="en-AU" sz="27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AU" dirty="0"/>
          </a:p>
        </p:txBody>
      </p:sp>
      <p:sp>
        <p:nvSpPr>
          <p:cNvPr id="4" name="TextBox 3">
            <a:extLst>
              <a:ext uri="{FF2B5EF4-FFF2-40B4-BE49-F238E27FC236}">
                <a16:creationId xmlns:a16="http://schemas.microsoft.com/office/drawing/2014/main" id="{5FC32FE4-EF00-5777-8FAC-92444249F818}"/>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3</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9734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FF3D2B-9AB7-427A-B813-86B8FE6FD179}"/>
              </a:ext>
            </a:extLst>
          </p:cNvPr>
          <p:cNvSpPr>
            <a:spLocks noGrp="1"/>
          </p:cNvSpPr>
          <p:nvPr>
            <p:ph idx="1"/>
          </p:nvPr>
        </p:nvSpPr>
        <p:spPr/>
        <p:txBody>
          <a:bodyPr>
            <a:normAutofit fontScale="92500"/>
          </a:bodyPr>
          <a:lstStyle/>
          <a:p>
            <a:pPr marL="0" lvl="1" indent="0">
              <a:buNone/>
            </a:pPr>
            <a:r>
              <a:rPr lang="en-US" sz="2133" b="1" dirty="0"/>
              <a:t>Small business entity</a:t>
            </a:r>
          </a:p>
          <a:p>
            <a:pPr marL="0" lvl="1" indent="0">
              <a:buNone/>
            </a:pPr>
            <a:r>
              <a:rPr lang="en-US" sz="2133" dirty="0"/>
              <a:t>An entity that:</a:t>
            </a:r>
          </a:p>
          <a:p>
            <a:pPr>
              <a:lnSpc>
                <a:spcPct val="100000"/>
              </a:lnSpc>
            </a:pPr>
            <a:r>
              <a:rPr lang="en-US" sz="2533" dirty="0"/>
              <a:t>carries on business in the current year and</a:t>
            </a:r>
          </a:p>
          <a:p>
            <a:pPr>
              <a:lnSpc>
                <a:spcPct val="100000"/>
              </a:lnSpc>
            </a:pPr>
            <a:r>
              <a:rPr lang="en-US" sz="2533" dirty="0"/>
              <a:t>satisfies aggregated turnover test </a:t>
            </a:r>
          </a:p>
          <a:p>
            <a:pPr marL="365125" lvl="1" indent="0">
              <a:buNone/>
            </a:pPr>
            <a:endParaRPr lang="en-US" sz="2133" dirty="0"/>
          </a:p>
          <a:p>
            <a:pPr marL="0" lvl="1" indent="0">
              <a:buNone/>
            </a:pPr>
            <a:r>
              <a:rPr lang="en-US" sz="2133" dirty="0"/>
              <a:t>To satisfy aggregated turnover limb entity </a:t>
            </a:r>
            <a:r>
              <a:rPr lang="en-US" sz="2133" b="1" dirty="0"/>
              <a:t>must meet at least one of the following conditions</a:t>
            </a:r>
            <a:r>
              <a:rPr lang="en-US" sz="2133" dirty="0"/>
              <a:t>:</a:t>
            </a:r>
          </a:p>
          <a:p>
            <a:pPr marL="0" lvl="1" indent="0">
              <a:lnSpc>
                <a:spcPct val="100000"/>
              </a:lnSpc>
              <a:buNone/>
            </a:pPr>
            <a:r>
              <a:rPr lang="en-US" sz="2133" dirty="0"/>
              <a:t>(a) entity carried on business in </a:t>
            </a:r>
            <a:r>
              <a:rPr lang="en-US" sz="2133" i="1" dirty="0">
                <a:solidFill>
                  <a:srgbClr val="083A3E"/>
                </a:solidFill>
              </a:rPr>
              <a:t>previous income year </a:t>
            </a:r>
            <a:r>
              <a:rPr lang="en-US" sz="2133" dirty="0"/>
              <a:t>and its aggregated turnover for that year &lt; $10 mill</a:t>
            </a:r>
          </a:p>
          <a:p>
            <a:pPr marL="0" lvl="1" indent="0">
              <a:lnSpc>
                <a:spcPct val="100000"/>
              </a:lnSpc>
              <a:buNone/>
            </a:pPr>
            <a:r>
              <a:rPr lang="en-US" sz="2133" dirty="0"/>
              <a:t>(b) entity’s aggregated turnover for current year is likely to be &lt;$10 mill — </a:t>
            </a:r>
            <a:r>
              <a:rPr lang="en-US" sz="2133" b="1" i="1" dirty="0"/>
              <a:t>estimated turnover </a:t>
            </a:r>
            <a:r>
              <a:rPr lang="en-US" sz="2133" dirty="0"/>
              <a:t>or</a:t>
            </a:r>
          </a:p>
          <a:p>
            <a:pPr marL="0" lvl="1" indent="0">
              <a:lnSpc>
                <a:spcPct val="100000"/>
              </a:lnSpc>
              <a:buNone/>
            </a:pPr>
            <a:r>
              <a:rPr lang="en-US" sz="2133" dirty="0"/>
              <a:t>(c) entity’s aggregated turnover for current year, worked out at year end, is &lt;$10 mill —  </a:t>
            </a:r>
            <a:r>
              <a:rPr lang="en-US" sz="2133" b="1" i="1" dirty="0"/>
              <a:t>actual turnover</a:t>
            </a:r>
          </a:p>
          <a:p>
            <a:pPr marL="0" lvl="1" indent="0">
              <a:buNone/>
            </a:pPr>
            <a:endParaRPr lang="en-US" sz="2133" dirty="0"/>
          </a:p>
        </p:txBody>
      </p:sp>
      <p:sp>
        <p:nvSpPr>
          <p:cNvPr id="3" name="Title 2">
            <a:extLst>
              <a:ext uri="{FF2B5EF4-FFF2-40B4-BE49-F238E27FC236}">
                <a16:creationId xmlns:a16="http://schemas.microsoft.com/office/drawing/2014/main" id="{F7B2DE02-075A-4264-9FA1-7D3E429F6E1A}"/>
              </a:ext>
            </a:extLst>
          </p:cNvPr>
          <p:cNvSpPr>
            <a:spLocks noGrp="1"/>
          </p:cNvSpPr>
          <p:nvPr>
            <p:ph type="title"/>
          </p:nvPr>
        </p:nvSpPr>
        <p:spPr/>
        <p:txBody>
          <a:bodyPr/>
          <a:lstStyle/>
          <a:p>
            <a:r>
              <a:rPr lang="en-US" dirty="0"/>
              <a:t>The definitions of an SBE and a CGT SBE</a:t>
            </a:r>
            <a:endParaRPr lang="en-AU" dirty="0"/>
          </a:p>
        </p:txBody>
      </p:sp>
      <p:sp>
        <p:nvSpPr>
          <p:cNvPr id="5" name="TextBox 4">
            <a:extLst>
              <a:ext uri="{FF2B5EF4-FFF2-40B4-BE49-F238E27FC236}">
                <a16:creationId xmlns:a16="http://schemas.microsoft.com/office/drawing/2014/main" id="{82E3FD57-89BE-4D03-99BB-FD08EB06199C}"/>
              </a:ext>
            </a:extLst>
          </p:cNvPr>
          <p:cNvSpPr txBox="1"/>
          <p:nvPr/>
        </p:nvSpPr>
        <p:spPr>
          <a:xfrm>
            <a:off x="8619512" y="1934042"/>
            <a:ext cx="3233821" cy="666977"/>
          </a:xfrm>
          <a:prstGeom prst="rect">
            <a:avLst/>
          </a:prstGeom>
          <a:noFill/>
          <a:ln w="15875">
            <a:solidFill>
              <a:srgbClr val="083A3E"/>
            </a:solidFill>
            <a:prstDash val="dash"/>
            <a:extLst>
              <a:ext uri="{C807C97D-BFC1-408E-A445-0C87EB9F89A2}">
                <ask:lineSketchStyleProps xmlns:ask="http://schemas.microsoft.com/office/drawing/2018/sketchyshapes" sd="1219033472">
                  <a:custGeom>
                    <a:avLst/>
                    <a:gdLst>
                      <a:gd name="connsiteX0" fmla="*/ 0 w 1619251"/>
                      <a:gd name="connsiteY0" fmla="*/ 0 h 830997"/>
                      <a:gd name="connsiteX1" fmla="*/ 523558 w 1619251"/>
                      <a:gd name="connsiteY1" fmla="*/ 0 h 830997"/>
                      <a:gd name="connsiteX2" fmla="*/ 1014731 w 1619251"/>
                      <a:gd name="connsiteY2" fmla="*/ 0 h 830997"/>
                      <a:gd name="connsiteX3" fmla="*/ 1619251 w 1619251"/>
                      <a:gd name="connsiteY3" fmla="*/ 0 h 830997"/>
                      <a:gd name="connsiteX4" fmla="*/ 1619251 w 1619251"/>
                      <a:gd name="connsiteY4" fmla="*/ 407189 h 830997"/>
                      <a:gd name="connsiteX5" fmla="*/ 1619251 w 1619251"/>
                      <a:gd name="connsiteY5" fmla="*/ 830997 h 830997"/>
                      <a:gd name="connsiteX6" fmla="*/ 1111886 w 1619251"/>
                      <a:gd name="connsiteY6" fmla="*/ 830997 h 830997"/>
                      <a:gd name="connsiteX7" fmla="*/ 604520 w 1619251"/>
                      <a:gd name="connsiteY7" fmla="*/ 830997 h 830997"/>
                      <a:gd name="connsiteX8" fmla="*/ 0 w 1619251"/>
                      <a:gd name="connsiteY8" fmla="*/ 830997 h 830997"/>
                      <a:gd name="connsiteX9" fmla="*/ 0 w 1619251"/>
                      <a:gd name="connsiteY9" fmla="*/ 440428 h 830997"/>
                      <a:gd name="connsiteX10" fmla="*/ 0 w 1619251"/>
                      <a:gd name="connsiteY10" fmla="*/ 0 h 830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9251" h="830997" extrusionOk="0">
                        <a:moveTo>
                          <a:pt x="0" y="0"/>
                        </a:moveTo>
                        <a:cubicBezTo>
                          <a:pt x="259055" y="-14624"/>
                          <a:pt x="332066" y="57536"/>
                          <a:pt x="523558" y="0"/>
                        </a:cubicBezTo>
                        <a:cubicBezTo>
                          <a:pt x="715050" y="-57536"/>
                          <a:pt x="832994" y="49818"/>
                          <a:pt x="1014731" y="0"/>
                        </a:cubicBezTo>
                        <a:cubicBezTo>
                          <a:pt x="1196468" y="-49818"/>
                          <a:pt x="1379311" y="48643"/>
                          <a:pt x="1619251" y="0"/>
                        </a:cubicBezTo>
                        <a:cubicBezTo>
                          <a:pt x="1630365" y="167148"/>
                          <a:pt x="1618331" y="312559"/>
                          <a:pt x="1619251" y="407189"/>
                        </a:cubicBezTo>
                        <a:cubicBezTo>
                          <a:pt x="1620171" y="501819"/>
                          <a:pt x="1618116" y="627735"/>
                          <a:pt x="1619251" y="830997"/>
                        </a:cubicBezTo>
                        <a:cubicBezTo>
                          <a:pt x="1483627" y="838467"/>
                          <a:pt x="1215589" y="785875"/>
                          <a:pt x="1111886" y="830997"/>
                        </a:cubicBezTo>
                        <a:cubicBezTo>
                          <a:pt x="1008184" y="876119"/>
                          <a:pt x="719407" y="803181"/>
                          <a:pt x="604520" y="830997"/>
                        </a:cubicBezTo>
                        <a:cubicBezTo>
                          <a:pt x="489633" y="858813"/>
                          <a:pt x="163470" y="769156"/>
                          <a:pt x="0" y="830997"/>
                        </a:cubicBezTo>
                        <a:cubicBezTo>
                          <a:pt x="-31022" y="692580"/>
                          <a:pt x="34630" y="554402"/>
                          <a:pt x="0" y="440428"/>
                        </a:cubicBezTo>
                        <a:cubicBezTo>
                          <a:pt x="-34630" y="326454"/>
                          <a:pt x="21200" y="111273"/>
                          <a:pt x="0" y="0"/>
                        </a:cubicBezTo>
                        <a:close/>
                      </a:path>
                    </a:pathLst>
                  </a:custGeom>
                  <ask:type>
                    <ask:lineSketchNone/>
                  </ask:type>
                </ask:lineSketchStyleProps>
              </a:ext>
            </a:extLst>
          </a:ln>
        </p:spPr>
        <p:txBody>
          <a:bodyPr wrap="square" rtlCol="0">
            <a:spAutoFit/>
          </a:bodyPr>
          <a:lstStyle/>
          <a:p>
            <a:pPr marL="721766"/>
            <a:r>
              <a:rPr lang="en-US" sz="1867" b="1" dirty="0">
                <a:latin typeface="Calibri" panose="020F0502020204030204" pitchFamily="34" charset="0"/>
                <a:cs typeface="Calibri" panose="020F0502020204030204" pitchFamily="34" charset="0"/>
              </a:rPr>
              <a:t>Reference: </a:t>
            </a:r>
          </a:p>
          <a:p>
            <a:pPr marL="721766"/>
            <a:r>
              <a:rPr lang="en-US" sz="1867" dirty="0">
                <a:latin typeface="Calibri" panose="020F0502020204030204" pitchFamily="34" charset="0"/>
                <a:cs typeface="Calibri" panose="020F0502020204030204" pitchFamily="34" charset="0"/>
              </a:rPr>
              <a:t>s. 328-110 ITAA 1997</a:t>
            </a:r>
            <a:endParaRPr lang="en-AU" sz="1867" dirty="0">
              <a:latin typeface="Calibri" panose="020F0502020204030204" pitchFamily="34" charset="0"/>
              <a:cs typeface="Calibri" panose="020F0502020204030204" pitchFamily="34" charset="0"/>
            </a:endParaRPr>
          </a:p>
        </p:txBody>
      </p:sp>
      <p:pic>
        <p:nvPicPr>
          <p:cNvPr id="7" name="Picture 6" descr="A picture containing text&#10;&#10;Description automatically generated">
            <a:extLst>
              <a:ext uri="{FF2B5EF4-FFF2-40B4-BE49-F238E27FC236}">
                <a16:creationId xmlns:a16="http://schemas.microsoft.com/office/drawing/2014/main" id="{2706628A-4995-CC42-211B-DB1FF75751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709" y="1762282"/>
            <a:ext cx="913026" cy="913026"/>
          </a:xfrm>
          <a:prstGeom prst="rect">
            <a:avLst/>
          </a:prstGeom>
        </p:spPr>
      </p:pic>
      <p:sp>
        <p:nvSpPr>
          <p:cNvPr id="8" name="TextBox 7">
            <a:extLst>
              <a:ext uri="{FF2B5EF4-FFF2-40B4-BE49-F238E27FC236}">
                <a16:creationId xmlns:a16="http://schemas.microsoft.com/office/drawing/2014/main" id="{A1DF422A-097C-220F-1EC3-85E413C222DD}"/>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34</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1418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FF3D2B-9AB7-427A-B813-86B8FE6FD179}"/>
              </a:ext>
            </a:extLst>
          </p:cNvPr>
          <p:cNvSpPr>
            <a:spLocks noGrp="1"/>
          </p:cNvSpPr>
          <p:nvPr>
            <p:ph idx="1"/>
          </p:nvPr>
        </p:nvSpPr>
        <p:spPr/>
        <p:txBody>
          <a:bodyPr/>
          <a:lstStyle/>
          <a:p>
            <a:pPr marL="0" lvl="1" indent="0">
              <a:buNone/>
            </a:pPr>
            <a:r>
              <a:rPr lang="en-US" sz="2133" b="1" dirty="0"/>
              <a:t>CGT small business entity </a:t>
            </a:r>
          </a:p>
          <a:p>
            <a:pPr marL="0" lvl="1" indent="0">
              <a:buNone/>
            </a:pPr>
            <a:r>
              <a:rPr lang="en-US" sz="2133" dirty="0"/>
              <a:t>An entity that would satisfy SBE definition if each reference in </a:t>
            </a:r>
            <a:br>
              <a:rPr lang="en-US" sz="2133" dirty="0"/>
            </a:br>
            <a:r>
              <a:rPr lang="en-US" sz="2133" dirty="0"/>
              <a:t>s. 328-110 to $10 million were instead a reference to $2 million</a:t>
            </a:r>
          </a:p>
          <a:p>
            <a:pPr marL="0" lvl="1" indent="0">
              <a:buNone/>
            </a:pPr>
            <a:endParaRPr lang="en-US" sz="2133" dirty="0"/>
          </a:p>
          <a:p>
            <a:pPr marL="0" lvl="1" indent="0">
              <a:buNone/>
            </a:pPr>
            <a:r>
              <a:rPr lang="en-US" sz="2133" b="1" dirty="0"/>
              <a:t>Concessions with modified aggregated turnover threshold for non-SBEs</a:t>
            </a:r>
          </a:p>
          <a:p>
            <a:pPr marL="0" lvl="1" indent="0">
              <a:buNone/>
            </a:pPr>
            <a:r>
              <a:rPr lang="en-US" sz="2133" dirty="0"/>
              <a:t>An entity that would satisfy SBE definition if each reference in s. 328-110 to $10 million were instead a reference to an alternative amount</a:t>
            </a:r>
          </a:p>
          <a:p>
            <a:pPr marL="0" lvl="1" indent="0">
              <a:buNone/>
            </a:pPr>
            <a:endParaRPr lang="en-US" sz="1067" dirty="0"/>
          </a:p>
          <a:p>
            <a:pPr marL="1007975" lvl="3" indent="0">
              <a:buNone/>
            </a:pPr>
            <a:r>
              <a:rPr lang="en-US" sz="2133" b="1" dirty="0"/>
              <a:t>Note</a:t>
            </a:r>
          </a:p>
          <a:p>
            <a:pPr marL="1007975" lvl="3" indent="0">
              <a:spcBef>
                <a:spcPts val="0"/>
              </a:spcBef>
              <a:buNone/>
            </a:pPr>
            <a:r>
              <a:rPr lang="en-US" sz="2133" dirty="0"/>
              <a:t>Unlike the CGT SBE concept, these other concessions do not create a new category of entity</a:t>
            </a:r>
          </a:p>
          <a:p>
            <a:pPr marL="0" lvl="1" indent="0">
              <a:buNone/>
            </a:pPr>
            <a:endParaRPr lang="en-US" sz="2133" dirty="0"/>
          </a:p>
          <a:p>
            <a:pPr marL="0" lvl="1" indent="0">
              <a:buNone/>
            </a:pPr>
            <a:endParaRPr lang="en-US" sz="2133" dirty="0"/>
          </a:p>
          <a:p>
            <a:pPr marL="0" lvl="1" indent="0">
              <a:buNone/>
            </a:pPr>
            <a:endParaRPr lang="en-US" sz="2133" dirty="0"/>
          </a:p>
          <a:p>
            <a:pPr lvl="1"/>
            <a:endParaRPr lang="en-US" sz="2133" dirty="0"/>
          </a:p>
          <a:p>
            <a:pPr marL="0" lvl="1" indent="0">
              <a:buNone/>
            </a:pPr>
            <a:endParaRPr lang="en-US" sz="2133" dirty="0"/>
          </a:p>
        </p:txBody>
      </p:sp>
      <p:sp>
        <p:nvSpPr>
          <p:cNvPr id="3" name="Title 2">
            <a:extLst>
              <a:ext uri="{FF2B5EF4-FFF2-40B4-BE49-F238E27FC236}">
                <a16:creationId xmlns:a16="http://schemas.microsoft.com/office/drawing/2014/main" id="{F7B2DE02-075A-4264-9FA1-7D3E429F6E1A}"/>
              </a:ext>
            </a:extLst>
          </p:cNvPr>
          <p:cNvSpPr>
            <a:spLocks noGrp="1"/>
          </p:cNvSpPr>
          <p:nvPr>
            <p:ph type="title"/>
          </p:nvPr>
        </p:nvSpPr>
        <p:spPr/>
        <p:txBody>
          <a:bodyPr/>
          <a:lstStyle/>
          <a:p>
            <a:r>
              <a:rPr lang="en-US" dirty="0"/>
              <a:t>The definition of an SBE and a CGT SBE</a:t>
            </a:r>
            <a:endParaRPr lang="en-AU" dirty="0"/>
          </a:p>
        </p:txBody>
      </p:sp>
      <p:sp>
        <p:nvSpPr>
          <p:cNvPr id="4" name="Rectangle 3">
            <a:extLst>
              <a:ext uri="{FF2B5EF4-FFF2-40B4-BE49-F238E27FC236}">
                <a16:creationId xmlns:a16="http://schemas.microsoft.com/office/drawing/2014/main" id="{BAD5F077-2E84-4D71-8DB7-59A3C6795255}"/>
              </a:ext>
            </a:extLst>
          </p:cNvPr>
          <p:cNvSpPr/>
          <p:nvPr/>
        </p:nvSpPr>
        <p:spPr>
          <a:xfrm>
            <a:off x="8636000" y="6570133"/>
            <a:ext cx="3217333" cy="304800"/>
          </a:xfrm>
          <a:prstGeom prst="rect">
            <a:avLst/>
          </a:prstGeom>
          <a:noFill/>
          <a:ln w="25400" cap="flat" cmpd="sng" algn="ctr">
            <a:noFill/>
            <a:prstDash val="soli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AU" sz="1867" dirty="0">
                <a:solidFill>
                  <a:srgbClr val="FFFFFF"/>
                </a:solidFill>
                <a:latin typeface="Open Sans"/>
              </a:rPr>
              <a:t>Ref </a:t>
            </a:r>
          </a:p>
          <a:p>
            <a:pPr algn="r"/>
            <a:endParaRPr lang="en-AU" sz="1867" dirty="0">
              <a:solidFill>
                <a:srgbClr val="FFFFFF"/>
              </a:solidFill>
              <a:latin typeface="Open Sans"/>
            </a:endParaRPr>
          </a:p>
        </p:txBody>
      </p:sp>
      <p:pic>
        <p:nvPicPr>
          <p:cNvPr id="6" name="Picture 5" descr="Graphical user interface, application&#10;&#10;Description automatically generated">
            <a:extLst>
              <a:ext uri="{FF2B5EF4-FFF2-40B4-BE49-F238E27FC236}">
                <a16:creationId xmlns:a16="http://schemas.microsoft.com/office/drawing/2014/main" id="{10034753-BB03-1DE2-0B1D-F8FABC8950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974" y="4166922"/>
            <a:ext cx="1127802" cy="1127802"/>
          </a:xfrm>
          <a:prstGeom prst="rect">
            <a:avLst/>
          </a:prstGeom>
        </p:spPr>
      </p:pic>
      <p:sp>
        <p:nvSpPr>
          <p:cNvPr id="7" name="TextBox 6">
            <a:extLst>
              <a:ext uri="{FF2B5EF4-FFF2-40B4-BE49-F238E27FC236}">
                <a16:creationId xmlns:a16="http://schemas.microsoft.com/office/drawing/2014/main" id="{B13919F3-818E-7A8A-D159-5E75DA3FED95}"/>
              </a:ext>
            </a:extLst>
          </p:cNvPr>
          <p:cNvSpPr txBox="1"/>
          <p:nvPr/>
        </p:nvSpPr>
        <p:spPr>
          <a:xfrm>
            <a:off x="8360876" y="2246396"/>
            <a:ext cx="3350443" cy="666977"/>
          </a:xfrm>
          <a:prstGeom prst="rect">
            <a:avLst/>
          </a:prstGeom>
          <a:noFill/>
          <a:ln w="15875">
            <a:solidFill>
              <a:srgbClr val="083A3E"/>
            </a:solidFill>
            <a:prstDash val="dash"/>
            <a:extLst>
              <a:ext uri="{C807C97D-BFC1-408E-A445-0C87EB9F89A2}">
                <ask:lineSketchStyleProps xmlns:ask="http://schemas.microsoft.com/office/drawing/2018/sketchyshapes" sd="1219033472">
                  <a:custGeom>
                    <a:avLst/>
                    <a:gdLst>
                      <a:gd name="connsiteX0" fmla="*/ 0 w 1619251"/>
                      <a:gd name="connsiteY0" fmla="*/ 0 h 830997"/>
                      <a:gd name="connsiteX1" fmla="*/ 523558 w 1619251"/>
                      <a:gd name="connsiteY1" fmla="*/ 0 h 830997"/>
                      <a:gd name="connsiteX2" fmla="*/ 1014731 w 1619251"/>
                      <a:gd name="connsiteY2" fmla="*/ 0 h 830997"/>
                      <a:gd name="connsiteX3" fmla="*/ 1619251 w 1619251"/>
                      <a:gd name="connsiteY3" fmla="*/ 0 h 830997"/>
                      <a:gd name="connsiteX4" fmla="*/ 1619251 w 1619251"/>
                      <a:gd name="connsiteY4" fmla="*/ 407189 h 830997"/>
                      <a:gd name="connsiteX5" fmla="*/ 1619251 w 1619251"/>
                      <a:gd name="connsiteY5" fmla="*/ 830997 h 830997"/>
                      <a:gd name="connsiteX6" fmla="*/ 1111886 w 1619251"/>
                      <a:gd name="connsiteY6" fmla="*/ 830997 h 830997"/>
                      <a:gd name="connsiteX7" fmla="*/ 604520 w 1619251"/>
                      <a:gd name="connsiteY7" fmla="*/ 830997 h 830997"/>
                      <a:gd name="connsiteX8" fmla="*/ 0 w 1619251"/>
                      <a:gd name="connsiteY8" fmla="*/ 830997 h 830997"/>
                      <a:gd name="connsiteX9" fmla="*/ 0 w 1619251"/>
                      <a:gd name="connsiteY9" fmla="*/ 440428 h 830997"/>
                      <a:gd name="connsiteX10" fmla="*/ 0 w 1619251"/>
                      <a:gd name="connsiteY10" fmla="*/ 0 h 830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9251" h="830997" extrusionOk="0">
                        <a:moveTo>
                          <a:pt x="0" y="0"/>
                        </a:moveTo>
                        <a:cubicBezTo>
                          <a:pt x="259055" y="-14624"/>
                          <a:pt x="332066" y="57536"/>
                          <a:pt x="523558" y="0"/>
                        </a:cubicBezTo>
                        <a:cubicBezTo>
                          <a:pt x="715050" y="-57536"/>
                          <a:pt x="832994" y="49818"/>
                          <a:pt x="1014731" y="0"/>
                        </a:cubicBezTo>
                        <a:cubicBezTo>
                          <a:pt x="1196468" y="-49818"/>
                          <a:pt x="1379311" y="48643"/>
                          <a:pt x="1619251" y="0"/>
                        </a:cubicBezTo>
                        <a:cubicBezTo>
                          <a:pt x="1630365" y="167148"/>
                          <a:pt x="1618331" y="312559"/>
                          <a:pt x="1619251" y="407189"/>
                        </a:cubicBezTo>
                        <a:cubicBezTo>
                          <a:pt x="1620171" y="501819"/>
                          <a:pt x="1618116" y="627735"/>
                          <a:pt x="1619251" y="830997"/>
                        </a:cubicBezTo>
                        <a:cubicBezTo>
                          <a:pt x="1483627" y="838467"/>
                          <a:pt x="1215589" y="785875"/>
                          <a:pt x="1111886" y="830997"/>
                        </a:cubicBezTo>
                        <a:cubicBezTo>
                          <a:pt x="1008184" y="876119"/>
                          <a:pt x="719407" y="803181"/>
                          <a:pt x="604520" y="830997"/>
                        </a:cubicBezTo>
                        <a:cubicBezTo>
                          <a:pt x="489633" y="858813"/>
                          <a:pt x="163470" y="769156"/>
                          <a:pt x="0" y="830997"/>
                        </a:cubicBezTo>
                        <a:cubicBezTo>
                          <a:pt x="-31022" y="692580"/>
                          <a:pt x="34630" y="554402"/>
                          <a:pt x="0" y="440428"/>
                        </a:cubicBezTo>
                        <a:cubicBezTo>
                          <a:pt x="-34630" y="326454"/>
                          <a:pt x="21200" y="111273"/>
                          <a:pt x="0" y="0"/>
                        </a:cubicBezTo>
                        <a:close/>
                      </a:path>
                    </a:pathLst>
                  </a:custGeom>
                  <ask:type>
                    <ask:lineSketchNone/>
                  </ask:type>
                </ask:lineSketchStyleProps>
              </a:ext>
            </a:extLst>
          </a:ln>
        </p:spPr>
        <p:txBody>
          <a:bodyPr wrap="square" rtlCol="0">
            <a:spAutoFit/>
          </a:bodyPr>
          <a:lstStyle/>
          <a:p>
            <a:pPr marL="721766"/>
            <a:r>
              <a:rPr lang="en-US" sz="1867" b="1" dirty="0">
                <a:latin typeface="Calibri" panose="020F0502020204030204" pitchFamily="34" charset="0"/>
                <a:cs typeface="Calibri" panose="020F0502020204030204" pitchFamily="34" charset="0"/>
              </a:rPr>
              <a:t>Reference: </a:t>
            </a:r>
          </a:p>
          <a:p>
            <a:pPr marL="721766"/>
            <a:r>
              <a:rPr lang="en-US" sz="1867" dirty="0">
                <a:latin typeface="Calibri" panose="020F0502020204030204" pitchFamily="34" charset="0"/>
                <a:cs typeface="Calibri" panose="020F0502020204030204" pitchFamily="34" charset="0"/>
              </a:rPr>
              <a:t>s. 152-10(1AA) ITAA 1997</a:t>
            </a:r>
            <a:endParaRPr lang="en-AU" sz="1867" dirty="0">
              <a:latin typeface="Calibri" panose="020F0502020204030204" pitchFamily="34" charset="0"/>
              <a:cs typeface="Calibri" panose="020F0502020204030204" pitchFamily="34" charset="0"/>
            </a:endParaRPr>
          </a:p>
        </p:txBody>
      </p:sp>
      <p:pic>
        <p:nvPicPr>
          <p:cNvPr id="8" name="Picture 7" descr="A picture containing text&#10;&#10;Description automatically generated">
            <a:extLst>
              <a:ext uri="{FF2B5EF4-FFF2-40B4-BE49-F238E27FC236}">
                <a16:creationId xmlns:a16="http://schemas.microsoft.com/office/drawing/2014/main" id="{1BA04C2B-ED23-14C4-5512-570DD909CB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79487" y="2035830"/>
            <a:ext cx="913026" cy="913026"/>
          </a:xfrm>
          <a:prstGeom prst="rect">
            <a:avLst/>
          </a:prstGeom>
        </p:spPr>
      </p:pic>
      <p:sp>
        <p:nvSpPr>
          <p:cNvPr id="9" name="TextBox 8">
            <a:extLst>
              <a:ext uri="{FF2B5EF4-FFF2-40B4-BE49-F238E27FC236}">
                <a16:creationId xmlns:a16="http://schemas.microsoft.com/office/drawing/2014/main" id="{EA725DB6-A0BF-B664-F320-281F1623C2C3}"/>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34</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562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5F8E1-A4E5-4A64-A690-A054748BCE55}"/>
              </a:ext>
            </a:extLst>
          </p:cNvPr>
          <p:cNvSpPr>
            <a:spLocks noGrp="1"/>
          </p:cNvSpPr>
          <p:nvPr>
            <p:ph type="title"/>
          </p:nvPr>
        </p:nvSpPr>
        <p:spPr/>
        <p:txBody>
          <a:bodyPr/>
          <a:lstStyle/>
          <a:p>
            <a:r>
              <a:rPr lang="en-AU" dirty="0"/>
              <a:t>Concessions with an aggregated turnover threshold</a:t>
            </a:r>
          </a:p>
        </p:txBody>
      </p:sp>
      <p:sp>
        <p:nvSpPr>
          <p:cNvPr id="3" name="Content Placeholder 2">
            <a:extLst>
              <a:ext uri="{FF2B5EF4-FFF2-40B4-BE49-F238E27FC236}">
                <a16:creationId xmlns:a16="http://schemas.microsoft.com/office/drawing/2014/main" id="{F4607412-4D34-4F08-B41C-2ECF41931C94}"/>
              </a:ext>
            </a:extLst>
          </p:cNvPr>
          <p:cNvSpPr>
            <a:spLocks noGrp="1"/>
          </p:cNvSpPr>
          <p:nvPr>
            <p:ph idx="1"/>
          </p:nvPr>
        </p:nvSpPr>
        <p:spPr>
          <a:xfrm>
            <a:off x="707433" y="1373831"/>
            <a:ext cx="10515600" cy="5472000"/>
          </a:xfrm>
        </p:spPr>
        <p:txBody>
          <a:bodyPr>
            <a:normAutofit lnSpcReduction="10000"/>
          </a:bodyPr>
          <a:lstStyle/>
          <a:p>
            <a:pPr algn="just">
              <a:spcBef>
                <a:spcPts val="600"/>
              </a:spcBef>
              <a:spcAft>
                <a:spcPts val="600"/>
              </a:spcAft>
            </a:pPr>
            <a:r>
              <a:rPr lang="en-AU" sz="3100" dirty="0">
                <a:latin typeface="Calibri" panose="020F0502020204030204" pitchFamily="34" charset="0"/>
                <a:ea typeface="Times New Roman" panose="02020603050405020304" pitchFamily="18" charset="0"/>
                <a:cs typeface="Times New Roman" panose="02020603050405020304" pitchFamily="18" charset="0"/>
              </a:rPr>
              <a:t>Around 40 tax concessions require taxpayer to have an aggregated turnover for the income year below a specified threshold, including:</a:t>
            </a:r>
          </a:p>
          <a:p>
            <a:pPr lvl="1" algn="just">
              <a:spcBef>
                <a:spcPts val="600"/>
              </a:spcBef>
              <a:spcAft>
                <a:spcPts val="600"/>
              </a:spcAft>
            </a:pPr>
            <a:r>
              <a:rPr lang="en-AU" sz="2700" dirty="0">
                <a:latin typeface="Calibri" panose="020F0502020204030204" pitchFamily="34" charset="0"/>
                <a:ea typeface="Times New Roman" panose="02020603050405020304" pitchFamily="18" charset="0"/>
                <a:cs typeface="Times New Roman" panose="02020603050405020304" pitchFamily="18" charset="0"/>
              </a:rPr>
              <a:t>CGT small business concessions — </a:t>
            </a:r>
            <a:r>
              <a:rPr lang="en-AU" sz="2700" b="1" dirty="0">
                <a:latin typeface="Calibri" panose="020F0502020204030204" pitchFamily="34" charset="0"/>
                <a:ea typeface="Times New Roman" panose="02020603050405020304" pitchFamily="18" charset="0"/>
                <a:cs typeface="Times New Roman" panose="02020603050405020304" pitchFamily="18" charset="0"/>
              </a:rPr>
              <a:t>$2m</a:t>
            </a:r>
          </a:p>
          <a:p>
            <a:pPr lvl="1" algn="just">
              <a:spcBef>
                <a:spcPts val="600"/>
              </a:spcBef>
              <a:spcAft>
                <a:spcPts val="600"/>
              </a:spcAft>
            </a:pPr>
            <a:r>
              <a:rPr lang="en-AU" sz="2700" dirty="0">
                <a:latin typeface="Calibri" panose="020F0502020204030204" pitchFamily="34" charset="0"/>
                <a:ea typeface="Times New Roman" panose="02020603050405020304" pitchFamily="18" charset="0"/>
                <a:cs typeface="Times New Roman" panose="02020603050405020304" pitchFamily="18" charset="0"/>
              </a:rPr>
              <a:t>Subdiv 328-D capital allowances concessions — </a:t>
            </a:r>
            <a:r>
              <a:rPr lang="en-AU" sz="2700" b="1" dirty="0">
                <a:latin typeface="Calibri" panose="020F0502020204030204" pitchFamily="34" charset="0"/>
                <a:ea typeface="Times New Roman" panose="02020603050405020304" pitchFamily="18" charset="0"/>
                <a:cs typeface="Times New Roman" panose="02020603050405020304" pitchFamily="18" charset="0"/>
              </a:rPr>
              <a:t>$10m</a:t>
            </a:r>
          </a:p>
          <a:p>
            <a:pPr lvl="1" algn="just">
              <a:spcBef>
                <a:spcPts val="600"/>
              </a:spcBef>
              <a:spcAft>
                <a:spcPts val="600"/>
              </a:spcAft>
            </a:pPr>
            <a:r>
              <a:rPr lang="en-AU" sz="2700" dirty="0">
                <a:latin typeface="Calibri" panose="020F0502020204030204" pitchFamily="34" charset="0"/>
                <a:ea typeface="Times New Roman" panose="02020603050405020304" pitchFamily="18" charset="0"/>
                <a:cs typeface="Times New Roman" panose="02020603050405020304" pitchFamily="18" charset="0"/>
              </a:rPr>
              <a:t>Refundable R&amp;D tax offset — </a:t>
            </a:r>
            <a:r>
              <a:rPr lang="en-AU" sz="2700" b="1" dirty="0">
                <a:latin typeface="Calibri" panose="020F0502020204030204" pitchFamily="34" charset="0"/>
                <a:ea typeface="Times New Roman" panose="02020603050405020304" pitchFamily="18" charset="0"/>
                <a:cs typeface="Times New Roman" panose="02020603050405020304" pitchFamily="18" charset="0"/>
              </a:rPr>
              <a:t>$20m</a:t>
            </a:r>
          </a:p>
          <a:p>
            <a:pPr lvl="1" algn="just">
              <a:spcBef>
                <a:spcPts val="600"/>
              </a:spcBef>
              <a:spcAft>
                <a:spcPts val="600"/>
              </a:spcAft>
            </a:pPr>
            <a:r>
              <a:rPr lang="en-AU" sz="2700" dirty="0">
                <a:latin typeface="Calibri" panose="020F0502020204030204" pitchFamily="34" charset="0"/>
                <a:ea typeface="Times New Roman" panose="02020603050405020304" pitchFamily="18" charset="0"/>
                <a:cs typeface="Times New Roman" panose="02020603050405020304" pitchFamily="18" charset="0"/>
              </a:rPr>
              <a:t>Skills and training boost, technology investment boost, proposed small business energy incentive, work-related devices FBT exemption, lower company tax rate, GST simplified accounting — </a:t>
            </a:r>
            <a:r>
              <a:rPr lang="en-AU" sz="2700" b="1" dirty="0">
                <a:latin typeface="Calibri" panose="020F0502020204030204" pitchFamily="34" charset="0"/>
                <a:ea typeface="Times New Roman" panose="02020603050405020304" pitchFamily="18" charset="0"/>
                <a:cs typeface="Times New Roman" panose="02020603050405020304" pitchFamily="18" charset="0"/>
              </a:rPr>
              <a:t>$50m</a:t>
            </a:r>
          </a:p>
          <a:p>
            <a:pPr lvl="1" algn="just">
              <a:spcBef>
                <a:spcPts val="600"/>
              </a:spcBef>
              <a:spcAft>
                <a:spcPts val="600"/>
              </a:spcAft>
            </a:pPr>
            <a:r>
              <a:rPr lang="en-AU" sz="2700" dirty="0">
                <a:latin typeface="Calibri" panose="020F0502020204030204" pitchFamily="34" charset="0"/>
                <a:ea typeface="Times New Roman" panose="02020603050405020304" pitchFamily="18" charset="0"/>
                <a:cs typeface="Times New Roman" panose="02020603050405020304" pitchFamily="18" charset="0"/>
              </a:rPr>
              <a:t>Temporary loss carry-back, temporary full expensing (to 30 June 2023) — </a:t>
            </a:r>
            <a:r>
              <a:rPr lang="en-AU" sz="2700" b="1" dirty="0">
                <a:latin typeface="Calibri" panose="020F0502020204030204" pitchFamily="34" charset="0"/>
                <a:ea typeface="Times New Roman" panose="02020603050405020304" pitchFamily="18" charset="0"/>
                <a:cs typeface="Times New Roman" panose="02020603050405020304" pitchFamily="18" charset="0"/>
              </a:rPr>
              <a:t>$5b</a:t>
            </a:r>
            <a:endParaRPr lang="en-AU" sz="2700" dirty="0">
              <a:latin typeface="Calibri" panose="020F0502020204030204" pitchFamily="34" charset="0"/>
              <a:ea typeface="Times New Roman" panose="02020603050405020304" pitchFamily="18" charset="0"/>
              <a:cs typeface="Times New Roman" panose="02020603050405020304" pitchFamily="18" charset="0"/>
            </a:endParaRPr>
          </a:p>
          <a:p>
            <a:pPr lvl="1" algn="just">
              <a:spcBef>
                <a:spcPts val="600"/>
              </a:spcBef>
              <a:spcAft>
                <a:spcPts val="600"/>
              </a:spcAft>
            </a:pPr>
            <a:endParaRPr lang="en-AU" sz="2700" dirty="0">
              <a:latin typeface="Calibri" panose="020F0502020204030204" pitchFamily="34" charset="0"/>
              <a:ea typeface="Times New Roman" panose="02020603050405020304" pitchFamily="18" charset="0"/>
              <a:cs typeface="Times New Roman" panose="02020603050405020304" pitchFamily="18" charset="0"/>
            </a:endParaRPr>
          </a:p>
          <a:p>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AU" dirty="0"/>
          </a:p>
        </p:txBody>
      </p:sp>
      <p:sp>
        <p:nvSpPr>
          <p:cNvPr id="4" name="TextBox 3">
            <a:extLst>
              <a:ext uri="{FF2B5EF4-FFF2-40B4-BE49-F238E27FC236}">
                <a16:creationId xmlns:a16="http://schemas.microsoft.com/office/drawing/2014/main" id="{499D4C31-A36F-BDAF-1DD4-C435F3DA426C}"/>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35</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5589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FF3D2B-9AB7-427A-B813-86B8FE6FD179}"/>
              </a:ext>
            </a:extLst>
          </p:cNvPr>
          <p:cNvSpPr>
            <a:spLocks noGrp="1"/>
          </p:cNvSpPr>
          <p:nvPr>
            <p:ph idx="1"/>
          </p:nvPr>
        </p:nvSpPr>
        <p:spPr/>
        <p:txBody>
          <a:bodyPr/>
          <a:lstStyle/>
          <a:p>
            <a:pPr marL="0" lvl="1" indent="0">
              <a:buNone/>
            </a:pPr>
            <a:r>
              <a:rPr lang="en-US" sz="2133" dirty="0"/>
              <a:t> </a:t>
            </a:r>
          </a:p>
        </p:txBody>
      </p:sp>
      <p:sp>
        <p:nvSpPr>
          <p:cNvPr id="3" name="Title 2">
            <a:extLst>
              <a:ext uri="{FF2B5EF4-FFF2-40B4-BE49-F238E27FC236}">
                <a16:creationId xmlns:a16="http://schemas.microsoft.com/office/drawing/2014/main" id="{F7B2DE02-075A-4264-9FA1-7D3E429F6E1A}"/>
              </a:ext>
            </a:extLst>
          </p:cNvPr>
          <p:cNvSpPr>
            <a:spLocks noGrp="1"/>
          </p:cNvSpPr>
          <p:nvPr>
            <p:ph type="title"/>
          </p:nvPr>
        </p:nvSpPr>
        <p:spPr>
          <a:xfrm>
            <a:off x="438085" y="18542"/>
            <a:ext cx="10515600" cy="1325563"/>
          </a:xfrm>
        </p:spPr>
        <p:txBody>
          <a:bodyPr>
            <a:normAutofit/>
          </a:bodyPr>
          <a:lstStyle/>
          <a:p>
            <a:r>
              <a:rPr lang="en-US" dirty="0"/>
              <a:t>Gutteridge v FCT – trust not ‘controlled’ by sole </a:t>
            </a:r>
            <a:br>
              <a:rPr lang="en-US" dirty="0"/>
            </a:br>
            <a:r>
              <a:rPr lang="en-US" dirty="0"/>
              <a:t>director of corporate trustee</a:t>
            </a:r>
            <a:endParaRPr lang="en-AU" dirty="0"/>
          </a:p>
        </p:txBody>
      </p:sp>
      <p:sp>
        <p:nvSpPr>
          <p:cNvPr id="6" name="Rectangle 5">
            <a:extLst>
              <a:ext uri="{FF2B5EF4-FFF2-40B4-BE49-F238E27FC236}">
                <a16:creationId xmlns:a16="http://schemas.microsoft.com/office/drawing/2014/main" id="{E2A008DF-D0A2-4E76-937E-A0AF04ADFFF8}"/>
              </a:ext>
            </a:extLst>
          </p:cNvPr>
          <p:cNvSpPr/>
          <p:nvPr/>
        </p:nvSpPr>
        <p:spPr>
          <a:xfrm>
            <a:off x="3361688" y="3340058"/>
            <a:ext cx="1384911" cy="816241"/>
          </a:xfrm>
          <a:prstGeom prst="rect">
            <a:avLst/>
          </a:prstGeom>
          <a:solidFill>
            <a:srgbClr val="EE6112">
              <a:alpha val="5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dirty="0">
                <a:solidFill>
                  <a:srgbClr val="083A3E"/>
                </a:solidFill>
              </a:rPr>
              <a:t>Trustee</a:t>
            </a:r>
          </a:p>
          <a:p>
            <a:pPr algn="ctr"/>
            <a:r>
              <a:rPr lang="en-US" sz="2133" dirty="0">
                <a:solidFill>
                  <a:srgbClr val="083A3E"/>
                </a:solidFill>
              </a:rPr>
              <a:t>Company</a:t>
            </a:r>
            <a:endParaRPr lang="en-AU" sz="2400" dirty="0">
              <a:solidFill>
                <a:srgbClr val="083A3E"/>
              </a:solidFill>
            </a:endParaRPr>
          </a:p>
        </p:txBody>
      </p:sp>
      <p:sp>
        <p:nvSpPr>
          <p:cNvPr id="8" name="TextBox 7">
            <a:extLst>
              <a:ext uri="{FF2B5EF4-FFF2-40B4-BE49-F238E27FC236}">
                <a16:creationId xmlns:a16="http://schemas.microsoft.com/office/drawing/2014/main" id="{B4209B1C-D408-43CB-8C0E-757B99CEDA6E}"/>
              </a:ext>
            </a:extLst>
          </p:cNvPr>
          <p:cNvSpPr txBox="1"/>
          <p:nvPr/>
        </p:nvSpPr>
        <p:spPr>
          <a:xfrm>
            <a:off x="1710704" y="2991130"/>
            <a:ext cx="1757575" cy="598556"/>
          </a:xfrm>
          <a:prstGeom prst="rect">
            <a:avLst/>
          </a:prstGeom>
          <a:noFill/>
        </p:spPr>
        <p:txBody>
          <a:bodyPr wrap="square" rtlCol="0">
            <a:spAutoFit/>
          </a:bodyPr>
          <a:lstStyle/>
          <a:p>
            <a:pPr algn="ctr"/>
            <a:r>
              <a:rPr lang="en-US" sz="1600" dirty="0">
                <a:latin typeface="Calibri" panose="020F0502020204030204" pitchFamily="34" charset="0"/>
                <a:cs typeface="Calibri" panose="020F0502020204030204" pitchFamily="34" charset="0"/>
              </a:rPr>
              <a:t>Sole Director and shareholder</a:t>
            </a:r>
            <a:endParaRPr lang="en-AU" sz="1600" dirty="0">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D3EF8D21-AA38-4518-9DF5-52312D8A76DD}"/>
              </a:ext>
            </a:extLst>
          </p:cNvPr>
          <p:cNvSpPr/>
          <p:nvPr/>
        </p:nvSpPr>
        <p:spPr>
          <a:xfrm>
            <a:off x="4346786" y="4133146"/>
            <a:ext cx="1384911" cy="748795"/>
          </a:xfrm>
          <a:prstGeom prst="rect">
            <a:avLst/>
          </a:prstGeom>
          <a:solidFill>
            <a:srgbClr val="EE6112">
              <a:alpha val="50000"/>
            </a:srgbClr>
          </a:solidFill>
          <a:ln>
            <a:solidFill>
              <a:srgbClr val="083A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83A3E"/>
                </a:solidFill>
              </a:rPr>
              <a:t>Trust</a:t>
            </a:r>
            <a:endParaRPr lang="en-AU" sz="2400" dirty="0">
              <a:solidFill>
                <a:srgbClr val="083A3E"/>
              </a:solidFill>
            </a:endParaRPr>
          </a:p>
        </p:txBody>
      </p:sp>
      <p:cxnSp>
        <p:nvCxnSpPr>
          <p:cNvPr id="10" name="Straight Arrow Connector 9">
            <a:extLst>
              <a:ext uri="{FF2B5EF4-FFF2-40B4-BE49-F238E27FC236}">
                <a16:creationId xmlns:a16="http://schemas.microsoft.com/office/drawing/2014/main" id="{EB18880B-93C6-4B39-AF0E-FD244FC240AD}"/>
              </a:ext>
            </a:extLst>
          </p:cNvPr>
          <p:cNvCxnSpPr>
            <a:cxnSpLocks/>
            <a:endCxn id="11" idx="0"/>
          </p:cNvCxnSpPr>
          <p:nvPr/>
        </p:nvCxnSpPr>
        <p:spPr>
          <a:xfrm flipH="1">
            <a:off x="1056523" y="2776662"/>
            <a:ext cx="1012646" cy="596182"/>
          </a:xfrm>
          <a:prstGeom prst="straightConnector1">
            <a:avLst/>
          </a:prstGeom>
          <a:ln w="19050">
            <a:solidFill>
              <a:srgbClr val="083A3E"/>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DCEE5DAF-DA10-404B-9D6C-FF5437FD52FF}"/>
              </a:ext>
            </a:extLst>
          </p:cNvPr>
          <p:cNvSpPr/>
          <p:nvPr/>
        </p:nvSpPr>
        <p:spPr>
          <a:xfrm>
            <a:off x="364067" y="3372844"/>
            <a:ext cx="1384911" cy="748795"/>
          </a:xfrm>
          <a:prstGeom prst="rect">
            <a:avLst/>
          </a:prstGeom>
          <a:solidFill>
            <a:srgbClr val="EE6112">
              <a:alpha val="50000"/>
            </a:srgbClr>
          </a:solidFill>
          <a:ln>
            <a:solidFill>
              <a:srgbClr val="083A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83A3E"/>
                </a:solidFill>
              </a:rPr>
              <a:t>Company</a:t>
            </a:r>
            <a:endParaRPr lang="en-AU" sz="2400" dirty="0">
              <a:solidFill>
                <a:srgbClr val="083A3E"/>
              </a:solidFill>
            </a:endParaRPr>
          </a:p>
        </p:txBody>
      </p:sp>
      <p:cxnSp>
        <p:nvCxnSpPr>
          <p:cNvPr id="12" name="Straight Arrow Connector 11">
            <a:extLst>
              <a:ext uri="{FF2B5EF4-FFF2-40B4-BE49-F238E27FC236}">
                <a16:creationId xmlns:a16="http://schemas.microsoft.com/office/drawing/2014/main" id="{F61A0372-F20F-46B9-88C5-0B3FD568E022}"/>
              </a:ext>
            </a:extLst>
          </p:cNvPr>
          <p:cNvCxnSpPr>
            <a:cxnSpLocks/>
            <a:endCxn id="6" idx="0"/>
          </p:cNvCxnSpPr>
          <p:nvPr/>
        </p:nvCxnSpPr>
        <p:spPr>
          <a:xfrm>
            <a:off x="2804241" y="2776662"/>
            <a:ext cx="1249903" cy="563396"/>
          </a:xfrm>
          <a:prstGeom prst="straightConnector1">
            <a:avLst/>
          </a:prstGeom>
          <a:ln w="19050">
            <a:solidFill>
              <a:srgbClr val="083A3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14FC3A2-CB6F-47D1-84C6-AA80452DAC59}"/>
              </a:ext>
            </a:extLst>
          </p:cNvPr>
          <p:cNvCxnSpPr>
            <a:cxnSpLocks/>
          </p:cNvCxnSpPr>
          <p:nvPr/>
        </p:nvCxnSpPr>
        <p:spPr>
          <a:xfrm flipH="1">
            <a:off x="4783799" y="2880347"/>
            <a:ext cx="1656485" cy="1003063"/>
          </a:xfrm>
          <a:prstGeom prst="straightConnector1">
            <a:avLst/>
          </a:prstGeom>
          <a:ln w="19050">
            <a:solidFill>
              <a:srgbClr val="083A3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779B8F2-7C8C-4E47-A022-D1C9C785EC92}"/>
              </a:ext>
            </a:extLst>
          </p:cNvPr>
          <p:cNvCxnSpPr>
            <a:cxnSpLocks/>
          </p:cNvCxnSpPr>
          <p:nvPr/>
        </p:nvCxnSpPr>
        <p:spPr>
          <a:xfrm>
            <a:off x="1018969" y="4431879"/>
            <a:ext cx="0" cy="806098"/>
          </a:xfrm>
          <a:prstGeom prst="straightConnector1">
            <a:avLst/>
          </a:prstGeom>
          <a:ln w="19050">
            <a:solidFill>
              <a:srgbClr val="FF0000"/>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199B46B-747C-49F0-814D-75B2CA176CD0}"/>
              </a:ext>
            </a:extLst>
          </p:cNvPr>
          <p:cNvSpPr txBox="1"/>
          <p:nvPr/>
        </p:nvSpPr>
        <p:spPr>
          <a:xfrm>
            <a:off x="337784" y="5349136"/>
            <a:ext cx="4932913" cy="748795"/>
          </a:xfrm>
          <a:prstGeom prst="rect">
            <a:avLst/>
          </a:prstGeom>
          <a:noFill/>
        </p:spPr>
        <p:txBody>
          <a:bodyPr wrap="square" rtlCol="0">
            <a:spAutoFit/>
          </a:bodyPr>
          <a:lstStyle/>
          <a:p>
            <a:pPr algn="ctr"/>
            <a:r>
              <a:rPr lang="en-US" sz="2133" dirty="0">
                <a:solidFill>
                  <a:srgbClr val="FF0000"/>
                </a:solidFill>
                <a:latin typeface="Calibri" panose="020F0502020204030204" pitchFamily="34" charset="0"/>
                <a:cs typeface="Calibri" panose="020F0502020204030204" pitchFamily="34" charset="0"/>
              </a:rPr>
              <a:t>These entities connected only if controlled by the same 3</a:t>
            </a:r>
            <a:r>
              <a:rPr lang="en-US" sz="2133" baseline="30000" dirty="0">
                <a:solidFill>
                  <a:srgbClr val="FF0000"/>
                </a:solidFill>
                <a:latin typeface="Calibri" panose="020F0502020204030204" pitchFamily="34" charset="0"/>
                <a:cs typeface="Calibri" panose="020F0502020204030204" pitchFamily="34" charset="0"/>
              </a:rPr>
              <a:t>rd</a:t>
            </a:r>
            <a:r>
              <a:rPr lang="en-US" sz="2133" dirty="0">
                <a:solidFill>
                  <a:srgbClr val="FF0000"/>
                </a:solidFill>
                <a:latin typeface="Calibri" panose="020F0502020204030204" pitchFamily="34" charset="0"/>
                <a:cs typeface="Calibri" panose="020F0502020204030204" pitchFamily="34" charset="0"/>
              </a:rPr>
              <a:t> party</a:t>
            </a:r>
            <a:endParaRPr lang="en-AU" sz="2400" dirty="0">
              <a:solidFill>
                <a:srgbClr val="FF0000"/>
              </a:solidFill>
              <a:latin typeface="Calibri" panose="020F0502020204030204" pitchFamily="34" charset="0"/>
              <a:cs typeface="Calibri" panose="020F0502020204030204" pitchFamily="34" charset="0"/>
            </a:endParaRPr>
          </a:p>
        </p:txBody>
      </p:sp>
      <p:cxnSp>
        <p:nvCxnSpPr>
          <p:cNvPr id="16" name="Straight Arrow Connector 15">
            <a:extLst>
              <a:ext uri="{FF2B5EF4-FFF2-40B4-BE49-F238E27FC236}">
                <a16:creationId xmlns:a16="http://schemas.microsoft.com/office/drawing/2014/main" id="{AAD5E498-A05F-456E-8063-D4A3A5BB3B71}"/>
              </a:ext>
            </a:extLst>
          </p:cNvPr>
          <p:cNvCxnSpPr>
            <a:cxnSpLocks/>
          </p:cNvCxnSpPr>
          <p:nvPr/>
        </p:nvCxnSpPr>
        <p:spPr>
          <a:xfrm flipH="1">
            <a:off x="1018970" y="5220739"/>
            <a:ext cx="424473" cy="0"/>
          </a:xfrm>
          <a:prstGeom prst="straightConnector1">
            <a:avLst/>
          </a:prstGeom>
          <a:ln w="19050">
            <a:solidFill>
              <a:srgbClr val="FF0000"/>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F1246B6-EEE3-4728-87B8-ECEA6EBB8EFA}"/>
              </a:ext>
            </a:extLst>
          </p:cNvPr>
          <p:cNvCxnSpPr>
            <a:cxnSpLocks/>
          </p:cNvCxnSpPr>
          <p:nvPr/>
        </p:nvCxnSpPr>
        <p:spPr>
          <a:xfrm>
            <a:off x="4363400" y="4839464"/>
            <a:ext cx="0" cy="390260"/>
          </a:xfrm>
          <a:prstGeom prst="straightConnector1">
            <a:avLst/>
          </a:prstGeom>
          <a:ln w="19050">
            <a:solidFill>
              <a:srgbClr val="FF0000"/>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1179EA6-C628-4030-A21B-D7B8024738DC}"/>
              </a:ext>
            </a:extLst>
          </p:cNvPr>
          <p:cNvSpPr txBox="1"/>
          <p:nvPr/>
        </p:nvSpPr>
        <p:spPr>
          <a:xfrm>
            <a:off x="5481671" y="1246470"/>
            <a:ext cx="2645595" cy="1077026"/>
          </a:xfrm>
          <a:prstGeom prst="rect">
            <a:avLst/>
          </a:prstGeom>
          <a:noFill/>
        </p:spPr>
        <p:txBody>
          <a:bodyPr wrap="square" rtlCol="0">
            <a:spAutoFit/>
          </a:bodyPr>
          <a:lstStyle/>
          <a:p>
            <a:pPr algn="ctr"/>
            <a:r>
              <a:rPr lang="en-US" sz="2133" dirty="0">
                <a:latin typeface="Calibri" panose="020F0502020204030204" pitchFamily="34" charset="0"/>
                <a:cs typeface="Calibri" panose="020F0502020204030204" pitchFamily="34" charset="0"/>
              </a:rPr>
              <a:t>Taxpayers</a:t>
            </a:r>
          </a:p>
          <a:p>
            <a:pPr algn="ctr"/>
            <a:r>
              <a:rPr lang="en-US" sz="2133" dirty="0">
                <a:latin typeface="Calibri" panose="020F0502020204030204" pitchFamily="34" charset="0"/>
                <a:cs typeface="Calibri" panose="020F0502020204030204" pitchFamily="34" charset="0"/>
              </a:rPr>
              <a:t>(Mr and Mrs Gutteridge)</a:t>
            </a:r>
          </a:p>
        </p:txBody>
      </p:sp>
      <p:sp>
        <p:nvSpPr>
          <p:cNvPr id="20" name="TextBox 19">
            <a:extLst>
              <a:ext uri="{FF2B5EF4-FFF2-40B4-BE49-F238E27FC236}">
                <a16:creationId xmlns:a16="http://schemas.microsoft.com/office/drawing/2014/main" id="{DDA78EF5-73E7-473A-B2BB-1B15BB44BC29}"/>
              </a:ext>
            </a:extLst>
          </p:cNvPr>
          <p:cNvSpPr txBox="1"/>
          <p:nvPr/>
        </p:nvSpPr>
        <p:spPr>
          <a:xfrm>
            <a:off x="7442771" y="2801247"/>
            <a:ext cx="4576863" cy="3642664"/>
          </a:xfrm>
          <a:prstGeom prst="rect">
            <a:avLst/>
          </a:prstGeom>
          <a:noFill/>
          <a:ln>
            <a:solidFill>
              <a:srgbClr val="083A3E"/>
            </a:solidFill>
            <a:prstDash val="dash"/>
          </a:ln>
        </p:spPr>
        <p:txBody>
          <a:bodyPr wrap="square" rtlCol="0">
            <a:spAutoFit/>
          </a:bodyPr>
          <a:lstStyle/>
          <a:p>
            <a:pPr algn="ctr"/>
            <a:r>
              <a:rPr lang="en-US" sz="1867" b="1" dirty="0">
                <a:latin typeface="Calibri" panose="020F0502020204030204" pitchFamily="34" charset="0"/>
                <a:cs typeface="Calibri" panose="020F0502020204030204" pitchFamily="34" charset="0"/>
              </a:rPr>
              <a:t>Outcome:</a:t>
            </a:r>
          </a:p>
          <a:p>
            <a:pPr algn="ctr"/>
            <a:endParaRPr lang="en-US" sz="667" dirty="0">
              <a:latin typeface="Calibri" panose="020F0502020204030204" pitchFamily="34" charset="0"/>
              <a:cs typeface="Calibri" panose="020F0502020204030204" pitchFamily="34" charset="0"/>
            </a:endParaRPr>
          </a:p>
          <a:p>
            <a:r>
              <a:rPr lang="en-US" sz="1867" dirty="0">
                <a:latin typeface="Calibri" panose="020F0502020204030204" pitchFamily="34" charset="0"/>
                <a:cs typeface="Calibri" panose="020F0502020204030204" pitchFamily="34" charset="0"/>
              </a:rPr>
              <a:t>Although daughter was sole director of the corporate Trustee and public face of business carried on by Trust, the Tribunal found that the Trustee was not accustomed to act in accordance with her wishes</a:t>
            </a:r>
          </a:p>
          <a:p>
            <a:r>
              <a:rPr lang="en-US" sz="933" dirty="0">
                <a:latin typeface="Calibri" panose="020F0502020204030204" pitchFamily="34" charset="0"/>
                <a:cs typeface="Calibri" panose="020F0502020204030204" pitchFamily="34" charset="0"/>
              </a:rPr>
              <a:t> </a:t>
            </a:r>
            <a:endParaRPr lang="en-US" sz="800" dirty="0">
              <a:latin typeface="Calibri" panose="020F0502020204030204" pitchFamily="34" charset="0"/>
              <a:cs typeface="Calibri" panose="020F0502020204030204" pitchFamily="34" charset="0"/>
            </a:endParaRPr>
          </a:p>
          <a:p>
            <a:r>
              <a:rPr lang="en-US" sz="1867" dirty="0" err="1">
                <a:latin typeface="Calibri" panose="020F0502020204030204" pitchFamily="34" charset="0"/>
                <a:cs typeface="Calibri" panose="020F0502020204030204" pitchFamily="34" charset="0"/>
              </a:rPr>
              <a:t>Mr</a:t>
            </a:r>
            <a:r>
              <a:rPr lang="en-US" sz="1867" dirty="0">
                <a:latin typeface="Calibri" panose="020F0502020204030204" pitchFamily="34" charset="0"/>
                <a:cs typeface="Calibri" panose="020F0502020204030204" pitchFamily="34" charset="0"/>
              </a:rPr>
              <a:t> </a:t>
            </a:r>
            <a:r>
              <a:rPr lang="en-US" sz="1867" dirty="0" err="1">
                <a:latin typeface="Calibri" panose="020F0502020204030204" pitchFamily="34" charset="0"/>
                <a:cs typeface="Calibri" panose="020F0502020204030204" pitchFamily="34" charset="0"/>
              </a:rPr>
              <a:t>Gutteridge</a:t>
            </a:r>
            <a:r>
              <a:rPr lang="en-US" sz="1867" dirty="0">
                <a:latin typeface="Calibri" panose="020F0502020204030204" pitchFamily="34" charset="0"/>
                <a:cs typeface="Calibri" panose="020F0502020204030204" pitchFamily="34" charset="0"/>
              </a:rPr>
              <a:t> alone </a:t>
            </a:r>
            <a:r>
              <a:rPr lang="en-US" sz="1867" b="1" dirty="0">
                <a:latin typeface="Calibri" panose="020F0502020204030204" pitchFamily="34" charset="0"/>
                <a:cs typeface="Calibri" panose="020F0502020204030204" pitchFamily="34" charset="0"/>
              </a:rPr>
              <a:t>controlled</a:t>
            </a:r>
            <a:r>
              <a:rPr lang="en-US" sz="1867" dirty="0">
                <a:latin typeface="Calibri" panose="020F0502020204030204" pitchFamily="34" charset="0"/>
                <a:cs typeface="Calibri" panose="020F0502020204030204" pitchFamily="34" charset="0"/>
              </a:rPr>
              <a:t> the corporate Trustee and was, in effect, a shadow director or de facto director</a:t>
            </a:r>
          </a:p>
          <a:p>
            <a:r>
              <a:rPr lang="en-US" sz="933" dirty="0">
                <a:latin typeface="Calibri" panose="020F0502020204030204" pitchFamily="34" charset="0"/>
                <a:cs typeface="Calibri" panose="020F0502020204030204" pitchFamily="34" charset="0"/>
              </a:rPr>
              <a:t> </a:t>
            </a:r>
            <a:endParaRPr lang="en-US" sz="800" dirty="0">
              <a:latin typeface="Calibri" panose="020F0502020204030204" pitchFamily="34" charset="0"/>
              <a:cs typeface="Calibri" panose="020F0502020204030204" pitchFamily="34" charset="0"/>
            </a:endParaRPr>
          </a:p>
          <a:p>
            <a:r>
              <a:rPr lang="en-US" sz="1867" dirty="0">
                <a:latin typeface="Calibri" panose="020F0502020204030204" pitchFamily="34" charset="0"/>
                <a:cs typeface="Calibri" panose="020F0502020204030204" pitchFamily="34" charset="0"/>
              </a:rPr>
              <a:t>The daughter’s company was not connected with the Trust</a:t>
            </a:r>
          </a:p>
        </p:txBody>
      </p:sp>
      <p:sp>
        <p:nvSpPr>
          <p:cNvPr id="22" name="TextBox 21">
            <a:extLst>
              <a:ext uri="{FF2B5EF4-FFF2-40B4-BE49-F238E27FC236}">
                <a16:creationId xmlns:a16="http://schemas.microsoft.com/office/drawing/2014/main" id="{6D428EE8-C12F-4EF9-B718-417F93590412}"/>
              </a:ext>
            </a:extLst>
          </p:cNvPr>
          <p:cNvSpPr txBox="1"/>
          <p:nvPr/>
        </p:nvSpPr>
        <p:spPr>
          <a:xfrm>
            <a:off x="4376882" y="4903511"/>
            <a:ext cx="1273461" cy="430475"/>
          </a:xfrm>
          <a:prstGeom prst="rect">
            <a:avLst/>
          </a:prstGeom>
          <a:noFill/>
        </p:spPr>
        <p:txBody>
          <a:bodyPr wrap="square" rtlCol="0">
            <a:spAutoFit/>
          </a:bodyPr>
          <a:lstStyle/>
          <a:p>
            <a:pPr algn="ctr"/>
            <a:r>
              <a:rPr lang="en-US" sz="2133" dirty="0">
                <a:solidFill>
                  <a:srgbClr val="083A3E"/>
                </a:solidFill>
                <a:latin typeface="Calibri" panose="020F0502020204030204" pitchFamily="34" charset="0"/>
                <a:cs typeface="Calibri" panose="020F0502020204030204" pitchFamily="34" charset="0"/>
              </a:rPr>
              <a:t>Business</a:t>
            </a:r>
            <a:endParaRPr lang="en-AU" sz="2400" dirty="0">
              <a:solidFill>
                <a:srgbClr val="083A3E"/>
              </a:solidFill>
              <a:latin typeface="Calibri" panose="020F0502020204030204" pitchFamily="34" charset="0"/>
              <a:cs typeface="Calibri" panose="020F0502020204030204" pitchFamily="34" charset="0"/>
            </a:endParaRPr>
          </a:p>
        </p:txBody>
      </p:sp>
      <p:cxnSp>
        <p:nvCxnSpPr>
          <p:cNvPr id="29" name="Straight Arrow Connector 28">
            <a:extLst>
              <a:ext uri="{FF2B5EF4-FFF2-40B4-BE49-F238E27FC236}">
                <a16:creationId xmlns:a16="http://schemas.microsoft.com/office/drawing/2014/main" id="{642BFF22-EF41-4651-AB14-CBC3138AE960}"/>
              </a:ext>
            </a:extLst>
          </p:cNvPr>
          <p:cNvCxnSpPr>
            <a:cxnSpLocks/>
          </p:cNvCxnSpPr>
          <p:nvPr/>
        </p:nvCxnSpPr>
        <p:spPr>
          <a:xfrm flipH="1">
            <a:off x="5481671" y="3130816"/>
            <a:ext cx="1599371" cy="918531"/>
          </a:xfrm>
          <a:prstGeom prst="straightConnector1">
            <a:avLst/>
          </a:prstGeom>
          <a:ln w="19050">
            <a:solidFill>
              <a:srgbClr val="083A3E"/>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26703FE-197B-4C8C-B183-7ED0718FF9C6}"/>
              </a:ext>
            </a:extLst>
          </p:cNvPr>
          <p:cNvSpPr txBox="1"/>
          <p:nvPr/>
        </p:nvSpPr>
        <p:spPr>
          <a:xfrm>
            <a:off x="5894178" y="3798953"/>
            <a:ext cx="1324865" cy="346532"/>
          </a:xfrm>
          <a:prstGeom prst="rect">
            <a:avLst/>
          </a:prstGeom>
          <a:noFill/>
        </p:spPr>
        <p:txBody>
          <a:bodyPr wrap="square" rtlCol="0">
            <a:spAutoFit/>
          </a:bodyPr>
          <a:lstStyle/>
          <a:p>
            <a:pPr algn="ctr"/>
            <a:r>
              <a:rPr lang="en-US" sz="1600" dirty="0">
                <a:latin typeface="Calibri" panose="020F0502020204030204" pitchFamily="34" charset="0"/>
                <a:cs typeface="Calibri" panose="020F0502020204030204" pitchFamily="34" charset="0"/>
              </a:rPr>
              <a:t>Beneficiaries</a:t>
            </a:r>
            <a:endParaRPr lang="en-AU" sz="1867" dirty="0">
              <a:latin typeface="Calibri" panose="020F0502020204030204" pitchFamily="34" charset="0"/>
              <a:cs typeface="Calibri" panose="020F0502020204030204" pitchFamily="34" charset="0"/>
            </a:endParaRPr>
          </a:p>
        </p:txBody>
      </p:sp>
      <p:sp>
        <p:nvSpPr>
          <p:cNvPr id="35" name="TextBox 34">
            <a:extLst>
              <a:ext uri="{FF2B5EF4-FFF2-40B4-BE49-F238E27FC236}">
                <a16:creationId xmlns:a16="http://schemas.microsoft.com/office/drawing/2014/main" id="{D98A74DE-F823-4EEB-AAC2-7EF42D0BBB52}"/>
              </a:ext>
            </a:extLst>
          </p:cNvPr>
          <p:cNvSpPr txBox="1"/>
          <p:nvPr/>
        </p:nvSpPr>
        <p:spPr>
          <a:xfrm>
            <a:off x="8557203" y="1372611"/>
            <a:ext cx="3432196" cy="1241622"/>
          </a:xfrm>
          <a:custGeom>
            <a:avLst/>
            <a:gdLst>
              <a:gd name="connsiteX0" fmla="*/ 0 w 3432196"/>
              <a:gd name="connsiteY0" fmla="*/ 0 h 1241622"/>
              <a:gd name="connsiteX1" fmla="*/ 537711 w 3432196"/>
              <a:gd name="connsiteY1" fmla="*/ 0 h 1241622"/>
              <a:gd name="connsiteX2" fmla="*/ 1006777 w 3432196"/>
              <a:gd name="connsiteY2" fmla="*/ 0 h 1241622"/>
              <a:gd name="connsiteX3" fmla="*/ 1647454 w 3432196"/>
              <a:gd name="connsiteY3" fmla="*/ 0 h 1241622"/>
              <a:gd name="connsiteX4" fmla="*/ 2185165 w 3432196"/>
              <a:gd name="connsiteY4" fmla="*/ 0 h 1241622"/>
              <a:gd name="connsiteX5" fmla="*/ 2722875 w 3432196"/>
              <a:gd name="connsiteY5" fmla="*/ 0 h 1241622"/>
              <a:gd name="connsiteX6" fmla="*/ 3432196 w 3432196"/>
              <a:gd name="connsiteY6" fmla="*/ 0 h 1241622"/>
              <a:gd name="connsiteX7" fmla="*/ 3432196 w 3432196"/>
              <a:gd name="connsiteY7" fmla="*/ 389042 h 1241622"/>
              <a:gd name="connsiteX8" fmla="*/ 3432196 w 3432196"/>
              <a:gd name="connsiteY8" fmla="*/ 802916 h 1241622"/>
              <a:gd name="connsiteX9" fmla="*/ 3432196 w 3432196"/>
              <a:gd name="connsiteY9" fmla="*/ 1241622 h 1241622"/>
              <a:gd name="connsiteX10" fmla="*/ 2928807 w 3432196"/>
              <a:gd name="connsiteY10" fmla="*/ 1241622 h 1241622"/>
              <a:gd name="connsiteX11" fmla="*/ 2356775 w 3432196"/>
              <a:gd name="connsiteY11" fmla="*/ 1241622 h 1241622"/>
              <a:gd name="connsiteX12" fmla="*/ 1819064 w 3432196"/>
              <a:gd name="connsiteY12" fmla="*/ 1241622 h 1241622"/>
              <a:gd name="connsiteX13" fmla="*/ 1178387 w 3432196"/>
              <a:gd name="connsiteY13" fmla="*/ 1241622 h 1241622"/>
              <a:gd name="connsiteX14" fmla="*/ 537711 w 3432196"/>
              <a:gd name="connsiteY14" fmla="*/ 1241622 h 1241622"/>
              <a:gd name="connsiteX15" fmla="*/ 0 w 3432196"/>
              <a:gd name="connsiteY15" fmla="*/ 1241622 h 1241622"/>
              <a:gd name="connsiteX16" fmla="*/ 0 w 3432196"/>
              <a:gd name="connsiteY16" fmla="*/ 827748 h 1241622"/>
              <a:gd name="connsiteX17" fmla="*/ 0 w 3432196"/>
              <a:gd name="connsiteY17" fmla="*/ 426290 h 1241622"/>
              <a:gd name="connsiteX18" fmla="*/ 0 w 3432196"/>
              <a:gd name="connsiteY18" fmla="*/ 0 h 124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32196" h="1241622" extrusionOk="0">
                <a:moveTo>
                  <a:pt x="0" y="0"/>
                </a:moveTo>
                <a:cubicBezTo>
                  <a:pt x="251391" y="-51147"/>
                  <a:pt x="309810" y="42031"/>
                  <a:pt x="537711" y="0"/>
                </a:cubicBezTo>
                <a:cubicBezTo>
                  <a:pt x="765612" y="-42031"/>
                  <a:pt x="800470" y="32315"/>
                  <a:pt x="1006777" y="0"/>
                </a:cubicBezTo>
                <a:cubicBezTo>
                  <a:pt x="1213084" y="-32315"/>
                  <a:pt x="1329063" y="38625"/>
                  <a:pt x="1647454" y="0"/>
                </a:cubicBezTo>
                <a:cubicBezTo>
                  <a:pt x="1965845" y="-38625"/>
                  <a:pt x="2063355" y="43135"/>
                  <a:pt x="2185165" y="0"/>
                </a:cubicBezTo>
                <a:cubicBezTo>
                  <a:pt x="2306975" y="-43135"/>
                  <a:pt x="2552606" y="37979"/>
                  <a:pt x="2722875" y="0"/>
                </a:cubicBezTo>
                <a:cubicBezTo>
                  <a:pt x="2893144" y="-37979"/>
                  <a:pt x="3217230" y="73933"/>
                  <a:pt x="3432196" y="0"/>
                </a:cubicBezTo>
                <a:cubicBezTo>
                  <a:pt x="3444188" y="147792"/>
                  <a:pt x="3398775" y="229411"/>
                  <a:pt x="3432196" y="389042"/>
                </a:cubicBezTo>
                <a:cubicBezTo>
                  <a:pt x="3465617" y="548673"/>
                  <a:pt x="3409992" y="718210"/>
                  <a:pt x="3432196" y="802916"/>
                </a:cubicBezTo>
                <a:cubicBezTo>
                  <a:pt x="3454400" y="887622"/>
                  <a:pt x="3389594" y="1110709"/>
                  <a:pt x="3432196" y="1241622"/>
                </a:cubicBezTo>
                <a:cubicBezTo>
                  <a:pt x="3180861" y="1245039"/>
                  <a:pt x="3049119" y="1205410"/>
                  <a:pt x="2928807" y="1241622"/>
                </a:cubicBezTo>
                <a:cubicBezTo>
                  <a:pt x="2808495" y="1277834"/>
                  <a:pt x="2531047" y="1196790"/>
                  <a:pt x="2356775" y="1241622"/>
                </a:cubicBezTo>
                <a:cubicBezTo>
                  <a:pt x="2182503" y="1286454"/>
                  <a:pt x="1933644" y="1239779"/>
                  <a:pt x="1819064" y="1241622"/>
                </a:cubicBezTo>
                <a:cubicBezTo>
                  <a:pt x="1704484" y="1243465"/>
                  <a:pt x="1367825" y="1207750"/>
                  <a:pt x="1178387" y="1241622"/>
                </a:cubicBezTo>
                <a:cubicBezTo>
                  <a:pt x="988949" y="1275494"/>
                  <a:pt x="806718" y="1218027"/>
                  <a:pt x="537711" y="1241622"/>
                </a:cubicBezTo>
                <a:cubicBezTo>
                  <a:pt x="268704" y="1265217"/>
                  <a:pt x="253477" y="1216934"/>
                  <a:pt x="0" y="1241622"/>
                </a:cubicBezTo>
                <a:cubicBezTo>
                  <a:pt x="-12741" y="1064412"/>
                  <a:pt x="14016" y="997006"/>
                  <a:pt x="0" y="827748"/>
                </a:cubicBezTo>
                <a:cubicBezTo>
                  <a:pt x="-14016" y="658490"/>
                  <a:pt x="9368" y="542099"/>
                  <a:pt x="0" y="426290"/>
                </a:cubicBezTo>
                <a:cubicBezTo>
                  <a:pt x="-9368" y="310481"/>
                  <a:pt x="22960" y="162653"/>
                  <a:pt x="0" y="0"/>
                </a:cubicBezTo>
                <a:close/>
              </a:path>
            </a:pathLst>
          </a:custGeom>
          <a:noFill/>
          <a:ln w="3175">
            <a:solidFill>
              <a:srgbClr val="083A3E"/>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rtlCol="0">
            <a:spAutoFit/>
          </a:bodyPr>
          <a:lstStyle/>
          <a:p>
            <a:pPr algn="ctr"/>
            <a:r>
              <a:rPr lang="en-US" sz="1867" dirty="0">
                <a:latin typeface="Calibri" panose="020F0502020204030204" pitchFamily="34" charset="0"/>
                <a:cs typeface="Calibri" panose="020F0502020204030204" pitchFamily="34" charset="0"/>
              </a:rPr>
              <a:t>Mr Gutteridge’s direction and wishes followed – Trustee not accustomed to act in accordance with daughter’s wishes</a:t>
            </a:r>
            <a:endParaRPr lang="en-AU" sz="2133"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DEC6E4F2-37A8-AA56-688B-2EF01F28BF7E}"/>
              </a:ext>
            </a:extLst>
          </p:cNvPr>
          <p:cNvSpPr txBox="1"/>
          <p:nvPr/>
        </p:nvSpPr>
        <p:spPr>
          <a:xfrm>
            <a:off x="2055447" y="2190066"/>
            <a:ext cx="2645595" cy="420564"/>
          </a:xfrm>
          <a:prstGeom prst="rect">
            <a:avLst/>
          </a:prstGeom>
          <a:noFill/>
        </p:spPr>
        <p:txBody>
          <a:bodyPr wrap="square" rtlCol="0">
            <a:spAutoFit/>
          </a:bodyPr>
          <a:lstStyle/>
          <a:p>
            <a:pPr algn="ctr"/>
            <a:r>
              <a:rPr lang="en-US" sz="2133" dirty="0">
                <a:latin typeface="Calibri" panose="020F0502020204030204" pitchFamily="34" charset="0"/>
                <a:cs typeface="Calibri" panose="020F0502020204030204" pitchFamily="34" charset="0"/>
              </a:rPr>
              <a:t>daughter</a:t>
            </a:r>
          </a:p>
        </p:txBody>
      </p:sp>
      <p:pic>
        <p:nvPicPr>
          <p:cNvPr id="24" name="Graphic 23" descr="Woman with solid fill">
            <a:extLst>
              <a:ext uri="{FF2B5EF4-FFF2-40B4-BE49-F238E27FC236}">
                <a16:creationId xmlns:a16="http://schemas.microsoft.com/office/drawing/2014/main" id="{DCAE2206-4896-9916-DC2B-4126DB76EBD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60302" y="2042030"/>
            <a:ext cx="744858" cy="744858"/>
          </a:xfrm>
          <a:prstGeom prst="rect">
            <a:avLst/>
          </a:prstGeom>
        </p:spPr>
      </p:pic>
      <p:pic>
        <p:nvPicPr>
          <p:cNvPr id="26" name="Graphic 25" descr="Woman outline">
            <a:extLst>
              <a:ext uri="{FF2B5EF4-FFF2-40B4-BE49-F238E27FC236}">
                <a16:creationId xmlns:a16="http://schemas.microsoft.com/office/drawing/2014/main" id="{FA2B4091-9886-6DEC-5900-60F9B9D193E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54321" y="2346032"/>
            <a:ext cx="744858" cy="744858"/>
          </a:xfrm>
          <a:prstGeom prst="rect">
            <a:avLst/>
          </a:prstGeom>
        </p:spPr>
      </p:pic>
      <p:sp>
        <p:nvSpPr>
          <p:cNvPr id="32" name="TextBox 31">
            <a:extLst>
              <a:ext uri="{FF2B5EF4-FFF2-40B4-BE49-F238E27FC236}">
                <a16:creationId xmlns:a16="http://schemas.microsoft.com/office/drawing/2014/main" id="{B92230AE-1E2E-27FE-2B9A-6E30C9B45A17}"/>
              </a:ext>
            </a:extLst>
          </p:cNvPr>
          <p:cNvSpPr txBox="1"/>
          <p:nvPr/>
        </p:nvSpPr>
        <p:spPr>
          <a:xfrm>
            <a:off x="337784" y="6186627"/>
            <a:ext cx="5109770" cy="523220"/>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 Note: This case concerned the application of the maximum net asset value test</a:t>
            </a:r>
            <a:endParaRPr lang="en-AU" dirty="0">
              <a:latin typeface="Calibri" panose="020F0502020204030204" pitchFamily="34" charset="0"/>
              <a:cs typeface="Calibri" panose="020F0502020204030204" pitchFamily="34" charset="0"/>
            </a:endParaRPr>
          </a:p>
        </p:txBody>
      </p:sp>
      <p:pic>
        <p:nvPicPr>
          <p:cNvPr id="7" name="Graphic 6" descr="Man outline">
            <a:extLst>
              <a:ext uri="{FF2B5EF4-FFF2-40B4-BE49-F238E27FC236}">
                <a16:creationId xmlns:a16="http://schemas.microsoft.com/office/drawing/2014/main" id="{57478734-8EF1-6B18-293A-221C8BFE439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73259" y="2346032"/>
            <a:ext cx="720509" cy="720509"/>
          </a:xfrm>
          <a:prstGeom prst="rect">
            <a:avLst/>
          </a:prstGeom>
        </p:spPr>
      </p:pic>
      <p:sp>
        <p:nvSpPr>
          <p:cNvPr id="5" name="TextBox 4">
            <a:extLst>
              <a:ext uri="{FF2B5EF4-FFF2-40B4-BE49-F238E27FC236}">
                <a16:creationId xmlns:a16="http://schemas.microsoft.com/office/drawing/2014/main" id="{C9D9DFBA-95BC-2A05-1450-84A471DC8893}"/>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45</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1638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A21D7-9602-4261-A28F-A613EA7F7BC8}"/>
              </a:ext>
            </a:extLst>
          </p:cNvPr>
          <p:cNvSpPr>
            <a:spLocks noGrp="1"/>
          </p:cNvSpPr>
          <p:nvPr>
            <p:ph type="title"/>
          </p:nvPr>
        </p:nvSpPr>
        <p:spPr/>
        <p:txBody>
          <a:bodyPr>
            <a:normAutofit fontScale="90000"/>
          </a:bodyPr>
          <a:lstStyle/>
          <a:p>
            <a:r>
              <a:rPr lang="en-AU" b="1" dirty="0"/>
              <a:t>Case Study 1 — Small business CGT concessions</a:t>
            </a:r>
          </a:p>
        </p:txBody>
      </p:sp>
    </p:spTree>
    <p:extLst>
      <p:ext uri="{BB962C8B-B14F-4D97-AF65-F5344CB8AC3E}">
        <p14:creationId xmlns:p14="http://schemas.microsoft.com/office/powerpoint/2010/main" val="3489363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8D4A-345E-485C-8FC6-3E26F406BD15}"/>
              </a:ext>
            </a:extLst>
          </p:cNvPr>
          <p:cNvSpPr>
            <a:spLocks noGrp="1"/>
          </p:cNvSpPr>
          <p:nvPr>
            <p:ph type="title"/>
          </p:nvPr>
        </p:nvSpPr>
        <p:spPr/>
        <p:txBody>
          <a:bodyPr>
            <a:noAutofit/>
          </a:bodyPr>
          <a:lstStyle/>
          <a:p>
            <a:r>
              <a:rPr lang="en-AU" sz="4000" dirty="0"/>
              <a:t>Scenario 1 </a:t>
            </a:r>
            <a:r>
              <a:rPr lang="en-AU" sz="4000" dirty="0">
                <a:solidFill>
                  <a:srgbClr val="000000"/>
                </a:solidFill>
                <a:effectLst/>
                <a:ea typeface="SimSun" panose="02010600030101010101" pitchFamily="2" charset="-122"/>
                <a:cs typeface="Calibri" panose="020F0502020204030204" pitchFamily="34" charset="0"/>
              </a:rPr>
              <a:t>—</a:t>
            </a:r>
            <a:r>
              <a:rPr lang="en-AU" sz="4000" dirty="0"/>
              <a:t> Can the Unit Trust access the SB CGT concessions in 2022</a:t>
            </a:r>
            <a:r>
              <a:rPr lang="en-AU" sz="4000" dirty="0">
                <a:cs typeface="Calibri" panose="020F0502020204030204" pitchFamily="34" charset="0"/>
              </a:rPr>
              <a:t>–</a:t>
            </a:r>
            <a:r>
              <a:rPr lang="en-AU" sz="4000" dirty="0"/>
              <a:t>23?</a:t>
            </a:r>
          </a:p>
        </p:txBody>
      </p:sp>
      <p:sp>
        <p:nvSpPr>
          <p:cNvPr id="3" name="Text Placeholder 2">
            <a:extLst>
              <a:ext uri="{FF2B5EF4-FFF2-40B4-BE49-F238E27FC236}">
                <a16:creationId xmlns:a16="http://schemas.microsoft.com/office/drawing/2014/main" id="{5BDCFC51-48ED-4965-9EE9-63D63B17B598}"/>
              </a:ext>
            </a:extLst>
          </p:cNvPr>
          <p:cNvSpPr>
            <a:spLocks noGrp="1"/>
          </p:cNvSpPr>
          <p:nvPr>
            <p:ph type="body" sz="quarter" idx="10"/>
          </p:nvPr>
        </p:nvSpPr>
        <p:spPr/>
        <p:txBody>
          <a:bodyPr/>
          <a:lstStyle/>
          <a:p>
            <a:endParaRPr lang="en-AU" dirty="0"/>
          </a:p>
        </p:txBody>
      </p:sp>
      <p:grpSp>
        <p:nvGrpSpPr>
          <p:cNvPr id="4" name="Canvas 2">
            <a:extLst>
              <a:ext uri="{FF2B5EF4-FFF2-40B4-BE49-F238E27FC236}">
                <a16:creationId xmlns:a16="http://schemas.microsoft.com/office/drawing/2014/main" id="{0D795E25-6567-7E7E-6152-5FA2EA78B48C}"/>
              </a:ext>
            </a:extLst>
          </p:cNvPr>
          <p:cNvGrpSpPr/>
          <p:nvPr/>
        </p:nvGrpSpPr>
        <p:grpSpPr>
          <a:xfrm>
            <a:off x="805388" y="1434946"/>
            <a:ext cx="10548000" cy="4826698"/>
            <a:chOff x="-45825" y="-15020"/>
            <a:chExt cx="5630545" cy="4294365"/>
          </a:xfrm>
        </p:grpSpPr>
        <p:sp>
          <p:nvSpPr>
            <p:cNvPr id="5" name="Rectangle 4">
              <a:extLst>
                <a:ext uri="{FF2B5EF4-FFF2-40B4-BE49-F238E27FC236}">
                  <a16:creationId xmlns:a16="http://schemas.microsoft.com/office/drawing/2014/main" id="{6F108BDF-7D41-3EFF-02A3-BF9983119D19}"/>
                </a:ext>
              </a:extLst>
            </p:cNvPr>
            <p:cNvSpPr/>
            <p:nvPr/>
          </p:nvSpPr>
          <p:spPr>
            <a:xfrm>
              <a:off x="-45825" y="-15020"/>
              <a:ext cx="5630545" cy="4291965"/>
            </a:xfrm>
            <a:prstGeom prst="rect">
              <a:avLst/>
            </a:prstGeom>
            <a:solidFill>
              <a:prstClr val="white"/>
            </a:solidFill>
            <a:ln>
              <a:solidFill>
                <a:srgbClr val="000000"/>
              </a:solidFill>
            </a:ln>
          </p:spPr>
          <p:txBody>
            <a:bodyPr/>
            <a:lstStyle/>
            <a:p>
              <a:endParaRPr lang="en-AU" dirty="0"/>
            </a:p>
          </p:txBody>
        </p:sp>
        <p:sp>
          <p:nvSpPr>
            <p:cNvPr id="6" name="Text Box 1">
              <a:extLst>
                <a:ext uri="{FF2B5EF4-FFF2-40B4-BE49-F238E27FC236}">
                  <a16:creationId xmlns:a16="http://schemas.microsoft.com/office/drawing/2014/main" id="{152EDE9B-1224-E9DA-A343-B5515C6C6C5E}"/>
                </a:ext>
              </a:extLst>
            </p:cNvPr>
            <p:cNvSpPr txBox="1"/>
            <p:nvPr/>
          </p:nvSpPr>
          <p:spPr>
            <a:xfrm>
              <a:off x="3142656" y="780425"/>
              <a:ext cx="448945" cy="27622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20%</a:t>
              </a:r>
            </a:p>
          </p:txBody>
        </p:sp>
        <p:sp>
          <p:nvSpPr>
            <p:cNvPr id="7" name="Text Box 1">
              <a:extLst>
                <a:ext uri="{FF2B5EF4-FFF2-40B4-BE49-F238E27FC236}">
                  <a16:creationId xmlns:a16="http://schemas.microsoft.com/office/drawing/2014/main" id="{8E269ADE-2EF6-F0F0-081B-0DF3097DD0F6}"/>
                </a:ext>
              </a:extLst>
            </p:cNvPr>
            <p:cNvSpPr txBox="1"/>
            <p:nvPr/>
          </p:nvSpPr>
          <p:spPr>
            <a:xfrm>
              <a:off x="2455028" y="779847"/>
              <a:ext cx="448945" cy="27686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2000" dirty="0">
                  <a:effectLst/>
                  <a:latin typeface="Calibri" panose="020F0502020204030204" pitchFamily="34" charset="0"/>
                  <a:ea typeface="Calibri" panose="020F0502020204030204" pitchFamily="34" charset="0"/>
                  <a:cs typeface="Times New Roman" panose="02020603050405020304" pitchFamily="18" charset="0"/>
                </a:rPr>
                <a:t>40%</a:t>
              </a:r>
            </a:p>
          </p:txBody>
        </p:sp>
        <p:sp>
          <p:nvSpPr>
            <p:cNvPr id="8" name="Text Box 1">
              <a:extLst>
                <a:ext uri="{FF2B5EF4-FFF2-40B4-BE49-F238E27FC236}">
                  <a16:creationId xmlns:a16="http://schemas.microsoft.com/office/drawing/2014/main" id="{DF2F9773-3411-A321-307D-B53DC7C32DF2}"/>
                </a:ext>
              </a:extLst>
            </p:cNvPr>
            <p:cNvSpPr txBox="1"/>
            <p:nvPr/>
          </p:nvSpPr>
          <p:spPr>
            <a:xfrm>
              <a:off x="1803975" y="765216"/>
              <a:ext cx="448945" cy="27686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40%</a:t>
              </a:r>
            </a:p>
          </p:txBody>
        </p:sp>
        <p:sp>
          <p:nvSpPr>
            <p:cNvPr id="9" name="Text Box 1">
              <a:extLst>
                <a:ext uri="{FF2B5EF4-FFF2-40B4-BE49-F238E27FC236}">
                  <a16:creationId xmlns:a16="http://schemas.microsoft.com/office/drawing/2014/main" id="{284F3E5E-697B-3A2C-4118-F71FBCF312C8}"/>
                </a:ext>
              </a:extLst>
            </p:cNvPr>
            <p:cNvSpPr txBox="1"/>
            <p:nvPr/>
          </p:nvSpPr>
          <p:spPr>
            <a:xfrm>
              <a:off x="4084668" y="1273121"/>
              <a:ext cx="1299886" cy="144989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400" dirty="0">
                  <a:latin typeface="Calibri" panose="020F0502020204030204" pitchFamily="34" charset="0"/>
                  <a:ea typeface="Calibri" panose="020F0502020204030204" pitchFamily="34" charset="0"/>
                  <a:cs typeface="Times New Roman" panose="02020603050405020304" pitchFamily="18" charset="0"/>
                </a:rPr>
                <a:t>Penny, Quentin &amp; Rachel each carry on their own separate businesses as sole traders</a:t>
              </a:r>
              <a:endParaRPr lang="en-AU"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 Box 1">
              <a:extLst>
                <a:ext uri="{FF2B5EF4-FFF2-40B4-BE49-F238E27FC236}">
                  <a16:creationId xmlns:a16="http://schemas.microsoft.com/office/drawing/2014/main" id="{828932EB-EFA4-9750-A401-BA8EBB91FD90}"/>
                </a:ext>
              </a:extLst>
            </p:cNvPr>
            <p:cNvSpPr txBox="1"/>
            <p:nvPr/>
          </p:nvSpPr>
          <p:spPr>
            <a:xfrm>
              <a:off x="655650" y="1928333"/>
              <a:ext cx="448945" cy="27686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2000" dirty="0">
                  <a:effectLst/>
                  <a:latin typeface="Calibri" panose="020F0502020204030204" pitchFamily="34" charset="0"/>
                  <a:ea typeface="Calibri" panose="020F0502020204030204" pitchFamily="34" charset="0"/>
                  <a:cs typeface="Times New Roman" panose="02020603050405020304" pitchFamily="18" charset="0"/>
                </a:rPr>
                <a:t>rent</a:t>
              </a:r>
            </a:p>
          </p:txBody>
        </p:sp>
        <p:sp>
          <p:nvSpPr>
            <p:cNvPr id="11" name="Text Box 1">
              <a:extLst>
                <a:ext uri="{FF2B5EF4-FFF2-40B4-BE49-F238E27FC236}">
                  <a16:creationId xmlns:a16="http://schemas.microsoft.com/office/drawing/2014/main" id="{916644B0-753C-0CEB-B383-4F171BAB787C}"/>
                </a:ext>
              </a:extLst>
            </p:cNvPr>
            <p:cNvSpPr txBox="1"/>
            <p:nvPr/>
          </p:nvSpPr>
          <p:spPr>
            <a:xfrm>
              <a:off x="592531" y="3573204"/>
              <a:ext cx="1014957" cy="449646"/>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AU" sz="2000" dirty="0">
                  <a:effectLst/>
                  <a:latin typeface="Calibri" panose="020F0502020204030204" pitchFamily="34" charset="0"/>
                  <a:ea typeface="Calibri" panose="020F0502020204030204" pitchFamily="34" charset="0"/>
                  <a:cs typeface="Times New Roman" panose="02020603050405020304" pitchFamily="18" charset="0"/>
                </a:rPr>
                <a:t>commercial property</a:t>
              </a:r>
            </a:p>
          </p:txBody>
        </p:sp>
        <p:sp>
          <p:nvSpPr>
            <p:cNvPr id="12" name="Text Box 1">
              <a:extLst>
                <a:ext uri="{FF2B5EF4-FFF2-40B4-BE49-F238E27FC236}">
                  <a16:creationId xmlns:a16="http://schemas.microsoft.com/office/drawing/2014/main" id="{FC3DD73C-348D-36B8-FD15-6CE6A06C63E4}"/>
                </a:ext>
              </a:extLst>
            </p:cNvPr>
            <p:cNvSpPr txBox="1"/>
            <p:nvPr/>
          </p:nvSpPr>
          <p:spPr>
            <a:xfrm>
              <a:off x="3186293" y="2557441"/>
              <a:ext cx="448945" cy="27686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20%</a:t>
              </a:r>
            </a:p>
          </p:txBody>
        </p:sp>
        <p:sp>
          <p:nvSpPr>
            <p:cNvPr id="13" name="Text Box 1">
              <a:extLst>
                <a:ext uri="{FF2B5EF4-FFF2-40B4-BE49-F238E27FC236}">
                  <a16:creationId xmlns:a16="http://schemas.microsoft.com/office/drawing/2014/main" id="{EE03742E-0CD4-EF42-A318-284657F765B5}"/>
                </a:ext>
              </a:extLst>
            </p:cNvPr>
            <p:cNvSpPr txBox="1"/>
            <p:nvPr/>
          </p:nvSpPr>
          <p:spPr>
            <a:xfrm>
              <a:off x="2494244" y="2557413"/>
              <a:ext cx="448945" cy="27686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40%</a:t>
              </a:r>
            </a:p>
          </p:txBody>
        </p:sp>
        <p:sp>
          <p:nvSpPr>
            <p:cNvPr id="14" name="Text Box 1">
              <a:extLst>
                <a:ext uri="{FF2B5EF4-FFF2-40B4-BE49-F238E27FC236}">
                  <a16:creationId xmlns:a16="http://schemas.microsoft.com/office/drawing/2014/main" id="{D0B09AEE-586A-8551-9697-C194C8FD1BD3}"/>
                </a:ext>
              </a:extLst>
            </p:cNvPr>
            <p:cNvSpPr txBox="1"/>
            <p:nvPr/>
          </p:nvSpPr>
          <p:spPr>
            <a:xfrm>
              <a:off x="1789344" y="2542199"/>
              <a:ext cx="449107" cy="27749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40</a:t>
              </a:r>
              <a:r>
                <a:rPr lang="en-AU" sz="1100" dirty="0">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15" name="Rectangle 14">
              <a:extLst>
                <a:ext uri="{FF2B5EF4-FFF2-40B4-BE49-F238E27FC236}">
                  <a16:creationId xmlns:a16="http://schemas.microsoft.com/office/drawing/2014/main" id="{F49AE8D5-E1AC-CDC8-0701-113D611D7855}"/>
                </a:ext>
              </a:extLst>
            </p:cNvPr>
            <p:cNvSpPr/>
            <p:nvPr/>
          </p:nvSpPr>
          <p:spPr>
            <a:xfrm>
              <a:off x="3223244" y="3628292"/>
              <a:ext cx="826618" cy="651053"/>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dirty="0">
                  <a:effectLst/>
                  <a:ea typeface="Calibri" panose="020F0502020204030204" pitchFamily="34" charset="0"/>
                  <a:cs typeface="Times New Roman" panose="02020603050405020304" pitchFamily="18" charset="0"/>
                </a:rPr>
                <a:t>X Pty Ltd (trustee</a:t>
              </a:r>
              <a:r>
                <a:rPr lang="en-AU" sz="1100" dirty="0">
                  <a:effectLst/>
                  <a:ea typeface="Calibri" panose="020F0502020204030204" pitchFamily="34" charset="0"/>
                  <a:cs typeface="Times New Roman" panose="02020603050405020304" pitchFamily="18" charset="0"/>
                </a:rPr>
                <a:t>)</a:t>
              </a:r>
            </a:p>
          </p:txBody>
        </p:sp>
        <p:sp>
          <p:nvSpPr>
            <p:cNvPr id="16" name="Oval 15">
              <a:extLst>
                <a:ext uri="{FF2B5EF4-FFF2-40B4-BE49-F238E27FC236}">
                  <a16:creationId xmlns:a16="http://schemas.microsoft.com/office/drawing/2014/main" id="{52CA3EAD-D362-4BD8-FEBE-D2CCA0333CF2}"/>
                </a:ext>
              </a:extLst>
            </p:cNvPr>
            <p:cNvSpPr/>
            <p:nvPr/>
          </p:nvSpPr>
          <p:spPr>
            <a:xfrm>
              <a:off x="2206312" y="3174312"/>
              <a:ext cx="1341560" cy="694944"/>
            </a:xfrm>
            <a:prstGeom prst="ellipse">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sz="2000" b="1" dirty="0">
                  <a:effectLst/>
                  <a:ea typeface="Calibri" panose="020F0502020204030204" pitchFamily="34" charset="0"/>
                  <a:cs typeface="Times New Roman" panose="02020603050405020304" pitchFamily="18" charset="0"/>
                </a:rPr>
                <a:t>Century Unit Trust</a:t>
              </a:r>
              <a:endParaRPr lang="en-AU" sz="2000" dirty="0">
                <a:effectLst/>
                <a:ea typeface="Calibri" panose="020F0502020204030204" pitchFamily="34" charset="0"/>
                <a:cs typeface="Times New Roman" panose="02020603050405020304" pitchFamily="18" charset="0"/>
              </a:endParaRPr>
            </a:p>
          </p:txBody>
        </p:sp>
        <p:pic>
          <p:nvPicPr>
            <p:cNvPr id="17" name="Graphic 83404870" descr="Building outline">
              <a:extLst>
                <a:ext uri="{FF2B5EF4-FFF2-40B4-BE49-F238E27FC236}">
                  <a16:creationId xmlns:a16="http://schemas.microsoft.com/office/drawing/2014/main" id="{045E5BEB-2CB2-A1DA-165E-9CFFCD1257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7718" y="3155416"/>
              <a:ext cx="436334" cy="436334"/>
            </a:xfrm>
            <a:prstGeom prst="rect">
              <a:avLst/>
            </a:prstGeom>
          </p:spPr>
        </p:pic>
        <p:sp>
          <p:nvSpPr>
            <p:cNvPr id="18" name="Text Box 2060032272">
              <a:extLst>
                <a:ext uri="{FF2B5EF4-FFF2-40B4-BE49-F238E27FC236}">
                  <a16:creationId xmlns:a16="http://schemas.microsoft.com/office/drawing/2014/main" id="{63C8291E-67D3-7145-4710-23BBF7923569}"/>
                </a:ext>
              </a:extLst>
            </p:cNvPr>
            <p:cNvSpPr txBox="1"/>
            <p:nvPr/>
          </p:nvSpPr>
          <p:spPr>
            <a:xfrm>
              <a:off x="1908313" y="1294410"/>
              <a:ext cx="564543" cy="277984"/>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Penny</a:t>
              </a:r>
            </a:p>
          </p:txBody>
        </p:sp>
        <p:sp>
          <p:nvSpPr>
            <p:cNvPr id="19" name="Text Box 1">
              <a:extLst>
                <a:ext uri="{FF2B5EF4-FFF2-40B4-BE49-F238E27FC236}">
                  <a16:creationId xmlns:a16="http://schemas.microsoft.com/office/drawing/2014/main" id="{E4BA6593-48B4-11B0-72D0-CEFE5B1A317C}"/>
                </a:ext>
              </a:extLst>
            </p:cNvPr>
            <p:cNvSpPr txBox="1"/>
            <p:nvPr/>
          </p:nvSpPr>
          <p:spPr>
            <a:xfrm>
              <a:off x="2615980" y="1306993"/>
              <a:ext cx="683812" cy="265517"/>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Quentin</a:t>
              </a:r>
            </a:p>
          </p:txBody>
        </p:sp>
        <p:sp>
          <p:nvSpPr>
            <p:cNvPr id="20" name="Text Box 1">
              <a:extLst>
                <a:ext uri="{FF2B5EF4-FFF2-40B4-BE49-F238E27FC236}">
                  <a16:creationId xmlns:a16="http://schemas.microsoft.com/office/drawing/2014/main" id="{D6414DFC-FD8E-942E-406D-ABEE1867EA76}"/>
                </a:ext>
              </a:extLst>
            </p:cNvPr>
            <p:cNvSpPr txBox="1"/>
            <p:nvPr/>
          </p:nvSpPr>
          <p:spPr>
            <a:xfrm>
              <a:off x="3406004" y="1284231"/>
              <a:ext cx="593502" cy="27686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Rachel</a:t>
              </a:r>
            </a:p>
          </p:txBody>
        </p:sp>
        <p:cxnSp>
          <p:nvCxnSpPr>
            <p:cNvPr id="21" name="Straight Connector 20">
              <a:extLst>
                <a:ext uri="{FF2B5EF4-FFF2-40B4-BE49-F238E27FC236}">
                  <a16:creationId xmlns:a16="http://schemas.microsoft.com/office/drawing/2014/main" id="{4F689EED-2D81-8873-5024-C228583AD18F}"/>
                </a:ext>
              </a:extLst>
            </p:cNvPr>
            <p:cNvCxnSpPr/>
            <p:nvPr/>
          </p:nvCxnSpPr>
          <p:spPr>
            <a:xfrm flipH="1" flipV="1">
              <a:off x="2879310" y="2121252"/>
              <a:ext cx="6985" cy="106045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5D0CF0-EEDC-6EE2-8B77-A6D2F295C7AA}"/>
                </a:ext>
              </a:extLst>
            </p:cNvPr>
            <p:cNvCxnSpPr/>
            <p:nvPr/>
          </p:nvCxnSpPr>
          <p:spPr>
            <a:xfrm flipV="1">
              <a:off x="2206311" y="2128654"/>
              <a:ext cx="0" cy="136069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D391078-6BD6-D84E-21CF-7DD1BA33CE08}"/>
                </a:ext>
              </a:extLst>
            </p:cNvPr>
            <p:cNvCxnSpPr/>
            <p:nvPr/>
          </p:nvCxnSpPr>
          <p:spPr>
            <a:xfrm flipV="1">
              <a:off x="3556422" y="2143209"/>
              <a:ext cx="0" cy="136017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E5FDFCD-F019-3ABB-D8A9-57F13CB2F4F3}"/>
                </a:ext>
              </a:extLst>
            </p:cNvPr>
            <p:cNvCxnSpPr/>
            <p:nvPr/>
          </p:nvCxnSpPr>
          <p:spPr>
            <a:xfrm flipH="1">
              <a:off x="1360627" y="3533242"/>
              <a:ext cx="833933"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9C498AC-9457-CFF7-8326-012AF250FFFF}"/>
                </a:ext>
              </a:extLst>
            </p:cNvPr>
            <p:cNvCxnSpPr/>
            <p:nvPr/>
          </p:nvCxnSpPr>
          <p:spPr>
            <a:xfrm flipH="1" flipV="1">
              <a:off x="1097280" y="358411"/>
              <a:ext cx="7315" cy="2734748"/>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CC3C3F63-4B23-32C0-5737-8B988E2875C4}"/>
                </a:ext>
              </a:extLst>
            </p:cNvPr>
            <p:cNvSpPr/>
            <p:nvPr/>
          </p:nvSpPr>
          <p:spPr>
            <a:xfrm>
              <a:off x="2040941" y="153657"/>
              <a:ext cx="1670661" cy="395020"/>
            </a:xfrm>
            <a:prstGeom prst="roundRect">
              <a:avLst/>
            </a:prstGeom>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sz="2000" dirty="0">
                  <a:effectLst/>
                  <a:ea typeface="Calibri" panose="020F0502020204030204" pitchFamily="34" charset="0"/>
                  <a:cs typeface="Times New Roman" panose="02020603050405020304" pitchFamily="18" charset="0"/>
                </a:rPr>
                <a:t>X Partnership</a:t>
              </a:r>
            </a:p>
          </p:txBody>
        </p:sp>
        <p:cxnSp>
          <p:nvCxnSpPr>
            <p:cNvPr id="27" name="Straight Connector 26">
              <a:extLst>
                <a:ext uri="{FF2B5EF4-FFF2-40B4-BE49-F238E27FC236}">
                  <a16:creationId xmlns:a16="http://schemas.microsoft.com/office/drawing/2014/main" id="{69252610-E1EB-8108-6CD1-9D472B0B9614}"/>
                </a:ext>
              </a:extLst>
            </p:cNvPr>
            <p:cNvCxnSpPr/>
            <p:nvPr/>
          </p:nvCxnSpPr>
          <p:spPr>
            <a:xfrm flipV="1">
              <a:off x="2231136" y="548137"/>
              <a:ext cx="0" cy="687629"/>
            </a:xfrm>
            <a:prstGeom prst="line">
              <a:avLst/>
            </a:prstGeom>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41F2B6E6-534E-59E4-A4B2-4D260BE0B219}"/>
                </a:ext>
              </a:extLst>
            </p:cNvPr>
            <p:cNvCxnSpPr/>
            <p:nvPr/>
          </p:nvCxnSpPr>
          <p:spPr>
            <a:xfrm flipV="1">
              <a:off x="2849693" y="548695"/>
              <a:ext cx="0" cy="687070"/>
            </a:xfrm>
            <a:prstGeom prst="line">
              <a:avLst/>
            </a:prstGeom>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DE7B2368-2CFD-F67C-275B-E82633CCF8DB}"/>
                </a:ext>
              </a:extLst>
            </p:cNvPr>
            <p:cNvCxnSpPr/>
            <p:nvPr/>
          </p:nvCxnSpPr>
          <p:spPr>
            <a:xfrm flipV="1">
              <a:off x="3515375" y="548713"/>
              <a:ext cx="0" cy="687070"/>
            </a:xfrm>
            <a:prstGeom prst="line">
              <a:avLst/>
            </a:prstGeom>
          </p:spPr>
          <p:style>
            <a:lnRef idx="1">
              <a:schemeClr val="accent2"/>
            </a:lnRef>
            <a:fillRef idx="0">
              <a:schemeClr val="accent2"/>
            </a:fillRef>
            <a:effectRef idx="0">
              <a:schemeClr val="accent2"/>
            </a:effectRef>
            <a:fontRef idx="minor">
              <a:schemeClr val="tx1"/>
            </a:fontRef>
          </p:style>
        </p:cxnSp>
        <p:pic>
          <p:nvPicPr>
            <p:cNvPr id="30" name="Graphic 775770782" descr="Office worker female outline">
              <a:extLst>
                <a:ext uri="{FF2B5EF4-FFF2-40B4-BE49-F238E27FC236}">
                  <a16:creationId xmlns:a16="http://schemas.microsoft.com/office/drawing/2014/main" id="{9388F892-782B-04FA-DE5E-4B64EB87ADCF}"/>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62667" y="1633929"/>
              <a:ext cx="238585" cy="238585"/>
            </a:xfrm>
            <a:prstGeom prst="rect">
              <a:avLst/>
            </a:prstGeom>
          </p:spPr>
        </p:pic>
        <p:pic>
          <p:nvPicPr>
            <p:cNvPr id="31" name="Graphic 224080646" descr="Office worker male with solid fill">
              <a:extLst>
                <a:ext uri="{FF2B5EF4-FFF2-40B4-BE49-F238E27FC236}">
                  <a16:creationId xmlns:a16="http://schemas.microsoft.com/office/drawing/2014/main" id="{879B2864-90EC-7AFC-A8A8-12BE2973780E}"/>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56789" y="1633929"/>
              <a:ext cx="238585" cy="238585"/>
            </a:xfrm>
            <a:prstGeom prst="rect">
              <a:avLst/>
            </a:prstGeom>
          </p:spPr>
        </p:pic>
        <p:pic>
          <p:nvPicPr>
            <p:cNvPr id="32" name="Graphic 1347357719" descr="Office worker female with solid fill">
              <a:extLst>
                <a:ext uri="{FF2B5EF4-FFF2-40B4-BE49-F238E27FC236}">
                  <a16:creationId xmlns:a16="http://schemas.microsoft.com/office/drawing/2014/main" id="{F10507E5-F3A1-F606-DC2C-646426123228}"/>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99463" y="1633929"/>
              <a:ext cx="238585" cy="238585"/>
            </a:xfrm>
            <a:prstGeom prst="rect">
              <a:avLst/>
            </a:prstGeom>
          </p:spPr>
        </p:pic>
        <p:cxnSp>
          <p:nvCxnSpPr>
            <p:cNvPr id="33" name="Straight Arrow Connector 32">
              <a:extLst>
                <a:ext uri="{FF2B5EF4-FFF2-40B4-BE49-F238E27FC236}">
                  <a16:creationId xmlns:a16="http://schemas.microsoft.com/office/drawing/2014/main" id="{8F808C9D-DCBF-596B-84DB-9A72610C3E7C}"/>
                </a:ext>
              </a:extLst>
            </p:cNvPr>
            <p:cNvCxnSpPr/>
            <p:nvPr/>
          </p:nvCxnSpPr>
          <p:spPr>
            <a:xfrm>
              <a:off x="1111910" y="358445"/>
              <a:ext cx="921715" cy="0"/>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36" name="TextBox 35">
            <a:extLst>
              <a:ext uri="{FF2B5EF4-FFF2-40B4-BE49-F238E27FC236}">
                <a16:creationId xmlns:a16="http://schemas.microsoft.com/office/drawing/2014/main" id="{C5751F4F-4A85-42CB-9381-8E485C11DD24}"/>
              </a:ext>
            </a:extLst>
          </p:cNvPr>
          <p:cNvSpPr txBox="1"/>
          <p:nvPr/>
        </p:nvSpPr>
        <p:spPr>
          <a:xfrm>
            <a:off x="3916331" y="3591882"/>
            <a:ext cx="4561726" cy="276999"/>
          </a:xfrm>
          <a:prstGeom prst="rect">
            <a:avLst/>
          </a:prstGeom>
          <a:noFill/>
        </p:spPr>
        <p:txBody>
          <a:bodyPr wrap="square">
            <a:spAutoFit/>
          </a:bodyPr>
          <a:lstStyle/>
          <a:p>
            <a:r>
              <a:rPr lang="en-AU" sz="1200" dirty="0">
                <a:effectLst/>
                <a:latin typeface="Calibri" panose="020F0502020204030204" pitchFamily="34" charset="0"/>
                <a:ea typeface="Times New Roman" panose="02020603050405020304" pitchFamily="18" charset="0"/>
                <a:cs typeface="Times New Roman" panose="02020603050405020304" pitchFamily="18" charset="0"/>
              </a:rPr>
              <a:t> </a:t>
            </a:r>
            <a:r>
              <a:rPr lang="en-AU" sz="1200" dirty="0">
                <a:effectLst/>
                <a:latin typeface="Calibri" panose="020F0502020204030204" pitchFamily="34" charset="0"/>
                <a:ea typeface="Times New Roman" panose="02020603050405020304" pitchFamily="18" charset="0"/>
                <a:cs typeface="Calibri" panose="020F0502020204030204" pitchFamily="34" charset="0"/>
              </a:rPr>
              <a:t>Unitholders as well as directors and shareholders of corporate trustee</a:t>
            </a:r>
            <a:endParaRPr lang="en-AU" sz="1200" dirty="0"/>
          </a:p>
        </p:txBody>
      </p:sp>
      <p:sp>
        <p:nvSpPr>
          <p:cNvPr id="34" name="Text Box 1">
            <a:extLst>
              <a:ext uri="{FF2B5EF4-FFF2-40B4-BE49-F238E27FC236}">
                <a16:creationId xmlns:a16="http://schemas.microsoft.com/office/drawing/2014/main" id="{6CFD503F-8E14-B8C8-134A-23D2A03A8D65}"/>
              </a:ext>
            </a:extLst>
          </p:cNvPr>
          <p:cNvSpPr txBox="1"/>
          <p:nvPr/>
        </p:nvSpPr>
        <p:spPr>
          <a:xfrm>
            <a:off x="1267145" y="4678041"/>
            <a:ext cx="1380184" cy="31118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2000" dirty="0">
                <a:latin typeface="Calibri" panose="020F0502020204030204" pitchFamily="34" charset="0"/>
                <a:ea typeface="Calibri" panose="020F0502020204030204" pitchFamily="34" charset="0"/>
                <a:cs typeface="Times New Roman" panose="02020603050405020304" pitchFamily="18" charset="0"/>
              </a:rPr>
              <a:t>c</a:t>
            </a:r>
            <a:r>
              <a:rPr lang="en-AU" sz="2000" dirty="0" err="1">
                <a:latin typeface="Calibri" panose="020F0502020204030204" pitchFamily="34" charset="0"/>
                <a:ea typeface="Calibri" panose="020F0502020204030204" pitchFamily="34" charset="0"/>
                <a:cs typeface="Times New Roman" panose="02020603050405020304" pitchFamily="18" charset="0"/>
              </a:rPr>
              <a:t>apital</a:t>
            </a:r>
            <a:r>
              <a:rPr lang="en-AU" sz="2000" dirty="0">
                <a:latin typeface="Calibri" panose="020F0502020204030204" pitchFamily="34" charset="0"/>
                <a:ea typeface="Calibri" panose="020F0502020204030204" pitchFamily="34" charset="0"/>
                <a:cs typeface="Times New Roman" panose="02020603050405020304" pitchFamily="18" charset="0"/>
              </a:rPr>
              <a:t> gain on sale</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7" name="TextBox 36">
            <a:extLst>
              <a:ext uri="{FF2B5EF4-FFF2-40B4-BE49-F238E27FC236}">
                <a16:creationId xmlns:a16="http://schemas.microsoft.com/office/drawing/2014/main" id="{9645D0A9-4CC8-8FE2-DF9F-1C11485C8443}"/>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6-7</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6389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8D4A-345E-485C-8FC6-3E26F406BD15}"/>
              </a:ext>
            </a:extLst>
          </p:cNvPr>
          <p:cNvSpPr>
            <a:spLocks noGrp="1"/>
          </p:cNvSpPr>
          <p:nvPr>
            <p:ph type="title"/>
          </p:nvPr>
        </p:nvSpPr>
        <p:spPr>
          <a:xfrm>
            <a:off x="838200" y="531182"/>
            <a:ext cx="10515600" cy="774358"/>
          </a:xfrm>
        </p:spPr>
        <p:txBody>
          <a:bodyPr>
            <a:normAutofit fontScale="90000"/>
          </a:bodyPr>
          <a:lstStyle/>
          <a:p>
            <a:r>
              <a:rPr lang="en-AU" dirty="0"/>
              <a:t>Scenario 1a </a:t>
            </a:r>
            <a:r>
              <a:rPr lang="en-AU" dirty="0">
                <a:solidFill>
                  <a:srgbClr val="000000"/>
                </a:solidFill>
                <a:effectLst/>
                <a:ea typeface="SimSun" panose="02010600030101010101" pitchFamily="2" charset="-122"/>
                <a:cs typeface="Calibri" panose="020F0502020204030204" pitchFamily="34" charset="0"/>
              </a:rPr>
              <a:t>—</a:t>
            </a:r>
            <a:r>
              <a:rPr lang="en-AU" dirty="0"/>
              <a:t> Penny’s 40% </a:t>
            </a:r>
            <a:r>
              <a:rPr lang="en-US" dirty="0">
                <a:effectLst/>
                <a:ea typeface="Times New Roman" panose="02020603050405020304" pitchFamily="18" charset="0"/>
                <a:cs typeface="Times New Roman" panose="02020603050405020304" pitchFamily="18" charset="0"/>
              </a:rPr>
              <a:t>unit holding is owned by Davis F/T</a:t>
            </a:r>
            <a:endParaRPr lang="en-AU" dirty="0"/>
          </a:p>
        </p:txBody>
      </p:sp>
      <p:grpSp>
        <p:nvGrpSpPr>
          <p:cNvPr id="34" name="Canvas 1174915049">
            <a:extLst>
              <a:ext uri="{FF2B5EF4-FFF2-40B4-BE49-F238E27FC236}">
                <a16:creationId xmlns:a16="http://schemas.microsoft.com/office/drawing/2014/main" id="{147397F6-8E96-1C8F-88EE-B0CE302B5FED}"/>
              </a:ext>
            </a:extLst>
          </p:cNvPr>
          <p:cNvGrpSpPr/>
          <p:nvPr/>
        </p:nvGrpSpPr>
        <p:grpSpPr>
          <a:xfrm>
            <a:off x="625800" y="1561514"/>
            <a:ext cx="10728000" cy="4716000"/>
            <a:chOff x="0" y="0"/>
            <a:chExt cx="5630545" cy="3333115"/>
          </a:xfrm>
        </p:grpSpPr>
        <p:sp>
          <p:nvSpPr>
            <p:cNvPr id="35" name="Rectangle 34">
              <a:extLst>
                <a:ext uri="{FF2B5EF4-FFF2-40B4-BE49-F238E27FC236}">
                  <a16:creationId xmlns:a16="http://schemas.microsoft.com/office/drawing/2014/main" id="{6C9CD036-81BD-9D71-55CF-AC71242940F1}"/>
                </a:ext>
              </a:extLst>
            </p:cNvPr>
            <p:cNvSpPr/>
            <p:nvPr/>
          </p:nvSpPr>
          <p:spPr>
            <a:xfrm>
              <a:off x="0" y="0"/>
              <a:ext cx="5630545" cy="3333115"/>
            </a:xfrm>
            <a:prstGeom prst="rect">
              <a:avLst/>
            </a:prstGeom>
            <a:solidFill>
              <a:prstClr val="white"/>
            </a:solidFill>
            <a:ln>
              <a:solidFill>
                <a:srgbClr val="000000"/>
              </a:solidFill>
            </a:ln>
          </p:spPr>
          <p:txBody>
            <a:bodyPr/>
            <a:lstStyle/>
            <a:p>
              <a:endParaRPr lang="en-AU" dirty="0"/>
            </a:p>
          </p:txBody>
        </p:sp>
        <p:sp>
          <p:nvSpPr>
            <p:cNvPr id="36" name="Text Box 1">
              <a:extLst>
                <a:ext uri="{FF2B5EF4-FFF2-40B4-BE49-F238E27FC236}">
                  <a16:creationId xmlns:a16="http://schemas.microsoft.com/office/drawing/2014/main" id="{3C2757FD-D78D-C769-92CE-66D89430ACB4}"/>
                </a:ext>
              </a:extLst>
            </p:cNvPr>
            <p:cNvSpPr txBox="1"/>
            <p:nvPr/>
          </p:nvSpPr>
          <p:spPr>
            <a:xfrm>
              <a:off x="3332851" y="1284594"/>
              <a:ext cx="1304925" cy="471053"/>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Penny and Peter are trustees</a:t>
              </a:r>
            </a:p>
          </p:txBody>
        </p:sp>
        <p:sp>
          <p:nvSpPr>
            <p:cNvPr id="37" name="Text Box 1">
              <a:extLst>
                <a:ext uri="{FF2B5EF4-FFF2-40B4-BE49-F238E27FC236}">
                  <a16:creationId xmlns:a16="http://schemas.microsoft.com/office/drawing/2014/main" id="{A59DEA35-6C5D-0841-6507-6BC8C862EF69}"/>
                </a:ext>
              </a:extLst>
            </p:cNvPr>
            <p:cNvSpPr txBox="1"/>
            <p:nvPr/>
          </p:nvSpPr>
          <p:spPr>
            <a:xfrm>
              <a:off x="3150019" y="556058"/>
              <a:ext cx="658100" cy="33274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600"/>
                </a:spcAft>
              </a:pPr>
              <a:r>
                <a:rPr lang="en-AU" sz="1100" dirty="0">
                  <a:effectLst/>
                  <a:latin typeface="Calibri" panose="020F0502020204030204" pitchFamily="34" charset="0"/>
                  <a:ea typeface="Calibri" panose="020F0502020204030204" pitchFamily="34" charset="0"/>
                  <a:cs typeface="Times New Roman" panose="02020603050405020304" pitchFamily="18" charset="0"/>
                </a:rPr>
                <a:t>spouses</a:t>
              </a:r>
            </a:p>
          </p:txBody>
        </p:sp>
        <p:sp>
          <p:nvSpPr>
            <p:cNvPr id="38" name="Text Box 1">
              <a:extLst>
                <a:ext uri="{FF2B5EF4-FFF2-40B4-BE49-F238E27FC236}">
                  <a16:creationId xmlns:a16="http://schemas.microsoft.com/office/drawing/2014/main" id="{DC532D59-B66A-D78C-8C66-A3F4C389CF48}"/>
                </a:ext>
              </a:extLst>
            </p:cNvPr>
            <p:cNvSpPr txBox="1"/>
            <p:nvPr/>
          </p:nvSpPr>
          <p:spPr>
            <a:xfrm>
              <a:off x="3998535" y="377510"/>
              <a:ext cx="1304985" cy="33274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Peter </a:t>
              </a:r>
              <a:r>
                <a:rPr lang="en-AU" sz="1600" dirty="0">
                  <a:effectLst/>
                  <a:latin typeface="Calibri" panose="020F0502020204030204" pitchFamily="34" charset="0"/>
                  <a:ea typeface="Calibri" panose="020F0502020204030204" pitchFamily="34" charset="0"/>
                  <a:cs typeface="Calibri" panose="020F0502020204030204" pitchFamily="34" charset="0"/>
                </a:rPr>
                <a:t>—</a:t>
              </a:r>
              <a:r>
                <a:rPr lang="en-AU" sz="1600" dirty="0">
                  <a:effectLst/>
                  <a:latin typeface="Calibri" panose="020F0502020204030204" pitchFamily="34" charset="0"/>
                  <a:ea typeface="Calibri" panose="020F0502020204030204" pitchFamily="34" charset="0"/>
                  <a:cs typeface="Times New Roman" panose="02020603050405020304" pitchFamily="18" charset="0"/>
                </a:rPr>
                <a:t> 22yo son</a:t>
              </a:r>
            </a:p>
          </p:txBody>
        </p:sp>
        <p:sp>
          <p:nvSpPr>
            <p:cNvPr id="39" name="Text Box 1">
              <a:extLst>
                <a:ext uri="{FF2B5EF4-FFF2-40B4-BE49-F238E27FC236}">
                  <a16:creationId xmlns:a16="http://schemas.microsoft.com/office/drawing/2014/main" id="{B80371F6-0F10-1154-0352-B9098289B075}"/>
                </a:ext>
              </a:extLst>
            </p:cNvPr>
            <p:cNvSpPr txBox="1"/>
            <p:nvPr/>
          </p:nvSpPr>
          <p:spPr>
            <a:xfrm>
              <a:off x="3543516" y="175688"/>
              <a:ext cx="500315" cy="332846"/>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Paul</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0" name="Text Box 1">
              <a:extLst>
                <a:ext uri="{FF2B5EF4-FFF2-40B4-BE49-F238E27FC236}">
                  <a16:creationId xmlns:a16="http://schemas.microsoft.com/office/drawing/2014/main" id="{718A39EC-F96A-7C3B-8EA4-AABE8BAC6002}"/>
                </a:ext>
              </a:extLst>
            </p:cNvPr>
            <p:cNvSpPr txBox="1"/>
            <p:nvPr/>
          </p:nvSpPr>
          <p:spPr>
            <a:xfrm>
              <a:off x="1400329" y="365056"/>
              <a:ext cx="917280" cy="453631"/>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other adult beneficiaries</a:t>
              </a:r>
            </a:p>
          </p:txBody>
        </p:sp>
        <p:sp>
          <p:nvSpPr>
            <p:cNvPr id="41" name="Text Box 1">
              <a:extLst>
                <a:ext uri="{FF2B5EF4-FFF2-40B4-BE49-F238E27FC236}">
                  <a16:creationId xmlns:a16="http://schemas.microsoft.com/office/drawing/2014/main" id="{A08C722C-8164-B888-5341-51D9496683B3}"/>
                </a:ext>
              </a:extLst>
            </p:cNvPr>
            <p:cNvSpPr txBox="1"/>
            <p:nvPr/>
          </p:nvSpPr>
          <p:spPr>
            <a:xfrm>
              <a:off x="2479853" y="2108960"/>
              <a:ext cx="448945" cy="27686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b="1" dirty="0">
                  <a:effectLst/>
                  <a:latin typeface="Calibri" panose="020F0502020204030204" pitchFamily="34" charset="0"/>
                  <a:ea typeface="Calibri" panose="020F0502020204030204" pitchFamily="34" charset="0"/>
                  <a:cs typeface="Times New Roman" panose="02020603050405020304" pitchFamily="18" charset="0"/>
                </a:rPr>
                <a:t>40%</a:t>
              </a:r>
            </a:p>
          </p:txBody>
        </p:sp>
        <p:sp>
          <p:nvSpPr>
            <p:cNvPr id="42" name="Rectangle 41">
              <a:extLst>
                <a:ext uri="{FF2B5EF4-FFF2-40B4-BE49-F238E27FC236}">
                  <a16:creationId xmlns:a16="http://schemas.microsoft.com/office/drawing/2014/main" id="{1DBB147B-02D3-371E-A359-45326E906BAA}"/>
                </a:ext>
              </a:extLst>
            </p:cNvPr>
            <p:cNvSpPr/>
            <p:nvPr/>
          </p:nvSpPr>
          <p:spPr>
            <a:xfrm>
              <a:off x="3587028" y="2525186"/>
              <a:ext cx="794840" cy="721978"/>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sz="2000" dirty="0">
                  <a:effectLst/>
                  <a:ea typeface="Calibri" panose="020F0502020204030204" pitchFamily="34" charset="0"/>
                  <a:cs typeface="Times New Roman" panose="02020603050405020304" pitchFamily="18" charset="0"/>
                </a:rPr>
                <a:t>Trustee Pty Ltd (trustee)</a:t>
              </a:r>
              <a:endParaRPr lang="en-AU" sz="1100" dirty="0">
                <a:effectLst/>
                <a:ea typeface="Calibri" panose="020F0502020204030204" pitchFamily="34" charset="0"/>
                <a:cs typeface="Times New Roman" panose="02020603050405020304" pitchFamily="18" charset="0"/>
              </a:endParaRPr>
            </a:p>
          </p:txBody>
        </p:sp>
        <p:sp>
          <p:nvSpPr>
            <p:cNvPr id="43" name="Oval 42">
              <a:extLst>
                <a:ext uri="{FF2B5EF4-FFF2-40B4-BE49-F238E27FC236}">
                  <a16:creationId xmlns:a16="http://schemas.microsoft.com/office/drawing/2014/main" id="{9FFB3BA6-1A50-EB70-6E2F-333AB3DFADC7}"/>
                </a:ext>
              </a:extLst>
            </p:cNvPr>
            <p:cNvSpPr/>
            <p:nvPr/>
          </p:nvSpPr>
          <p:spPr>
            <a:xfrm>
              <a:off x="1781195" y="2459331"/>
              <a:ext cx="1750774" cy="721979"/>
            </a:xfrm>
            <a:prstGeom prst="ellipse">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sz="2000" b="1" dirty="0">
                  <a:effectLst/>
                  <a:ea typeface="Calibri" panose="020F0502020204030204" pitchFamily="34" charset="0"/>
                  <a:cs typeface="Times New Roman" panose="02020603050405020304" pitchFamily="18" charset="0"/>
                </a:rPr>
                <a:t>Century Unit Trust</a:t>
              </a:r>
              <a:endParaRPr lang="en-AU" sz="2000" dirty="0">
                <a:effectLst/>
                <a:ea typeface="Calibri" panose="020F0502020204030204" pitchFamily="34" charset="0"/>
                <a:cs typeface="Times New Roman" panose="02020603050405020304" pitchFamily="18" charset="0"/>
              </a:endParaRPr>
            </a:p>
          </p:txBody>
        </p:sp>
        <p:sp>
          <p:nvSpPr>
            <p:cNvPr id="44" name="Text Box 831338983">
              <a:extLst>
                <a:ext uri="{FF2B5EF4-FFF2-40B4-BE49-F238E27FC236}">
                  <a16:creationId xmlns:a16="http://schemas.microsoft.com/office/drawing/2014/main" id="{0D2E6A16-9946-0063-B1D7-6892573A75D2}"/>
                </a:ext>
              </a:extLst>
            </p:cNvPr>
            <p:cNvSpPr txBox="1"/>
            <p:nvPr/>
          </p:nvSpPr>
          <p:spPr>
            <a:xfrm>
              <a:off x="2720897" y="175688"/>
              <a:ext cx="585455" cy="277984"/>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Penny</a:t>
              </a:r>
            </a:p>
          </p:txBody>
        </p:sp>
        <p:cxnSp>
          <p:nvCxnSpPr>
            <p:cNvPr id="45" name="Straight Connector 44">
              <a:extLst>
                <a:ext uri="{FF2B5EF4-FFF2-40B4-BE49-F238E27FC236}">
                  <a16:creationId xmlns:a16="http://schemas.microsoft.com/office/drawing/2014/main" id="{C1E4BB60-32E0-738E-D236-35F68462C07B}"/>
                </a:ext>
              </a:extLst>
            </p:cNvPr>
            <p:cNvCxnSpPr/>
            <p:nvPr/>
          </p:nvCxnSpPr>
          <p:spPr>
            <a:xfrm flipV="1">
              <a:off x="2879855" y="1921423"/>
              <a:ext cx="0" cy="547877"/>
            </a:xfrm>
            <a:prstGeom prst="line">
              <a:avLst/>
            </a:prstGeom>
          </p:spPr>
          <p:style>
            <a:lnRef idx="1">
              <a:schemeClr val="accent1"/>
            </a:lnRef>
            <a:fillRef idx="0">
              <a:schemeClr val="accent1"/>
            </a:fillRef>
            <a:effectRef idx="0">
              <a:schemeClr val="accent1"/>
            </a:effectRef>
            <a:fontRef idx="minor">
              <a:schemeClr val="tx1"/>
            </a:fontRef>
          </p:style>
        </p:cxnSp>
        <p:pic>
          <p:nvPicPr>
            <p:cNvPr id="46" name="Graphic 22945730" descr="Office worker female with solid fill">
              <a:extLst>
                <a:ext uri="{FF2B5EF4-FFF2-40B4-BE49-F238E27FC236}">
                  <a16:creationId xmlns:a16="http://schemas.microsoft.com/office/drawing/2014/main" id="{0F65FFB0-B78A-48C0-96A6-09D19230E797}"/>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85809" y="400132"/>
              <a:ext cx="239866" cy="293782"/>
            </a:xfrm>
            <a:prstGeom prst="rect">
              <a:avLst/>
            </a:prstGeom>
          </p:spPr>
        </p:pic>
        <p:sp>
          <p:nvSpPr>
            <p:cNvPr id="47" name="Rectangle: Rounded Corners 46">
              <a:extLst>
                <a:ext uri="{FF2B5EF4-FFF2-40B4-BE49-F238E27FC236}">
                  <a16:creationId xmlns:a16="http://schemas.microsoft.com/office/drawing/2014/main" id="{8C5EDB4A-3F66-2F6B-8EDB-554C4D37E40C}"/>
                </a:ext>
              </a:extLst>
            </p:cNvPr>
            <p:cNvSpPr/>
            <p:nvPr/>
          </p:nvSpPr>
          <p:spPr>
            <a:xfrm>
              <a:off x="2029917" y="1170430"/>
              <a:ext cx="1269238" cy="721980"/>
            </a:xfrm>
            <a:prstGeom prst="roundRect">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sz="2000" dirty="0">
                  <a:effectLst/>
                  <a:ea typeface="Calibri" panose="020F0502020204030204" pitchFamily="34" charset="0"/>
                  <a:cs typeface="Times New Roman" panose="02020603050405020304" pitchFamily="18" charset="0"/>
                </a:rPr>
                <a:t>Davis Family Trust</a:t>
              </a:r>
            </a:p>
          </p:txBody>
        </p:sp>
        <p:pic>
          <p:nvPicPr>
            <p:cNvPr id="48" name="Graphic 861875110" descr="Male profile with solid fill">
              <a:extLst>
                <a:ext uri="{FF2B5EF4-FFF2-40B4-BE49-F238E27FC236}">
                  <a16:creationId xmlns:a16="http://schemas.microsoft.com/office/drawing/2014/main" id="{B3AF4414-8DD0-3E35-EE56-C754DF04FF3E}"/>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58609" y="365056"/>
              <a:ext cx="268789" cy="328859"/>
            </a:xfrm>
            <a:prstGeom prst="rect">
              <a:avLst/>
            </a:prstGeom>
          </p:spPr>
        </p:pic>
        <p:pic>
          <p:nvPicPr>
            <p:cNvPr id="49" name="Graphic 1355696835" descr="Group with solid fill">
              <a:extLst>
                <a:ext uri="{FF2B5EF4-FFF2-40B4-BE49-F238E27FC236}">
                  <a16:creationId xmlns:a16="http://schemas.microsoft.com/office/drawing/2014/main" id="{4A176BC2-36A3-27B5-1D4F-ED2E8AD63E6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29917" y="424114"/>
              <a:ext cx="328155" cy="328155"/>
            </a:xfrm>
            <a:prstGeom prst="rect">
              <a:avLst/>
            </a:prstGeom>
          </p:spPr>
        </p:pic>
        <p:cxnSp>
          <p:nvCxnSpPr>
            <p:cNvPr id="50" name="Straight Connector 49">
              <a:extLst>
                <a:ext uri="{FF2B5EF4-FFF2-40B4-BE49-F238E27FC236}">
                  <a16:creationId xmlns:a16="http://schemas.microsoft.com/office/drawing/2014/main" id="{3EA07F3D-43CF-9F37-06FF-EF211C24DD5D}"/>
                </a:ext>
              </a:extLst>
            </p:cNvPr>
            <p:cNvCxnSpPr/>
            <p:nvPr/>
          </p:nvCxnSpPr>
          <p:spPr>
            <a:xfrm flipV="1">
              <a:off x="2886295" y="775411"/>
              <a:ext cx="0" cy="387706"/>
            </a:xfrm>
            <a:prstGeom prst="line">
              <a:avLst/>
            </a:prstGeom>
            <a:ln>
              <a:prstDash val="dash"/>
            </a:ln>
          </p:spPr>
          <p:style>
            <a:lnRef idx="1">
              <a:schemeClr val="accent4"/>
            </a:lnRef>
            <a:fillRef idx="0">
              <a:schemeClr val="accent4"/>
            </a:fillRef>
            <a:effectRef idx="0">
              <a:schemeClr val="accent4"/>
            </a:effectRef>
            <a:fontRef idx="minor">
              <a:schemeClr val="tx1"/>
            </a:fontRef>
          </p:style>
        </p:cxnSp>
        <p:cxnSp>
          <p:nvCxnSpPr>
            <p:cNvPr id="51" name="Straight Connector 50">
              <a:extLst>
                <a:ext uri="{FF2B5EF4-FFF2-40B4-BE49-F238E27FC236}">
                  <a16:creationId xmlns:a16="http://schemas.microsoft.com/office/drawing/2014/main" id="{D514A9A6-6B93-F390-544E-25BABBFA3F85}"/>
                </a:ext>
              </a:extLst>
            </p:cNvPr>
            <p:cNvCxnSpPr/>
            <p:nvPr/>
          </p:nvCxnSpPr>
          <p:spPr>
            <a:xfrm flipV="1">
              <a:off x="3117282" y="775411"/>
              <a:ext cx="459851" cy="395021"/>
            </a:xfrm>
            <a:prstGeom prst="line">
              <a:avLst/>
            </a:prstGeom>
            <a:ln>
              <a:prstDash val="dash"/>
            </a:ln>
          </p:spPr>
          <p:style>
            <a:lnRef idx="1">
              <a:schemeClr val="accent4"/>
            </a:lnRef>
            <a:fillRef idx="0">
              <a:schemeClr val="accent4"/>
            </a:fillRef>
            <a:effectRef idx="0">
              <a:schemeClr val="accent4"/>
            </a:effectRef>
            <a:fontRef idx="minor">
              <a:schemeClr val="tx1"/>
            </a:fontRef>
          </p:style>
        </p:cxnSp>
        <p:cxnSp>
          <p:nvCxnSpPr>
            <p:cNvPr id="52" name="Straight Connector 51">
              <a:extLst>
                <a:ext uri="{FF2B5EF4-FFF2-40B4-BE49-F238E27FC236}">
                  <a16:creationId xmlns:a16="http://schemas.microsoft.com/office/drawing/2014/main" id="{D2C15C96-A2AD-9FAD-860F-C8C954FC88FB}"/>
                </a:ext>
              </a:extLst>
            </p:cNvPr>
            <p:cNvCxnSpPr/>
            <p:nvPr/>
          </p:nvCxnSpPr>
          <p:spPr>
            <a:xfrm flipH="1" flipV="1">
              <a:off x="2326234" y="811964"/>
              <a:ext cx="331308" cy="340097"/>
            </a:xfrm>
            <a:prstGeom prst="line">
              <a:avLst/>
            </a:prstGeom>
            <a:ln>
              <a:prstDash val="dash"/>
            </a:ln>
          </p:spPr>
          <p:style>
            <a:lnRef idx="1">
              <a:schemeClr val="accent4"/>
            </a:lnRef>
            <a:fillRef idx="0">
              <a:schemeClr val="accent4"/>
            </a:fillRef>
            <a:effectRef idx="0">
              <a:schemeClr val="accent4"/>
            </a:effectRef>
            <a:fontRef idx="minor">
              <a:schemeClr val="tx1"/>
            </a:fontRef>
          </p:style>
        </p:cxnSp>
        <p:pic>
          <p:nvPicPr>
            <p:cNvPr id="53" name="Graphic 1052222580" descr="School boy with solid fill">
              <a:extLst>
                <a:ext uri="{FF2B5EF4-FFF2-40B4-BE49-F238E27FC236}">
                  <a16:creationId xmlns:a16="http://schemas.microsoft.com/office/drawing/2014/main" id="{4779D032-311C-E80E-1369-257C8D44E546}"/>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81579" y="588626"/>
              <a:ext cx="278753" cy="320164"/>
            </a:xfrm>
            <a:prstGeom prst="rect">
              <a:avLst/>
            </a:prstGeom>
          </p:spPr>
        </p:pic>
        <p:cxnSp>
          <p:nvCxnSpPr>
            <p:cNvPr id="54" name="Straight Arrow Connector 53">
              <a:extLst>
                <a:ext uri="{FF2B5EF4-FFF2-40B4-BE49-F238E27FC236}">
                  <a16:creationId xmlns:a16="http://schemas.microsoft.com/office/drawing/2014/main" id="{5894D09E-7064-FF99-6E51-80019A7EAC89}"/>
                </a:ext>
              </a:extLst>
            </p:cNvPr>
            <p:cNvCxnSpPr/>
            <p:nvPr/>
          </p:nvCxnSpPr>
          <p:spPr>
            <a:xfrm>
              <a:off x="3043123" y="548640"/>
              <a:ext cx="512064" cy="0"/>
            </a:xfrm>
            <a:prstGeom prst="straightConnector1">
              <a:avLst/>
            </a:prstGeom>
            <a:ln>
              <a:headEnd type="arrow" w="med" len="med"/>
              <a:tailEnd type="arrow" w="med" len="med"/>
            </a:ln>
          </p:spPr>
          <p:style>
            <a:lnRef idx="3">
              <a:schemeClr val="accent3"/>
            </a:lnRef>
            <a:fillRef idx="0">
              <a:schemeClr val="accent3"/>
            </a:fillRef>
            <a:effectRef idx="2">
              <a:schemeClr val="accent3"/>
            </a:effectRef>
            <a:fontRef idx="minor">
              <a:schemeClr val="tx1"/>
            </a:fontRef>
          </p:style>
        </p:cxnSp>
        <p:cxnSp>
          <p:nvCxnSpPr>
            <p:cNvPr id="55" name="Straight Connector 54">
              <a:extLst>
                <a:ext uri="{FF2B5EF4-FFF2-40B4-BE49-F238E27FC236}">
                  <a16:creationId xmlns:a16="http://schemas.microsoft.com/office/drawing/2014/main" id="{931BFCBD-ECBB-9A8B-4281-6F44FCFC5EBD}"/>
                </a:ext>
              </a:extLst>
            </p:cNvPr>
            <p:cNvCxnSpPr/>
            <p:nvPr/>
          </p:nvCxnSpPr>
          <p:spPr>
            <a:xfrm flipV="1">
              <a:off x="3299155" y="892454"/>
              <a:ext cx="792619" cy="472557"/>
            </a:xfrm>
            <a:prstGeom prst="line">
              <a:avLst/>
            </a:prstGeom>
            <a:ln>
              <a:prstDash val="dash"/>
            </a:ln>
          </p:spPr>
          <p:style>
            <a:lnRef idx="1">
              <a:schemeClr val="accent4"/>
            </a:lnRef>
            <a:fillRef idx="0">
              <a:schemeClr val="accent4"/>
            </a:fillRef>
            <a:effectRef idx="0">
              <a:schemeClr val="accent4"/>
            </a:effectRef>
            <a:fontRef idx="minor">
              <a:schemeClr val="tx1"/>
            </a:fontRef>
          </p:style>
        </p:cxnSp>
      </p:grpSp>
      <p:sp>
        <p:nvSpPr>
          <p:cNvPr id="3" name="TextBox 2">
            <a:extLst>
              <a:ext uri="{FF2B5EF4-FFF2-40B4-BE49-F238E27FC236}">
                <a16:creationId xmlns:a16="http://schemas.microsoft.com/office/drawing/2014/main" id="{9D663953-BDA7-9B36-50F4-2243A6B6B4D5}"/>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8</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5582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8D4A-345E-485C-8FC6-3E26F406BD15}"/>
              </a:ext>
            </a:extLst>
          </p:cNvPr>
          <p:cNvSpPr>
            <a:spLocks noGrp="1"/>
          </p:cNvSpPr>
          <p:nvPr>
            <p:ph type="title"/>
          </p:nvPr>
        </p:nvSpPr>
        <p:spPr>
          <a:xfrm>
            <a:off x="838200" y="531182"/>
            <a:ext cx="10944000" cy="774358"/>
          </a:xfrm>
        </p:spPr>
        <p:txBody>
          <a:bodyPr>
            <a:normAutofit/>
          </a:bodyPr>
          <a:lstStyle/>
          <a:p>
            <a:r>
              <a:rPr lang="en-AU" dirty="0"/>
              <a:t>Scenario 1b </a:t>
            </a:r>
            <a:r>
              <a:rPr lang="en-AU" sz="4000" dirty="0">
                <a:solidFill>
                  <a:srgbClr val="000000"/>
                </a:solidFill>
                <a:effectLst/>
                <a:ea typeface="SimSun" panose="02010600030101010101" pitchFamily="2" charset="-122"/>
                <a:cs typeface="Calibri" panose="020F0502020204030204" pitchFamily="34" charset="0"/>
              </a:rPr>
              <a:t>—</a:t>
            </a:r>
            <a:r>
              <a:rPr lang="en-AU" dirty="0"/>
              <a:t> Quentin departs &amp; property 2 sold</a:t>
            </a:r>
            <a:endParaRPr lang="en-AU" sz="4400" dirty="0"/>
          </a:p>
        </p:txBody>
      </p:sp>
      <p:grpSp>
        <p:nvGrpSpPr>
          <p:cNvPr id="56" name="Canvas 727425023">
            <a:extLst>
              <a:ext uri="{FF2B5EF4-FFF2-40B4-BE49-F238E27FC236}">
                <a16:creationId xmlns:a16="http://schemas.microsoft.com/office/drawing/2014/main" id="{4EE390E2-CB19-9759-0C0C-5E1D59A9AA75}"/>
              </a:ext>
            </a:extLst>
          </p:cNvPr>
          <p:cNvGrpSpPr/>
          <p:nvPr/>
        </p:nvGrpSpPr>
        <p:grpSpPr>
          <a:xfrm>
            <a:off x="965898" y="1399936"/>
            <a:ext cx="9994908" cy="4749222"/>
            <a:chOff x="12956" y="-231971"/>
            <a:chExt cx="5630545" cy="4291965"/>
          </a:xfrm>
        </p:grpSpPr>
        <p:sp>
          <p:nvSpPr>
            <p:cNvPr id="57" name="Rectangle 56">
              <a:extLst>
                <a:ext uri="{FF2B5EF4-FFF2-40B4-BE49-F238E27FC236}">
                  <a16:creationId xmlns:a16="http://schemas.microsoft.com/office/drawing/2014/main" id="{BB17CFA8-212E-24E5-E430-06B4D88C3E4C}"/>
                </a:ext>
              </a:extLst>
            </p:cNvPr>
            <p:cNvSpPr/>
            <p:nvPr/>
          </p:nvSpPr>
          <p:spPr>
            <a:xfrm>
              <a:off x="12956" y="-231971"/>
              <a:ext cx="5630545" cy="4291965"/>
            </a:xfrm>
            <a:prstGeom prst="rect">
              <a:avLst/>
            </a:prstGeom>
            <a:solidFill>
              <a:prstClr val="white"/>
            </a:solidFill>
            <a:ln>
              <a:solidFill>
                <a:srgbClr val="000000"/>
              </a:solidFill>
            </a:ln>
          </p:spPr>
          <p:txBody>
            <a:bodyPr/>
            <a:lstStyle/>
            <a:p>
              <a:endParaRPr lang="en-AU" dirty="0"/>
            </a:p>
          </p:txBody>
        </p:sp>
        <p:sp>
          <p:nvSpPr>
            <p:cNvPr id="58" name="Text Box 53811700">
              <a:extLst>
                <a:ext uri="{FF2B5EF4-FFF2-40B4-BE49-F238E27FC236}">
                  <a16:creationId xmlns:a16="http://schemas.microsoft.com/office/drawing/2014/main" id="{38A0FADC-1396-274E-87A4-43640EF055E1}"/>
                </a:ext>
              </a:extLst>
            </p:cNvPr>
            <p:cNvSpPr txBox="1"/>
            <p:nvPr/>
          </p:nvSpPr>
          <p:spPr>
            <a:xfrm>
              <a:off x="4273992" y="1598867"/>
              <a:ext cx="694945" cy="292772"/>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100" dirty="0">
                  <a:effectLst/>
                  <a:latin typeface="Calibri" panose="020F0502020204030204" pitchFamily="34" charset="0"/>
                  <a:ea typeface="Calibri" panose="020F0502020204030204" pitchFamily="34" charset="0"/>
                  <a:cs typeface="Times New Roman" panose="02020603050405020304" pitchFamily="18" charset="0"/>
                </a:rPr>
                <a:t>Director &amp; S/H</a:t>
              </a:r>
            </a:p>
          </p:txBody>
        </p:sp>
        <p:sp>
          <p:nvSpPr>
            <p:cNvPr id="59" name="Rectangle 58">
              <a:extLst>
                <a:ext uri="{FF2B5EF4-FFF2-40B4-BE49-F238E27FC236}">
                  <a16:creationId xmlns:a16="http://schemas.microsoft.com/office/drawing/2014/main" id="{370739AA-E121-B0DF-64B6-0FC4EA4FA912}"/>
                </a:ext>
              </a:extLst>
            </p:cNvPr>
            <p:cNvSpPr/>
            <p:nvPr/>
          </p:nvSpPr>
          <p:spPr>
            <a:xfrm>
              <a:off x="4062731" y="1056650"/>
              <a:ext cx="804673" cy="504237"/>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dirty="0">
                  <a:effectLst/>
                  <a:ea typeface="Calibri" panose="020F0502020204030204" pitchFamily="34" charset="0"/>
                  <a:cs typeface="Times New Roman" panose="02020603050405020304" pitchFamily="18" charset="0"/>
                </a:rPr>
                <a:t>Corporate trustee</a:t>
              </a:r>
            </a:p>
          </p:txBody>
        </p:sp>
        <p:sp>
          <p:nvSpPr>
            <p:cNvPr id="60" name="Text Box 1">
              <a:extLst>
                <a:ext uri="{FF2B5EF4-FFF2-40B4-BE49-F238E27FC236}">
                  <a16:creationId xmlns:a16="http://schemas.microsoft.com/office/drawing/2014/main" id="{022F6DF0-1CA5-2994-CB19-BB5E0293F60B}"/>
                </a:ext>
              </a:extLst>
            </p:cNvPr>
            <p:cNvSpPr txBox="1"/>
            <p:nvPr/>
          </p:nvSpPr>
          <p:spPr>
            <a:xfrm>
              <a:off x="3142656" y="780425"/>
              <a:ext cx="448945" cy="27622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100" dirty="0">
                  <a:effectLst/>
                  <a:latin typeface="Calibri" panose="020F0502020204030204" pitchFamily="34" charset="0"/>
                  <a:ea typeface="Calibri" panose="020F0502020204030204" pitchFamily="34" charset="0"/>
                  <a:cs typeface="Times New Roman" panose="02020603050405020304" pitchFamily="18" charset="0"/>
                </a:rPr>
                <a:t>50%</a:t>
              </a:r>
            </a:p>
          </p:txBody>
        </p:sp>
        <p:sp>
          <p:nvSpPr>
            <p:cNvPr id="61" name="Text Box 1">
              <a:extLst>
                <a:ext uri="{FF2B5EF4-FFF2-40B4-BE49-F238E27FC236}">
                  <a16:creationId xmlns:a16="http://schemas.microsoft.com/office/drawing/2014/main" id="{8399356D-2BE9-C54C-806F-2EB76AFC6321}"/>
                </a:ext>
              </a:extLst>
            </p:cNvPr>
            <p:cNvSpPr txBox="1"/>
            <p:nvPr/>
          </p:nvSpPr>
          <p:spPr>
            <a:xfrm>
              <a:off x="2455028" y="779847"/>
              <a:ext cx="448945" cy="27686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40</a:t>
              </a:r>
              <a:r>
                <a:rPr lang="en-AU" sz="1100" dirty="0">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62" name="Text Box 1">
              <a:extLst>
                <a:ext uri="{FF2B5EF4-FFF2-40B4-BE49-F238E27FC236}">
                  <a16:creationId xmlns:a16="http://schemas.microsoft.com/office/drawing/2014/main" id="{46A5F668-82BB-3822-AE7A-B2A7A67A122F}"/>
                </a:ext>
              </a:extLst>
            </p:cNvPr>
            <p:cNvSpPr txBox="1"/>
            <p:nvPr/>
          </p:nvSpPr>
          <p:spPr>
            <a:xfrm>
              <a:off x="1803975" y="765216"/>
              <a:ext cx="448945" cy="27686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100" dirty="0">
                  <a:effectLst/>
                  <a:latin typeface="Calibri" panose="020F0502020204030204" pitchFamily="34" charset="0"/>
                  <a:ea typeface="Calibri" panose="020F0502020204030204" pitchFamily="34" charset="0"/>
                  <a:cs typeface="Times New Roman" panose="02020603050405020304" pitchFamily="18" charset="0"/>
                </a:rPr>
                <a:t>50%</a:t>
              </a:r>
            </a:p>
          </p:txBody>
        </p:sp>
        <p:sp>
          <p:nvSpPr>
            <p:cNvPr id="63" name="Text Box 1">
              <a:extLst>
                <a:ext uri="{FF2B5EF4-FFF2-40B4-BE49-F238E27FC236}">
                  <a16:creationId xmlns:a16="http://schemas.microsoft.com/office/drawing/2014/main" id="{1927883B-0F15-2A8E-7036-145C2DE131FC}"/>
                </a:ext>
              </a:extLst>
            </p:cNvPr>
            <p:cNvSpPr txBox="1"/>
            <p:nvPr/>
          </p:nvSpPr>
          <p:spPr>
            <a:xfrm>
              <a:off x="4480768" y="3124194"/>
              <a:ext cx="1162733" cy="688672"/>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400" dirty="0">
                  <a:effectLst/>
                  <a:latin typeface="Calibri" panose="020F0502020204030204" pitchFamily="34" charset="0"/>
                  <a:ea typeface="Calibri" panose="020F0502020204030204" pitchFamily="34" charset="0"/>
                  <a:cs typeface="Times New Roman" panose="02020603050405020304" pitchFamily="18" charset="0"/>
                </a:rPr>
                <a:t>Penny &amp; Rachel are shareholders &amp; directors</a:t>
              </a:r>
            </a:p>
          </p:txBody>
        </p:sp>
        <p:sp>
          <p:nvSpPr>
            <p:cNvPr id="64" name="Text Box 1">
              <a:extLst>
                <a:ext uri="{FF2B5EF4-FFF2-40B4-BE49-F238E27FC236}">
                  <a16:creationId xmlns:a16="http://schemas.microsoft.com/office/drawing/2014/main" id="{2807F8EF-1E1F-7F0A-B135-4F9767F112AC}"/>
                </a:ext>
              </a:extLst>
            </p:cNvPr>
            <p:cNvSpPr txBox="1"/>
            <p:nvPr/>
          </p:nvSpPr>
          <p:spPr>
            <a:xfrm>
              <a:off x="718051" y="1941482"/>
              <a:ext cx="448945" cy="27686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2000" dirty="0">
                  <a:effectLst/>
                  <a:latin typeface="Calibri" panose="020F0502020204030204" pitchFamily="34" charset="0"/>
                  <a:ea typeface="Calibri" panose="020F0502020204030204" pitchFamily="34" charset="0"/>
                  <a:cs typeface="Times New Roman" panose="02020603050405020304" pitchFamily="18" charset="0"/>
                </a:rPr>
                <a:t>rent</a:t>
              </a:r>
            </a:p>
          </p:txBody>
        </p:sp>
        <p:sp>
          <p:nvSpPr>
            <p:cNvPr id="65" name="Text Box 1">
              <a:extLst>
                <a:ext uri="{FF2B5EF4-FFF2-40B4-BE49-F238E27FC236}">
                  <a16:creationId xmlns:a16="http://schemas.microsoft.com/office/drawing/2014/main" id="{866015FE-1A01-A1B1-912F-7EA71C74F271}"/>
                </a:ext>
              </a:extLst>
            </p:cNvPr>
            <p:cNvSpPr txBox="1"/>
            <p:nvPr/>
          </p:nvSpPr>
          <p:spPr>
            <a:xfrm>
              <a:off x="43701" y="3053733"/>
              <a:ext cx="1014957" cy="449646"/>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AU" sz="2000" dirty="0">
                  <a:effectLst/>
                  <a:latin typeface="Calibri" panose="020F0502020204030204" pitchFamily="34" charset="0"/>
                  <a:ea typeface="Calibri" panose="020F0502020204030204" pitchFamily="34" charset="0"/>
                  <a:cs typeface="Times New Roman" panose="02020603050405020304" pitchFamily="18" charset="0"/>
                </a:rPr>
                <a:t>commercial property #2</a:t>
              </a:r>
            </a:p>
          </p:txBody>
        </p:sp>
        <p:sp>
          <p:nvSpPr>
            <p:cNvPr id="66" name="Text Box 1">
              <a:extLst>
                <a:ext uri="{FF2B5EF4-FFF2-40B4-BE49-F238E27FC236}">
                  <a16:creationId xmlns:a16="http://schemas.microsoft.com/office/drawing/2014/main" id="{43FB4F55-98A9-7C87-DF5A-241FBA6C3ED8}"/>
                </a:ext>
              </a:extLst>
            </p:cNvPr>
            <p:cNvSpPr txBox="1"/>
            <p:nvPr/>
          </p:nvSpPr>
          <p:spPr>
            <a:xfrm>
              <a:off x="3186293" y="2557441"/>
              <a:ext cx="448945" cy="27686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100" dirty="0">
                  <a:effectLst/>
                  <a:latin typeface="Calibri" panose="020F0502020204030204" pitchFamily="34" charset="0"/>
                  <a:ea typeface="Calibri" panose="020F0502020204030204" pitchFamily="34" charset="0"/>
                  <a:cs typeface="Times New Roman" panose="02020603050405020304" pitchFamily="18" charset="0"/>
                </a:rPr>
                <a:t>50%</a:t>
              </a:r>
            </a:p>
          </p:txBody>
        </p:sp>
        <p:sp>
          <p:nvSpPr>
            <p:cNvPr id="67" name="Text Box 1">
              <a:extLst>
                <a:ext uri="{FF2B5EF4-FFF2-40B4-BE49-F238E27FC236}">
                  <a16:creationId xmlns:a16="http://schemas.microsoft.com/office/drawing/2014/main" id="{1063D9CB-4C8E-DF8A-0166-4FA5A1EC3C0D}"/>
                </a:ext>
              </a:extLst>
            </p:cNvPr>
            <p:cNvSpPr txBox="1"/>
            <p:nvPr/>
          </p:nvSpPr>
          <p:spPr>
            <a:xfrm>
              <a:off x="2494244" y="2557413"/>
              <a:ext cx="448945" cy="27686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100" dirty="0">
                  <a:effectLst/>
                  <a:latin typeface="Calibri" panose="020F0502020204030204" pitchFamily="34" charset="0"/>
                  <a:ea typeface="Calibri" panose="020F0502020204030204" pitchFamily="34" charset="0"/>
                  <a:cs typeface="Times New Roman" panose="02020603050405020304" pitchFamily="18" charset="0"/>
                </a:rPr>
                <a:t>40%</a:t>
              </a:r>
            </a:p>
          </p:txBody>
        </p:sp>
        <p:sp>
          <p:nvSpPr>
            <p:cNvPr id="68" name="Text Box 1">
              <a:extLst>
                <a:ext uri="{FF2B5EF4-FFF2-40B4-BE49-F238E27FC236}">
                  <a16:creationId xmlns:a16="http://schemas.microsoft.com/office/drawing/2014/main" id="{A68953BC-D890-87F8-8DE2-E46BEE4691CE}"/>
                </a:ext>
              </a:extLst>
            </p:cNvPr>
            <p:cNvSpPr txBox="1"/>
            <p:nvPr/>
          </p:nvSpPr>
          <p:spPr>
            <a:xfrm>
              <a:off x="1789344" y="2542199"/>
              <a:ext cx="449107" cy="27749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100" dirty="0">
                  <a:effectLst/>
                  <a:latin typeface="Calibri" panose="020F0502020204030204" pitchFamily="34" charset="0"/>
                  <a:ea typeface="Calibri" panose="020F0502020204030204" pitchFamily="34" charset="0"/>
                  <a:cs typeface="Times New Roman" panose="02020603050405020304" pitchFamily="18" charset="0"/>
                </a:rPr>
                <a:t>50%</a:t>
              </a:r>
            </a:p>
          </p:txBody>
        </p:sp>
        <p:sp>
          <p:nvSpPr>
            <p:cNvPr id="69" name="Rectangle 68">
              <a:extLst>
                <a:ext uri="{FF2B5EF4-FFF2-40B4-BE49-F238E27FC236}">
                  <a16:creationId xmlns:a16="http://schemas.microsoft.com/office/drawing/2014/main" id="{5B1E36B0-DB85-D015-DB47-A04C7B1109AC}"/>
                </a:ext>
              </a:extLst>
            </p:cNvPr>
            <p:cNvSpPr/>
            <p:nvPr/>
          </p:nvSpPr>
          <p:spPr>
            <a:xfrm>
              <a:off x="3605400" y="3155416"/>
              <a:ext cx="826618" cy="718815"/>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sz="1600" dirty="0">
                  <a:effectLst/>
                  <a:ea typeface="Calibri" panose="020F0502020204030204" pitchFamily="34" charset="0"/>
                  <a:cs typeface="Times New Roman" panose="02020603050405020304" pitchFamily="18" charset="0"/>
                </a:rPr>
                <a:t>Trustee Pty Ltd</a:t>
              </a:r>
            </a:p>
          </p:txBody>
        </p:sp>
        <p:sp>
          <p:nvSpPr>
            <p:cNvPr id="70" name="Oval 69">
              <a:extLst>
                <a:ext uri="{FF2B5EF4-FFF2-40B4-BE49-F238E27FC236}">
                  <a16:creationId xmlns:a16="http://schemas.microsoft.com/office/drawing/2014/main" id="{FFA4509D-4C68-C2B9-4F41-0D609123AF44}"/>
                </a:ext>
              </a:extLst>
            </p:cNvPr>
            <p:cNvSpPr/>
            <p:nvPr/>
          </p:nvSpPr>
          <p:spPr>
            <a:xfrm>
              <a:off x="2206312" y="3174312"/>
              <a:ext cx="1341560" cy="694944"/>
            </a:xfrm>
            <a:prstGeom prst="ellipse">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sz="2000" b="1" dirty="0">
                  <a:effectLst/>
                  <a:ea typeface="Calibri" panose="020F0502020204030204" pitchFamily="34" charset="0"/>
                  <a:cs typeface="Times New Roman" panose="02020603050405020304" pitchFamily="18" charset="0"/>
                </a:rPr>
                <a:t>Century Unit Trust</a:t>
              </a:r>
              <a:endParaRPr lang="en-AU" sz="2000" dirty="0">
                <a:effectLst/>
                <a:ea typeface="Calibri" panose="020F0502020204030204" pitchFamily="34" charset="0"/>
                <a:cs typeface="Times New Roman" panose="02020603050405020304" pitchFamily="18" charset="0"/>
              </a:endParaRPr>
            </a:p>
          </p:txBody>
        </p:sp>
        <p:pic>
          <p:nvPicPr>
            <p:cNvPr id="71" name="Graphic 1018599827" descr="Building outline">
              <a:extLst>
                <a:ext uri="{FF2B5EF4-FFF2-40B4-BE49-F238E27FC236}">
                  <a16:creationId xmlns:a16="http://schemas.microsoft.com/office/drawing/2014/main" id="{35B1BD9E-74E1-03A8-6BA8-9BEC488E2BB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7718" y="3155416"/>
              <a:ext cx="436334" cy="436334"/>
            </a:xfrm>
            <a:prstGeom prst="rect">
              <a:avLst/>
            </a:prstGeom>
          </p:spPr>
        </p:pic>
        <p:sp>
          <p:nvSpPr>
            <p:cNvPr id="72" name="Text Box 495175250">
              <a:extLst>
                <a:ext uri="{FF2B5EF4-FFF2-40B4-BE49-F238E27FC236}">
                  <a16:creationId xmlns:a16="http://schemas.microsoft.com/office/drawing/2014/main" id="{6FB038BC-61EE-0217-7E52-72149C4185A0}"/>
                </a:ext>
              </a:extLst>
            </p:cNvPr>
            <p:cNvSpPr txBox="1"/>
            <p:nvPr/>
          </p:nvSpPr>
          <p:spPr>
            <a:xfrm>
              <a:off x="1990615" y="1320019"/>
              <a:ext cx="587443" cy="277984"/>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Penny</a:t>
              </a:r>
            </a:p>
          </p:txBody>
        </p:sp>
        <p:sp>
          <p:nvSpPr>
            <p:cNvPr id="73" name="Text Box 1">
              <a:extLst>
                <a:ext uri="{FF2B5EF4-FFF2-40B4-BE49-F238E27FC236}">
                  <a16:creationId xmlns:a16="http://schemas.microsoft.com/office/drawing/2014/main" id="{AEFD2912-790E-2891-346C-BCE37F03E92B}"/>
                </a:ext>
              </a:extLst>
            </p:cNvPr>
            <p:cNvSpPr txBox="1"/>
            <p:nvPr/>
          </p:nvSpPr>
          <p:spPr>
            <a:xfrm>
              <a:off x="2560320" y="1306869"/>
              <a:ext cx="731520" cy="265517"/>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Quentin</a:t>
              </a:r>
            </a:p>
          </p:txBody>
        </p:sp>
        <p:sp>
          <p:nvSpPr>
            <p:cNvPr id="74" name="Text Box 1">
              <a:extLst>
                <a:ext uri="{FF2B5EF4-FFF2-40B4-BE49-F238E27FC236}">
                  <a16:creationId xmlns:a16="http://schemas.microsoft.com/office/drawing/2014/main" id="{81DBB525-962D-E776-71E8-C81992800E3E}"/>
                </a:ext>
              </a:extLst>
            </p:cNvPr>
            <p:cNvSpPr txBox="1"/>
            <p:nvPr/>
          </p:nvSpPr>
          <p:spPr>
            <a:xfrm>
              <a:off x="3371176" y="1319675"/>
              <a:ext cx="572494" cy="27686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Rachel</a:t>
              </a:r>
            </a:p>
          </p:txBody>
        </p:sp>
        <p:cxnSp>
          <p:nvCxnSpPr>
            <p:cNvPr id="75" name="Straight Connector 74">
              <a:extLst>
                <a:ext uri="{FF2B5EF4-FFF2-40B4-BE49-F238E27FC236}">
                  <a16:creationId xmlns:a16="http://schemas.microsoft.com/office/drawing/2014/main" id="{27A085D0-393F-E07A-CE66-DF97AF391516}"/>
                </a:ext>
              </a:extLst>
            </p:cNvPr>
            <p:cNvCxnSpPr/>
            <p:nvPr/>
          </p:nvCxnSpPr>
          <p:spPr>
            <a:xfrm flipH="1" flipV="1">
              <a:off x="2879310" y="2121252"/>
              <a:ext cx="6985" cy="106045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0B74ACE-DF07-2BA1-E066-FCAE80D61E6E}"/>
                </a:ext>
              </a:extLst>
            </p:cNvPr>
            <p:cNvCxnSpPr/>
            <p:nvPr/>
          </p:nvCxnSpPr>
          <p:spPr>
            <a:xfrm flipV="1">
              <a:off x="2206311" y="2128654"/>
              <a:ext cx="0" cy="1360697"/>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ABD278A-9477-2D1D-FF0E-DB56182066F1}"/>
                </a:ext>
              </a:extLst>
            </p:cNvPr>
            <p:cNvCxnSpPr/>
            <p:nvPr/>
          </p:nvCxnSpPr>
          <p:spPr>
            <a:xfrm flipV="1">
              <a:off x="3556422" y="2143209"/>
              <a:ext cx="0" cy="136017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1911F631-1B82-95DA-53E3-22B8D07B1902}"/>
                </a:ext>
              </a:extLst>
            </p:cNvPr>
            <p:cNvCxnSpPr/>
            <p:nvPr/>
          </p:nvCxnSpPr>
          <p:spPr>
            <a:xfrm flipH="1">
              <a:off x="1360627" y="3533242"/>
              <a:ext cx="833933"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4D108BD1-415A-4A6F-BFC6-583D282DF322}"/>
                </a:ext>
              </a:extLst>
            </p:cNvPr>
            <p:cNvCxnSpPr/>
            <p:nvPr/>
          </p:nvCxnSpPr>
          <p:spPr>
            <a:xfrm flipH="1" flipV="1">
              <a:off x="1097280" y="358411"/>
              <a:ext cx="7315" cy="2734748"/>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0" name="Rectangle: Rounded Corners 79">
              <a:extLst>
                <a:ext uri="{FF2B5EF4-FFF2-40B4-BE49-F238E27FC236}">
                  <a16:creationId xmlns:a16="http://schemas.microsoft.com/office/drawing/2014/main" id="{C00ADF53-294F-5B46-DFDF-312D4DD32597}"/>
                </a:ext>
              </a:extLst>
            </p:cNvPr>
            <p:cNvSpPr/>
            <p:nvPr/>
          </p:nvSpPr>
          <p:spPr>
            <a:xfrm>
              <a:off x="2040941" y="153657"/>
              <a:ext cx="1670661" cy="395020"/>
            </a:xfrm>
            <a:prstGeom prst="roundRect">
              <a:avLst/>
            </a:prstGeom>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sz="2000" dirty="0">
                  <a:effectLst/>
                  <a:ea typeface="Calibri" panose="020F0502020204030204" pitchFamily="34" charset="0"/>
                  <a:cs typeface="Times New Roman" panose="02020603050405020304" pitchFamily="18" charset="0"/>
                </a:rPr>
                <a:t>X Partnership</a:t>
              </a:r>
            </a:p>
          </p:txBody>
        </p:sp>
        <p:cxnSp>
          <p:nvCxnSpPr>
            <p:cNvPr id="81" name="Straight Connector 80">
              <a:extLst>
                <a:ext uri="{FF2B5EF4-FFF2-40B4-BE49-F238E27FC236}">
                  <a16:creationId xmlns:a16="http://schemas.microsoft.com/office/drawing/2014/main" id="{FCFEB5C6-3355-4116-14C7-E10FB513BBEF}"/>
                </a:ext>
              </a:extLst>
            </p:cNvPr>
            <p:cNvCxnSpPr/>
            <p:nvPr/>
          </p:nvCxnSpPr>
          <p:spPr>
            <a:xfrm flipV="1">
              <a:off x="2231136" y="548137"/>
              <a:ext cx="0" cy="687629"/>
            </a:xfrm>
            <a:prstGeom prst="line">
              <a:avLst/>
            </a:prstGeom>
          </p:spPr>
          <p:style>
            <a:lnRef idx="1">
              <a:schemeClr val="accent2"/>
            </a:lnRef>
            <a:fillRef idx="0">
              <a:schemeClr val="accent2"/>
            </a:fillRef>
            <a:effectRef idx="0">
              <a:schemeClr val="accent2"/>
            </a:effectRef>
            <a:fontRef idx="minor">
              <a:schemeClr val="tx1"/>
            </a:fontRef>
          </p:style>
        </p:cxnSp>
        <p:cxnSp>
          <p:nvCxnSpPr>
            <p:cNvPr id="82" name="Straight Connector 81">
              <a:extLst>
                <a:ext uri="{FF2B5EF4-FFF2-40B4-BE49-F238E27FC236}">
                  <a16:creationId xmlns:a16="http://schemas.microsoft.com/office/drawing/2014/main" id="{3F35017D-6322-3E8C-4C54-F85976C7DE35}"/>
                </a:ext>
              </a:extLst>
            </p:cNvPr>
            <p:cNvCxnSpPr/>
            <p:nvPr/>
          </p:nvCxnSpPr>
          <p:spPr>
            <a:xfrm flipV="1">
              <a:off x="2849693" y="548695"/>
              <a:ext cx="0" cy="687070"/>
            </a:xfrm>
            <a:prstGeom prst="line">
              <a:avLst/>
            </a:prstGeom>
          </p:spPr>
          <p:style>
            <a:lnRef idx="1">
              <a:schemeClr val="accent2"/>
            </a:lnRef>
            <a:fillRef idx="0">
              <a:schemeClr val="accent2"/>
            </a:fillRef>
            <a:effectRef idx="0">
              <a:schemeClr val="accent2"/>
            </a:effectRef>
            <a:fontRef idx="minor">
              <a:schemeClr val="tx1"/>
            </a:fontRef>
          </p:style>
        </p:cxnSp>
        <p:cxnSp>
          <p:nvCxnSpPr>
            <p:cNvPr id="83" name="Straight Connector 82">
              <a:extLst>
                <a:ext uri="{FF2B5EF4-FFF2-40B4-BE49-F238E27FC236}">
                  <a16:creationId xmlns:a16="http://schemas.microsoft.com/office/drawing/2014/main" id="{83D97547-B560-F3D2-0B32-B09EE60F17AA}"/>
                </a:ext>
              </a:extLst>
            </p:cNvPr>
            <p:cNvCxnSpPr/>
            <p:nvPr/>
          </p:nvCxnSpPr>
          <p:spPr>
            <a:xfrm flipV="1">
              <a:off x="3515375" y="548713"/>
              <a:ext cx="0" cy="687070"/>
            </a:xfrm>
            <a:prstGeom prst="line">
              <a:avLst/>
            </a:prstGeom>
          </p:spPr>
          <p:style>
            <a:lnRef idx="1">
              <a:schemeClr val="accent2"/>
            </a:lnRef>
            <a:fillRef idx="0">
              <a:schemeClr val="accent2"/>
            </a:fillRef>
            <a:effectRef idx="0">
              <a:schemeClr val="accent2"/>
            </a:effectRef>
            <a:fontRef idx="minor">
              <a:schemeClr val="tx1"/>
            </a:fontRef>
          </p:style>
        </p:cxnSp>
        <p:pic>
          <p:nvPicPr>
            <p:cNvPr id="84" name="Graphic 715118256" descr="Office worker female outline">
              <a:extLst>
                <a:ext uri="{FF2B5EF4-FFF2-40B4-BE49-F238E27FC236}">
                  <a16:creationId xmlns:a16="http://schemas.microsoft.com/office/drawing/2014/main" id="{A85DCBBB-8183-11D6-F4B4-ED843CA5047A}"/>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62667" y="1633929"/>
              <a:ext cx="238585" cy="311403"/>
            </a:xfrm>
            <a:prstGeom prst="rect">
              <a:avLst/>
            </a:prstGeom>
          </p:spPr>
        </p:pic>
        <p:pic>
          <p:nvPicPr>
            <p:cNvPr id="85" name="Graphic 1455035797" descr="Office worker male with solid fill">
              <a:extLst>
                <a:ext uri="{FF2B5EF4-FFF2-40B4-BE49-F238E27FC236}">
                  <a16:creationId xmlns:a16="http://schemas.microsoft.com/office/drawing/2014/main" id="{84AA39B1-43C6-82FB-3970-4AA08F08FB72}"/>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805129" y="1633930"/>
              <a:ext cx="190245" cy="333626"/>
            </a:xfrm>
            <a:prstGeom prst="rect">
              <a:avLst/>
            </a:prstGeom>
          </p:spPr>
        </p:pic>
        <p:pic>
          <p:nvPicPr>
            <p:cNvPr id="86" name="Graphic 1150762242" descr="Office worker female with solid fill">
              <a:extLst>
                <a:ext uri="{FF2B5EF4-FFF2-40B4-BE49-F238E27FC236}">
                  <a16:creationId xmlns:a16="http://schemas.microsoft.com/office/drawing/2014/main" id="{9F2E6EB1-3E9F-4A13-FE32-DE75D83CF328}"/>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143143" y="1633929"/>
              <a:ext cx="194904" cy="322999"/>
            </a:xfrm>
            <a:prstGeom prst="rect">
              <a:avLst/>
            </a:prstGeom>
          </p:spPr>
        </p:pic>
        <p:cxnSp>
          <p:nvCxnSpPr>
            <p:cNvPr id="87" name="Straight Arrow Connector 86">
              <a:extLst>
                <a:ext uri="{FF2B5EF4-FFF2-40B4-BE49-F238E27FC236}">
                  <a16:creationId xmlns:a16="http://schemas.microsoft.com/office/drawing/2014/main" id="{DA4F6015-0D03-19E7-0835-083E58A08E2E}"/>
                </a:ext>
              </a:extLst>
            </p:cNvPr>
            <p:cNvCxnSpPr/>
            <p:nvPr/>
          </p:nvCxnSpPr>
          <p:spPr>
            <a:xfrm>
              <a:off x="1111910" y="358445"/>
              <a:ext cx="921715" cy="0"/>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C40042CD-D14B-BD1A-C022-0406929542F7}"/>
                </a:ext>
              </a:extLst>
            </p:cNvPr>
            <p:cNvCxnSpPr/>
            <p:nvPr/>
          </p:nvCxnSpPr>
          <p:spPr>
            <a:xfrm>
              <a:off x="2546991" y="643738"/>
              <a:ext cx="639302" cy="1228776"/>
            </a:xfrm>
            <a:prstGeom prst="line">
              <a:avLst/>
            </a:prstGeom>
            <a:ln w="38100">
              <a:solidFill>
                <a:srgbClr val="C00000">
                  <a:alpha val="50000"/>
                </a:srgbClr>
              </a:solidFill>
            </a:ln>
          </p:spPr>
          <p:style>
            <a:lnRef idx="1">
              <a:schemeClr val="accent3"/>
            </a:lnRef>
            <a:fillRef idx="0">
              <a:schemeClr val="accent3"/>
            </a:fillRef>
            <a:effectRef idx="0">
              <a:schemeClr val="accent3"/>
            </a:effectRef>
            <a:fontRef idx="minor">
              <a:schemeClr val="tx1"/>
            </a:fontRef>
          </p:style>
        </p:cxnSp>
        <p:cxnSp>
          <p:nvCxnSpPr>
            <p:cNvPr id="89" name="Straight Connector 88">
              <a:extLst>
                <a:ext uri="{FF2B5EF4-FFF2-40B4-BE49-F238E27FC236}">
                  <a16:creationId xmlns:a16="http://schemas.microsoft.com/office/drawing/2014/main" id="{39C15CBA-2F17-800C-BD81-0E86BF6D8E8A}"/>
                </a:ext>
              </a:extLst>
            </p:cNvPr>
            <p:cNvCxnSpPr/>
            <p:nvPr/>
          </p:nvCxnSpPr>
          <p:spPr>
            <a:xfrm flipH="1">
              <a:off x="2528254" y="656303"/>
              <a:ext cx="638810" cy="1228090"/>
            </a:xfrm>
            <a:prstGeom prst="line">
              <a:avLst/>
            </a:prstGeom>
            <a:ln w="38100">
              <a:solidFill>
                <a:srgbClr val="C00000">
                  <a:alpha val="50000"/>
                </a:srgbClr>
              </a:solidFill>
            </a:ln>
          </p:spPr>
          <p:style>
            <a:lnRef idx="1">
              <a:schemeClr val="accent3"/>
            </a:lnRef>
            <a:fillRef idx="0">
              <a:schemeClr val="accent3"/>
            </a:fillRef>
            <a:effectRef idx="0">
              <a:schemeClr val="accent3"/>
            </a:effectRef>
            <a:fontRef idx="minor">
              <a:schemeClr val="tx1"/>
            </a:fontRef>
          </p:style>
        </p:cxnSp>
        <p:sp>
          <p:nvSpPr>
            <p:cNvPr id="90" name="Rectangle: Rounded Corners 89">
              <a:extLst>
                <a:ext uri="{FF2B5EF4-FFF2-40B4-BE49-F238E27FC236}">
                  <a16:creationId xmlns:a16="http://schemas.microsoft.com/office/drawing/2014/main" id="{33CBBF3F-6837-97A2-3AC3-4EB136796342}"/>
                </a:ext>
              </a:extLst>
            </p:cNvPr>
            <p:cNvSpPr/>
            <p:nvPr/>
          </p:nvSpPr>
          <p:spPr>
            <a:xfrm>
              <a:off x="3672416" y="2115699"/>
              <a:ext cx="819303" cy="738872"/>
            </a:xfrm>
            <a:prstGeom prst="roundRect">
              <a:avLst>
                <a:gd name="adj" fmla="val 0"/>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dirty="0">
                  <a:effectLst/>
                  <a:ea typeface="Calibri" panose="020F0502020204030204" pitchFamily="34" charset="0"/>
                  <a:cs typeface="Times New Roman" panose="02020603050405020304" pitchFamily="18" charset="0"/>
                </a:rPr>
                <a:t>Garcia Family Trust</a:t>
              </a:r>
            </a:p>
          </p:txBody>
        </p:sp>
        <p:cxnSp>
          <p:nvCxnSpPr>
            <p:cNvPr id="91" name="Straight Connector 90">
              <a:extLst>
                <a:ext uri="{FF2B5EF4-FFF2-40B4-BE49-F238E27FC236}">
                  <a16:creationId xmlns:a16="http://schemas.microsoft.com/office/drawing/2014/main" id="{E04D6ADC-A36C-F939-7C21-78FA161C3472}"/>
                </a:ext>
              </a:extLst>
            </p:cNvPr>
            <p:cNvCxnSpPr/>
            <p:nvPr/>
          </p:nvCxnSpPr>
          <p:spPr>
            <a:xfrm flipV="1">
              <a:off x="3711602" y="1433779"/>
              <a:ext cx="333704" cy="314554"/>
            </a:xfrm>
            <a:prstGeom prst="line">
              <a:avLst/>
            </a:prstGeom>
          </p:spPr>
          <p:style>
            <a:lnRef idx="1">
              <a:schemeClr val="accent4"/>
            </a:lnRef>
            <a:fillRef idx="0">
              <a:schemeClr val="accent4"/>
            </a:fillRef>
            <a:effectRef idx="0">
              <a:schemeClr val="accent4"/>
            </a:effectRef>
            <a:fontRef idx="minor">
              <a:schemeClr val="tx1"/>
            </a:fontRef>
          </p:style>
        </p:cxnSp>
        <p:cxnSp>
          <p:nvCxnSpPr>
            <p:cNvPr id="92" name="Straight Connector 91">
              <a:extLst>
                <a:ext uri="{FF2B5EF4-FFF2-40B4-BE49-F238E27FC236}">
                  <a16:creationId xmlns:a16="http://schemas.microsoft.com/office/drawing/2014/main" id="{71E28D30-494F-7F8A-1813-51CD2EA73FE6}"/>
                </a:ext>
              </a:extLst>
            </p:cNvPr>
            <p:cNvCxnSpPr/>
            <p:nvPr/>
          </p:nvCxnSpPr>
          <p:spPr>
            <a:xfrm>
              <a:off x="2528254" y="1979539"/>
              <a:ext cx="638810" cy="1228090"/>
            </a:xfrm>
            <a:prstGeom prst="line">
              <a:avLst/>
            </a:prstGeom>
            <a:ln w="38100">
              <a:solidFill>
                <a:srgbClr val="C00000">
                  <a:alpha val="50000"/>
                </a:srgbClr>
              </a:solidFill>
            </a:ln>
          </p:spPr>
          <p:style>
            <a:lnRef idx="1">
              <a:schemeClr val="accent3"/>
            </a:lnRef>
            <a:fillRef idx="0">
              <a:schemeClr val="accent3"/>
            </a:fillRef>
            <a:effectRef idx="0">
              <a:schemeClr val="accent3"/>
            </a:effectRef>
            <a:fontRef idx="minor">
              <a:schemeClr val="tx1"/>
            </a:fontRef>
          </p:style>
        </p:cxnSp>
        <p:cxnSp>
          <p:nvCxnSpPr>
            <p:cNvPr id="93" name="Straight Connector 92">
              <a:extLst>
                <a:ext uri="{FF2B5EF4-FFF2-40B4-BE49-F238E27FC236}">
                  <a16:creationId xmlns:a16="http://schemas.microsoft.com/office/drawing/2014/main" id="{6FFA3B3F-C828-794B-69E1-7B71574A8022}"/>
                </a:ext>
              </a:extLst>
            </p:cNvPr>
            <p:cNvCxnSpPr/>
            <p:nvPr/>
          </p:nvCxnSpPr>
          <p:spPr>
            <a:xfrm flipH="1">
              <a:off x="2594016" y="2001485"/>
              <a:ext cx="638810" cy="1227455"/>
            </a:xfrm>
            <a:prstGeom prst="line">
              <a:avLst/>
            </a:prstGeom>
            <a:ln w="38100">
              <a:solidFill>
                <a:srgbClr val="C00000">
                  <a:alpha val="50000"/>
                </a:srgbClr>
              </a:solidFill>
            </a:ln>
          </p:spPr>
          <p:style>
            <a:lnRef idx="1">
              <a:schemeClr val="accent3"/>
            </a:lnRef>
            <a:fillRef idx="0">
              <a:schemeClr val="accent3"/>
            </a:fillRef>
            <a:effectRef idx="0">
              <a:schemeClr val="accent3"/>
            </a:effectRef>
            <a:fontRef idx="minor">
              <a:schemeClr val="tx1"/>
            </a:fontRef>
          </p:style>
        </p:cxnSp>
      </p:grpSp>
      <p:sp>
        <p:nvSpPr>
          <p:cNvPr id="4" name="Rectangle 3">
            <a:extLst>
              <a:ext uri="{FF2B5EF4-FFF2-40B4-BE49-F238E27FC236}">
                <a16:creationId xmlns:a16="http://schemas.microsoft.com/office/drawing/2014/main" id="{9FB75306-19A9-16BF-E697-FF2380583EDB}"/>
              </a:ext>
            </a:extLst>
          </p:cNvPr>
          <p:cNvSpPr/>
          <p:nvPr/>
        </p:nvSpPr>
        <p:spPr>
          <a:xfrm>
            <a:off x="8974667" y="6244168"/>
            <a:ext cx="3217333" cy="613833"/>
          </a:xfrm>
          <a:prstGeom prst="rect">
            <a:avLst/>
          </a:prstGeom>
          <a:noFill/>
          <a:ln w="25400" cap="flat" cmpd="sng" algn="ctr">
            <a:noFill/>
            <a:prstDash val="soli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AU" sz="1867" dirty="0">
              <a:solidFill>
                <a:srgbClr val="464145"/>
              </a:solidFill>
            </a:endParaRPr>
          </a:p>
        </p:txBody>
      </p:sp>
      <p:sp>
        <p:nvSpPr>
          <p:cNvPr id="6" name="TextBox 5">
            <a:extLst>
              <a:ext uri="{FF2B5EF4-FFF2-40B4-BE49-F238E27FC236}">
                <a16:creationId xmlns:a16="http://schemas.microsoft.com/office/drawing/2014/main" id="{35C12F50-F9F3-F26B-FF55-C893D6D26021}"/>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9</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487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8D4A-345E-485C-8FC6-3E26F406BD15}"/>
              </a:ext>
            </a:extLst>
          </p:cNvPr>
          <p:cNvSpPr>
            <a:spLocks noGrp="1"/>
          </p:cNvSpPr>
          <p:nvPr>
            <p:ph type="title"/>
          </p:nvPr>
        </p:nvSpPr>
        <p:spPr>
          <a:xfrm>
            <a:off x="838200" y="531182"/>
            <a:ext cx="10944000" cy="774358"/>
          </a:xfrm>
        </p:spPr>
        <p:txBody>
          <a:bodyPr>
            <a:normAutofit/>
          </a:bodyPr>
          <a:lstStyle/>
          <a:p>
            <a:r>
              <a:rPr lang="en-AU" dirty="0">
                <a:solidFill>
                  <a:srgbClr val="000000"/>
                </a:solidFill>
                <a:effectLst/>
                <a:ea typeface="SimSun" panose="02010600030101010101" pitchFamily="2" charset="-122"/>
                <a:cs typeface="Times New Roman" panose="02020603050405020304" pitchFamily="18" charset="0"/>
              </a:rPr>
              <a:t>Scenario 2a </a:t>
            </a:r>
            <a:r>
              <a:rPr lang="en-AU" sz="4000" dirty="0">
                <a:solidFill>
                  <a:srgbClr val="000000"/>
                </a:solidFill>
                <a:effectLst/>
                <a:ea typeface="SimSun" panose="02010600030101010101" pitchFamily="2" charset="-122"/>
                <a:cs typeface="Calibri" panose="020F0502020204030204" pitchFamily="34" charset="0"/>
              </a:rPr>
              <a:t>—</a:t>
            </a:r>
            <a:r>
              <a:rPr lang="en-AU" dirty="0">
                <a:solidFill>
                  <a:srgbClr val="000000"/>
                </a:solidFill>
                <a:effectLst/>
                <a:ea typeface="SimSun" panose="02010600030101010101" pitchFamily="2" charset="-122"/>
                <a:cs typeface="Times New Roman" panose="02020603050405020304" pitchFamily="18" charset="0"/>
              </a:rPr>
              <a:t> </a:t>
            </a:r>
            <a:r>
              <a:rPr lang="en-US" dirty="0">
                <a:solidFill>
                  <a:srgbClr val="000000"/>
                </a:solidFill>
                <a:effectLst/>
                <a:ea typeface="SimSun" panose="02010600030101010101" pitchFamily="2" charset="-122"/>
                <a:cs typeface="Times New Roman" panose="02020603050405020304" pitchFamily="18" charset="0"/>
              </a:rPr>
              <a:t>Sale of a passively held trust asset </a:t>
            </a:r>
            <a:endParaRPr lang="en-AU" sz="4400" dirty="0"/>
          </a:p>
        </p:txBody>
      </p:sp>
      <p:sp>
        <p:nvSpPr>
          <p:cNvPr id="3" name="Text Placeholder 2">
            <a:extLst>
              <a:ext uri="{FF2B5EF4-FFF2-40B4-BE49-F238E27FC236}">
                <a16:creationId xmlns:a16="http://schemas.microsoft.com/office/drawing/2014/main" id="{5BDCFC51-48ED-4965-9EE9-63D63B17B598}"/>
              </a:ext>
            </a:extLst>
          </p:cNvPr>
          <p:cNvSpPr>
            <a:spLocks noGrp="1"/>
          </p:cNvSpPr>
          <p:nvPr>
            <p:ph type="body" sz="quarter" idx="10"/>
          </p:nvPr>
        </p:nvSpPr>
        <p:spPr/>
        <p:txBody>
          <a:bodyPr/>
          <a:lstStyle/>
          <a:p>
            <a:endParaRPr lang="en-AU" dirty="0"/>
          </a:p>
        </p:txBody>
      </p:sp>
      <p:grpSp>
        <p:nvGrpSpPr>
          <p:cNvPr id="4" name="Canvas 1">
            <a:extLst>
              <a:ext uri="{FF2B5EF4-FFF2-40B4-BE49-F238E27FC236}">
                <a16:creationId xmlns:a16="http://schemas.microsoft.com/office/drawing/2014/main" id="{61563FD4-CA82-58B2-D028-95BBC2841F78}"/>
              </a:ext>
            </a:extLst>
          </p:cNvPr>
          <p:cNvGrpSpPr/>
          <p:nvPr/>
        </p:nvGrpSpPr>
        <p:grpSpPr>
          <a:xfrm>
            <a:off x="767179" y="1203818"/>
            <a:ext cx="10836000" cy="5083086"/>
            <a:chOff x="5025" y="102900"/>
            <a:chExt cx="5619115" cy="3329675"/>
          </a:xfrm>
        </p:grpSpPr>
        <p:sp>
          <p:nvSpPr>
            <p:cNvPr id="5" name="Rectangle 4">
              <a:extLst>
                <a:ext uri="{FF2B5EF4-FFF2-40B4-BE49-F238E27FC236}">
                  <a16:creationId xmlns:a16="http://schemas.microsoft.com/office/drawing/2014/main" id="{056910C5-C68B-FCAC-A437-F9E3B795A9D3}"/>
                </a:ext>
              </a:extLst>
            </p:cNvPr>
            <p:cNvSpPr/>
            <p:nvPr/>
          </p:nvSpPr>
          <p:spPr>
            <a:xfrm>
              <a:off x="5025" y="102900"/>
              <a:ext cx="5619115" cy="3329675"/>
            </a:xfrm>
            <a:prstGeom prst="rect">
              <a:avLst/>
            </a:prstGeom>
            <a:solidFill>
              <a:prstClr val="white"/>
            </a:solidFill>
            <a:ln>
              <a:solidFill>
                <a:schemeClr val="dk1"/>
              </a:solidFill>
            </a:ln>
          </p:spPr>
          <p:txBody>
            <a:bodyPr/>
            <a:lstStyle/>
            <a:p>
              <a:endParaRPr lang="en-AU" dirty="0"/>
            </a:p>
          </p:txBody>
        </p:sp>
        <p:sp>
          <p:nvSpPr>
            <p:cNvPr id="6" name="Text Box 1">
              <a:extLst>
                <a:ext uri="{FF2B5EF4-FFF2-40B4-BE49-F238E27FC236}">
                  <a16:creationId xmlns:a16="http://schemas.microsoft.com/office/drawing/2014/main" id="{023D9CB6-2373-EE85-B0A0-214DC163BF7E}"/>
                </a:ext>
              </a:extLst>
            </p:cNvPr>
            <p:cNvSpPr txBox="1"/>
            <p:nvPr/>
          </p:nvSpPr>
          <p:spPr>
            <a:xfrm>
              <a:off x="1970184" y="596539"/>
              <a:ext cx="1698966" cy="181211"/>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deemed affiliate</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 Box 1336779339">
              <a:extLst>
                <a:ext uri="{FF2B5EF4-FFF2-40B4-BE49-F238E27FC236}">
                  <a16:creationId xmlns:a16="http://schemas.microsoft.com/office/drawing/2014/main" id="{5D58DF42-567C-AD21-371D-3DBD87954B68}"/>
                </a:ext>
              </a:extLst>
            </p:cNvPr>
            <p:cNvSpPr txBox="1"/>
            <p:nvPr/>
          </p:nvSpPr>
          <p:spPr>
            <a:xfrm>
              <a:off x="1121434" y="1078245"/>
              <a:ext cx="560611" cy="276102"/>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r">
                <a:lnSpc>
                  <a:spcPct val="115000"/>
                </a:lnSpc>
                <a:spcAft>
                  <a:spcPts val="10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100%</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 Box 1046550520">
              <a:extLst>
                <a:ext uri="{FF2B5EF4-FFF2-40B4-BE49-F238E27FC236}">
                  <a16:creationId xmlns:a16="http://schemas.microsoft.com/office/drawing/2014/main" id="{45507379-5C35-884A-B538-43D05417D5E1}"/>
                </a:ext>
              </a:extLst>
            </p:cNvPr>
            <p:cNvSpPr txBox="1"/>
            <p:nvPr/>
          </p:nvSpPr>
          <p:spPr>
            <a:xfrm>
              <a:off x="295400" y="215895"/>
              <a:ext cx="1453522" cy="495218"/>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Quentin – carries on his own business</a:t>
              </a:r>
            </a:p>
          </p:txBody>
        </p:sp>
        <p:pic>
          <p:nvPicPr>
            <p:cNvPr id="9" name="Graphic 621514122" descr="Man with solid fill">
              <a:extLst>
                <a:ext uri="{FF2B5EF4-FFF2-40B4-BE49-F238E27FC236}">
                  <a16:creationId xmlns:a16="http://schemas.microsoft.com/office/drawing/2014/main" id="{0ACEB69E-0F52-2A86-6095-E38F6E87F8B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44266" y="473098"/>
              <a:ext cx="413984" cy="413984"/>
            </a:xfrm>
            <a:prstGeom prst="rect">
              <a:avLst/>
            </a:prstGeom>
          </p:spPr>
        </p:pic>
        <p:sp>
          <p:nvSpPr>
            <p:cNvPr id="13" name="Text Box 1">
              <a:extLst>
                <a:ext uri="{FF2B5EF4-FFF2-40B4-BE49-F238E27FC236}">
                  <a16:creationId xmlns:a16="http://schemas.microsoft.com/office/drawing/2014/main" id="{DDA43653-4EC7-F41C-7B6A-CDAFE374B10E}"/>
                </a:ext>
              </a:extLst>
            </p:cNvPr>
            <p:cNvSpPr txBox="1"/>
            <p:nvPr/>
          </p:nvSpPr>
          <p:spPr>
            <a:xfrm>
              <a:off x="4061091" y="232944"/>
              <a:ext cx="1549457" cy="293412"/>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Rectangle 13">
              <a:extLst>
                <a:ext uri="{FF2B5EF4-FFF2-40B4-BE49-F238E27FC236}">
                  <a16:creationId xmlns:a16="http://schemas.microsoft.com/office/drawing/2014/main" id="{1CE5411A-A9D8-64D1-A3EC-E0D59363EB81}"/>
                </a:ext>
              </a:extLst>
            </p:cNvPr>
            <p:cNvSpPr/>
            <p:nvPr/>
          </p:nvSpPr>
          <p:spPr>
            <a:xfrm>
              <a:off x="1277904" y="1453868"/>
              <a:ext cx="716190" cy="483154"/>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2000" dirty="0">
                  <a:effectLst/>
                  <a:ea typeface="Calibri" panose="020F0502020204030204" pitchFamily="34" charset="0"/>
                  <a:cs typeface="Times New Roman" panose="02020603050405020304" pitchFamily="18" charset="0"/>
                </a:rPr>
                <a:t>Q Co (trustee)</a:t>
              </a:r>
              <a:endParaRPr lang="en-AU" sz="1100" dirty="0">
                <a:effectLst/>
                <a:ea typeface="Calibri" panose="020F0502020204030204" pitchFamily="34" charset="0"/>
                <a:cs typeface="Times New Roman" panose="02020603050405020304" pitchFamily="18" charset="0"/>
              </a:endParaRPr>
            </a:p>
          </p:txBody>
        </p:sp>
        <p:cxnSp>
          <p:nvCxnSpPr>
            <p:cNvPr id="15" name="Straight Arrow Connector 14">
              <a:extLst>
                <a:ext uri="{FF2B5EF4-FFF2-40B4-BE49-F238E27FC236}">
                  <a16:creationId xmlns:a16="http://schemas.microsoft.com/office/drawing/2014/main" id="{46703C4E-3226-A569-0687-78F8AE8D726F}"/>
                </a:ext>
              </a:extLst>
            </p:cNvPr>
            <p:cNvCxnSpPr/>
            <p:nvPr/>
          </p:nvCxnSpPr>
          <p:spPr>
            <a:xfrm>
              <a:off x="1654875" y="1030751"/>
              <a:ext cx="0" cy="41384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6" name="Isosceles Triangle 15">
              <a:extLst>
                <a:ext uri="{FF2B5EF4-FFF2-40B4-BE49-F238E27FC236}">
                  <a16:creationId xmlns:a16="http://schemas.microsoft.com/office/drawing/2014/main" id="{C3C58C61-998D-FE46-9858-39AD28D0FA3E}"/>
                </a:ext>
              </a:extLst>
            </p:cNvPr>
            <p:cNvSpPr/>
            <p:nvPr/>
          </p:nvSpPr>
          <p:spPr>
            <a:xfrm>
              <a:off x="1189271" y="1944566"/>
              <a:ext cx="931208" cy="707670"/>
            </a:xfrm>
            <a:prstGeom prst="triangle">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100" dirty="0">
                  <a:effectLst/>
                  <a:ea typeface="Calibri" panose="020F0502020204030204" pitchFamily="34" charset="0"/>
                  <a:cs typeface="Times New Roman" panose="02020603050405020304" pitchFamily="18" charset="0"/>
                </a:rPr>
                <a:t> </a:t>
              </a:r>
              <a:endParaRPr lang="en-AU" sz="1100" dirty="0">
                <a:effectLst/>
                <a:ea typeface="Calibri" panose="020F0502020204030204" pitchFamily="34" charset="0"/>
                <a:cs typeface="Times New Roman" panose="02020603050405020304" pitchFamily="18" charset="0"/>
              </a:endParaRPr>
            </a:p>
          </p:txBody>
        </p:sp>
        <p:sp>
          <p:nvSpPr>
            <p:cNvPr id="17" name="Text Box 1569398027">
              <a:extLst>
                <a:ext uri="{FF2B5EF4-FFF2-40B4-BE49-F238E27FC236}">
                  <a16:creationId xmlns:a16="http://schemas.microsoft.com/office/drawing/2014/main" id="{D4FB9D63-38DF-BB1D-1B78-84EF536253E0}"/>
                </a:ext>
              </a:extLst>
            </p:cNvPr>
            <p:cNvSpPr txBox="1"/>
            <p:nvPr/>
          </p:nvSpPr>
          <p:spPr>
            <a:xfrm>
              <a:off x="1258180" y="2122208"/>
              <a:ext cx="776377" cy="621309"/>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Q </a:t>
              </a:r>
              <a:br>
                <a:rPr lang="en-US" dirty="0">
                  <a:effectLst/>
                  <a:latin typeface="Calibri" panose="020F0502020204030204" pitchFamily="34" charset="0"/>
                  <a:ea typeface="Calibri" panose="020F0502020204030204" pitchFamily="34" charset="0"/>
                  <a:cs typeface="Times New Roman" panose="02020603050405020304" pitchFamily="18" charset="0"/>
                </a:rPr>
              </a:br>
              <a:r>
                <a:rPr lang="en-US" dirty="0">
                  <a:effectLst/>
                  <a:latin typeface="Calibri" panose="020F0502020204030204" pitchFamily="34" charset="0"/>
                  <a:ea typeface="Calibri" panose="020F0502020204030204" pitchFamily="34" charset="0"/>
                  <a:cs typeface="Times New Roman" panose="02020603050405020304" pitchFamily="18" charset="0"/>
                </a:rPr>
                <a:t>Family Trust</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8" name="Graphic 1083172061" descr="Store outline">
              <a:extLst>
                <a:ext uri="{FF2B5EF4-FFF2-40B4-BE49-F238E27FC236}">
                  <a16:creationId xmlns:a16="http://schemas.microsoft.com/office/drawing/2014/main" id="{0AF91EB5-6471-0259-1350-FE4AE4DD028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29994" y="2061713"/>
              <a:ext cx="485734" cy="485734"/>
            </a:xfrm>
            <a:prstGeom prst="rect">
              <a:avLst/>
            </a:prstGeom>
          </p:spPr>
        </p:pic>
        <p:cxnSp>
          <p:nvCxnSpPr>
            <p:cNvPr id="19" name="Straight Arrow Connector 18">
              <a:extLst>
                <a:ext uri="{FF2B5EF4-FFF2-40B4-BE49-F238E27FC236}">
                  <a16:creationId xmlns:a16="http://schemas.microsoft.com/office/drawing/2014/main" id="{0704986D-DF8C-C49F-D989-B7DE27B0E882}"/>
                </a:ext>
              </a:extLst>
            </p:cNvPr>
            <p:cNvCxnSpPr/>
            <p:nvPr/>
          </p:nvCxnSpPr>
          <p:spPr>
            <a:xfrm>
              <a:off x="1932317" y="2329132"/>
              <a:ext cx="497677"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20" name="Text Box 1">
              <a:extLst>
                <a:ext uri="{FF2B5EF4-FFF2-40B4-BE49-F238E27FC236}">
                  <a16:creationId xmlns:a16="http://schemas.microsoft.com/office/drawing/2014/main" id="{522A2BAE-CD88-6A8F-E690-E3D6725B3FCE}"/>
                </a:ext>
              </a:extLst>
            </p:cNvPr>
            <p:cNvSpPr txBox="1"/>
            <p:nvPr/>
          </p:nvSpPr>
          <p:spPr>
            <a:xfrm>
              <a:off x="2241263" y="2508747"/>
              <a:ext cx="872873" cy="801781"/>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dirty="0">
                  <a:latin typeface="Calibri" panose="020F0502020204030204" pitchFamily="34" charset="0"/>
                  <a:ea typeface="Calibri" panose="020F0502020204030204" pitchFamily="34" charset="0"/>
                  <a:cs typeface="Times New Roman" panose="02020603050405020304" pitchFamily="18" charset="0"/>
                </a:rPr>
                <a:t>C</a:t>
              </a:r>
              <a:r>
                <a:rPr lang="en-US" dirty="0">
                  <a:effectLst/>
                  <a:latin typeface="Calibri" panose="020F0502020204030204" pitchFamily="34" charset="0"/>
                  <a:ea typeface="Calibri" panose="020F0502020204030204" pitchFamily="34" charset="0"/>
                  <a:cs typeface="Times New Roman" panose="02020603050405020304" pitchFamily="18" charset="0"/>
                </a:rPr>
                <a:t>ommercial property – owned by Q Co </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1" name="Straight Arrow Connector 20">
              <a:extLst>
                <a:ext uri="{FF2B5EF4-FFF2-40B4-BE49-F238E27FC236}">
                  <a16:creationId xmlns:a16="http://schemas.microsoft.com/office/drawing/2014/main" id="{DEC753F5-ED04-C0AD-794D-6B791CB14511}"/>
                </a:ext>
              </a:extLst>
            </p:cNvPr>
            <p:cNvCxnSpPr/>
            <p:nvPr/>
          </p:nvCxnSpPr>
          <p:spPr>
            <a:xfrm flipV="1">
              <a:off x="2868070" y="893593"/>
              <a:ext cx="983149" cy="12076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63001ACE-C755-80AA-40A2-8B07E4FF8F57}"/>
                </a:ext>
              </a:extLst>
            </p:cNvPr>
            <p:cNvCxnSpPr/>
            <p:nvPr/>
          </p:nvCxnSpPr>
          <p:spPr>
            <a:xfrm flipV="1">
              <a:off x="1966823" y="801061"/>
              <a:ext cx="1756793" cy="1329664"/>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23" name="Text Box 1">
              <a:extLst>
                <a:ext uri="{FF2B5EF4-FFF2-40B4-BE49-F238E27FC236}">
                  <a16:creationId xmlns:a16="http://schemas.microsoft.com/office/drawing/2014/main" id="{317102C3-82B0-D0E1-0659-7358AEBAF432}"/>
                </a:ext>
              </a:extLst>
            </p:cNvPr>
            <p:cNvSpPr txBox="1"/>
            <p:nvPr/>
          </p:nvSpPr>
          <p:spPr>
            <a:xfrm>
              <a:off x="3395076" y="1537677"/>
              <a:ext cx="536486" cy="61312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Rent </a:t>
              </a:r>
              <a:r>
                <a:rPr lang="en-US" dirty="0">
                  <a:latin typeface="Calibri" panose="020F0502020204030204" pitchFamily="34" charset="0"/>
                  <a:ea typeface="Calibri" panose="020F0502020204030204" pitchFamily="34" charset="0"/>
                  <a:cs typeface="Times New Roman" panose="02020603050405020304" pitchFamily="18" charset="0"/>
                </a:rPr>
                <a:t>paid</a:t>
              </a:r>
              <a:r>
                <a:rPr lang="en-US" dirty="0">
                  <a:effectLst/>
                  <a:latin typeface="Calibri" panose="020F0502020204030204" pitchFamily="34" charset="0"/>
                  <a:ea typeface="Calibri" panose="020F0502020204030204" pitchFamily="34" charset="0"/>
                  <a:cs typeface="Times New Roman" panose="02020603050405020304" pitchFamily="18" charset="0"/>
                </a:rPr>
                <a:t> by Queenie</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4" name="Graphic 1979506030" descr="Dollar with solid fill">
              <a:extLst>
                <a:ext uri="{FF2B5EF4-FFF2-40B4-BE49-F238E27FC236}">
                  <a16:creationId xmlns:a16="http://schemas.microsoft.com/office/drawing/2014/main" id="{3FEA51E0-0BF9-2483-FB21-D746191A8B4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23293" y="1187789"/>
              <a:ext cx="218117" cy="218117"/>
            </a:xfrm>
            <a:prstGeom prst="rect">
              <a:avLst/>
            </a:prstGeom>
          </p:spPr>
        </p:pic>
        <p:pic>
          <p:nvPicPr>
            <p:cNvPr id="10" name="Graphic 712480238" descr="Woman with solid fill">
              <a:extLst>
                <a:ext uri="{FF2B5EF4-FFF2-40B4-BE49-F238E27FC236}">
                  <a16:creationId xmlns:a16="http://schemas.microsoft.com/office/drawing/2014/main" id="{51799AF4-D3AF-222F-5F23-EA3F6CB92E0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704827" y="424300"/>
              <a:ext cx="413984" cy="413984"/>
            </a:xfrm>
            <a:prstGeom prst="rect">
              <a:avLst/>
            </a:prstGeom>
          </p:spPr>
        </p:pic>
      </p:grpSp>
      <p:sp>
        <p:nvSpPr>
          <p:cNvPr id="28" name="Text Box 1046550520">
            <a:extLst>
              <a:ext uri="{FF2B5EF4-FFF2-40B4-BE49-F238E27FC236}">
                <a16:creationId xmlns:a16="http://schemas.microsoft.com/office/drawing/2014/main" id="{3E66AA6A-DC58-FA4A-E44C-02966251957E}"/>
              </a:ext>
            </a:extLst>
          </p:cNvPr>
          <p:cNvSpPr txBox="1"/>
          <p:nvPr/>
        </p:nvSpPr>
        <p:spPr>
          <a:xfrm>
            <a:off x="1430103" y="3380420"/>
            <a:ext cx="1530450" cy="12240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Quentin </a:t>
            </a:r>
            <a:r>
              <a:rPr lang="en-AU" sz="1800" b="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t>
            </a:r>
            <a:r>
              <a:rPr lang="en-AU" dirty="0">
                <a:effectLst/>
                <a:latin typeface="Calibri" panose="020F0502020204030204" pitchFamily="34" charset="0"/>
                <a:ea typeface="Calibri" panose="020F0502020204030204" pitchFamily="34" charset="0"/>
                <a:cs typeface="Times New Roman" panose="02020603050405020304" pitchFamily="18" charset="0"/>
              </a:rPr>
              <a:t> sole director of Q Co</a:t>
            </a:r>
          </a:p>
        </p:txBody>
      </p:sp>
      <p:sp>
        <p:nvSpPr>
          <p:cNvPr id="30" name="Text Box 1046550520">
            <a:extLst>
              <a:ext uri="{FF2B5EF4-FFF2-40B4-BE49-F238E27FC236}">
                <a16:creationId xmlns:a16="http://schemas.microsoft.com/office/drawing/2014/main" id="{545D5542-2DD4-BD1E-342D-73C62715A72F}"/>
              </a:ext>
            </a:extLst>
          </p:cNvPr>
          <p:cNvSpPr txBox="1"/>
          <p:nvPr/>
        </p:nvSpPr>
        <p:spPr>
          <a:xfrm>
            <a:off x="3163787" y="5173681"/>
            <a:ext cx="1497179" cy="9360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Q F/T does not carry on a business</a:t>
            </a:r>
          </a:p>
        </p:txBody>
      </p:sp>
      <p:sp>
        <p:nvSpPr>
          <p:cNvPr id="32" name="Text Box 1046550520">
            <a:extLst>
              <a:ext uri="{FF2B5EF4-FFF2-40B4-BE49-F238E27FC236}">
                <a16:creationId xmlns:a16="http://schemas.microsoft.com/office/drawing/2014/main" id="{5E4356F8-1D0C-E7F5-9D49-CB229A79E663}"/>
              </a:ext>
            </a:extLst>
          </p:cNvPr>
          <p:cNvSpPr txBox="1"/>
          <p:nvPr/>
        </p:nvSpPr>
        <p:spPr>
          <a:xfrm>
            <a:off x="8687947" y="1659734"/>
            <a:ext cx="2637895" cy="7560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Queenie – carries on her own business</a:t>
            </a:r>
          </a:p>
        </p:txBody>
      </p:sp>
      <p:sp>
        <p:nvSpPr>
          <p:cNvPr id="7" name="Arrow: Left 6">
            <a:extLst>
              <a:ext uri="{FF2B5EF4-FFF2-40B4-BE49-F238E27FC236}">
                <a16:creationId xmlns:a16="http://schemas.microsoft.com/office/drawing/2014/main" id="{45979DE9-7890-1634-5F15-AC6AF6057981}"/>
              </a:ext>
            </a:extLst>
          </p:cNvPr>
          <p:cNvSpPr/>
          <p:nvPr/>
        </p:nvSpPr>
        <p:spPr>
          <a:xfrm>
            <a:off x="4467909" y="2310009"/>
            <a:ext cx="3569246" cy="228196"/>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sp>
        <p:nvSpPr>
          <p:cNvPr id="12" name="TextBox 11">
            <a:extLst>
              <a:ext uri="{FF2B5EF4-FFF2-40B4-BE49-F238E27FC236}">
                <a16:creationId xmlns:a16="http://schemas.microsoft.com/office/drawing/2014/main" id="{9806BC0B-ECE3-B060-FCBA-DCA93BB41287}"/>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11</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
        <p:nvSpPr>
          <p:cNvPr id="25" name="Text Box 1">
            <a:extLst>
              <a:ext uri="{FF2B5EF4-FFF2-40B4-BE49-F238E27FC236}">
                <a16:creationId xmlns:a16="http://schemas.microsoft.com/office/drawing/2014/main" id="{35EB2C2D-E567-44ED-312D-F42841263141}"/>
              </a:ext>
            </a:extLst>
          </p:cNvPr>
          <p:cNvSpPr txBox="1"/>
          <p:nvPr/>
        </p:nvSpPr>
        <p:spPr>
          <a:xfrm>
            <a:off x="8979997" y="5641683"/>
            <a:ext cx="2516678" cy="276637"/>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285750" indent="-285750">
              <a:lnSpc>
                <a:spcPct val="115000"/>
              </a:lnSpc>
              <a:spcAft>
                <a:spcPts val="1000"/>
              </a:spcAft>
              <a:buFont typeface="Arial" panose="020B0604020202020204" pitchFamily="34" charset="0"/>
              <a:buChar char="•"/>
            </a:pPr>
            <a:r>
              <a:rPr lang="en-US" sz="1400" dirty="0">
                <a:effectLst/>
                <a:latin typeface="Calibri" panose="020F0502020204030204" pitchFamily="34" charset="0"/>
                <a:ea typeface="Calibri" panose="020F0502020204030204" pitchFamily="34" charset="0"/>
                <a:cs typeface="Times New Roman" panose="02020603050405020304" pitchFamily="18" charset="0"/>
              </a:rPr>
              <a:t>Consider alternative view re  application of s. 152-47</a:t>
            </a:r>
            <a:endParaRPr lang="en-AU"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Text Box 1">
            <a:extLst>
              <a:ext uri="{FF2B5EF4-FFF2-40B4-BE49-F238E27FC236}">
                <a16:creationId xmlns:a16="http://schemas.microsoft.com/office/drawing/2014/main" id="{5A8CEE5F-498C-F8F7-2626-251C3C967718}"/>
              </a:ext>
            </a:extLst>
          </p:cNvPr>
          <p:cNvSpPr txBox="1"/>
          <p:nvPr/>
        </p:nvSpPr>
        <p:spPr>
          <a:xfrm>
            <a:off x="9036722" y="2760955"/>
            <a:ext cx="2449964" cy="2512144"/>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If Trust not carrying on a business:</a:t>
            </a:r>
          </a:p>
          <a:p>
            <a:pP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s. 152-10(1A</a:t>
            </a:r>
            <a:r>
              <a:rPr lang="en-US">
                <a:effectLst/>
                <a:latin typeface="Calibri" panose="020F0502020204030204" pitchFamily="34" charset="0"/>
                <a:ea typeface="Calibri" panose="020F0502020204030204" pitchFamily="34" charset="0"/>
                <a:cs typeface="Times New Roman" panose="02020603050405020304" pitchFamily="18" charset="0"/>
              </a:rPr>
              <a:t>) condition </a:t>
            </a:r>
            <a:r>
              <a:rPr lang="en-US" dirty="0">
                <a:effectLst/>
                <a:latin typeface="Calibri" panose="020F0502020204030204" pitchFamily="34" charset="0"/>
                <a:ea typeface="Calibri" panose="020F0502020204030204" pitchFamily="34" charset="0"/>
                <a:cs typeface="Times New Roman" panose="02020603050405020304" pitchFamily="18" charset="0"/>
              </a:rPr>
              <a:t>— connected entity or affiliate that is a CGT SBE carries on business in relation to CGT asset</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73589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8D4A-345E-485C-8FC6-3E26F406BD15}"/>
              </a:ext>
            </a:extLst>
          </p:cNvPr>
          <p:cNvSpPr>
            <a:spLocks noGrp="1"/>
          </p:cNvSpPr>
          <p:nvPr>
            <p:ph type="title"/>
          </p:nvPr>
        </p:nvSpPr>
        <p:spPr>
          <a:xfrm>
            <a:off x="838200" y="531182"/>
            <a:ext cx="10944000" cy="774358"/>
          </a:xfrm>
        </p:spPr>
        <p:txBody>
          <a:bodyPr>
            <a:noAutofit/>
          </a:bodyPr>
          <a:lstStyle/>
          <a:p>
            <a:r>
              <a:rPr lang="en-AU" dirty="0">
                <a:solidFill>
                  <a:srgbClr val="000000"/>
                </a:solidFill>
                <a:effectLst/>
                <a:ea typeface="Calibri Light" panose="020F0302020204030204" pitchFamily="34" charset="0"/>
                <a:cs typeface="Calibri Light" panose="020F0302020204030204" pitchFamily="34" charset="0"/>
              </a:rPr>
              <a:t>Scenario 2b — </a:t>
            </a:r>
            <a:r>
              <a:rPr lang="en-US" dirty="0">
                <a:effectLst/>
                <a:ea typeface="Calibri" panose="020F0502020204030204" pitchFamily="34" charset="0"/>
                <a:cs typeface="Times New Roman" panose="02020603050405020304" pitchFamily="18" charset="0"/>
              </a:rPr>
              <a:t>Business carried on through a company</a:t>
            </a:r>
            <a:endParaRPr lang="en-AU" dirty="0"/>
          </a:p>
        </p:txBody>
      </p:sp>
      <p:sp>
        <p:nvSpPr>
          <p:cNvPr id="3" name="Text Placeholder 2">
            <a:extLst>
              <a:ext uri="{FF2B5EF4-FFF2-40B4-BE49-F238E27FC236}">
                <a16:creationId xmlns:a16="http://schemas.microsoft.com/office/drawing/2014/main" id="{5BDCFC51-48ED-4965-9EE9-63D63B17B598}"/>
              </a:ext>
            </a:extLst>
          </p:cNvPr>
          <p:cNvSpPr>
            <a:spLocks noGrp="1"/>
          </p:cNvSpPr>
          <p:nvPr>
            <p:ph type="body" sz="quarter" idx="10"/>
          </p:nvPr>
        </p:nvSpPr>
        <p:spPr/>
        <p:txBody>
          <a:bodyPr/>
          <a:lstStyle/>
          <a:p>
            <a:endParaRPr lang="en-AU" dirty="0"/>
          </a:p>
        </p:txBody>
      </p:sp>
      <p:grpSp>
        <p:nvGrpSpPr>
          <p:cNvPr id="26" name="Canvas 175950101">
            <a:extLst>
              <a:ext uri="{FF2B5EF4-FFF2-40B4-BE49-F238E27FC236}">
                <a16:creationId xmlns:a16="http://schemas.microsoft.com/office/drawing/2014/main" id="{43CC2820-151F-B4C0-1FC7-D19B99AF3699}"/>
              </a:ext>
            </a:extLst>
          </p:cNvPr>
          <p:cNvGrpSpPr/>
          <p:nvPr/>
        </p:nvGrpSpPr>
        <p:grpSpPr>
          <a:xfrm>
            <a:off x="838201" y="1561514"/>
            <a:ext cx="10764000" cy="4608000"/>
            <a:chOff x="1" y="0"/>
            <a:chExt cx="5619115" cy="3277870"/>
          </a:xfrm>
        </p:grpSpPr>
        <p:sp>
          <p:nvSpPr>
            <p:cNvPr id="27" name="Rectangle 26">
              <a:extLst>
                <a:ext uri="{FF2B5EF4-FFF2-40B4-BE49-F238E27FC236}">
                  <a16:creationId xmlns:a16="http://schemas.microsoft.com/office/drawing/2014/main" id="{73E5EDA3-9196-5A2B-2CFA-6321200704C9}"/>
                </a:ext>
              </a:extLst>
            </p:cNvPr>
            <p:cNvSpPr/>
            <p:nvPr/>
          </p:nvSpPr>
          <p:spPr>
            <a:xfrm>
              <a:off x="1" y="0"/>
              <a:ext cx="5619115" cy="3277870"/>
            </a:xfrm>
            <a:prstGeom prst="rect">
              <a:avLst/>
            </a:prstGeom>
            <a:solidFill>
              <a:prstClr val="white"/>
            </a:solidFill>
            <a:ln>
              <a:solidFill>
                <a:schemeClr val="dk1"/>
              </a:solidFill>
            </a:ln>
          </p:spPr>
          <p:txBody>
            <a:bodyPr/>
            <a:lstStyle/>
            <a:p>
              <a:endParaRPr lang="en-AU" dirty="0"/>
            </a:p>
          </p:txBody>
        </p:sp>
        <p:sp>
          <p:nvSpPr>
            <p:cNvPr id="28" name="Text Box 1">
              <a:extLst>
                <a:ext uri="{FF2B5EF4-FFF2-40B4-BE49-F238E27FC236}">
                  <a16:creationId xmlns:a16="http://schemas.microsoft.com/office/drawing/2014/main" id="{258A0FE6-DE7D-8DFC-2F74-2898D3F92E03}"/>
                </a:ext>
              </a:extLst>
            </p:cNvPr>
            <p:cNvSpPr txBox="1"/>
            <p:nvPr/>
          </p:nvSpPr>
          <p:spPr>
            <a:xfrm>
              <a:off x="3828998" y="1024865"/>
              <a:ext cx="560070" cy="27559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r">
                <a:lnSpc>
                  <a:spcPct val="115000"/>
                </a:lnSpc>
                <a:spcAft>
                  <a:spcPts val="10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100%</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9" name="Text Box 1">
              <a:extLst>
                <a:ext uri="{FF2B5EF4-FFF2-40B4-BE49-F238E27FC236}">
                  <a16:creationId xmlns:a16="http://schemas.microsoft.com/office/drawing/2014/main" id="{874CBBC6-8EC5-07BF-22B9-AE66E95667F3}"/>
                </a:ext>
              </a:extLst>
            </p:cNvPr>
            <p:cNvSpPr txBox="1"/>
            <p:nvPr/>
          </p:nvSpPr>
          <p:spPr>
            <a:xfrm>
              <a:off x="2158079" y="414269"/>
              <a:ext cx="1372235" cy="2656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deemed affiliate</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0" name="Text Box 1">
              <a:extLst>
                <a:ext uri="{FF2B5EF4-FFF2-40B4-BE49-F238E27FC236}">
                  <a16:creationId xmlns:a16="http://schemas.microsoft.com/office/drawing/2014/main" id="{642D7E60-245B-85D9-C06C-2695C34D8AEE}"/>
                </a:ext>
              </a:extLst>
            </p:cNvPr>
            <p:cNvSpPr txBox="1"/>
            <p:nvPr/>
          </p:nvSpPr>
          <p:spPr>
            <a:xfrm>
              <a:off x="266252" y="586380"/>
              <a:ext cx="1372767" cy="29337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carries on a business</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1" name="Text Box 719895254">
              <a:extLst>
                <a:ext uri="{FF2B5EF4-FFF2-40B4-BE49-F238E27FC236}">
                  <a16:creationId xmlns:a16="http://schemas.microsoft.com/office/drawing/2014/main" id="{6E3158B4-A8B8-B705-58CE-383F8D13FDC7}"/>
                </a:ext>
              </a:extLst>
            </p:cNvPr>
            <p:cNvSpPr txBox="1"/>
            <p:nvPr/>
          </p:nvSpPr>
          <p:spPr>
            <a:xfrm>
              <a:off x="1121434" y="1078245"/>
              <a:ext cx="560611" cy="276102"/>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r">
                <a:lnSpc>
                  <a:spcPct val="115000"/>
                </a:lnSpc>
                <a:spcAft>
                  <a:spcPts val="10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100%</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2" name="Graphic 1967080408" descr="Man with solid fill">
              <a:extLst>
                <a:ext uri="{FF2B5EF4-FFF2-40B4-BE49-F238E27FC236}">
                  <a16:creationId xmlns:a16="http://schemas.microsoft.com/office/drawing/2014/main" id="{60CFB1C2-FE06-FDE8-24F8-29B67D11622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55294" y="534838"/>
              <a:ext cx="413984" cy="413984"/>
            </a:xfrm>
            <a:prstGeom prst="rect">
              <a:avLst/>
            </a:prstGeom>
          </p:spPr>
        </p:pic>
        <p:pic>
          <p:nvPicPr>
            <p:cNvPr id="33" name="Graphic 692654869" descr="Woman with solid fill">
              <a:extLst>
                <a:ext uri="{FF2B5EF4-FFF2-40B4-BE49-F238E27FC236}">
                  <a16:creationId xmlns:a16="http://schemas.microsoft.com/office/drawing/2014/main" id="{4446AE13-FF53-06FC-6E0E-A2B0C842C5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07496" y="517501"/>
              <a:ext cx="413984" cy="413984"/>
            </a:xfrm>
            <a:prstGeom prst="rect">
              <a:avLst/>
            </a:prstGeom>
          </p:spPr>
        </p:pic>
        <p:sp>
          <p:nvSpPr>
            <p:cNvPr id="34" name="Text Box 298744293">
              <a:extLst>
                <a:ext uri="{FF2B5EF4-FFF2-40B4-BE49-F238E27FC236}">
                  <a16:creationId xmlns:a16="http://schemas.microsoft.com/office/drawing/2014/main" id="{00D17AE2-9C88-C4B0-8386-A33B9C4D4392}"/>
                </a:ext>
              </a:extLst>
            </p:cNvPr>
            <p:cNvSpPr txBox="1"/>
            <p:nvPr/>
          </p:nvSpPr>
          <p:spPr>
            <a:xfrm>
              <a:off x="1268083" y="207034"/>
              <a:ext cx="793630" cy="24154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5" name="Text Box 1">
              <a:extLst>
                <a:ext uri="{FF2B5EF4-FFF2-40B4-BE49-F238E27FC236}">
                  <a16:creationId xmlns:a16="http://schemas.microsoft.com/office/drawing/2014/main" id="{3161968C-BDA1-8675-6C2F-CADC431DA698}"/>
                </a:ext>
              </a:extLst>
            </p:cNvPr>
            <p:cNvSpPr txBox="1"/>
            <p:nvPr/>
          </p:nvSpPr>
          <p:spPr>
            <a:xfrm>
              <a:off x="3492544" y="180000"/>
              <a:ext cx="793115" cy="2413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6" name="Text Box 1">
              <a:extLst>
                <a:ext uri="{FF2B5EF4-FFF2-40B4-BE49-F238E27FC236}">
                  <a16:creationId xmlns:a16="http://schemas.microsoft.com/office/drawing/2014/main" id="{FA8C14F3-233E-70E6-E263-1D786BD5DA95}"/>
                </a:ext>
              </a:extLst>
            </p:cNvPr>
            <p:cNvSpPr txBox="1"/>
            <p:nvPr/>
          </p:nvSpPr>
          <p:spPr>
            <a:xfrm>
              <a:off x="4299465" y="1391769"/>
              <a:ext cx="1134901" cy="500643"/>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carries on Queenie’s business</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7" name="Rectangle 36">
              <a:extLst>
                <a:ext uri="{FF2B5EF4-FFF2-40B4-BE49-F238E27FC236}">
                  <a16:creationId xmlns:a16="http://schemas.microsoft.com/office/drawing/2014/main" id="{A9595061-B687-B6A4-74B1-EE0B710DF002}"/>
                </a:ext>
              </a:extLst>
            </p:cNvPr>
            <p:cNvSpPr/>
            <p:nvPr/>
          </p:nvSpPr>
          <p:spPr>
            <a:xfrm>
              <a:off x="1302391" y="1440461"/>
              <a:ext cx="716190" cy="483154"/>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2000" dirty="0">
                  <a:effectLst/>
                  <a:ea typeface="Calibri" panose="020F0502020204030204" pitchFamily="34" charset="0"/>
                  <a:cs typeface="Times New Roman" panose="02020603050405020304" pitchFamily="18" charset="0"/>
                </a:rPr>
                <a:t>Q Co (trustee</a:t>
              </a:r>
              <a:r>
                <a:rPr lang="en-US" sz="1100" dirty="0">
                  <a:effectLst/>
                  <a:ea typeface="Calibri" panose="020F0502020204030204" pitchFamily="34" charset="0"/>
                  <a:cs typeface="Times New Roman" panose="02020603050405020304" pitchFamily="18" charset="0"/>
                </a:rPr>
                <a:t>)</a:t>
              </a:r>
              <a:endParaRPr lang="en-AU" sz="1100" dirty="0">
                <a:effectLst/>
                <a:ea typeface="Calibri" panose="020F0502020204030204" pitchFamily="34" charset="0"/>
                <a:cs typeface="Times New Roman" panose="02020603050405020304" pitchFamily="18" charset="0"/>
              </a:endParaRPr>
            </a:p>
          </p:txBody>
        </p:sp>
        <p:cxnSp>
          <p:nvCxnSpPr>
            <p:cNvPr id="38" name="Straight Arrow Connector 37">
              <a:extLst>
                <a:ext uri="{FF2B5EF4-FFF2-40B4-BE49-F238E27FC236}">
                  <a16:creationId xmlns:a16="http://schemas.microsoft.com/office/drawing/2014/main" id="{6FC78B3B-478A-556D-8488-45511520FCA8}"/>
                </a:ext>
              </a:extLst>
            </p:cNvPr>
            <p:cNvCxnSpPr/>
            <p:nvPr/>
          </p:nvCxnSpPr>
          <p:spPr>
            <a:xfrm>
              <a:off x="1664898" y="1026543"/>
              <a:ext cx="0" cy="41384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39" name="Isosceles Triangle 38">
              <a:extLst>
                <a:ext uri="{FF2B5EF4-FFF2-40B4-BE49-F238E27FC236}">
                  <a16:creationId xmlns:a16="http://schemas.microsoft.com/office/drawing/2014/main" id="{B0436F6C-9FBC-0A5A-5CC5-9E48B562420F}"/>
                </a:ext>
              </a:extLst>
            </p:cNvPr>
            <p:cNvSpPr/>
            <p:nvPr/>
          </p:nvSpPr>
          <p:spPr>
            <a:xfrm>
              <a:off x="1207618" y="1957892"/>
              <a:ext cx="931208" cy="707670"/>
            </a:xfrm>
            <a:prstGeom prst="triangle">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100" dirty="0">
                  <a:effectLst/>
                  <a:ea typeface="Calibri" panose="020F0502020204030204" pitchFamily="34" charset="0"/>
                  <a:cs typeface="Times New Roman" panose="02020603050405020304" pitchFamily="18" charset="0"/>
                </a:rPr>
                <a:t> </a:t>
              </a:r>
              <a:endParaRPr lang="en-AU" sz="1100" dirty="0">
                <a:effectLst/>
                <a:ea typeface="Calibri" panose="020F0502020204030204" pitchFamily="34" charset="0"/>
                <a:cs typeface="Times New Roman" panose="02020603050405020304" pitchFamily="18" charset="0"/>
              </a:endParaRPr>
            </a:p>
          </p:txBody>
        </p:sp>
        <p:sp>
          <p:nvSpPr>
            <p:cNvPr id="40" name="Text Box 1059091677">
              <a:extLst>
                <a:ext uri="{FF2B5EF4-FFF2-40B4-BE49-F238E27FC236}">
                  <a16:creationId xmlns:a16="http://schemas.microsoft.com/office/drawing/2014/main" id="{6CEC8A54-D7ED-9195-0BE4-FBC1400428E5}"/>
                </a:ext>
              </a:extLst>
            </p:cNvPr>
            <p:cNvSpPr txBox="1"/>
            <p:nvPr/>
          </p:nvSpPr>
          <p:spPr>
            <a:xfrm>
              <a:off x="1276709" y="2145052"/>
              <a:ext cx="776377" cy="621309"/>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Q </a:t>
              </a:r>
              <a:br>
                <a:rPr lang="en-US" sz="11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a:effectLst/>
                  <a:latin typeface="Calibri" panose="020F0502020204030204" pitchFamily="34" charset="0"/>
                  <a:ea typeface="Calibri" panose="020F0502020204030204" pitchFamily="34" charset="0"/>
                  <a:cs typeface="Times New Roman" panose="02020603050405020304" pitchFamily="18" charset="0"/>
                </a:rPr>
                <a:t>Family Trust</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1" name="Graphic 1534044552" descr="Store outline">
              <a:extLst>
                <a:ext uri="{FF2B5EF4-FFF2-40B4-BE49-F238E27FC236}">
                  <a16:creationId xmlns:a16="http://schemas.microsoft.com/office/drawing/2014/main" id="{D83EE823-FD97-25BD-1DDB-0A023753532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29994" y="2061713"/>
              <a:ext cx="485734" cy="485734"/>
            </a:xfrm>
            <a:prstGeom prst="rect">
              <a:avLst/>
            </a:prstGeom>
          </p:spPr>
        </p:pic>
        <p:cxnSp>
          <p:nvCxnSpPr>
            <p:cNvPr id="42" name="Straight Arrow Connector 41">
              <a:extLst>
                <a:ext uri="{FF2B5EF4-FFF2-40B4-BE49-F238E27FC236}">
                  <a16:creationId xmlns:a16="http://schemas.microsoft.com/office/drawing/2014/main" id="{FD7B576B-C2C7-34B5-29BB-645E74119FF9}"/>
                </a:ext>
              </a:extLst>
            </p:cNvPr>
            <p:cNvCxnSpPr/>
            <p:nvPr/>
          </p:nvCxnSpPr>
          <p:spPr>
            <a:xfrm>
              <a:off x="1932317" y="2329132"/>
              <a:ext cx="497677"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43" name="Text Box 1">
              <a:extLst>
                <a:ext uri="{FF2B5EF4-FFF2-40B4-BE49-F238E27FC236}">
                  <a16:creationId xmlns:a16="http://schemas.microsoft.com/office/drawing/2014/main" id="{6C9479F3-F47F-854D-75E9-F5ACB717A296}"/>
                </a:ext>
              </a:extLst>
            </p:cNvPr>
            <p:cNvSpPr txBox="1"/>
            <p:nvPr/>
          </p:nvSpPr>
          <p:spPr>
            <a:xfrm>
              <a:off x="2241263" y="2508750"/>
              <a:ext cx="872873" cy="46723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commercial property</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44" name="Straight Arrow Connector 43">
              <a:extLst>
                <a:ext uri="{FF2B5EF4-FFF2-40B4-BE49-F238E27FC236}">
                  <a16:creationId xmlns:a16="http://schemas.microsoft.com/office/drawing/2014/main" id="{8992C5BD-234D-B314-8941-891EDB3E6C04}"/>
                </a:ext>
              </a:extLst>
            </p:cNvPr>
            <p:cNvCxnSpPr/>
            <p:nvPr/>
          </p:nvCxnSpPr>
          <p:spPr>
            <a:xfrm flipV="1">
              <a:off x="2881223" y="1811454"/>
              <a:ext cx="610849" cy="5263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C1191BCA-D36B-9EB7-F3F4-A613A863B764}"/>
                </a:ext>
              </a:extLst>
            </p:cNvPr>
            <p:cNvCxnSpPr/>
            <p:nvPr/>
          </p:nvCxnSpPr>
          <p:spPr>
            <a:xfrm flipV="1">
              <a:off x="1889185" y="1552675"/>
              <a:ext cx="1602651" cy="612555"/>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46" name="Text Box 1">
              <a:extLst>
                <a:ext uri="{FF2B5EF4-FFF2-40B4-BE49-F238E27FC236}">
                  <a16:creationId xmlns:a16="http://schemas.microsoft.com/office/drawing/2014/main" id="{9F5B0250-A9E6-51CA-78A5-2E2D6B2E9430}"/>
                </a:ext>
              </a:extLst>
            </p:cNvPr>
            <p:cNvSpPr txBox="1"/>
            <p:nvPr/>
          </p:nvSpPr>
          <p:spPr>
            <a:xfrm>
              <a:off x="3114139" y="2052878"/>
              <a:ext cx="536486" cy="31178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rent</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7" name="Graphic 688197205" descr="Dollar with solid fill">
              <a:extLst>
                <a:ext uri="{FF2B5EF4-FFF2-40B4-BE49-F238E27FC236}">
                  <a16:creationId xmlns:a16="http://schemas.microsoft.com/office/drawing/2014/main" id="{D778B6A9-2ECB-8960-28CB-73B7DE0245E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697611" y="1506966"/>
              <a:ext cx="218117" cy="218117"/>
            </a:xfrm>
            <a:prstGeom prst="rect">
              <a:avLst/>
            </a:prstGeom>
          </p:spPr>
        </p:pic>
        <p:sp>
          <p:nvSpPr>
            <p:cNvPr id="49" name="Rectangle 48">
              <a:extLst>
                <a:ext uri="{FF2B5EF4-FFF2-40B4-BE49-F238E27FC236}">
                  <a16:creationId xmlns:a16="http://schemas.microsoft.com/office/drawing/2014/main" id="{26582311-109C-DA89-9428-27268C8B1DA8}"/>
                </a:ext>
              </a:extLst>
            </p:cNvPr>
            <p:cNvSpPr/>
            <p:nvPr/>
          </p:nvSpPr>
          <p:spPr>
            <a:xfrm>
              <a:off x="3544302" y="1410195"/>
              <a:ext cx="715645" cy="482600"/>
            </a:xfrm>
            <a:prstGeom prst="rect">
              <a:avLst/>
            </a:prstGeom>
            <a:ln/>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2000" dirty="0">
                  <a:effectLst/>
                  <a:ea typeface="Calibri" panose="020F0502020204030204" pitchFamily="34" charset="0"/>
                  <a:cs typeface="Times New Roman" panose="02020603050405020304" pitchFamily="18" charset="0"/>
                </a:rPr>
                <a:t>Q2 Pty Ltd</a:t>
              </a:r>
              <a:endParaRPr lang="en-AU" sz="2000" dirty="0">
                <a:effectLst/>
                <a:ea typeface="Calibri" panose="020F0502020204030204" pitchFamily="34" charset="0"/>
                <a:cs typeface="Times New Roman" panose="02020603050405020304" pitchFamily="18" charset="0"/>
              </a:endParaRPr>
            </a:p>
          </p:txBody>
        </p:sp>
        <p:cxnSp>
          <p:nvCxnSpPr>
            <p:cNvPr id="50" name="Straight Arrow Connector 49">
              <a:extLst>
                <a:ext uri="{FF2B5EF4-FFF2-40B4-BE49-F238E27FC236}">
                  <a16:creationId xmlns:a16="http://schemas.microsoft.com/office/drawing/2014/main" id="{1F3A0B27-2F6B-AC21-34D7-BF64C827AD2F}"/>
                </a:ext>
              </a:extLst>
            </p:cNvPr>
            <p:cNvCxnSpPr/>
            <p:nvPr/>
          </p:nvCxnSpPr>
          <p:spPr>
            <a:xfrm>
              <a:off x="3906887" y="996175"/>
              <a:ext cx="0" cy="413385"/>
            </a:xfrm>
            <a:prstGeom prst="straightConnector1">
              <a:avLst/>
            </a:prstGeom>
            <a:ln>
              <a:tailEnd type="triangle"/>
            </a:ln>
          </p:spPr>
          <p:style>
            <a:lnRef idx="1">
              <a:schemeClr val="accent2"/>
            </a:lnRef>
            <a:fillRef idx="2">
              <a:schemeClr val="accent2"/>
            </a:fillRef>
            <a:effectRef idx="1">
              <a:schemeClr val="accent2"/>
            </a:effectRef>
            <a:fontRef idx="minor">
              <a:schemeClr val="dk1"/>
            </a:fontRef>
          </p:style>
        </p:cxnSp>
      </p:grpSp>
      <p:sp>
        <p:nvSpPr>
          <p:cNvPr id="8" name="Text Box 1046550520">
            <a:extLst>
              <a:ext uri="{FF2B5EF4-FFF2-40B4-BE49-F238E27FC236}">
                <a16:creationId xmlns:a16="http://schemas.microsoft.com/office/drawing/2014/main" id="{CFECF2E3-5313-C522-4F6E-C3578E885B58}"/>
              </a:ext>
            </a:extLst>
          </p:cNvPr>
          <p:cNvSpPr txBox="1"/>
          <p:nvPr/>
        </p:nvSpPr>
        <p:spPr>
          <a:xfrm>
            <a:off x="1949479" y="1573428"/>
            <a:ext cx="3489183" cy="7560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Quentin –carries on his own business – sole trader</a:t>
            </a:r>
          </a:p>
        </p:txBody>
      </p:sp>
      <p:sp>
        <p:nvSpPr>
          <p:cNvPr id="9" name="Text Box 1046550520">
            <a:extLst>
              <a:ext uri="{FF2B5EF4-FFF2-40B4-BE49-F238E27FC236}">
                <a16:creationId xmlns:a16="http://schemas.microsoft.com/office/drawing/2014/main" id="{DE798BCB-67BA-8A0F-F900-6CA1BE67094B}"/>
              </a:ext>
            </a:extLst>
          </p:cNvPr>
          <p:cNvSpPr txBox="1"/>
          <p:nvPr/>
        </p:nvSpPr>
        <p:spPr>
          <a:xfrm>
            <a:off x="8522845" y="1595144"/>
            <a:ext cx="2802997" cy="7560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Queenie </a:t>
            </a:r>
            <a:r>
              <a:rPr lang="en-AU" dirty="0">
                <a:latin typeface="Calibri" panose="020F0502020204030204" pitchFamily="34" charset="0"/>
                <a:ea typeface="Calibri" panose="020F0502020204030204" pitchFamily="34" charset="0"/>
                <a:cs typeface="Times New Roman" panose="02020603050405020304" pitchFamily="18" charset="0"/>
              </a:rPr>
              <a:t>— not carrying on a business</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Arrow: Left 3">
            <a:extLst>
              <a:ext uri="{FF2B5EF4-FFF2-40B4-BE49-F238E27FC236}">
                <a16:creationId xmlns:a16="http://schemas.microsoft.com/office/drawing/2014/main" id="{2D194C0F-80D0-512F-187E-3389833C6E68}"/>
              </a:ext>
            </a:extLst>
          </p:cNvPr>
          <p:cNvSpPr/>
          <p:nvPr/>
        </p:nvSpPr>
        <p:spPr>
          <a:xfrm>
            <a:off x="4399510" y="2531507"/>
            <a:ext cx="3569246" cy="228196"/>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sp>
        <p:nvSpPr>
          <p:cNvPr id="6" name="TextBox 5">
            <a:extLst>
              <a:ext uri="{FF2B5EF4-FFF2-40B4-BE49-F238E27FC236}">
                <a16:creationId xmlns:a16="http://schemas.microsoft.com/office/drawing/2014/main" id="{622DDAB3-2E82-D63F-99FA-6869C2FDFF14}"/>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14</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9647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8D4A-345E-485C-8FC6-3E26F406BD15}"/>
              </a:ext>
            </a:extLst>
          </p:cNvPr>
          <p:cNvSpPr>
            <a:spLocks noGrp="1"/>
          </p:cNvSpPr>
          <p:nvPr>
            <p:ph type="title"/>
          </p:nvPr>
        </p:nvSpPr>
        <p:spPr>
          <a:xfrm>
            <a:off x="838200" y="531182"/>
            <a:ext cx="10944000" cy="774358"/>
          </a:xfrm>
        </p:spPr>
        <p:txBody>
          <a:bodyPr>
            <a:noAutofit/>
          </a:bodyPr>
          <a:lstStyle/>
          <a:p>
            <a:r>
              <a:rPr lang="en-AU" dirty="0">
                <a:solidFill>
                  <a:srgbClr val="000000"/>
                </a:solidFill>
                <a:effectLst/>
                <a:ea typeface="Calibri Light" panose="020F0302020204030204" pitchFamily="34" charset="0"/>
                <a:cs typeface="Calibri Light" panose="020F0302020204030204" pitchFamily="34" charset="0"/>
              </a:rPr>
              <a:t>Scenario 2c </a:t>
            </a:r>
            <a:r>
              <a:rPr lang="en-AU" dirty="0">
                <a:solidFill>
                  <a:srgbClr val="000000"/>
                </a:solidFill>
                <a:effectLst/>
                <a:ea typeface="Calibri Light" panose="020F0302020204030204" pitchFamily="34" charset="0"/>
                <a:cs typeface="Calibri" panose="020F0502020204030204" pitchFamily="34" charset="0"/>
              </a:rPr>
              <a:t>—</a:t>
            </a:r>
            <a:r>
              <a:rPr lang="en-AU" dirty="0">
                <a:solidFill>
                  <a:srgbClr val="000000"/>
                </a:solidFill>
                <a:effectLst/>
                <a:ea typeface="Calibri Light" panose="020F0302020204030204" pitchFamily="34" charset="0"/>
                <a:cs typeface="Calibri Light" panose="020F0302020204030204" pitchFamily="34" charset="0"/>
              </a:rPr>
              <a:t> </a:t>
            </a:r>
            <a:r>
              <a:rPr lang="en-US" dirty="0">
                <a:solidFill>
                  <a:srgbClr val="000000"/>
                </a:solidFill>
                <a:effectLst/>
                <a:ea typeface="Calibri Light" panose="020F0302020204030204" pitchFamily="34" charset="0"/>
                <a:cs typeface="Calibri Light" panose="020F0302020204030204" pitchFamily="34" charset="0"/>
              </a:rPr>
              <a:t>Three equal shareholders</a:t>
            </a:r>
            <a:r>
              <a:rPr lang="en-US" dirty="0">
                <a:effectLst/>
                <a:ea typeface="Times New Roman" panose="02020603050405020304" pitchFamily="18" charset="0"/>
                <a:cs typeface="Times New Roman" panose="02020603050405020304" pitchFamily="18" charset="0"/>
              </a:rPr>
              <a:t> in Q2 Pty Ltd</a:t>
            </a:r>
            <a:endParaRPr lang="en-AU" sz="3200" dirty="0"/>
          </a:p>
        </p:txBody>
      </p:sp>
      <p:sp>
        <p:nvSpPr>
          <p:cNvPr id="3" name="Text Placeholder 2">
            <a:extLst>
              <a:ext uri="{FF2B5EF4-FFF2-40B4-BE49-F238E27FC236}">
                <a16:creationId xmlns:a16="http://schemas.microsoft.com/office/drawing/2014/main" id="{5BDCFC51-48ED-4965-9EE9-63D63B17B598}"/>
              </a:ext>
            </a:extLst>
          </p:cNvPr>
          <p:cNvSpPr>
            <a:spLocks noGrp="1"/>
          </p:cNvSpPr>
          <p:nvPr>
            <p:ph type="body" sz="quarter" idx="10"/>
          </p:nvPr>
        </p:nvSpPr>
        <p:spPr/>
        <p:txBody>
          <a:bodyPr/>
          <a:lstStyle/>
          <a:p>
            <a:endParaRPr lang="en-AU" dirty="0"/>
          </a:p>
        </p:txBody>
      </p:sp>
      <p:grpSp>
        <p:nvGrpSpPr>
          <p:cNvPr id="4" name="Canvas 1325815127">
            <a:extLst>
              <a:ext uri="{FF2B5EF4-FFF2-40B4-BE49-F238E27FC236}">
                <a16:creationId xmlns:a16="http://schemas.microsoft.com/office/drawing/2014/main" id="{6E200134-0F28-9931-D9AB-FEC5ADA6ED72}"/>
              </a:ext>
            </a:extLst>
          </p:cNvPr>
          <p:cNvGrpSpPr/>
          <p:nvPr/>
        </p:nvGrpSpPr>
        <p:grpSpPr>
          <a:xfrm>
            <a:off x="838199" y="1561514"/>
            <a:ext cx="10800000" cy="4608000"/>
            <a:chOff x="0" y="0"/>
            <a:chExt cx="5619115" cy="3277870"/>
          </a:xfrm>
        </p:grpSpPr>
        <p:sp>
          <p:nvSpPr>
            <p:cNvPr id="5" name="Rectangle 4">
              <a:extLst>
                <a:ext uri="{FF2B5EF4-FFF2-40B4-BE49-F238E27FC236}">
                  <a16:creationId xmlns:a16="http://schemas.microsoft.com/office/drawing/2014/main" id="{FA048D8A-5515-404B-C468-42F7FE674698}"/>
                </a:ext>
              </a:extLst>
            </p:cNvPr>
            <p:cNvSpPr/>
            <p:nvPr/>
          </p:nvSpPr>
          <p:spPr>
            <a:xfrm>
              <a:off x="0" y="0"/>
              <a:ext cx="5619115" cy="3277870"/>
            </a:xfrm>
            <a:prstGeom prst="rect">
              <a:avLst/>
            </a:prstGeom>
            <a:solidFill>
              <a:prstClr val="white"/>
            </a:solidFill>
            <a:ln>
              <a:solidFill>
                <a:schemeClr val="dk1"/>
              </a:solidFill>
            </a:ln>
          </p:spPr>
          <p:txBody>
            <a:bodyPr/>
            <a:lstStyle/>
            <a:p>
              <a:endParaRPr lang="en-AU" dirty="0"/>
            </a:p>
          </p:txBody>
        </p:sp>
        <p:sp>
          <p:nvSpPr>
            <p:cNvPr id="7" name="Text Box 1">
              <a:extLst>
                <a:ext uri="{FF2B5EF4-FFF2-40B4-BE49-F238E27FC236}">
                  <a16:creationId xmlns:a16="http://schemas.microsoft.com/office/drawing/2014/main" id="{EF55C8A8-18EE-0908-7A58-05CECA975B52}"/>
                </a:ext>
              </a:extLst>
            </p:cNvPr>
            <p:cNvSpPr txBox="1"/>
            <p:nvPr/>
          </p:nvSpPr>
          <p:spPr>
            <a:xfrm>
              <a:off x="4895453" y="1043027"/>
              <a:ext cx="575310" cy="349104"/>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33.33%</a:t>
              </a:r>
            </a:p>
          </p:txBody>
        </p:sp>
        <p:sp>
          <p:nvSpPr>
            <p:cNvPr id="8" name="Text Box 1">
              <a:extLst>
                <a:ext uri="{FF2B5EF4-FFF2-40B4-BE49-F238E27FC236}">
                  <a16:creationId xmlns:a16="http://schemas.microsoft.com/office/drawing/2014/main" id="{5AEB6879-0BFF-18DC-1444-DD85DB5E4139}"/>
                </a:ext>
              </a:extLst>
            </p:cNvPr>
            <p:cNvSpPr txBox="1"/>
            <p:nvPr/>
          </p:nvSpPr>
          <p:spPr>
            <a:xfrm>
              <a:off x="3338670" y="1026544"/>
              <a:ext cx="575438" cy="27559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33.33%</a:t>
              </a:r>
            </a:p>
          </p:txBody>
        </p:sp>
        <p:sp>
          <p:nvSpPr>
            <p:cNvPr id="9" name="Text Box 1">
              <a:extLst>
                <a:ext uri="{FF2B5EF4-FFF2-40B4-BE49-F238E27FC236}">
                  <a16:creationId xmlns:a16="http://schemas.microsoft.com/office/drawing/2014/main" id="{629390C9-3EFD-5D6E-B203-B59548CE3104}"/>
                </a:ext>
              </a:extLst>
            </p:cNvPr>
            <p:cNvSpPr txBox="1"/>
            <p:nvPr/>
          </p:nvSpPr>
          <p:spPr>
            <a:xfrm>
              <a:off x="2082933" y="401479"/>
              <a:ext cx="1372235" cy="2656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deemed affiliate</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 Box 1">
              <a:extLst>
                <a:ext uri="{FF2B5EF4-FFF2-40B4-BE49-F238E27FC236}">
                  <a16:creationId xmlns:a16="http://schemas.microsoft.com/office/drawing/2014/main" id="{FDDE09BD-31FA-7946-36CF-8B45B8818F78}"/>
                </a:ext>
              </a:extLst>
            </p:cNvPr>
            <p:cNvSpPr txBox="1"/>
            <p:nvPr/>
          </p:nvSpPr>
          <p:spPr>
            <a:xfrm>
              <a:off x="266252" y="586380"/>
              <a:ext cx="1372767" cy="29337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carries on a business</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 Box 1958054591">
              <a:extLst>
                <a:ext uri="{FF2B5EF4-FFF2-40B4-BE49-F238E27FC236}">
                  <a16:creationId xmlns:a16="http://schemas.microsoft.com/office/drawing/2014/main" id="{19068FA0-9950-813D-94E1-9106B8329E80}"/>
                </a:ext>
              </a:extLst>
            </p:cNvPr>
            <p:cNvSpPr txBox="1"/>
            <p:nvPr/>
          </p:nvSpPr>
          <p:spPr>
            <a:xfrm>
              <a:off x="1121434" y="1078245"/>
              <a:ext cx="560611" cy="276102"/>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r">
                <a:lnSpc>
                  <a:spcPct val="115000"/>
                </a:lnSpc>
                <a:spcAft>
                  <a:spcPts val="10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100%</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Graphic 1846014284" descr="Man with solid fill">
              <a:extLst>
                <a:ext uri="{FF2B5EF4-FFF2-40B4-BE49-F238E27FC236}">
                  <a16:creationId xmlns:a16="http://schemas.microsoft.com/office/drawing/2014/main" id="{33BFF6D1-D812-2AD0-EDF4-81FF9A7D235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57091" y="500340"/>
              <a:ext cx="413984" cy="413984"/>
            </a:xfrm>
            <a:prstGeom prst="rect">
              <a:avLst/>
            </a:prstGeom>
          </p:spPr>
        </p:pic>
        <p:pic>
          <p:nvPicPr>
            <p:cNvPr id="13" name="Graphic 204076987" descr="Woman with solid fill">
              <a:extLst>
                <a:ext uri="{FF2B5EF4-FFF2-40B4-BE49-F238E27FC236}">
                  <a16:creationId xmlns:a16="http://schemas.microsoft.com/office/drawing/2014/main" id="{8B530842-3D52-3B9A-4728-8506C1E6399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07496" y="517501"/>
              <a:ext cx="413984" cy="413984"/>
            </a:xfrm>
            <a:prstGeom prst="rect">
              <a:avLst/>
            </a:prstGeom>
          </p:spPr>
        </p:pic>
        <p:sp>
          <p:nvSpPr>
            <p:cNvPr id="14" name="Text Box 1009610227">
              <a:extLst>
                <a:ext uri="{FF2B5EF4-FFF2-40B4-BE49-F238E27FC236}">
                  <a16:creationId xmlns:a16="http://schemas.microsoft.com/office/drawing/2014/main" id="{71F012FA-D19D-21F7-C116-04D3CC57A16A}"/>
                </a:ext>
              </a:extLst>
            </p:cNvPr>
            <p:cNvSpPr txBox="1"/>
            <p:nvPr/>
          </p:nvSpPr>
          <p:spPr>
            <a:xfrm>
              <a:off x="1268083" y="207034"/>
              <a:ext cx="793630" cy="24154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 Box 1">
              <a:extLst>
                <a:ext uri="{FF2B5EF4-FFF2-40B4-BE49-F238E27FC236}">
                  <a16:creationId xmlns:a16="http://schemas.microsoft.com/office/drawing/2014/main" id="{20CE7CF8-4605-AF66-544E-86E9B30FBE7E}"/>
                </a:ext>
              </a:extLst>
            </p:cNvPr>
            <p:cNvSpPr txBox="1"/>
            <p:nvPr/>
          </p:nvSpPr>
          <p:spPr>
            <a:xfrm>
              <a:off x="3544302" y="22835"/>
              <a:ext cx="793115" cy="2413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AU" sz="2000" dirty="0">
                  <a:effectLst/>
                  <a:latin typeface="Calibri" panose="020F0502020204030204" pitchFamily="34" charset="0"/>
                  <a:ea typeface="Calibri" panose="020F0502020204030204" pitchFamily="34" charset="0"/>
                  <a:cs typeface="Times New Roman" panose="02020603050405020304" pitchFamily="18" charset="0"/>
                </a:rPr>
                <a:t>Queenie</a:t>
              </a:r>
            </a:p>
          </p:txBody>
        </p:sp>
        <p:sp>
          <p:nvSpPr>
            <p:cNvPr id="16" name="Text Box 1">
              <a:extLst>
                <a:ext uri="{FF2B5EF4-FFF2-40B4-BE49-F238E27FC236}">
                  <a16:creationId xmlns:a16="http://schemas.microsoft.com/office/drawing/2014/main" id="{0E8283A8-B9AC-6CC9-0E4F-12352DDB87AE}"/>
                </a:ext>
              </a:extLst>
            </p:cNvPr>
            <p:cNvSpPr txBox="1"/>
            <p:nvPr/>
          </p:nvSpPr>
          <p:spPr>
            <a:xfrm>
              <a:off x="3885163" y="1905884"/>
              <a:ext cx="1134901" cy="500643"/>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Q2 carries on a business</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Rectangle 16">
              <a:extLst>
                <a:ext uri="{FF2B5EF4-FFF2-40B4-BE49-F238E27FC236}">
                  <a16:creationId xmlns:a16="http://schemas.microsoft.com/office/drawing/2014/main" id="{83B0F217-F90F-EEA7-9936-C14C764B235D}"/>
                </a:ext>
              </a:extLst>
            </p:cNvPr>
            <p:cNvSpPr/>
            <p:nvPr/>
          </p:nvSpPr>
          <p:spPr>
            <a:xfrm>
              <a:off x="1302391" y="1440461"/>
              <a:ext cx="716190" cy="483154"/>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dirty="0">
                  <a:effectLst/>
                  <a:ea typeface="Calibri" panose="020F0502020204030204" pitchFamily="34" charset="0"/>
                  <a:cs typeface="Times New Roman" panose="02020603050405020304" pitchFamily="18" charset="0"/>
                </a:rPr>
                <a:t>Q Co (trustee)</a:t>
              </a:r>
              <a:endParaRPr lang="en-AU" dirty="0">
                <a:effectLst/>
                <a:ea typeface="Calibri" panose="020F0502020204030204" pitchFamily="34" charset="0"/>
                <a:cs typeface="Times New Roman" panose="02020603050405020304" pitchFamily="18" charset="0"/>
              </a:endParaRPr>
            </a:p>
          </p:txBody>
        </p:sp>
        <p:cxnSp>
          <p:nvCxnSpPr>
            <p:cNvPr id="18" name="Straight Arrow Connector 17">
              <a:extLst>
                <a:ext uri="{FF2B5EF4-FFF2-40B4-BE49-F238E27FC236}">
                  <a16:creationId xmlns:a16="http://schemas.microsoft.com/office/drawing/2014/main" id="{E5BDDA30-7956-53E4-EB62-1D2DDADD6182}"/>
                </a:ext>
              </a:extLst>
            </p:cNvPr>
            <p:cNvCxnSpPr/>
            <p:nvPr/>
          </p:nvCxnSpPr>
          <p:spPr>
            <a:xfrm>
              <a:off x="1664898" y="1026543"/>
              <a:ext cx="0" cy="41384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9" name="Isosceles Triangle 18">
              <a:extLst>
                <a:ext uri="{FF2B5EF4-FFF2-40B4-BE49-F238E27FC236}">
                  <a16:creationId xmlns:a16="http://schemas.microsoft.com/office/drawing/2014/main" id="{BF595FA0-D196-F922-0D9F-4055CEAE8193}"/>
                </a:ext>
              </a:extLst>
            </p:cNvPr>
            <p:cNvSpPr/>
            <p:nvPr/>
          </p:nvSpPr>
          <p:spPr>
            <a:xfrm>
              <a:off x="1207618" y="1957892"/>
              <a:ext cx="931208" cy="707670"/>
            </a:xfrm>
            <a:prstGeom prst="triangle">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100" dirty="0">
                  <a:effectLst/>
                  <a:ea typeface="Calibri" panose="020F0502020204030204" pitchFamily="34" charset="0"/>
                  <a:cs typeface="Times New Roman" panose="02020603050405020304" pitchFamily="18" charset="0"/>
                </a:rPr>
                <a:t> </a:t>
              </a:r>
              <a:endParaRPr lang="en-AU" sz="1100" dirty="0">
                <a:effectLst/>
                <a:ea typeface="Calibri" panose="020F0502020204030204" pitchFamily="34" charset="0"/>
                <a:cs typeface="Times New Roman" panose="02020603050405020304" pitchFamily="18" charset="0"/>
              </a:endParaRPr>
            </a:p>
          </p:txBody>
        </p:sp>
        <p:sp>
          <p:nvSpPr>
            <p:cNvPr id="20" name="Text Box 683956400">
              <a:extLst>
                <a:ext uri="{FF2B5EF4-FFF2-40B4-BE49-F238E27FC236}">
                  <a16:creationId xmlns:a16="http://schemas.microsoft.com/office/drawing/2014/main" id="{29F23CAA-A217-4639-477A-19F0598F39EE}"/>
                </a:ext>
              </a:extLst>
            </p:cNvPr>
            <p:cNvSpPr txBox="1"/>
            <p:nvPr/>
          </p:nvSpPr>
          <p:spPr>
            <a:xfrm>
              <a:off x="1285250" y="2052880"/>
              <a:ext cx="776377" cy="621309"/>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Q </a:t>
              </a:r>
              <a:br>
                <a:rPr lang="en-US" dirty="0">
                  <a:effectLst/>
                  <a:latin typeface="Calibri" panose="020F0502020204030204" pitchFamily="34" charset="0"/>
                  <a:ea typeface="Calibri" panose="020F0502020204030204" pitchFamily="34" charset="0"/>
                  <a:cs typeface="Times New Roman" panose="02020603050405020304" pitchFamily="18" charset="0"/>
                </a:rPr>
              </a:br>
              <a:r>
                <a:rPr lang="en-US" dirty="0">
                  <a:effectLst/>
                  <a:latin typeface="Calibri" panose="020F0502020204030204" pitchFamily="34" charset="0"/>
                  <a:ea typeface="Calibri" panose="020F0502020204030204" pitchFamily="34" charset="0"/>
                  <a:cs typeface="Times New Roman" panose="02020603050405020304" pitchFamily="18" charset="0"/>
                </a:rPr>
                <a:t>Family Trust</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1" name="Graphic 2137948439" descr="Store outline">
              <a:extLst>
                <a:ext uri="{FF2B5EF4-FFF2-40B4-BE49-F238E27FC236}">
                  <a16:creationId xmlns:a16="http://schemas.microsoft.com/office/drawing/2014/main" id="{033ECA57-4A90-7A0C-4B1B-6137E0D262E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29994" y="2061713"/>
              <a:ext cx="485734" cy="485734"/>
            </a:xfrm>
            <a:prstGeom prst="rect">
              <a:avLst/>
            </a:prstGeom>
          </p:spPr>
        </p:pic>
        <p:cxnSp>
          <p:nvCxnSpPr>
            <p:cNvPr id="22" name="Straight Arrow Connector 21">
              <a:extLst>
                <a:ext uri="{FF2B5EF4-FFF2-40B4-BE49-F238E27FC236}">
                  <a16:creationId xmlns:a16="http://schemas.microsoft.com/office/drawing/2014/main" id="{A76952F3-5DAF-41E8-981D-3F2D64B7F331}"/>
                </a:ext>
              </a:extLst>
            </p:cNvPr>
            <p:cNvCxnSpPr/>
            <p:nvPr/>
          </p:nvCxnSpPr>
          <p:spPr>
            <a:xfrm>
              <a:off x="1932317" y="2329132"/>
              <a:ext cx="497677"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23" name="Text Box 1">
              <a:extLst>
                <a:ext uri="{FF2B5EF4-FFF2-40B4-BE49-F238E27FC236}">
                  <a16:creationId xmlns:a16="http://schemas.microsoft.com/office/drawing/2014/main" id="{D66E848A-2892-8D64-3D47-CF071A8FD624}"/>
                </a:ext>
              </a:extLst>
            </p:cNvPr>
            <p:cNvSpPr txBox="1"/>
            <p:nvPr/>
          </p:nvSpPr>
          <p:spPr>
            <a:xfrm>
              <a:off x="2241263" y="2508750"/>
              <a:ext cx="872873" cy="46723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commercial property</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4" name="Straight Arrow Connector 23">
              <a:extLst>
                <a:ext uri="{FF2B5EF4-FFF2-40B4-BE49-F238E27FC236}">
                  <a16:creationId xmlns:a16="http://schemas.microsoft.com/office/drawing/2014/main" id="{3966DF0D-7EED-A4F3-4677-7B4F4F988C5B}"/>
                </a:ext>
              </a:extLst>
            </p:cNvPr>
            <p:cNvCxnSpPr/>
            <p:nvPr/>
          </p:nvCxnSpPr>
          <p:spPr>
            <a:xfrm flipV="1">
              <a:off x="2881223" y="1811454"/>
              <a:ext cx="610849" cy="5263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3FFE873D-1170-1607-41CF-28CCA1B88B63}"/>
                </a:ext>
              </a:extLst>
            </p:cNvPr>
            <p:cNvCxnSpPr/>
            <p:nvPr/>
          </p:nvCxnSpPr>
          <p:spPr>
            <a:xfrm flipV="1">
              <a:off x="1889185" y="1552675"/>
              <a:ext cx="1602651" cy="612555"/>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51" name="Text Box 1">
              <a:extLst>
                <a:ext uri="{FF2B5EF4-FFF2-40B4-BE49-F238E27FC236}">
                  <a16:creationId xmlns:a16="http://schemas.microsoft.com/office/drawing/2014/main" id="{4848D65A-2294-007E-6EC9-4B15663410E9}"/>
                </a:ext>
              </a:extLst>
            </p:cNvPr>
            <p:cNvSpPr txBox="1"/>
            <p:nvPr/>
          </p:nvSpPr>
          <p:spPr>
            <a:xfrm>
              <a:off x="3114139" y="2052878"/>
              <a:ext cx="536486" cy="31178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rent</a:t>
              </a: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2" name="Graphic 97444829" descr="Dollar with solid fill">
              <a:extLst>
                <a:ext uri="{FF2B5EF4-FFF2-40B4-BE49-F238E27FC236}">
                  <a16:creationId xmlns:a16="http://schemas.microsoft.com/office/drawing/2014/main" id="{24922991-95A0-07EC-46B0-68DC81C9049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697611" y="1506966"/>
              <a:ext cx="218117" cy="218117"/>
            </a:xfrm>
            <a:prstGeom prst="rect">
              <a:avLst/>
            </a:prstGeom>
          </p:spPr>
        </p:pic>
        <p:sp>
          <p:nvSpPr>
            <p:cNvPr id="54" name="Rectangle 53">
              <a:extLst>
                <a:ext uri="{FF2B5EF4-FFF2-40B4-BE49-F238E27FC236}">
                  <a16:creationId xmlns:a16="http://schemas.microsoft.com/office/drawing/2014/main" id="{2BC9674D-DB28-F359-119D-F89F983ABBEF}"/>
                </a:ext>
              </a:extLst>
            </p:cNvPr>
            <p:cNvSpPr/>
            <p:nvPr/>
          </p:nvSpPr>
          <p:spPr>
            <a:xfrm>
              <a:off x="3544302" y="1410195"/>
              <a:ext cx="715645" cy="482600"/>
            </a:xfrm>
            <a:prstGeom prst="rect">
              <a:avLst/>
            </a:prstGeom>
            <a:ln/>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2000" dirty="0">
                  <a:effectLst/>
                  <a:ea typeface="Calibri" panose="020F0502020204030204" pitchFamily="34" charset="0"/>
                  <a:cs typeface="Times New Roman" panose="02020603050405020304" pitchFamily="18" charset="0"/>
                </a:rPr>
                <a:t>Q2 Pty Ltd</a:t>
              </a:r>
              <a:endParaRPr lang="en-AU" sz="2000" dirty="0">
                <a:effectLst/>
                <a:ea typeface="Calibri" panose="020F0502020204030204" pitchFamily="34" charset="0"/>
                <a:cs typeface="Times New Roman" panose="02020603050405020304" pitchFamily="18" charset="0"/>
              </a:endParaRPr>
            </a:p>
          </p:txBody>
        </p:sp>
        <p:cxnSp>
          <p:nvCxnSpPr>
            <p:cNvPr id="55" name="Straight Arrow Connector 54">
              <a:extLst>
                <a:ext uri="{FF2B5EF4-FFF2-40B4-BE49-F238E27FC236}">
                  <a16:creationId xmlns:a16="http://schemas.microsoft.com/office/drawing/2014/main" id="{CD53E620-D54B-463B-0EC0-4366DF43D22C}"/>
                </a:ext>
              </a:extLst>
            </p:cNvPr>
            <p:cNvCxnSpPr/>
            <p:nvPr/>
          </p:nvCxnSpPr>
          <p:spPr>
            <a:xfrm>
              <a:off x="3906887" y="996175"/>
              <a:ext cx="0" cy="413385"/>
            </a:xfrm>
            <a:prstGeom prst="straightConnector1">
              <a:avLst/>
            </a:prstGeom>
            <a:ln>
              <a:tailEnd type="triangle"/>
            </a:ln>
          </p:spPr>
          <p:style>
            <a:lnRef idx="1">
              <a:schemeClr val="accent2"/>
            </a:lnRef>
            <a:fillRef idx="2">
              <a:schemeClr val="accent2"/>
            </a:fillRef>
            <a:effectRef idx="1">
              <a:schemeClr val="accent2"/>
            </a:effectRef>
            <a:fontRef idx="minor">
              <a:schemeClr val="dk1"/>
            </a:fontRef>
          </p:style>
        </p:cxnSp>
        <p:pic>
          <p:nvPicPr>
            <p:cNvPr id="56" name="Graphic 940837683" descr="Man outline">
              <a:extLst>
                <a:ext uri="{FF2B5EF4-FFF2-40B4-BE49-F238E27FC236}">
                  <a16:creationId xmlns:a16="http://schemas.microsoft.com/office/drawing/2014/main" id="{A32ED127-3418-FF9E-45FB-913E426EFB0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552093" y="529479"/>
              <a:ext cx="419343" cy="419343"/>
            </a:xfrm>
            <a:prstGeom prst="rect">
              <a:avLst/>
            </a:prstGeom>
          </p:spPr>
        </p:pic>
        <p:pic>
          <p:nvPicPr>
            <p:cNvPr id="57" name="Graphic 2002860005" descr="Woman outline">
              <a:extLst>
                <a:ext uri="{FF2B5EF4-FFF2-40B4-BE49-F238E27FC236}">
                  <a16:creationId xmlns:a16="http://schemas.microsoft.com/office/drawing/2014/main" id="{98AD2A62-A2FE-E081-0AEA-BFF1C3AA17A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980553" y="520736"/>
              <a:ext cx="419343" cy="419343"/>
            </a:xfrm>
            <a:prstGeom prst="rect">
              <a:avLst/>
            </a:prstGeom>
          </p:spPr>
        </p:pic>
        <p:cxnSp>
          <p:nvCxnSpPr>
            <p:cNvPr id="58" name="Straight Arrow Connector 57">
              <a:extLst>
                <a:ext uri="{FF2B5EF4-FFF2-40B4-BE49-F238E27FC236}">
                  <a16:creationId xmlns:a16="http://schemas.microsoft.com/office/drawing/2014/main" id="{0F2A5DCC-3D3B-895C-85C7-D698D7120D59}"/>
                </a:ext>
              </a:extLst>
            </p:cNvPr>
            <p:cNvCxnSpPr/>
            <p:nvPr/>
          </p:nvCxnSpPr>
          <p:spPr>
            <a:xfrm flipH="1">
              <a:off x="4259098" y="966158"/>
              <a:ext cx="847740" cy="453947"/>
            </a:xfrm>
            <a:prstGeom prst="straightConnector1">
              <a:avLst/>
            </a:prstGeom>
            <a:ln>
              <a:tailEnd type="triangle"/>
            </a:ln>
          </p:spPr>
          <p:style>
            <a:lnRef idx="1">
              <a:schemeClr val="accent2"/>
            </a:lnRef>
            <a:fillRef idx="2">
              <a:schemeClr val="accent2"/>
            </a:fillRef>
            <a:effectRef idx="1">
              <a:schemeClr val="accent2"/>
            </a:effectRef>
            <a:fontRef idx="minor">
              <a:schemeClr val="dk1"/>
            </a:fontRef>
          </p:style>
        </p:cxnSp>
        <p:cxnSp>
          <p:nvCxnSpPr>
            <p:cNvPr id="60" name="Straight Arrow Connector 59">
              <a:extLst>
                <a:ext uri="{FF2B5EF4-FFF2-40B4-BE49-F238E27FC236}">
                  <a16:creationId xmlns:a16="http://schemas.microsoft.com/office/drawing/2014/main" id="{1069AB3F-1673-9E71-61F2-1FCDC230A135}"/>
                </a:ext>
              </a:extLst>
            </p:cNvPr>
            <p:cNvCxnSpPr/>
            <p:nvPr/>
          </p:nvCxnSpPr>
          <p:spPr>
            <a:xfrm flipH="1">
              <a:off x="4111845" y="966108"/>
              <a:ext cx="598178" cy="443952"/>
            </a:xfrm>
            <a:prstGeom prst="straightConnector1">
              <a:avLst/>
            </a:prstGeom>
            <a:ln>
              <a:tailEnd type="triangle"/>
            </a:ln>
          </p:spPr>
          <p:style>
            <a:lnRef idx="1">
              <a:schemeClr val="accent2"/>
            </a:lnRef>
            <a:fillRef idx="2">
              <a:schemeClr val="accent2"/>
            </a:fillRef>
            <a:effectRef idx="1">
              <a:schemeClr val="accent2"/>
            </a:effectRef>
            <a:fontRef idx="minor">
              <a:schemeClr val="dk1"/>
            </a:fontRef>
          </p:style>
        </p:cxnSp>
        <p:sp>
          <p:nvSpPr>
            <p:cNvPr id="61" name="Text Box 1">
              <a:extLst>
                <a:ext uri="{FF2B5EF4-FFF2-40B4-BE49-F238E27FC236}">
                  <a16:creationId xmlns:a16="http://schemas.microsoft.com/office/drawing/2014/main" id="{96869F38-E119-D575-123F-3803759B4A90}"/>
                </a:ext>
              </a:extLst>
            </p:cNvPr>
            <p:cNvSpPr txBox="1"/>
            <p:nvPr/>
          </p:nvSpPr>
          <p:spPr>
            <a:xfrm>
              <a:off x="4570822" y="179898"/>
              <a:ext cx="792480" cy="32035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Siblings</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31" name="Text Box 1">
            <a:extLst>
              <a:ext uri="{FF2B5EF4-FFF2-40B4-BE49-F238E27FC236}">
                <a16:creationId xmlns:a16="http://schemas.microsoft.com/office/drawing/2014/main" id="{32333E32-F7B6-30C2-539D-B7CDC25C59DD}"/>
              </a:ext>
            </a:extLst>
          </p:cNvPr>
          <p:cNvSpPr txBox="1"/>
          <p:nvPr/>
        </p:nvSpPr>
        <p:spPr>
          <a:xfrm>
            <a:off x="8494336" y="2680042"/>
            <a:ext cx="1088246" cy="324577"/>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r">
              <a:lnSpc>
                <a:spcPct val="115000"/>
              </a:lnSpc>
              <a:spcAft>
                <a:spcPts val="10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33.33%</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9" name="TextBox 28">
            <a:extLst>
              <a:ext uri="{FF2B5EF4-FFF2-40B4-BE49-F238E27FC236}">
                <a16:creationId xmlns:a16="http://schemas.microsoft.com/office/drawing/2014/main" id="{579FFAAC-82EB-31E1-EE9D-DB68D1269FA7}"/>
              </a:ext>
            </a:extLst>
          </p:cNvPr>
          <p:cNvSpPr txBox="1"/>
          <p:nvPr/>
        </p:nvSpPr>
        <p:spPr>
          <a:xfrm>
            <a:off x="2150286" y="1593615"/>
            <a:ext cx="3348000" cy="425501"/>
          </a:xfrm>
          <a:prstGeom prst="rect">
            <a:avLst/>
          </a:prstGeom>
          <a:noFill/>
        </p:spPr>
        <p:txBody>
          <a:bodyPr wrap="square">
            <a:spAutoFit/>
          </a:bodyPr>
          <a:lstStyle/>
          <a:p>
            <a:pPr algn="ctr">
              <a:lnSpc>
                <a:spcPct val="115000"/>
              </a:lnSpc>
              <a:spcAft>
                <a:spcPts val="1000"/>
              </a:spcAft>
            </a:pPr>
            <a:r>
              <a:rPr lang="en-AU" sz="2000" dirty="0">
                <a:effectLst/>
                <a:latin typeface="Calibri" panose="020F0502020204030204" pitchFamily="34" charset="0"/>
                <a:ea typeface="Calibri" panose="020F0502020204030204" pitchFamily="34" charset="0"/>
                <a:cs typeface="Times New Roman" panose="02020603050405020304" pitchFamily="18" charset="0"/>
              </a:rPr>
              <a:t>Quentin</a:t>
            </a:r>
          </a:p>
        </p:txBody>
      </p:sp>
      <p:sp>
        <p:nvSpPr>
          <p:cNvPr id="6" name="Text Box 1">
            <a:extLst>
              <a:ext uri="{FF2B5EF4-FFF2-40B4-BE49-F238E27FC236}">
                <a16:creationId xmlns:a16="http://schemas.microsoft.com/office/drawing/2014/main" id="{1FA238D2-CDFE-BE39-08BF-4F1BEDE843FC}"/>
              </a:ext>
            </a:extLst>
          </p:cNvPr>
          <p:cNvSpPr txBox="1"/>
          <p:nvPr/>
        </p:nvSpPr>
        <p:spPr>
          <a:xfrm>
            <a:off x="9687902" y="3407366"/>
            <a:ext cx="1523155" cy="45034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Shareholders have equal voting rights</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Arrow: Left 25">
            <a:extLst>
              <a:ext uri="{FF2B5EF4-FFF2-40B4-BE49-F238E27FC236}">
                <a16:creationId xmlns:a16="http://schemas.microsoft.com/office/drawing/2014/main" id="{94C26081-7C47-B66D-A621-F6A7CB74C48D}"/>
              </a:ext>
            </a:extLst>
          </p:cNvPr>
          <p:cNvSpPr/>
          <p:nvPr/>
        </p:nvSpPr>
        <p:spPr>
          <a:xfrm>
            <a:off x="4399510" y="2531507"/>
            <a:ext cx="3569246" cy="228196"/>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sp>
        <p:nvSpPr>
          <p:cNvPr id="28" name="TextBox 27">
            <a:extLst>
              <a:ext uri="{FF2B5EF4-FFF2-40B4-BE49-F238E27FC236}">
                <a16:creationId xmlns:a16="http://schemas.microsoft.com/office/drawing/2014/main" id="{3A4C76A7-AEB7-C015-CE47-A3E1E1AAE20A}"/>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15</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83647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8D4A-345E-485C-8FC6-3E26F406BD15}"/>
              </a:ext>
            </a:extLst>
          </p:cNvPr>
          <p:cNvSpPr>
            <a:spLocks noGrp="1"/>
          </p:cNvSpPr>
          <p:nvPr>
            <p:ph type="title"/>
          </p:nvPr>
        </p:nvSpPr>
        <p:spPr>
          <a:xfrm>
            <a:off x="838200" y="531182"/>
            <a:ext cx="10944000" cy="774358"/>
          </a:xfrm>
        </p:spPr>
        <p:txBody>
          <a:bodyPr>
            <a:normAutofit/>
          </a:bodyPr>
          <a:lstStyle/>
          <a:p>
            <a:r>
              <a:rPr lang="en-AU" dirty="0">
                <a:solidFill>
                  <a:srgbClr val="000000"/>
                </a:solidFill>
                <a:effectLst/>
                <a:ea typeface="Calibri Light" panose="020F0302020204030204" pitchFamily="34" charset="0"/>
                <a:cs typeface="Calibri Light" panose="020F0302020204030204" pitchFamily="34" charset="0"/>
              </a:rPr>
              <a:t>Scenario 2d — </a:t>
            </a:r>
            <a:r>
              <a:rPr lang="en-US" dirty="0">
                <a:effectLst/>
                <a:ea typeface="Times New Roman" panose="02020603050405020304" pitchFamily="18" charset="0"/>
                <a:cs typeface="Times New Roman" panose="02020603050405020304" pitchFamily="18" charset="0"/>
              </a:rPr>
              <a:t>Four equal shareholders </a:t>
            </a:r>
            <a:r>
              <a:rPr lang="en-US" dirty="0">
                <a:ea typeface="Times New Roman" panose="02020603050405020304" pitchFamily="18" charset="0"/>
                <a:cs typeface="Times New Roman" panose="02020603050405020304" pitchFamily="18" charset="0"/>
              </a:rPr>
              <a:t>in Q2</a:t>
            </a:r>
            <a:endParaRPr lang="en-AU" dirty="0"/>
          </a:p>
        </p:txBody>
      </p:sp>
      <p:sp>
        <p:nvSpPr>
          <p:cNvPr id="3" name="Text Placeholder 2">
            <a:extLst>
              <a:ext uri="{FF2B5EF4-FFF2-40B4-BE49-F238E27FC236}">
                <a16:creationId xmlns:a16="http://schemas.microsoft.com/office/drawing/2014/main" id="{5BDCFC51-48ED-4965-9EE9-63D63B17B598}"/>
              </a:ext>
            </a:extLst>
          </p:cNvPr>
          <p:cNvSpPr>
            <a:spLocks noGrp="1"/>
          </p:cNvSpPr>
          <p:nvPr>
            <p:ph type="body" sz="quarter" idx="10"/>
          </p:nvPr>
        </p:nvSpPr>
        <p:spPr/>
        <p:txBody>
          <a:bodyPr/>
          <a:lstStyle/>
          <a:p>
            <a:endParaRPr lang="en-AU" dirty="0"/>
          </a:p>
        </p:txBody>
      </p:sp>
      <p:grpSp>
        <p:nvGrpSpPr>
          <p:cNvPr id="26" name="Canvas 1875491070">
            <a:extLst>
              <a:ext uri="{FF2B5EF4-FFF2-40B4-BE49-F238E27FC236}">
                <a16:creationId xmlns:a16="http://schemas.microsoft.com/office/drawing/2014/main" id="{2B2905A2-FC9E-EB09-2F25-62FF5C5D4F80}"/>
              </a:ext>
            </a:extLst>
          </p:cNvPr>
          <p:cNvGrpSpPr/>
          <p:nvPr/>
        </p:nvGrpSpPr>
        <p:grpSpPr>
          <a:xfrm>
            <a:off x="877800" y="1482944"/>
            <a:ext cx="10476000" cy="4644000"/>
            <a:chOff x="0" y="0"/>
            <a:chExt cx="5619115" cy="3277870"/>
          </a:xfrm>
        </p:grpSpPr>
        <p:sp>
          <p:nvSpPr>
            <p:cNvPr id="27" name="Rectangle 26">
              <a:extLst>
                <a:ext uri="{FF2B5EF4-FFF2-40B4-BE49-F238E27FC236}">
                  <a16:creationId xmlns:a16="http://schemas.microsoft.com/office/drawing/2014/main" id="{70FE03F2-9493-8B57-E5DD-0EF200FA4585}"/>
                </a:ext>
              </a:extLst>
            </p:cNvPr>
            <p:cNvSpPr/>
            <p:nvPr/>
          </p:nvSpPr>
          <p:spPr>
            <a:xfrm>
              <a:off x="0" y="0"/>
              <a:ext cx="5619115" cy="3277870"/>
            </a:xfrm>
            <a:prstGeom prst="rect">
              <a:avLst/>
            </a:prstGeom>
            <a:solidFill>
              <a:prstClr val="white"/>
            </a:solidFill>
            <a:ln>
              <a:solidFill>
                <a:schemeClr val="dk1"/>
              </a:solidFill>
            </a:ln>
          </p:spPr>
          <p:txBody>
            <a:bodyPr/>
            <a:lstStyle/>
            <a:p>
              <a:endParaRPr lang="en-AU" dirty="0"/>
            </a:p>
          </p:txBody>
        </p:sp>
        <p:sp>
          <p:nvSpPr>
            <p:cNvPr id="28" name="Text Box 1">
              <a:extLst>
                <a:ext uri="{FF2B5EF4-FFF2-40B4-BE49-F238E27FC236}">
                  <a16:creationId xmlns:a16="http://schemas.microsoft.com/office/drawing/2014/main" id="{FE73394D-35DD-C0F9-3D34-DAFE3EEEA63D}"/>
                </a:ext>
              </a:extLst>
            </p:cNvPr>
            <p:cNvSpPr txBox="1"/>
            <p:nvPr/>
          </p:nvSpPr>
          <p:spPr>
            <a:xfrm>
              <a:off x="3397535" y="179982"/>
              <a:ext cx="777650" cy="2413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9" name="Text Box 1">
              <a:extLst>
                <a:ext uri="{FF2B5EF4-FFF2-40B4-BE49-F238E27FC236}">
                  <a16:creationId xmlns:a16="http://schemas.microsoft.com/office/drawing/2014/main" id="{CE6A5C1F-48DE-CC38-E5D6-10FED3A11CA0}"/>
                </a:ext>
              </a:extLst>
            </p:cNvPr>
            <p:cNvSpPr txBox="1"/>
            <p:nvPr/>
          </p:nvSpPr>
          <p:spPr>
            <a:xfrm>
              <a:off x="4548172" y="83133"/>
              <a:ext cx="884474" cy="419342"/>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Queenie’s siblings</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0" name="Text Box 1">
              <a:extLst>
                <a:ext uri="{FF2B5EF4-FFF2-40B4-BE49-F238E27FC236}">
                  <a16:creationId xmlns:a16="http://schemas.microsoft.com/office/drawing/2014/main" id="{1113817E-B85B-68C9-7C68-9442DCE95953}"/>
                </a:ext>
              </a:extLst>
            </p:cNvPr>
            <p:cNvSpPr txBox="1"/>
            <p:nvPr/>
          </p:nvSpPr>
          <p:spPr>
            <a:xfrm>
              <a:off x="3994082" y="67635"/>
              <a:ext cx="715941" cy="465993"/>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Patrick</a:t>
              </a:r>
              <a:br>
                <a:rPr lang="en-US" sz="1600" dirty="0">
                  <a:effectLst/>
                  <a:latin typeface="Calibri" panose="020F0502020204030204" pitchFamily="34" charset="0"/>
                  <a:ea typeface="Calibri" panose="020F0502020204030204" pitchFamily="34" charset="0"/>
                  <a:cs typeface="Times New Roman" panose="02020603050405020304" pitchFamily="18" charset="0"/>
                </a:rPr>
              </a:br>
              <a:r>
                <a:rPr lang="en-US" sz="1600" dirty="0">
                  <a:effectLst/>
                  <a:latin typeface="Calibri" panose="020F0502020204030204" pitchFamily="34" charset="0"/>
                  <a:ea typeface="Calibri" panose="020F0502020204030204" pitchFamily="34" charset="0"/>
                  <a:cs typeface="Times New Roman" panose="02020603050405020304" pitchFamily="18" charset="0"/>
                </a:rPr>
                <a:t>(minor)</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1" name="Text Box 1">
              <a:extLst>
                <a:ext uri="{FF2B5EF4-FFF2-40B4-BE49-F238E27FC236}">
                  <a16:creationId xmlns:a16="http://schemas.microsoft.com/office/drawing/2014/main" id="{368D24FE-B1E9-B502-C964-101B99544BF2}"/>
                </a:ext>
              </a:extLst>
            </p:cNvPr>
            <p:cNvSpPr txBox="1"/>
            <p:nvPr/>
          </p:nvSpPr>
          <p:spPr>
            <a:xfrm>
              <a:off x="4657944" y="1066390"/>
              <a:ext cx="793950" cy="349104"/>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25% each</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2" name="Text Box 1">
              <a:extLst>
                <a:ext uri="{FF2B5EF4-FFF2-40B4-BE49-F238E27FC236}">
                  <a16:creationId xmlns:a16="http://schemas.microsoft.com/office/drawing/2014/main" id="{6338BCA1-4E08-D219-D770-CCA6108FA110}"/>
                </a:ext>
              </a:extLst>
            </p:cNvPr>
            <p:cNvSpPr txBox="1"/>
            <p:nvPr/>
          </p:nvSpPr>
          <p:spPr>
            <a:xfrm>
              <a:off x="2069149" y="426586"/>
              <a:ext cx="1372235" cy="506948"/>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deemed affiliate</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3" name="Text Box 1">
              <a:extLst>
                <a:ext uri="{FF2B5EF4-FFF2-40B4-BE49-F238E27FC236}">
                  <a16:creationId xmlns:a16="http://schemas.microsoft.com/office/drawing/2014/main" id="{D8A07A8F-4266-A510-B2C5-EC78B5C0E1DE}"/>
                </a:ext>
              </a:extLst>
            </p:cNvPr>
            <p:cNvSpPr txBox="1"/>
            <p:nvPr/>
          </p:nvSpPr>
          <p:spPr>
            <a:xfrm>
              <a:off x="266252" y="586380"/>
              <a:ext cx="1372767" cy="29337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carries on a business</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4" name="Text Box 1512531221">
              <a:extLst>
                <a:ext uri="{FF2B5EF4-FFF2-40B4-BE49-F238E27FC236}">
                  <a16:creationId xmlns:a16="http://schemas.microsoft.com/office/drawing/2014/main" id="{E8968153-85C8-5D13-7BF3-BF2033299DD2}"/>
                </a:ext>
              </a:extLst>
            </p:cNvPr>
            <p:cNvSpPr txBox="1"/>
            <p:nvPr/>
          </p:nvSpPr>
          <p:spPr>
            <a:xfrm>
              <a:off x="1121434" y="1078245"/>
              <a:ext cx="560611" cy="276102"/>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r">
                <a:lnSpc>
                  <a:spcPct val="115000"/>
                </a:lnSpc>
                <a:spcAft>
                  <a:spcPts val="10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100%</a:t>
              </a: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5" name="Graphic 160988476" descr="Man with solid fill">
              <a:extLst>
                <a:ext uri="{FF2B5EF4-FFF2-40B4-BE49-F238E27FC236}">
                  <a16:creationId xmlns:a16="http://schemas.microsoft.com/office/drawing/2014/main" id="{5AB8DF8D-94EF-8A12-FD93-789647B0646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55294" y="534838"/>
              <a:ext cx="413984" cy="413984"/>
            </a:xfrm>
            <a:prstGeom prst="rect">
              <a:avLst/>
            </a:prstGeom>
          </p:spPr>
        </p:pic>
        <p:pic>
          <p:nvPicPr>
            <p:cNvPr id="36" name="Graphic 896340563" descr="Woman with solid fill">
              <a:extLst>
                <a:ext uri="{FF2B5EF4-FFF2-40B4-BE49-F238E27FC236}">
                  <a16:creationId xmlns:a16="http://schemas.microsoft.com/office/drawing/2014/main" id="{5FFCAF1D-1CDA-9EE9-6910-4BA3B70B8BF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07496" y="517501"/>
              <a:ext cx="413984" cy="413984"/>
            </a:xfrm>
            <a:prstGeom prst="rect">
              <a:avLst/>
            </a:prstGeom>
          </p:spPr>
        </p:pic>
        <p:sp>
          <p:nvSpPr>
            <p:cNvPr id="37" name="Text Box 69800496">
              <a:extLst>
                <a:ext uri="{FF2B5EF4-FFF2-40B4-BE49-F238E27FC236}">
                  <a16:creationId xmlns:a16="http://schemas.microsoft.com/office/drawing/2014/main" id="{9E18C793-8DBF-C9EC-778F-CB653FF9B5D3}"/>
                </a:ext>
              </a:extLst>
            </p:cNvPr>
            <p:cNvSpPr txBox="1"/>
            <p:nvPr/>
          </p:nvSpPr>
          <p:spPr>
            <a:xfrm>
              <a:off x="1268083" y="207034"/>
              <a:ext cx="793630" cy="24154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8" name="Text Box 1">
              <a:extLst>
                <a:ext uri="{FF2B5EF4-FFF2-40B4-BE49-F238E27FC236}">
                  <a16:creationId xmlns:a16="http://schemas.microsoft.com/office/drawing/2014/main" id="{7433F3C6-C97B-25A3-AC84-D0F54FE14966}"/>
                </a:ext>
              </a:extLst>
            </p:cNvPr>
            <p:cNvSpPr txBox="1"/>
            <p:nvPr/>
          </p:nvSpPr>
          <p:spPr>
            <a:xfrm>
              <a:off x="4259388" y="1486660"/>
              <a:ext cx="1134901" cy="500643"/>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carries on a business</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9" name="Rectangle 38">
              <a:extLst>
                <a:ext uri="{FF2B5EF4-FFF2-40B4-BE49-F238E27FC236}">
                  <a16:creationId xmlns:a16="http://schemas.microsoft.com/office/drawing/2014/main" id="{2D622BD4-459B-2D65-C6EE-C11A966278F9}"/>
                </a:ext>
              </a:extLst>
            </p:cNvPr>
            <p:cNvSpPr/>
            <p:nvPr/>
          </p:nvSpPr>
          <p:spPr>
            <a:xfrm>
              <a:off x="1302391" y="1440461"/>
              <a:ext cx="716190" cy="483154"/>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dirty="0">
                  <a:effectLst/>
                  <a:ea typeface="Calibri" panose="020F0502020204030204" pitchFamily="34" charset="0"/>
                  <a:cs typeface="Times New Roman" panose="02020603050405020304" pitchFamily="18" charset="0"/>
                </a:rPr>
                <a:t>Q Co (trustee)</a:t>
              </a:r>
              <a:endParaRPr lang="en-AU" dirty="0">
                <a:effectLst/>
                <a:ea typeface="Calibri" panose="020F0502020204030204" pitchFamily="34" charset="0"/>
                <a:cs typeface="Times New Roman" panose="02020603050405020304" pitchFamily="18" charset="0"/>
              </a:endParaRPr>
            </a:p>
          </p:txBody>
        </p:sp>
        <p:cxnSp>
          <p:nvCxnSpPr>
            <p:cNvPr id="40" name="Straight Arrow Connector 39">
              <a:extLst>
                <a:ext uri="{FF2B5EF4-FFF2-40B4-BE49-F238E27FC236}">
                  <a16:creationId xmlns:a16="http://schemas.microsoft.com/office/drawing/2014/main" id="{F845B270-F0E1-87EE-95C5-627106FAA3C0}"/>
                </a:ext>
              </a:extLst>
            </p:cNvPr>
            <p:cNvCxnSpPr/>
            <p:nvPr/>
          </p:nvCxnSpPr>
          <p:spPr>
            <a:xfrm>
              <a:off x="1664898" y="1026543"/>
              <a:ext cx="0" cy="41384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41" name="Isosceles Triangle 40">
              <a:extLst>
                <a:ext uri="{FF2B5EF4-FFF2-40B4-BE49-F238E27FC236}">
                  <a16:creationId xmlns:a16="http://schemas.microsoft.com/office/drawing/2014/main" id="{25971482-0D9B-C4B4-1833-FF726854FD58}"/>
                </a:ext>
              </a:extLst>
            </p:cNvPr>
            <p:cNvSpPr/>
            <p:nvPr/>
          </p:nvSpPr>
          <p:spPr>
            <a:xfrm>
              <a:off x="1207618" y="1957892"/>
              <a:ext cx="931208" cy="707670"/>
            </a:xfrm>
            <a:prstGeom prst="triangle">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100" dirty="0">
                  <a:effectLst/>
                  <a:ea typeface="Calibri" panose="020F0502020204030204" pitchFamily="34" charset="0"/>
                  <a:cs typeface="Times New Roman" panose="02020603050405020304" pitchFamily="18" charset="0"/>
                </a:rPr>
                <a:t> </a:t>
              </a:r>
              <a:endParaRPr lang="en-AU" sz="1100" dirty="0">
                <a:effectLst/>
                <a:ea typeface="Calibri" panose="020F0502020204030204" pitchFamily="34" charset="0"/>
                <a:cs typeface="Times New Roman" panose="02020603050405020304" pitchFamily="18" charset="0"/>
              </a:endParaRPr>
            </a:p>
          </p:txBody>
        </p:sp>
        <p:sp>
          <p:nvSpPr>
            <p:cNvPr id="42" name="Text Box 360147692">
              <a:extLst>
                <a:ext uri="{FF2B5EF4-FFF2-40B4-BE49-F238E27FC236}">
                  <a16:creationId xmlns:a16="http://schemas.microsoft.com/office/drawing/2014/main" id="{F261EEA0-CDA8-7F33-DEA9-CAA2828F8094}"/>
                </a:ext>
              </a:extLst>
            </p:cNvPr>
            <p:cNvSpPr txBox="1"/>
            <p:nvPr/>
          </p:nvSpPr>
          <p:spPr>
            <a:xfrm>
              <a:off x="1280004" y="2107359"/>
              <a:ext cx="776377" cy="707669"/>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Q </a:t>
              </a:r>
              <a:br>
                <a:rPr lang="en-US" dirty="0">
                  <a:effectLst/>
                  <a:latin typeface="Calibri" panose="020F0502020204030204" pitchFamily="34" charset="0"/>
                  <a:ea typeface="Calibri" panose="020F0502020204030204" pitchFamily="34" charset="0"/>
                  <a:cs typeface="Times New Roman" panose="02020603050405020304" pitchFamily="18" charset="0"/>
                </a:rPr>
              </a:br>
              <a:r>
                <a:rPr lang="en-US" dirty="0">
                  <a:effectLst/>
                  <a:latin typeface="Calibri" panose="020F0502020204030204" pitchFamily="34" charset="0"/>
                  <a:ea typeface="Calibri" panose="020F0502020204030204" pitchFamily="34" charset="0"/>
                  <a:cs typeface="Times New Roman" panose="02020603050405020304" pitchFamily="18" charset="0"/>
                </a:rPr>
                <a:t>Family Trust</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3" name="Graphic 253354880" descr="Store outline">
              <a:extLst>
                <a:ext uri="{FF2B5EF4-FFF2-40B4-BE49-F238E27FC236}">
                  <a16:creationId xmlns:a16="http://schemas.microsoft.com/office/drawing/2014/main" id="{6BF87DB0-C3B7-94A6-1EB0-E659B746B6D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29994" y="2061713"/>
              <a:ext cx="485734" cy="485734"/>
            </a:xfrm>
            <a:prstGeom prst="rect">
              <a:avLst/>
            </a:prstGeom>
          </p:spPr>
        </p:pic>
        <p:cxnSp>
          <p:nvCxnSpPr>
            <p:cNvPr id="44" name="Straight Arrow Connector 43">
              <a:extLst>
                <a:ext uri="{FF2B5EF4-FFF2-40B4-BE49-F238E27FC236}">
                  <a16:creationId xmlns:a16="http://schemas.microsoft.com/office/drawing/2014/main" id="{81F1AD97-21B5-FBC1-CC4E-734914447ADB}"/>
                </a:ext>
              </a:extLst>
            </p:cNvPr>
            <p:cNvCxnSpPr/>
            <p:nvPr/>
          </p:nvCxnSpPr>
          <p:spPr>
            <a:xfrm>
              <a:off x="1932317" y="2329132"/>
              <a:ext cx="497677"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45" name="Text Box 1">
              <a:extLst>
                <a:ext uri="{FF2B5EF4-FFF2-40B4-BE49-F238E27FC236}">
                  <a16:creationId xmlns:a16="http://schemas.microsoft.com/office/drawing/2014/main" id="{F4705C42-9CD3-7B7E-824A-BE68AD9A410D}"/>
                </a:ext>
              </a:extLst>
            </p:cNvPr>
            <p:cNvSpPr txBox="1"/>
            <p:nvPr/>
          </p:nvSpPr>
          <p:spPr>
            <a:xfrm>
              <a:off x="2241263" y="2508750"/>
              <a:ext cx="872873" cy="46723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commercial property</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46" name="Straight Arrow Connector 45">
              <a:extLst>
                <a:ext uri="{FF2B5EF4-FFF2-40B4-BE49-F238E27FC236}">
                  <a16:creationId xmlns:a16="http://schemas.microsoft.com/office/drawing/2014/main" id="{11632428-65D4-8B62-C231-908DC2CA11B5}"/>
                </a:ext>
              </a:extLst>
            </p:cNvPr>
            <p:cNvCxnSpPr/>
            <p:nvPr/>
          </p:nvCxnSpPr>
          <p:spPr>
            <a:xfrm flipV="1">
              <a:off x="2881223" y="1811454"/>
              <a:ext cx="610849" cy="5263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5EF21DC3-95BC-A0FF-2190-CC7B133C1A31}"/>
                </a:ext>
              </a:extLst>
            </p:cNvPr>
            <p:cNvCxnSpPr/>
            <p:nvPr/>
          </p:nvCxnSpPr>
          <p:spPr>
            <a:xfrm flipV="1">
              <a:off x="1889185" y="1552675"/>
              <a:ext cx="1602651" cy="612555"/>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48" name="Text Box 1">
              <a:extLst>
                <a:ext uri="{FF2B5EF4-FFF2-40B4-BE49-F238E27FC236}">
                  <a16:creationId xmlns:a16="http://schemas.microsoft.com/office/drawing/2014/main" id="{8B12A147-09B0-453F-E8BE-1B8FB10617B4}"/>
                </a:ext>
              </a:extLst>
            </p:cNvPr>
            <p:cNvSpPr txBox="1"/>
            <p:nvPr/>
          </p:nvSpPr>
          <p:spPr>
            <a:xfrm>
              <a:off x="3114139" y="2052878"/>
              <a:ext cx="536486" cy="31178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rent</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9" name="Graphic 669269233" descr="Dollar with solid fill">
              <a:extLst>
                <a:ext uri="{FF2B5EF4-FFF2-40B4-BE49-F238E27FC236}">
                  <a16:creationId xmlns:a16="http://schemas.microsoft.com/office/drawing/2014/main" id="{FBAA196C-FA24-54DD-DBE2-08A792AFF21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697611" y="1506966"/>
              <a:ext cx="218117" cy="218117"/>
            </a:xfrm>
            <a:prstGeom prst="rect">
              <a:avLst/>
            </a:prstGeom>
          </p:spPr>
        </p:pic>
        <p:sp>
          <p:nvSpPr>
            <p:cNvPr id="59" name="Rectangle 58">
              <a:extLst>
                <a:ext uri="{FF2B5EF4-FFF2-40B4-BE49-F238E27FC236}">
                  <a16:creationId xmlns:a16="http://schemas.microsoft.com/office/drawing/2014/main" id="{D38232A7-C017-33A6-EB43-07F7D987C1D8}"/>
                </a:ext>
              </a:extLst>
            </p:cNvPr>
            <p:cNvSpPr/>
            <p:nvPr/>
          </p:nvSpPr>
          <p:spPr>
            <a:xfrm>
              <a:off x="3544302" y="1410195"/>
              <a:ext cx="715645" cy="482600"/>
            </a:xfrm>
            <a:prstGeom prst="rect">
              <a:avLst/>
            </a:prstGeom>
            <a:ln/>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dirty="0">
                  <a:effectLst/>
                  <a:ea typeface="Calibri" panose="020F0502020204030204" pitchFamily="34" charset="0"/>
                  <a:cs typeface="Times New Roman" panose="02020603050405020304" pitchFamily="18" charset="0"/>
                </a:rPr>
                <a:t>Q2 Pty Ltd</a:t>
              </a:r>
              <a:endParaRPr lang="en-AU" dirty="0">
                <a:effectLst/>
                <a:ea typeface="Calibri" panose="020F0502020204030204" pitchFamily="34" charset="0"/>
                <a:cs typeface="Times New Roman" panose="02020603050405020304" pitchFamily="18" charset="0"/>
              </a:endParaRPr>
            </a:p>
          </p:txBody>
        </p:sp>
        <p:cxnSp>
          <p:nvCxnSpPr>
            <p:cNvPr id="62" name="Straight Arrow Connector 61">
              <a:extLst>
                <a:ext uri="{FF2B5EF4-FFF2-40B4-BE49-F238E27FC236}">
                  <a16:creationId xmlns:a16="http://schemas.microsoft.com/office/drawing/2014/main" id="{8A1B6A9E-6601-17E6-DD57-EF6C78A09C07}"/>
                </a:ext>
              </a:extLst>
            </p:cNvPr>
            <p:cNvCxnSpPr/>
            <p:nvPr/>
          </p:nvCxnSpPr>
          <p:spPr>
            <a:xfrm>
              <a:off x="3906887" y="996175"/>
              <a:ext cx="0" cy="413385"/>
            </a:xfrm>
            <a:prstGeom prst="straightConnector1">
              <a:avLst/>
            </a:prstGeom>
            <a:ln>
              <a:tailEnd type="triangle"/>
            </a:ln>
          </p:spPr>
          <p:style>
            <a:lnRef idx="1">
              <a:schemeClr val="accent2"/>
            </a:lnRef>
            <a:fillRef idx="2">
              <a:schemeClr val="accent2"/>
            </a:fillRef>
            <a:effectRef idx="1">
              <a:schemeClr val="accent2"/>
            </a:effectRef>
            <a:fontRef idx="minor">
              <a:schemeClr val="dk1"/>
            </a:fontRef>
          </p:style>
        </p:cxnSp>
        <p:pic>
          <p:nvPicPr>
            <p:cNvPr id="63" name="Graphic 218655342" descr="Man outline">
              <a:extLst>
                <a:ext uri="{FF2B5EF4-FFF2-40B4-BE49-F238E27FC236}">
                  <a16:creationId xmlns:a16="http://schemas.microsoft.com/office/drawing/2014/main" id="{7B4F3441-AE41-1D47-6175-ECF64166B63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552093" y="529479"/>
              <a:ext cx="419343" cy="419343"/>
            </a:xfrm>
            <a:prstGeom prst="rect">
              <a:avLst/>
            </a:prstGeom>
          </p:spPr>
        </p:pic>
        <p:pic>
          <p:nvPicPr>
            <p:cNvPr id="64" name="Graphic 183613632" descr="Woman outline">
              <a:extLst>
                <a:ext uri="{FF2B5EF4-FFF2-40B4-BE49-F238E27FC236}">
                  <a16:creationId xmlns:a16="http://schemas.microsoft.com/office/drawing/2014/main" id="{D849D275-34FD-A013-F8D0-9C3E97AE636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980553" y="520736"/>
              <a:ext cx="419343" cy="419343"/>
            </a:xfrm>
            <a:prstGeom prst="rect">
              <a:avLst/>
            </a:prstGeom>
          </p:spPr>
        </p:pic>
        <p:cxnSp>
          <p:nvCxnSpPr>
            <p:cNvPr id="65" name="Straight Arrow Connector 64">
              <a:extLst>
                <a:ext uri="{FF2B5EF4-FFF2-40B4-BE49-F238E27FC236}">
                  <a16:creationId xmlns:a16="http://schemas.microsoft.com/office/drawing/2014/main" id="{E9B3DED1-04F1-462D-9323-E93361578339}"/>
                </a:ext>
              </a:extLst>
            </p:cNvPr>
            <p:cNvCxnSpPr/>
            <p:nvPr/>
          </p:nvCxnSpPr>
          <p:spPr>
            <a:xfrm flipH="1">
              <a:off x="4259098" y="966158"/>
              <a:ext cx="847740" cy="453947"/>
            </a:xfrm>
            <a:prstGeom prst="straightConnector1">
              <a:avLst/>
            </a:prstGeom>
            <a:ln>
              <a:tailEnd type="triangle"/>
            </a:ln>
          </p:spPr>
          <p:style>
            <a:lnRef idx="1">
              <a:schemeClr val="accent2"/>
            </a:lnRef>
            <a:fillRef idx="2">
              <a:schemeClr val="accent2"/>
            </a:fillRef>
            <a:effectRef idx="1">
              <a:schemeClr val="accent2"/>
            </a:effectRef>
            <a:fontRef idx="minor">
              <a:schemeClr val="dk1"/>
            </a:fontRef>
          </p:style>
        </p:cxnSp>
        <p:sp>
          <p:nvSpPr>
            <p:cNvPr id="66" name="Text Box 1">
              <a:extLst>
                <a:ext uri="{FF2B5EF4-FFF2-40B4-BE49-F238E27FC236}">
                  <a16:creationId xmlns:a16="http://schemas.microsoft.com/office/drawing/2014/main" id="{CB06E8B1-013D-AFCE-0005-94B2502137BF}"/>
                </a:ext>
              </a:extLst>
            </p:cNvPr>
            <p:cNvSpPr txBox="1"/>
            <p:nvPr/>
          </p:nvSpPr>
          <p:spPr>
            <a:xfrm>
              <a:off x="180000" y="180000"/>
              <a:ext cx="575310" cy="27495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r">
                <a:lnSpc>
                  <a:spcPct val="115000"/>
                </a:lnSpc>
                <a:spcAft>
                  <a:spcPts val="1000"/>
                </a:spcAft>
              </a:pP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67" name="Straight Arrow Connector 66">
              <a:extLst>
                <a:ext uri="{FF2B5EF4-FFF2-40B4-BE49-F238E27FC236}">
                  <a16:creationId xmlns:a16="http://schemas.microsoft.com/office/drawing/2014/main" id="{42027A30-7351-5304-B1F1-AA45E9BCBD48}"/>
                </a:ext>
              </a:extLst>
            </p:cNvPr>
            <p:cNvCxnSpPr/>
            <p:nvPr/>
          </p:nvCxnSpPr>
          <p:spPr>
            <a:xfrm flipH="1">
              <a:off x="4111845" y="966108"/>
              <a:ext cx="598178" cy="443952"/>
            </a:xfrm>
            <a:prstGeom prst="straightConnector1">
              <a:avLst/>
            </a:prstGeom>
            <a:ln>
              <a:tailEnd type="triangle"/>
            </a:ln>
          </p:spPr>
          <p:style>
            <a:lnRef idx="1">
              <a:schemeClr val="accent2"/>
            </a:lnRef>
            <a:fillRef idx="2">
              <a:schemeClr val="accent2"/>
            </a:fillRef>
            <a:effectRef idx="1">
              <a:schemeClr val="accent2"/>
            </a:effectRef>
            <a:fontRef idx="minor">
              <a:schemeClr val="dk1"/>
            </a:fontRef>
          </p:style>
        </p:cxnSp>
        <p:pic>
          <p:nvPicPr>
            <p:cNvPr id="68" name="Graphic 1" descr="Man outline">
              <a:extLst>
                <a:ext uri="{FF2B5EF4-FFF2-40B4-BE49-F238E27FC236}">
                  <a16:creationId xmlns:a16="http://schemas.microsoft.com/office/drawing/2014/main" id="{4FA9E296-CACA-A50F-B9DD-B0395995280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121492" y="521009"/>
              <a:ext cx="419100" cy="419100"/>
            </a:xfrm>
            <a:prstGeom prst="rect">
              <a:avLst/>
            </a:prstGeom>
          </p:spPr>
        </p:pic>
        <p:cxnSp>
          <p:nvCxnSpPr>
            <p:cNvPr id="69" name="Straight Arrow Connector 68">
              <a:extLst>
                <a:ext uri="{FF2B5EF4-FFF2-40B4-BE49-F238E27FC236}">
                  <a16:creationId xmlns:a16="http://schemas.microsoft.com/office/drawing/2014/main" id="{8145B39F-1146-4A43-0740-046AA75D3D13}"/>
                </a:ext>
              </a:extLst>
            </p:cNvPr>
            <p:cNvCxnSpPr/>
            <p:nvPr/>
          </p:nvCxnSpPr>
          <p:spPr>
            <a:xfrm flipH="1">
              <a:off x="3983980" y="996124"/>
              <a:ext cx="329228" cy="413324"/>
            </a:xfrm>
            <a:prstGeom prst="straightConnector1">
              <a:avLst/>
            </a:prstGeom>
            <a:ln>
              <a:tailEnd type="triangle"/>
            </a:ln>
          </p:spPr>
          <p:style>
            <a:lnRef idx="1">
              <a:schemeClr val="accent2"/>
            </a:lnRef>
            <a:fillRef idx="2">
              <a:schemeClr val="accent2"/>
            </a:fillRef>
            <a:effectRef idx="1">
              <a:schemeClr val="accent2"/>
            </a:effectRef>
            <a:fontRef idx="minor">
              <a:schemeClr val="dk1"/>
            </a:fontRef>
          </p:style>
        </p:cxnSp>
      </p:grpSp>
      <p:sp>
        <p:nvSpPr>
          <p:cNvPr id="6" name="TextBox 5">
            <a:extLst>
              <a:ext uri="{FF2B5EF4-FFF2-40B4-BE49-F238E27FC236}">
                <a16:creationId xmlns:a16="http://schemas.microsoft.com/office/drawing/2014/main" id="{D822E20B-FE98-7B82-FC69-EAB11AEDAE02}"/>
              </a:ext>
            </a:extLst>
          </p:cNvPr>
          <p:cNvSpPr txBox="1"/>
          <p:nvPr/>
        </p:nvSpPr>
        <p:spPr>
          <a:xfrm>
            <a:off x="2183126" y="1877017"/>
            <a:ext cx="3348000" cy="392159"/>
          </a:xfrm>
          <a:prstGeom prst="rect">
            <a:avLst/>
          </a:prstGeom>
          <a:noFill/>
        </p:spPr>
        <p:txBody>
          <a:bodyPr wrap="square">
            <a:spAutoFit/>
          </a:bodyPr>
          <a:lstStyle/>
          <a:p>
            <a:pPr algn="ct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Quentin</a:t>
            </a:r>
          </a:p>
        </p:txBody>
      </p:sp>
      <p:sp>
        <p:nvSpPr>
          <p:cNvPr id="7" name="Text Box 1">
            <a:extLst>
              <a:ext uri="{FF2B5EF4-FFF2-40B4-BE49-F238E27FC236}">
                <a16:creationId xmlns:a16="http://schemas.microsoft.com/office/drawing/2014/main" id="{526E4285-9AC6-3DCB-EBD2-99183656E82F}"/>
              </a:ext>
            </a:extLst>
          </p:cNvPr>
          <p:cNvSpPr txBox="1"/>
          <p:nvPr/>
        </p:nvSpPr>
        <p:spPr>
          <a:xfrm>
            <a:off x="7271633" y="1803774"/>
            <a:ext cx="1264220" cy="324689"/>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Queenie</a:t>
            </a:r>
          </a:p>
        </p:txBody>
      </p:sp>
      <p:sp>
        <p:nvSpPr>
          <p:cNvPr id="4" name="Arrow: Left 3">
            <a:extLst>
              <a:ext uri="{FF2B5EF4-FFF2-40B4-BE49-F238E27FC236}">
                <a16:creationId xmlns:a16="http://schemas.microsoft.com/office/drawing/2014/main" id="{8CED36E1-F5E4-C44C-2733-FE61CFA2A0A3}"/>
              </a:ext>
            </a:extLst>
          </p:cNvPr>
          <p:cNvSpPr/>
          <p:nvPr/>
        </p:nvSpPr>
        <p:spPr>
          <a:xfrm>
            <a:off x="4236564" y="2522501"/>
            <a:ext cx="3569246" cy="228196"/>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sp>
        <p:nvSpPr>
          <p:cNvPr id="8" name="TextBox 7">
            <a:extLst>
              <a:ext uri="{FF2B5EF4-FFF2-40B4-BE49-F238E27FC236}">
                <a16:creationId xmlns:a16="http://schemas.microsoft.com/office/drawing/2014/main" id="{B7B4EB9E-AD1B-ED1A-9B93-ABBD1BDF718C}"/>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16</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421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8D4A-345E-485C-8FC6-3E26F406BD15}"/>
              </a:ext>
            </a:extLst>
          </p:cNvPr>
          <p:cNvSpPr>
            <a:spLocks noGrp="1"/>
          </p:cNvSpPr>
          <p:nvPr>
            <p:ph type="title"/>
          </p:nvPr>
        </p:nvSpPr>
        <p:spPr>
          <a:xfrm>
            <a:off x="838200" y="531182"/>
            <a:ext cx="10944000" cy="774358"/>
          </a:xfrm>
        </p:spPr>
        <p:txBody>
          <a:bodyPr>
            <a:normAutofit/>
          </a:bodyPr>
          <a:lstStyle/>
          <a:p>
            <a:r>
              <a:rPr lang="en-AU" dirty="0">
                <a:solidFill>
                  <a:srgbClr val="000000"/>
                </a:solidFill>
                <a:effectLst/>
                <a:ea typeface="Calibri Light" panose="020F0302020204030204" pitchFamily="34" charset="0"/>
                <a:cs typeface="Calibri Light" panose="020F0302020204030204" pitchFamily="34" charset="0"/>
              </a:rPr>
              <a:t>Scenario 2e — </a:t>
            </a:r>
            <a:r>
              <a:rPr lang="en-US" dirty="0">
                <a:effectLst/>
                <a:ea typeface="Times New Roman" panose="02020603050405020304" pitchFamily="18" charset="0"/>
                <a:cs typeface="Times New Roman" panose="02020603050405020304" pitchFamily="18" charset="0"/>
              </a:rPr>
              <a:t>Patrick turned 18 years old on 1 April 2023</a:t>
            </a:r>
            <a:endParaRPr lang="en-AU" sz="3200" dirty="0"/>
          </a:p>
        </p:txBody>
      </p:sp>
      <p:grpSp>
        <p:nvGrpSpPr>
          <p:cNvPr id="8" name="Canvas 1875491070">
            <a:extLst>
              <a:ext uri="{FF2B5EF4-FFF2-40B4-BE49-F238E27FC236}">
                <a16:creationId xmlns:a16="http://schemas.microsoft.com/office/drawing/2014/main" id="{68F34AE9-D4B5-DEBB-F1EC-B434B6EC9171}"/>
              </a:ext>
            </a:extLst>
          </p:cNvPr>
          <p:cNvGrpSpPr/>
          <p:nvPr/>
        </p:nvGrpSpPr>
        <p:grpSpPr>
          <a:xfrm>
            <a:off x="858000" y="1452854"/>
            <a:ext cx="10476000" cy="4644000"/>
            <a:chOff x="0" y="0"/>
            <a:chExt cx="5619115" cy="3277870"/>
          </a:xfrm>
        </p:grpSpPr>
        <p:sp>
          <p:nvSpPr>
            <p:cNvPr id="9" name="Rectangle 8">
              <a:extLst>
                <a:ext uri="{FF2B5EF4-FFF2-40B4-BE49-F238E27FC236}">
                  <a16:creationId xmlns:a16="http://schemas.microsoft.com/office/drawing/2014/main" id="{57BF11C6-74C0-80BD-216F-78BDC6F3F9F9}"/>
                </a:ext>
              </a:extLst>
            </p:cNvPr>
            <p:cNvSpPr/>
            <p:nvPr/>
          </p:nvSpPr>
          <p:spPr>
            <a:xfrm>
              <a:off x="0" y="0"/>
              <a:ext cx="5619115" cy="3277870"/>
            </a:xfrm>
            <a:prstGeom prst="rect">
              <a:avLst/>
            </a:prstGeom>
            <a:solidFill>
              <a:prstClr val="white"/>
            </a:solidFill>
            <a:ln>
              <a:solidFill>
                <a:schemeClr val="dk1"/>
              </a:solidFill>
            </a:ln>
          </p:spPr>
          <p:txBody>
            <a:bodyPr/>
            <a:lstStyle/>
            <a:p>
              <a:endParaRPr lang="en-AU" dirty="0"/>
            </a:p>
          </p:txBody>
        </p:sp>
        <p:sp>
          <p:nvSpPr>
            <p:cNvPr id="10" name="Text Box 1">
              <a:extLst>
                <a:ext uri="{FF2B5EF4-FFF2-40B4-BE49-F238E27FC236}">
                  <a16:creationId xmlns:a16="http://schemas.microsoft.com/office/drawing/2014/main" id="{675E6E0F-CDDD-196B-5497-DBE2C7BDA9F2}"/>
                </a:ext>
              </a:extLst>
            </p:cNvPr>
            <p:cNvSpPr txBox="1"/>
            <p:nvPr/>
          </p:nvSpPr>
          <p:spPr>
            <a:xfrm>
              <a:off x="3397535" y="179982"/>
              <a:ext cx="777650" cy="2413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 Box 1">
              <a:extLst>
                <a:ext uri="{FF2B5EF4-FFF2-40B4-BE49-F238E27FC236}">
                  <a16:creationId xmlns:a16="http://schemas.microsoft.com/office/drawing/2014/main" id="{0C681C8E-BCFC-797E-42A5-AB06BD9255A3}"/>
                </a:ext>
              </a:extLst>
            </p:cNvPr>
            <p:cNvSpPr txBox="1"/>
            <p:nvPr/>
          </p:nvSpPr>
          <p:spPr>
            <a:xfrm>
              <a:off x="4548172" y="83133"/>
              <a:ext cx="884474" cy="419342"/>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Queenie’s siblings</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 Box 1">
              <a:extLst>
                <a:ext uri="{FF2B5EF4-FFF2-40B4-BE49-F238E27FC236}">
                  <a16:creationId xmlns:a16="http://schemas.microsoft.com/office/drawing/2014/main" id="{20A105EB-ADB7-DD1E-3806-53980B1ED235}"/>
                </a:ext>
              </a:extLst>
            </p:cNvPr>
            <p:cNvSpPr txBox="1"/>
            <p:nvPr/>
          </p:nvSpPr>
          <p:spPr>
            <a:xfrm>
              <a:off x="3994082" y="67635"/>
              <a:ext cx="715941" cy="465993"/>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Patrick</a:t>
              </a:r>
              <a:br>
                <a:rPr lang="en-US" sz="1600" dirty="0">
                  <a:effectLst/>
                  <a:latin typeface="Calibri" panose="020F0502020204030204" pitchFamily="34" charset="0"/>
                  <a:ea typeface="Calibri" panose="020F0502020204030204" pitchFamily="34" charset="0"/>
                  <a:cs typeface="Times New Roman" panose="02020603050405020304" pitchFamily="18" charset="0"/>
                </a:rPr>
              </a:br>
              <a:r>
                <a:rPr lang="en-US" sz="1600" dirty="0">
                  <a:effectLst/>
                  <a:latin typeface="Calibri" panose="020F0502020204030204" pitchFamily="34" charset="0"/>
                  <a:ea typeface="Calibri" panose="020F0502020204030204" pitchFamily="34" charset="0"/>
                  <a:cs typeface="Times New Roman" panose="02020603050405020304" pitchFamily="18" charset="0"/>
                </a:rPr>
                <a:t>(minor)</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 Box 1">
              <a:extLst>
                <a:ext uri="{FF2B5EF4-FFF2-40B4-BE49-F238E27FC236}">
                  <a16:creationId xmlns:a16="http://schemas.microsoft.com/office/drawing/2014/main" id="{25FA616E-2277-3F24-9D10-385114A801CF}"/>
                </a:ext>
              </a:extLst>
            </p:cNvPr>
            <p:cNvSpPr txBox="1"/>
            <p:nvPr/>
          </p:nvSpPr>
          <p:spPr>
            <a:xfrm>
              <a:off x="4657944" y="1066390"/>
              <a:ext cx="793950" cy="349104"/>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25% each</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 Box 1">
              <a:extLst>
                <a:ext uri="{FF2B5EF4-FFF2-40B4-BE49-F238E27FC236}">
                  <a16:creationId xmlns:a16="http://schemas.microsoft.com/office/drawing/2014/main" id="{431AD8CD-AF3C-4D33-6369-F18C9A1CD5F4}"/>
                </a:ext>
              </a:extLst>
            </p:cNvPr>
            <p:cNvSpPr txBox="1"/>
            <p:nvPr/>
          </p:nvSpPr>
          <p:spPr>
            <a:xfrm>
              <a:off x="2069149" y="426586"/>
              <a:ext cx="1372235" cy="506948"/>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deemed affiliate</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 Box 1">
              <a:extLst>
                <a:ext uri="{FF2B5EF4-FFF2-40B4-BE49-F238E27FC236}">
                  <a16:creationId xmlns:a16="http://schemas.microsoft.com/office/drawing/2014/main" id="{29ECAEC6-B2B1-3FB6-C5FC-C2E69E6F12D7}"/>
                </a:ext>
              </a:extLst>
            </p:cNvPr>
            <p:cNvSpPr txBox="1"/>
            <p:nvPr/>
          </p:nvSpPr>
          <p:spPr>
            <a:xfrm>
              <a:off x="266252" y="586380"/>
              <a:ext cx="1372767" cy="29337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carries on a business</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Text Box 1512531221">
              <a:extLst>
                <a:ext uri="{FF2B5EF4-FFF2-40B4-BE49-F238E27FC236}">
                  <a16:creationId xmlns:a16="http://schemas.microsoft.com/office/drawing/2014/main" id="{79B31B26-5A8E-2A76-E64A-9AD7AD23E37D}"/>
                </a:ext>
              </a:extLst>
            </p:cNvPr>
            <p:cNvSpPr txBox="1"/>
            <p:nvPr/>
          </p:nvSpPr>
          <p:spPr>
            <a:xfrm>
              <a:off x="1121434" y="1078245"/>
              <a:ext cx="560611" cy="276102"/>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r">
                <a:lnSpc>
                  <a:spcPct val="115000"/>
                </a:lnSpc>
                <a:spcAft>
                  <a:spcPts val="10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100%</a:t>
              </a: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7" name="Graphic 160988476" descr="Man with solid fill">
              <a:extLst>
                <a:ext uri="{FF2B5EF4-FFF2-40B4-BE49-F238E27FC236}">
                  <a16:creationId xmlns:a16="http://schemas.microsoft.com/office/drawing/2014/main" id="{B46C758B-4AE1-BB05-2B0A-070FB840C4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55294" y="534838"/>
              <a:ext cx="413984" cy="413984"/>
            </a:xfrm>
            <a:prstGeom prst="rect">
              <a:avLst/>
            </a:prstGeom>
          </p:spPr>
        </p:pic>
        <p:pic>
          <p:nvPicPr>
            <p:cNvPr id="18" name="Graphic 896340563" descr="Woman with solid fill">
              <a:extLst>
                <a:ext uri="{FF2B5EF4-FFF2-40B4-BE49-F238E27FC236}">
                  <a16:creationId xmlns:a16="http://schemas.microsoft.com/office/drawing/2014/main" id="{A785847D-2379-5363-2F9F-7A705ABCAF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07496" y="517501"/>
              <a:ext cx="413984" cy="413984"/>
            </a:xfrm>
            <a:prstGeom prst="rect">
              <a:avLst/>
            </a:prstGeom>
          </p:spPr>
        </p:pic>
        <p:sp>
          <p:nvSpPr>
            <p:cNvPr id="19" name="Text Box 69800496">
              <a:extLst>
                <a:ext uri="{FF2B5EF4-FFF2-40B4-BE49-F238E27FC236}">
                  <a16:creationId xmlns:a16="http://schemas.microsoft.com/office/drawing/2014/main" id="{627034CB-80A4-A6BA-C7EE-614EE8D155A6}"/>
                </a:ext>
              </a:extLst>
            </p:cNvPr>
            <p:cNvSpPr txBox="1"/>
            <p:nvPr/>
          </p:nvSpPr>
          <p:spPr>
            <a:xfrm>
              <a:off x="1268083" y="207034"/>
              <a:ext cx="793630" cy="24154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0" name="Text Box 1">
              <a:extLst>
                <a:ext uri="{FF2B5EF4-FFF2-40B4-BE49-F238E27FC236}">
                  <a16:creationId xmlns:a16="http://schemas.microsoft.com/office/drawing/2014/main" id="{76299461-2F85-9F8D-B9D8-E93359CE81D3}"/>
                </a:ext>
              </a:extLst>
            </p:cNvPr>
            <p:cNvSpPr txBox="1"/>
            <p:nvPr/>
          </p:nvSpPr>
          <p:spPr>
            <a:xfrm>
              <a:off x="4259388" y="1486660"/>
              <a:ext cx="1134901" cy="500643"/>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carries on a business</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1" name="Rectangle 20">
              <a:extLst>
                <a:ext uri="{FF2B5EF4-FFF2-40B4-BE49-F238E27FC236}">
                  <a16:creationId xmlns:a16="http://schemas.microsoft.com/office/drawing/2014/main" id="{E4CC5F72-A322-A999-24DD-6235E8064548}"/>
                </a:ext>
              </a:extLst>
            </p:cNvPr>
            <p:cNvSpPr/>
            <p:nvPr/>
          </p:nvSpPr>
          <p:spPr>
            <a:xfrm>
              <a:off x="1302391" y="1440461"/>
              <a:ext cx="716190" cy="483154"/>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dirty="0">
                  <a:effectLst/>
                  <a:ea typeface="Calibri" panose="020F0502020204030204" pitchFamily="34" charset="0"/>
                  <a:cs typeface="Times New Roman" panose="02020603050405020304" pitchFamily="18" charset="0"/>
                </a:rPr>
                <a:t>Q Co (trustee)</a:t>
              </a:r>
              <a:endParaRPr lang="en-AU" dirty="0">
                <a:effectLst/>
                <a:ea typeface="Calibri" panose="020F0502020204030204" pitchFamily="34" charset="0"/>
                <a:cs typeface="Times New Roman" panose="02020603050405020304" pitchFamily="18" charset="0"/>
              </a:endParaRPr>
            </a:p>
          </p:txBody>
        </p:sp>
        <p:cxnSp>
          <p:nvCxnSpPr>
            <p:cNvPr id="22" name="Straight Arrow Connector 21">
              <a:extLst>
                <a:ext uri="{FF2B5EF4-FFF2-40B4-BE49-F238E27FC236}">
                  <a16:creationId xmlns:a16="http://schemas.microsoft.com/office/drawing/2014/main" id="{0C580393-F8DC-3242-9239-CA38343922CD}"/>
                </a:ext>
              </a:extLst>
            </p:cNvPr>
            <p:cNvCxnSpPr/>
            <p:nvPr/>
          </p:nvCxnSpPr>
          <p:spPr>
            <a:xfrm>
              <a:off x="1664898" y="1026543"/>
              <a:ext cx="0" cy="41384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23" name="Isosceles Triangle 22">
              <a:extLst>
                <a:ext uri="{FF2B5EF4-FFF2-40B4-BE49-F238E27FC236}">
                  <a16:creationId xmlns:a16="http://schemas.microsoft.com/office/drawing/2014/main" id="{B44139D4-0F89-19B8-BEA5-985CABDB7B9A}"/>
                </a:ext>
              </a:extLst>
            </p:cNvPr>
            <p:cNvSpPr/>
            <p:nvPr/>
          </p:nvSpPr>
          <p:spPr>
            <a:xfrm>
              <a:off x="1207618" y="1957892"/>
              <a:ext cx="931208" cy="707670"/>
            </a:xfrm>
            <a:prstGeom prst="triangle">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100" dirty="0">
                  <a:effectLst/>
                  <a:ea typeface="Calibri" panose="020F0502020204030204" pitchFamily="34" charset="0"/>
                  <a:cs typeface="Times New Roman" panose="02020603050405020304" pitchFamily="18" charset="0"/>
                </a:rPr>
                <a:t> </a:t>
              </a:r>
              <a:endParaRPr lang="en-AU" sz="1100" dirty="0">
                <a:effectLst/>
                <a:ea typeface="Calibri" panose="020F0502020204030204" pitchFamily="34" charset="0"/>
                <a:cs typeface="Times New Roman" panose="02020603050405020304" pitchFamily="18" charset="0"/>
              </a:endParaRPr>
            </a:p>
          </p:txBody>
        </p:sp>
        <p:sp>
          <p:nvSpPr>
            <p:cNvPr id="24" name="Text Box 360147692">
              <a:extLst>
                <a:ext uri="{FF2B5EF4-FFF2-40B4-BE49-F238E27FC236}">
                  <a16:creationId xmlns:a16="http://schemas.microsoft.com/office/drawing/2014/main" id="{3DE6B660-DFA3-9049-23FA-8919F2DF163B}"/>
                </a:ext>
              </a:extLst>
            </p:cNvPr>
            <p:cNvSpPr txBox="1"/>
            <p:nvPr/>
          </p:nvSpPr>
          <p:spPr>
            <a:xfrm>
              <a:off x="1280004" y="2107359"/>
              <a:ext cx="776377" cy="707669"/>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Q </a:t>
              </a:r>
              <a:br>
                <a:rPr lang="en-US" dirty="0">
                  <a:effectLst/>
                  <a:latin typeface="Calibri" panose="020F0502020204030204" pitchFamily="34" charset="0"/>
                  <a:ea typeface="Calibri" panose="020F0502020204030204" pitchFamily="34" charset="0"/>
                  <a:cs typeface="Times New Roman" panose="02020603050405020304" pitchFamily="18" charset="0"/>
                </a:rPr>
              </a:br>
              <a:r>
                <a:rPr lang="en-US" dirty="0">
                  <a:effectLst/>
                  <a:latin typeface="Calibri" panose="020F0502020204030204" pitchFamily="34" charset="0"/>
                  <a:ea typeface="Calibri" panose="020F0502020204030204" pitchFamily="34" charset="0"/>
                  <a:cs typeface="Times New Roman" panose="02020603050405020304" pitchFamily="18" charset="0"/>
                </a:rPr>
                <a:t>Family Trust</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5" name="Graphic 253354880" descr="Store outline">
              <a:extLst>
                <a:ext uri="{FF2B5EF4-FFF2-40B4-BE49-F238E27FC236}">
                  <a16:creationId xmlns:a16="http://schemas.microsoft.com/office/drawing/2014/main" id="{59A07FF5-7F39-A6BF-3CA0-0EE97E59EF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29994" y="2061713"/>
              <a:ext cx="485734" cy="485734"/>
            </a:xfrm>
            <a:prstGeom prst="rect">
              <a:avLst/>
            </a:prstGeom>
          </p:spPr>
        </p:pic>
        <p:cxnSp>
          <p:nvCxnSpPr>
            <p:cNvPr id="50" name="Straight Arrow Connector 49">
              <a:extLst>
                <a:ext uri="{FF2B5EF4-FFF2-40B4-BE49-F238E27FC236}">
                  <a16:creationId xmlns:a16="http://schemas.microsoft.com/office/drawing/2014/main" id="{E505DA80-C399-891A-9174-17C4ADA1E3BE}"/>
                </a:ext>
              </a:extLst>
            </p:cNvPr>
            <p:cNvCxnSpPr/>
            <p:nvPr/>
          </p:nvCxnSpPr>
          <p:spPr>
            <a:xfrm>
              <a:off x="1932317" y="2329132"/>
              <a:ext cx="497677"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51" name="Text Box 1">
              <a:extLst>
                <a:ext uri="{FF2B5EF4-FFF2-40B4-BE49-F238E27FC236}">
                  <a16:creationId xmlns:a16="http://schemas.microsoft.com/office/drawing/2014/main" id="{1B942263-19EE-4787-429A-CE06205A19B0}"/>
                </a:ext>
              </a:extLst>
            </p:cNvPr>
            <p:cNvSpPr txBox="1"/>
            <p:nvPr/>
          </p:nvSpPr>
          <p:spPr>
            <a:xfrm>
              <a:off x="2241263" y="2508750"/>
              <a:ext cx="872873" cy="46723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commercial property</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52" name="Straight Arrow Connector 51">
              <a:extLst>
                <a:ext uri="{FF2B5EF4-FFF2-40B4-BE49-F238E27FC236}">
                  <a16:creationId xmlns:a16="http://schemas.microsoft.com/office/drawing/2014/main" id="{D60796E9-494D-78F7-688D-609BBA5B197A}"/>
                </a:ext>
              </a:extLst>
            </p:cNvPr>
            <p:cNvCxnSpPr/>
            <p:nvPr/>
          </p:nvCxnSpPr>
          <p:spPr>
            <a:xfrm flipV="1">
              <a:off x="2881223" y="1811454"/>
              <a:ext cx="610849" cy="5263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9A5C49D0-6A97-719D-5166-6E785ED8EC96}"/>
                </a:ext>
              </a:extLst>
            </p:cNvPr>
            <p:cNvCxnSpPr/>
            <p:nvPr/>
          </p:nvCxnSpPr>
          <p:spPr>
            <a:xfrm flipV="1">
              <a:off x="1889185" y="1552675"/>
              <a:ext cx="1602651" cy="612555"/>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54" name="Text Box 1">
              <a:extLst>
                <a:ext uri="{FF2B5EF4-FFF2-40B4-BE49-F238E27FC236}">
                  <a16:creationId xmlns:a16="http://schemas.microsoft.com/office/drawing/2014/main" id="{4BFD307F-3478-FD02-E823-C35ABF1263DF}"/>
                </a:ext>
              </a:extLst>
            </p:cNvPr>
            <p:cNvSpPr txBox="1"/>
            <p:nvPr/>
          </p:nvSpPr>
          <p:spPr>
            <a:xfrm>
              <a:off x="3114139" y="2052878"/>
              <a:ext cx="536486" cy="31178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rent</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5" name="Graphic 669269233" descr="Dollar with solid fill">
              <a:extLst>
                <a:ext uri="{FF2B5EF4-FFF2-40B4-BE49-F238E27FC236}">
                  <a16:creationId xmlns:a16="http://schemas.microsoft.com/office/drawing/2014/main" id="{9243CFAA-1B4D-E906-D6FF-BF62BFFD471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697611" y="1506966"/>
              <a:ext cx="218117" cy="218117"/>
            </a:xfrm>
            <a:prstGeom prst="rect">
              <a:avLst/>
            </a:prstGeom>
          </p:spPr>
        </p:pic>
        <p:sp>
          <p:nvSpPr>
            <p:cNvPr id="56" name="Rectangle 55">
              <a:extLst>
                <a:ext uri="{FF2B5EF4-FFF2-40B4-BE49-F238E27FC236}">
                  <a16:creationId xmlns:a16="http://schemas.microsoft.com/office/drawing/2014/main" id="{7A1282A1-AAB2-A946-0C8F-D982A2C22767}"/>
                </a:ext>
              </a:extLst>
            </p:cNvPr>
            <p:cNvSpPr/>
            <p:nvPr/>
          </p:nvSpPr>
          <p:spPr>
            <a:xfrm>
              <a:off x="3544302" y="1410195"/>
              <a:ext cx="715645" cy="482600"/>
            </a:xfrm>
            <a:prstGeom prst="rect">
              <a:avLst/>
            </a:prstGeom>
            <a:ln/>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dirty="0">
                  <a:effectLst/>
                  <a:ea typeface="Calibri" panose="020F0502020204030204" pitchFamily="34" charset="0"/>
                  <a:cs typeface="Times New Roman" panose="02020603050405020304" pitchFamily="18" charset="0"/>
                </a:rPr>
                <a:t>Q2 Pty Ltd</a:t>
              </a:r>
              <a:endParaRPr lang="en-AU" dirty="0">
                <a:effectLst/>
                <a:ea typeface="Calibri" panose="020F0502020204030204" pitchFamily="34" charset="0"/>
                <a:cs typeface="Times New Roman" panose="02020603050405020304" pitchFamily="18" charset="0"/>
              </a:endParaRPr>
            </a:p>
          </p:txBody>
        </p:sp>
        <p:cxnSp>
          <p:nvCxnSpPr>
            <p:cNvPr id="57" name="Straight Arrow Connector 56">
              <a:extLst>
                <a:ext uri="{FF2B5EF4-FFF2-40B4-BE49-F238E27FC236}">
                  <a16:creationId xmlns:a16="http://schemas.microsoft.com/office/drawing/2014/main" id="{6B19B896-28C8-94E5-82C7-59467DC093E0}"/>
                </a:ext>
              </a:extLst>
            </p:cNvPr>
            <p:cNvCxnSpPr/>
            <p:nvPr/>
          </p:nvCxnSpPr>
          <p:spPr>
            <a:xfrm>
              <a:off x="3906887" y="996175"/>
              <a:ext cx="0" cy="413385"/>
            </a:xfrm>
            <a:prstGeom prst="straightConnector1">
              <a:avLst/>
            </a:prstGeom>
            <a:ln>
              <a:tailEnd type="triangle"/>
            </a:ln>
          </p:spPr>
          <p:style>
            <a:lnRef idx="1">
              <a:schemeClr val="accent2"/>
            </a:lnRef>
            <a:fillRef idx="2">
              <a:schemeClr val="accent2"/>
            </a:fillRef>
            <a:effectRef idx="1">
              <a:schemeClr val="accent2"/>
            </a:effectRef>
            <a:fontRef idx="minor">
              <a:schemeClr val="dk1"/>
            </a:fontRef>
          </p:style>
        </p:cxnSp>
        <p:pic>
          <p:nvPicPr>
            <p:cNvPr id="58" name="Graphic 218655342" descr="Man outline">
              <a:extLst>
                <a:ext uri="{FF2B5EF4-FFF2-40B4-BE49-F238E27FC236}">
                  <a16:creationId xmlns:a16="http://schemas.microsoft.com/office/drawing/2014/main" id="{C32CAC50-9EC6-DA88-7DF4-25C1826050C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552093" y="529479"/>
              <a:ext cx="419343" cy="419343"/>
            </a:xfrm>
            <a:prstGeom prst="rect">
              <a:avLst/>
            </a:prstGeom>
          </p:spPr>
        </p:pic>
        <p:pic>
          <p:nvPicPr>
            <p:cNvPr id="60" name="Graphic 183613632" descr="Woman outline">
              <a:extLst>
                <a:ext uri="{FF2B5EF4-FFF2-40B4-BE49-F238E27FC236}">
                  <a16:creationId xmlns:a16="http://schemas.microsoft.com/office/drawing/2014/main" id="{CDDAAE3C-9527-B0E1-E342-5885CDD165C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980553" y="520736"/>
              <a:ext cx="419343" cy="419343"/>
            </a:xfrm>
            <a:prstGeom prst="rect">
              <a:avLst/>
            </a:prstGeom>
          </p:spPr>
        </p:pic>
        <p:cxnSp>
          <p:nvCxnSpPr>
            <p:cNvPr id="61" name="Straight Arrow Connector 60">
              <a:extLst>
                <a:ext uri="{FF2B5EF4-FFF2-40B4-BE49-F238E27FC236}">
                  <a16:creationId xmlns:a16="http://schemas.microsoft.com/office/drawing/2014/main" id="{B04BD9BD-D2EB-DE23-65AF-6BD97F474946}"/>
                </a:ext>
              </a:extLst>
            </p:cNvPr>
            <p:cNvCxnSpPr/>
            <p:nvPr/>
          </p:nvCxnSpPr>
          <p:spPr>
            <a:xfrm flipH="1">
              <a:off x="4259098" y="966158"/>
              <a:ext cx="847740" cy="453947"/>
            </a:xfrm>
            <a:prstGeom prst="straightConnector1">
              <a:avLst/>
            </a:prstGeom>
            <a:ln>
              <a:tailEnd type="triangle"/>
            </a:ln>
          </p:spPr>
          <p:style>
            <a:lnRef idx="1">
              <a:schemeClr val="accent2"/>
            </a:lnRef>
            <a:fillRef idx="2">
              <a:schemeClr val="accent2"/>
            </a:fillRef>
            <a:effectRef idx="1">
              <a:schemeClr val="accent2"/>
            </a:effectRef>
            <a:fontRef idx="minor">
              <a:schemeClr val="dk1"/>
            </a:fontRef>
          </p:style>
        </p:cxnSp>
        <p:sp>
          <p:nvSpPr>
            <p:cNvPr id="70" name="Text Box 1">
              <a:extLst>
                <a:ext uri="{FF2B5EF4-FFF2-40B4-BE49-F238E27FC236}">
                  <a16:creationId xmlns:a16="http://schemas.microsoft.com/office/drawing/2014/main" id="{33AC93B0-E641-14DC-8D1F-D6DAC4F80E6F}"/>
                </a:ext>
              </a:extLst>
            </p:cNvPr>
            <p:cNvSpPr txBox="1"/>
            <p:nvPr/>
          </p:nvSpPr>
          <p:spPr>
            <a:xfrm>
              <a:off x="180000" y="180000"/>
              <a:ext cx="575310" cy="27495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r">
                <a:lnSpc>
                  <a:spcPct val="115000"/>
                </a:lnSpc>
                <a:spcAft>
                  <a:spcPts val="1000"/>
                </a:spcAft>
              </a:pP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71" name="Straight Arrow Connector 70">
              <a:extLst>
                <a:ext uri="{FF2B5EF4-FFF2-40B4-BE49-F238E27FC236}">
                  <a16:creationId xmlns:a16="http://schemas.microsoft.com/office/drawing/2014/main" id="{E264D812-67FB-8B79-B029-30007A15E373}"/>
                </a:ext>
              </a:extLst>
            </p:cNvPr>
            <p:cNvCxnSpPr/>
            <p:nvPr/>
          </p:nvCxnSpPr>
          <p:spPr>
            <a:xfrm flipH="1">
              <a:off x="4111845" y="966108"/>
              <a:ext cx="598178" cy="443952"/>
            </a:xfrm>
            <a:prstGeom prst="straightConnector1">
              <a:avLst/>
            </a:prstGeom>
            <a:ln>
              <a:tailEnd type="triangle"/>
            </a:ln>
          </p:spPr>
          <p:style>
            <a:lnRef idx="1">
              <a:schemeClr val="accent2"/>
            </a:lnRef>
            <a:fillRef idx="2">
              <a:schemeClr val="accent2"/>
            </a:fillRef>
            <a:effectRef idx="1">
              <a:schemeClr val="accent2"/>
            </a:effectRef>
            <a:fontRef idx="minor">
              <a:schemeClr val="dk1"/>
            </a:fontRef>
          </p:style>
        </p:cxnSp>
        <p:pic>
          <p:nvPicPr>
            <p:cNvPr id="72" name="Graphic 1" descr="Man outline">
              <a:extLst>
                <a:ext uri="{FF2B5EF4-FFF2-40B4-BE49-F238E27FC236}">
                  <a16:creationId xmlns:a16="http://schemas.microsoft.com/office/drawing/2014/main" id="{ED3263E8-1642-2006-DA43-533CD3A3702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121492" y="521009"/>
              <a:ext cx="419100" cy="419100"/>
            </a:xfrm>
            <a:prstGeom prst="rect">
              <a:avLst/>
            </a:prstGeom>
          </p:spPr>
        </p:pic>
        <p:cxnSp>
          <p:nvCxnSpPr>
            <p:cNvPr id="73" name="Straight Arrow Connector 72">
              <a:extLst>
                <a:ext uri="{FF2B5EF4-FFF2-40B4-BE49-F238E27FC236}">
                  <a16:creationId xmlns:a16="http://schemas.microsoft.com/office/drawing/2014/main" id="{C45D9F39-AE2B-F6CD-32B3-E39E123E2B14}"/>
                </a:ext>
              </a:extLst>
            </p:cNvPr>
            <p:cNvCxnSpPr/>
            <p:nvPr/>
          </p:nvCxnSpPr>
          <p:spPr>
            <a:xfrm flipH="1">
              <a:off x="3983980" y="996124"/>
              <a:ext cx="329228" cy="413324"/>
            </a:xfrm>
            <a:prstGeom prst="straightConnector1">
              <a:avLst/>
            </a:prstGeom>
            <a:ln>
              <a:tailEnd type="triangle"/>
            </a:ln>
          </p:spPr>
          <p:style>
            <a:lnRef idx="1">
              <a:schemeClr val="accent2"/>
            </a:lnRef>
            <a:fillRef idx="2">
              <a:schemeClr val="accent2"/>
            </a:fillRef>
            <a:effectRef idx="1">
              <a:schemeClr val="accent2"/>
            </a:effectRef>
            <a:fontRef idx="minor">
              <a:schemeClr val="dk1"/>
            </a:fontRef>
          </p:style>
        </p:cxnSp>
      </p:grpSp>
      <p:sp>
        <p:nvSpPr>
          <p:cNvPr id="74" name="Arrow: Left 73">
            <a:extLst>
              <a:ext uri="{FF2B5EF4-FFF2-40B4-BE49-F238E27FC236}">
                <a16:creationId xmlns:a16="http://schemas.microsoft.com/office/drawing/2014/main" id="{47C0897F-C5AE-8AB5-D637-5EF40C5168A5}"/>
              </a:ext>
            </a:extLst>
          </p:cNvPr>
          <p:cNvSpPr/>
          <p:nvPr/>
        </p:nvSpPr>
        <p:spPr>
          <a:xfrm>
            <a:off x="4279767" y="2444126"/>
            <a:ext cx="3569246" cy="228196"/>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sp>
        <p:nvSpPr>
          <p:cNvPr id="3" name="TextBox 2">
            <a:extLst>
              <a:ext uri="{FF2B5EF4-FFF2-40B4-BE49-F238E27FC236}">
                <a16:creationId xmlns:a16="http://schemas.microsoft.com/office/drawing/2014/main" id="{98642D9D-E3A0-9DE1-CEE4-D500022BC5C1}"/>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16</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19719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A21D7-9602-4261-A28F-A613EA7F7BC8}"/>
              </a:ext>
            </a:extLst>
          </p:cNvPr>
          <p:cNvSpPr>
            <a:spLocks noGrp="1"/>
          </p:cNvSpPr>
          <p:nvPr>
            <p:ph type="title"/>
          </p:nvPr>
        </p:nvSpPr>
        <p:spPr/>
        <p:txBody>
          <a:bodyPr>
            <a:normAutofit/>
          </a:bodyPr>
          <a:lstStyle/>
          <a:p>
            <a:r>
              <a:rPr lang="en-AU" b="1" dirty="0"/>
              <a:t>Case Study 2 – R&amp;D tax offset</a:t>
            </a:r>
          </a:p>
        </p:txBody>
      </p:sp>
    </p:spTree>
    <p:extLst>
      <p:ext uri="{BB962C8B-B14F-4D97-AF65-F5344CB8AC3E}">
        <p14:creationId xmlns:p14="http://schemas.microsoft.com/office/powerpoint/2010/main" val="7554446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8D4A-345E-485C-8FC6-3E26F406BD15}"/>
              </a:ext>
            </a:extLst>
          </p:cNvPr>
          <p:cNvSpPr>
            <a:spLocks noGrp="1"/>
          </p:cNvSpPr>
          <p:nvPr>
            <p:ph type="title"/>
          </p:nvPr>
        </p:nvSpPr>
        <p:spPr/>
        <p:txBody>
          <a:bodyPr>
            <a:normAutofit/>
          </a:bodyPr>
          <a:lstStyle/>
          <a:p>
            <a:r>
              <a:rPr lang="en-AU" dirty="0"/>
              <a:t>R&amp;D tax offset – Division 355 ITAA 1997</a:t>
            </a:r>
          </a:p>
        </p:txBody>
      </p:sp>
      <p:graphicFrame>
        <p:nvGraphicFramePr>
          <p:cNvPr id="5" name="Table 4">
            <a:extLst>
              <a:ext uri="{FF2B5EF4-FFF2-40B4-BE49-F238E27FC236}">
                <a16:creationId xmlns:a16="http://schemas.microsoft.com/office/drawing/2014/main" id="{9EA9C7B0-F6CA-58AA-21D0-9209176BFBC0}"/>
              </a:ext>
            </a:extLst>
          </p:cNvPr>
          <p:cNvGraphicFramePr>
            <a:graphicFrameLocks noGrp="1"/>
          </p:cNvGraphicFramePr>
          <p:nvPr>
            <p:extLst>
              <p:ext uri="{D42A27DB-BD31-4B8C-83A1-F6EECF244321}">
                <p14:modId xmlns:p14="http://schemas.microsoft.com/office/powerpoint/2010/main" val="3648735278"/>
              </p:ext>
            </p:extLst>
          </p:nvPr>
        </p:nvGraphicFramePr>
        <p:xfrm>
          <a:off x="838200" y="1423826"/>
          <a:ext cx="10620000" cy="4536000"/>
        </p:xfrm>
        <a:graphic>
          <a:graphicData uri="http://schemas.openxmlformats.org/drawingml/2006/table">
            <a:tbl>
              <a:tblPr firstRow="1" firstCol="1" bandRow="1">
                <a:tableStyleId>{5C22544A-7EE6-4342-B048-85BDC9FD1C3A}</a:tableStyleId>
              </a:tblPr>
              <a:tblGrid>
                <a:gridCol w="2164997">
                  <a:extLst>
                    <a:ext uri="{9D8B030D-6E8A-4147-A177-3AD203B41FA5}">
                      <a16:colId xmlns:a16="http://schemas.microsoft.com/office/drawing/2014/main" val="496694721"/>
                    </a:ext>
                  </a:extLst>
                </a:gridCol>
                <a:gridCol w="4820003">
                  <a:extLst>
                    <a:ext uri="{9D8B030D-6E8A-4147-A177-3AD203B41FA5}">
                      <a16:colId xmlns:a16="http://schemas.microsoft.com/office/drawing/2014/main" val="4276809271"/>
                    </a:ext>
                  </a:extLst>
                </a:gridCol>
                <a:gridCol w="3635000">
                  <a:extLst>
                    <a:ext uri="{9D8B030D-6E8A-4147-A177-3AD203B41FA5}">
                      <a16:colId xmlns:a16="http://schemas.microsoft.com/office/drawing/2014/main" val="126958595"/>
                    </a:ext>
                  </a:extLst>
                </a:gridCol>
              </a:tblGrid>
              <a:tr h="419314">
                <a:tc>
                  <a:txBody>
                    <a:bodyPr/>
                    <a:lstStyle/>
                    <a:p>
                      <a:pPr algn="l">
                        <a:spcBef>
                          <a:spcPts val="600"/>
                        </a:spcBef>
                        <a:spcAft>
                          <a:spcPts val="600"/>
                        </a:spcAft>
                      </a:pPr>
                      <a:r>
                        <a:rPr lang="en-US" sz="2400" dirty="0">
                          <a:effectLst/>
                        </a:rPr>
                        <a:t>Type of offset</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chemeClr val="accent2"/>
                    </a:solidFill>
                  </a:tcPr>
                </a:tc>
                <a:tc>
                  <a:txBody>
                    <a:bodyPr/>
                    <a:lstStyle/>
                    <a:p>
                      <a:pPr algn="l">
                        <a:spcBef>
                          <a:spcPts val="600"/>
                        </a:spcBef>
                        <a:spcAft>
                          <a:spcPts val="600"/>
                        </a:spcAft>
                      </a:pPr>
                      <a:r>
                        <a:rPr lang="en-US" sz="2400" dirty="0">
                          <a:effectLst/>
                        </a:rPr>
                        <a:t>Offset rate</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chemeClr val="accent2"/>
                    </a:solidFill>
                  </a:tcPr>
                </a:tc>
                <a:tc>
                  <a:txBody>
                    <a:bodyPr/>
                    <a:lstStyle/>
                    <a:p>
                      <a:pPr algn="l">
                        <a:spcBef>
                          <a:spcPts val="600"/>
                        </a:spcBef>
                        <a:spcAft>
                          <a:spcPts val="600"/>
                        </a:spcAft>
                      </a:pPr>
                      <a:r>
                        <a:rPr lang="en-US" sz="2400" dirty="0">
                          <a:effectLst/>
                        </a:rPr>
                        <a:t>Aggregated turnover</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chemeClr val="accent2"/>
                    </a:solidFill>
                  </a:tcPr>
                </a:tc>
                <a:extLst>
                  <a:ext uri="{0D108BD9-81ED-4DB2-BD59-A6C34878D82A}">
                    <a16:rowId xmlns:a16="http://schemas.microsoft.com/office/drawing/2014/main" val="1978632596"/>
                  </a:ext>
                </a:extLst>
              </a:tr>
              <a:tr h="1639029">
                <a:tc>
                  <a:txBody>
                    <a:bodyPr/>
                    <a:lstStyle/>
                    <a:p>
                      <a:pPr algn="just">
                        <a:spcBef>
                          <a:spcPts val="600"/>
                        </a:spcBef>
                        <a:spcAft>
                          <a:spcPts val="600"/>
                        </a:spcAft>
                      </a:pPr>
                      <a:r>
                        <a:rPr lang="en-US" sz="2400" dirty="0">
                          <a:effectLst/>
                        </a:rPr>
                        <a:t>Refundable </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chemeClr val="accent2"/>
                    </a:solidFill>
                  </a:tcPr>
                </a:tc>
                <a:tc>
                  <a:txBody>
                    <a:bodyPr/>
                    <a:lstStyle/>
                    <a:p>
                      <a:pPr algn="just">
                        <a:spcBef>
                          <a:spcPts val="600"/>
                        </a:spcBef>
                        <a:spcAft>
                          <a:spcPts val="600"/>
                        </a:spcAft>
                      </a:pPr>
                      <a:r>
                        <a:rPr lang="en-US" sz="2400" dirty="0">
                          <a:effectLst/>
                        </a:rPr>
                        <a:t>Entity’s company tax rate + 18.5% of notional deductions</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algn="just">
                        <a:spcBef>
                          <a:spcPts val="600"/>
                        </a:spcBef>
                        <a:spcAft>
                          <a:spcPts val="600"/>
                        </a:spcAft>
                      </a:pPr>
                      <a:r>
                        <a:rPr lang="en-US" sz="2400" b="1" dirty="0">
                          <a:effectLst/>
                        </a:rPr>
                        <a:t>&lt; $20m p.a.</a:t>
                      </a:r>
                      <a:endParaRPr lang="en-AU" sz="2400" b="1" dirty="0">
                        <a:effectLst/>
                      </a:endParaRPr>
                    </a:p>
                    <a:p>
                      <a:pPr algn="just">
                        <a:spcBef>
                          <a:spcPts val="600"/>
                        </a:spcBef>
                        <a:spcAft>
                          <a:spcPts val="600"/>
                        </a:spcAft>
                      </a:pPr>
                      <a:r>
                        <a:rPr lang="en-US" sz="2400" dirty="0">
                          <a:effectLst/>
                        </a:rPr>
                        <a:t>(if not controlled by income tax-exempt entities)</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465853243"/>
                  </a:ext>
                </a:extLst>
              </a:tr>
              <a:tr h="2477657">
                <a:tc>
                  <a:txBody>
                    <a:bodyPr/>
                    <a:lstStyle/>
                    <a:p>
                      <a:pPr algn="just">
                        <a:spcBef>
                          <a:spcPts val="600"/>
                        </a:spcBef>
                        <a:spcAft>
                          <a:spcPts val="600"/>
                        </a:spcAft>
                      </a:pPr>
                      <a:r>
                        <a:rPr lang="en-US" sz="2400" dirty="0">
                          <a:effectLst/>
                        </a:rPr>
                        <a:t>Non-refundable</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chemeClr val="accent2"/>
                    </a:solidFill>
                  </a:tcPr>
                </a:tc>
                <a:tc>
                  <a:txBody>
                    <a:bodyPr/>
                    <a:lstStyle/>
                    <a:p>
                      <a:pPr algn="just">
                        <a:spcBef>
                          <a:spcPts val="600"/>
                        </a:spcBef>
                        <a:spcAft>
                          <a:spcPts val="600"/>
                        </a:spcAft>
                      </a:pPr>
                      <a:r>
                        <a:rPr lang="en-US" sz="2400" dirty="0">
                          <a:effectLst/>
                        </a:rPr>
                        <a:t>For R&amp;D expenditure up to 2% of total expenses — entity’s company tax rate + 8.5% </a:t>
                      </a:r>
                      <a:endParaRPr lang="en-AU" sz="2400" dirty="0">
                        <a:effectLst/>
                      </a:endParaRPr>
                    </a:p>
                    <a:p>
                      <a:pPr algn="just">
                        <a:spcBef>
                          <a:spcPts val="600"/>
                        </a:spcBef>
                        <a:spcAft>
                          <a:spcPts val="600"/>
                        </a:spcAft>
                      </a:pPr>
                      <a:r>
                        <a:rPr lang="en-US" sz="2400" dirty="0">
                          <a:effectLst/>
                        </a:rPr>
                        <a:t>For remaining R&amp;D expenditure — entity’s company tax rate + 16.5% </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algn="just">
                        <a:spcBef>
                          <a:spcPts val="600"/>
                        </a:spcBef>
                        <a:spcAft>
                          <a:spcPts val="600"/>
                        </a:spcAft>
                      </a:pPr>
                      <a:r>
                        <a:rPr lang="en-US" sz="2400" dirty="0">
                          <a:effectLst/>
                        </a:rPr>
                        <a:t>All other eligible entities</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1272558384"/>
                  </a:ext>
                </a:extLst>
              </a:tr>
            </a:tbl>
          </a:graphicData>
        </a:graphic>
      </p:graphicFrame>
      <p:sp>
        <p:nvSpPr>
          <p:cNvPr id="4" name="Rectangle 3">
            <a:extLst>
              <a:ext uri="{FF2B5EF4-FFF2-40B4-BE49-F238E27FC236}">
                <a16:creationId xmlns:a16="http://schemas.microsoft.com/office/drawing/2014/main" id="{BB83382B-207D-06C6-B573-F072EFD89C95}"/>
              </a:ext>
            </a:extLst>
          </p:cNvPr>
          <p:cNvSpPr/>
          <p:nvPr/>
        </p:nvSpPr>
        <p:spPr>
          <a:xfrm>
            <a:off x="8974667" y="6244168"/>
            <a:ext cx="3217333" cy="613833"/>
          </a:xfrm>
          <a:prstGeom prst="rect">
            <a:avLst/>
          </a:prstGeom>
          <a:noFill/>
          <a:ln w="25400" cap="flat" cmpd="sng" algn="ctr">
            <a:noFill/>
            <a:prstDash val="soli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AU" sz="1867" dirty="0">
              <a:solidFill>
                <a:srgbClr val="464145"/>
              </a:solidFill>
            </a:endParaRPr>
          </a:p>
        </p:txBody>
      </p:sp>
      <p:sp>
        <p:nvSpPr>
          <p:cNvPr id="7" name="TextBox 6">
            <a:extLst>
              <a:ext uri="{FF2B5EF4-FFF2-40B4-BE49-F238E27FC236}">
                <a16:creationId xmlns:a16="http://schemas.microsoft.com/office/drawing/2014/main" id="{26FE8096-50B9-AA96-33F2-399692096204}"/>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17</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9280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8D4A-345E-485C-8FC6-3E26F406BD15}"/>
              </a:ext>
            </a:extLst>
          </p:cNvPr>
          <p:cNvSpPr>
            <a:spLocks noGrp="1"/>
          </p:cNvSpPr>
          <p:nvPr>
            <p:ph type="title"/>
          </p:nvPr>
        </p:nvSpPr>
        <p:spPr/>
        <p:txBody>
          <a:bodyPr/>
          <a:lstStyle/>
          <a:p>
            <a:r>
              <a:rPr lang="en-AU" dirty="0"/>
              <a:t>Group structure</a:t>
            </a:r>
          </a:p>
        </p:txBody>
      </p:sp>
      <p:sp>
        <p:nvSpPr>
          <p:cNvPr id="3" name="Text Placeholder 2">
            <a:extLst>
              <a:ext uri="{FF2B5EF4-FFF2-40B4-BE49-F238E27FC236}">
                <a16:creationId xmlns:a16="http://schemas.microsoft.com/office/drawing/2014/main" id="{5BDCFC51-48ED-4965-9EE9-63D63B17B598}"/>
              </a:ext>
            </a:extLst>
          </p:cNvPr>
          <p:cNvSpPr>
            <a:spLocks noGrp="1"/>
          </p:cNvSpPr>
          <p:nvPr>
            <p:ph type="body" sz="quarter" idx="10"/>
          </p:nvPr>
        </p:nvSpPr>
        <p:spPr/>
        <p:txBody>
          <a:bodyPr/>
          <a:lstStyle/>
          <a:p>
            <a:endParaRPr lang="en-AU" dirty="0"/>
          </a:p>
        </p:txBody>
      </p:sp>
      <p:grpSp>
        <p:nvGrpSpPr>
          <p:cNvPr id="4" name="Canvas 1">
            <a:extLst>
              <a:ext uri="{FF2B5EF4-FFF2-40B4-BE49-F238E27FC236}">
                <a16:creationId xmlns:a16="http://schemas.microsoft.com/office/drawing/2014/main" id="{185687DC-1567-4569-C317-C7328C002DF0}"/>
              </a:ext>
            </a:extLst>
          </p:cNvPr>
          <p:cNvGrpSpPr/>
          <p:nvPr/>
        </p:nvGrpSpPr>
        <p:grpSpPr>
          <a:xfrm>
            <a:off x="642000" y="1139484"/>
            <a:ext cx="10908000" cy="5163429"/>
            <a:chOff x="0" y="-54246"/>
            <a:chExt cx="5807075" cy="5163429"/>
          </a:xfrm>
        </p:grpSpPr>
        <p:sp>
          <p:nvSpPr>
            <p:cNvPr id="5" name="Rectangle 4">
              <a:extLst>
                <a:ext uri="{FF2B5EF4-FFF2-40B4-BE49-F238E27FC236}">
                  <a16:creationId xmlns:a16="http://schemas.microsoft.com/office/drawing/2014/main" id="{6590A772-3D29-FE06-C7DC-98EC2806E2A0}"/>
                </a:ext>
              </a:extLst>
            </p:cNvPr>
            <p:cNvSpPr/>
            <p:nvPr/>
          </p:nvSpPr>
          <p:spPr>
            <a:xfrm>
              <a:off x="0" y="-54246"/>
              <a:ext cx="5807075" cy="5163429"/>
            </a:xfrm>
            <a:prstGeom prst="rect">
              <a:avLst/>
            </a:prstGeom>
            <a:solidFill>
              <a:prstClr val="white"/>
            </a:solidFill>
            <a:ln>
              <a:solidFill>
                <a:srgbClr val="000000"/>
              </a:solidFill>
            </a:ln>
          </p:spPr>
          <p:txBody>
            <a:bodyPr/>
            <a:lstStyle/>
            <a:p>
              <a:endParaRPr lang="en-AU" dirty="0"/>
            </a:p>
          </p:txBody>
        </p:sp>
        <p:sp>
          <p:nvSpPr>
            <p:cNvPr id="6" name="Text Box 2">
              <a:extLst>
                <a:ext uri="{FF2B5EF4-FFF2-40B4-BE49-F238E27FC236}">
                  <a16:creationId xmlns:a16="http://schemas.microsoft.com/office/drawing/2014/main" id="{E5E0D719-FB59-EE68-63A3-0D1FA08723E2}"/>
                </a:ext>
              </a:extLst>
            </p:cNvPr>
            <p:cNvSpPr txBox="1">
              <a:spLocks noChangeArrowheads="1"/>
            </p:cNvSpPr>
            <p:nvPr/>
          </p:nvSpPr>
          <p:spPr bwMode="auto">
            <a:xfrm>
              <a:off x="4678479" y="2648084"/>
              <a:ext cx="857249" cy="392159"/>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sole director</a:t>
              </a:r>
            </a:p>
          </p:txBody>
        </p:sp>
        <p:sp>
          <p:nvSpPr>
            <p:cNvPr id="7" name="Text Box 2">
              <a:extLst>
                <a:ext uri="{FF2B5EF4-FFF2-40B4-BE49-F238E27FC236}">
                  <a16:creationId xmlns:a16="http://schemas.microsoft.com/office/drawing/2014/main" id="{C3E7BD5E-03B5-F654-009C-91FEADA1C6F8}"/>
                </a:ext>
              </a:extLst>
            </p:cNvPr>
            <p:cNvSpPr txBox="1">
              <a:spLocks noChangeArrowheads="1"/>
            </p:cNvSpPr>
            <p:nvPr/>
          </p:nvSpPr>
          <p:spPr bwMode="auto">
            <a:xfrm>
              <a:off x="2526787" y="-3608"/>
              <a:ext cx="983614" cy="610438"/>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ctr">
                <a:lnSpc>
                  <a:spcPct val="115000"/>
                </a:lnSpc>
                <a:spcAft>
                  <a:spcPts val="1000"/>
                </a:spcAft>
              </a:pPr>
              <a:r>
                <a:rPr lang="en-AU" dirty="0">
                  <a:latin typeface="Calibri" panose="020F0502020204030204" pitchFamily="34" charset="0"/>
                  <a:ea typeface="Calibri" panose="020F0502020204030204" pitchFamily="34" charset="0"/>
                  <a:cs typeface="Times New Roman" panose="02020603050405020304" pitchFamily="18" charset="0"/>
                </a:rPr>
                <a:t>O</a:t>
              </a:r>
              <a:r>
                <a:rPr lang="en-AU" dirty="0">
                  <a:effectLst/>
                  <a:latin typeface="Calibri" panose="020F0502020204030204" pitchFamily="34" charset="0"/>
                  <a:ea typeface="Calibri" panose="020F0502020204030204" pitchFamily="34" charset="0"/>
                  <a:cs typeface="Times New Roman" panose="02020603050405020304" pitchFamily="18" charset="0"/>
                </a:rPr>
                <a:t>ther beneficiaries</a:t>
              </a:r>
            </a:p>
          </p:txBody>
        </p:sp>
        <p:sp>
          <p:nvSpPr>
            <p:cNvPr id="8" name="Text Box 2">
              <a:extLst>
                <a:ext uri="{FF2B5EF4-FFF2-40B4-BE49-F238E27FC236}">
                  <a16:creationId xmlns:a16="http://schemas.microsoft.com/office/drawing/2014/main" id="{3A360323-67FC-5786-1EC0-77D386F058C0}"/>
                </a:ext>
              </a:extLst>
            </p:cNvPr>
            <p:cNvSpPr txBox="1">
              <a:spLocks noChangeArrowheads="1"/>
            </p:cNvSpPr>
            <p:nvPr/>
          </p:nvSpPr>
          <p:spPr bwMode="auto">
            <a:xfrm>
              <a:off x="1773625" y="1972225"/>
              <a:ext cx="991234" cy="392159"/>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distributions</a:t>
              </a:r>
              <a:r>
                <a:rPr lang="en-AU" sz="11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9" name="Text Box 2">
              <a:extLst>
                <a:ext uri="{FF2B5EF4-FFF2-40B4-BE49-F238E27FC236}">
                  <a16:creationId xmlns:a16="http://schemas.microsoft.com/office/drawing/2014/main" id="{40F1CFEB-57FF-9531-FF37-7A32A8491099}"/>
                </a:ext>
              </a:extLst>
            </p:cNvPr>
            <p:cNvSpPr txBox="1">
              <a:spLocks noChangeArrowheads="1"/>
            </p:cNvSpPr>
            <p:nvPr/>
          </p:nvSpPr>
          <p:spPr bwMode="auto">
            <a:xfrm>
              <a:off x="1757766" y="19125"/>
              <a:ext cx="741044" cy="392159"/>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Mrs Brown</a:t>
              </a:r>
            </a:p>
          </p:txBody>
        </p:sp>
        <p:sp>
          <p:nvSpPr>
            <p:cNvPr id="10" name="Text Box 2">
              <a:extLst>
                <a:ext uri="{FF2B5EF4-FFF2-40B4-BE49-F238E27FC236}">
                  <a16:creationId xmlns:a16="http://schemas.microsoft.com/office/drawing/2014/main" id="{2807163C-DF52-C66C-78B7-60026233A987}"/>
                </a:ext>
              </a:extLst>
            </p:cNvPr>
            <p:cNvSpPr txBox="1">
              <a:spLocks noChangeArrowheads="1"/>
            </p:cNvSpPr>
            <p:nvPr/>
          </p:nvSpPr>
          <p:spPr bwMode="auto">
            <a:xfrm>
              <a:off x="4108263" y="3215809"/>
              <a:ext cx="558799" cy="392159"/>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58%</a:t>
              </a:r>
            </a:p>
          </p:txBody>
        </p:sp>
        <p:sp>
          <p:nvSpPr>
            <p:cNvPr id="11" name="Text Box 2">
              <a:extLst>
                <a:ext uri="{FF2B5EF4-FFF2-40B4-BE49-F238E27FC236}">
                  <a16:creationId xmlns:a16="http://schemas.microsoft.com/office/drawing/2014/main" id="{F49EFC58-BB79-C07E-8B4A-7C92391FA967}"/>
                </a:ext>
              </a:extLst>
            </p:cNvPr>
            <p:cNvSpPr txBox="1">
              <a:spLocks noChangeArrowheads="1"/>
            </p:cNvSpPr>
            <p:nvPr/>
          </p:nvSpPr>
          <p:spPr bwMode="auto">
            <a:xfrm>
              <a:off x="349977" y="44402"/>
              <a:ext cx="741679" cy="392159"/>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Mr </a:t>
              </a:r>
              <a:r>
                <a:rPr lang="en-AU" dirty="0">
                  <a:latin typeface="Calibri" panose="020F0502020204030204" pitchFamily="34" charset="0"/>
                  <a:ea typeface="Calibri" panose="020F0502020204030204" pitchFamily="34" charset="0"/>
                  <a:cs typeface="Times New Roman" panose="02020603050405020304" pitchFamily="18" charset="0"/>
                </a:rPr>
                <a:t>Brown</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 Box 2">
              <a:extLst>
                <a:ext uri="{FF2B5EF4-FFF2-40B4-BE49-F238E27FC236}">
                  <a16:creationId xmlns:a16="http://schemas.microsoft.com/office/drawing/2014/main" id="{F029B753-985C-B2CC-3459-19DEFFA63ED1}"/>
                </a:ext>
              </a:extLst>
            </p:cNvPr>
            <p:cNvSpPr txBox="1">
              <a:spLocks noChangeArrowheads="1"/>
            </p:cNvSpPr>
            <p:nvPr/>
          </p:nvSpPr>
          <p:spPr bwMode="auto">
            <a:xfrm>
              <a:off x="2228257" y="3054874"/>
              <a:ext cx="558834" cy="392159"/>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42%</a:t>
              </a:r>
            </a:p>
          </p:txBody>
        </p:sp>
        <p:sp>
          <p:nvSpPr>
            <p:cNvPr id="13" name="Text Box 2">
              <a:extLst>
                <a:ext uri="{FF2B5EF4-FFF2-40B4-BE49-F238E27FC236}">
                  <a16:creationId xmlns:a16="http://schemas.microsoft.com/office/drawing/2014/main" id="{A3CC654C-CCF1-62BD-97F6-DCDF98D1F198}"/>
                </a:ext>
              </a:extLst>
            </p:cNvPr>
            <p:cNvSpPr txBox="1">
              <a:spLocks noChangeArrowheads="1"/>
            </p:cNvSpPr>
            <p:nvPr/>
          </p:nvSpPr>
          <p:spPr bwMode="auto">
            <a:xfrm>
              <a:off x="1372377" y="3041934"/>
              <a:ext cx="741679" cy="392159"/>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80%</a:t>
              </a:r>
            </a:p>
          </p:txBody>
        </p:sp>
        <p:sp>
          <p:nvSpPr>
            <p:cNvPr id="14" name="Text Box 2">
              <a:extLst>
                <a:ext uri="{FF2B5EF4-FFF2-40B4-BE49-F238E27FC236}">
                  <a16:creationId xmlns:a16="http://schemas.microsoft.com/office/drawing/2014/main" id="{62EFD1A0-90FB-63C4-F633-DC1980ADB0E0}"/>
                </a:ext>
              </a:extLst>
            </p:cNvPr>
            <p:cNvSpPr txBox="1">
              <a:spLocks noChangeArrowheads="1"/>
            </p:cNvSpPr>
            <p:nvPr/>
          </p:nvSpPr>
          <p:spPr bwMode="auto">
            <a:xfrm>
              <a:off x="544145" y="3040243"/>
              <a:ext cx="742111" cy="392159"/>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100%</a:t>
              </a:r>
            </a:p>
          </p:txBody>
        </p:sp>
        <p:sp>
          <p:nvSpPr>
            <p:cNvPr id="15" name="Text Box 2">
              <a:extLst>
                <a:ext uri="{FF2B5EF4-FFF2-40B4-BE49-F238E27FC236}">
                  <a16:creationId xmlns:a16="http://schemas.microsoft.com/office/drawing/2014/main" id="{41E5B1D2-08EA-DAA7-3A93-A6CBE813B374}"/>
                </a:ext>
              </a:extLst>
            </p:cNvPr>
            <p:cNvSpPr txBox="1">
              <a:spLocks noChangeArrowheads="1"/>
            </p:cNvSpPr>
            <p:nvPr/>
          </p:nvSpPr>
          <p:spPr bwMode="auto">
            <a:xfrm>
              <a:off x="268722" y="823740"/>
              <a:ext cx="939226" cy="697824"/>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15000"/>
                </a:lnSpc>
                <a:spcAft>
                  <a:spcPts val="1000"/>
                </a:spcAft>
              </a:pPr>
              <a:r>
                <a:rPr lang="en-US" dirty="0">
                  <a:latin typeface="Calibri" panose="020F0502020204030204" pitchFamily="34" charset="0"/>
                  <a:ea typeface="Times New Roman" panose="02020603050405020304" pitchFamily="18" charset="0"/>
                  <a:cs typeface="Times New Roman" panose="02020603050405020304" pitchFamily="18" charset="0"/>
                </a:rPr>
                <a:t>S</a:t>
              </a:r>
              <a:r>
                <a:rPr lang="en-US" dirty="0">
                  <a:effectLst/>
                  <a:latin typeface="Calibri" panose="020F0502020204030204" pitchFamily="34" charset="0"/>
                  <a:ea typeface="Times New Roman" panose="02020603050405020304" pitchFamily="18" charset="0"/>
                  <a:cs typeface="Times New Roman" panose="02020603050405020304" pitchFamily="18" charset="0"/>
                </a:rPr>
                <a:t>ole shareholder / Director</a:t>
              </a:r>
              <a:endParaRPr lang="en-AU"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Text Box 2">
              <a:extLst>
                <a:ext uri="{FF2B5EF4-FFF2-40B4-BE49-F238E27FC236}">
                  <a16:creationId xmlns:a16="http://schemas.microsoft.com/office/drawing/2014/main" id="{79D38E81-65FB-C633-CB98-099F153779E9}"/>
                </a:ext>
              </a:extLst>
            </p:cNvPr>
            <p:cNvSpPr txBox="1">
              <a:spLocks noChangeArrowheads="1"/>
            </p:cNvSpPr>
            <p:nvPr/>
          </p:nvSpPr>
          <p:spPr bwMode="auto">
            <a:xfrm>
              <a:off x="603875" y="4125210"/>
              <a:ext cx="1012189" cy="641971"/>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incurs R&amp;D expenditure</a:t>
              </a:r>
            </a:p>
          </p:txBody>
        </p:sp>
        <p:sp>
          <p:nvSpPr>
            <p:cNvPr id="17" name="Rectangle 16">
              <a:extLst>
                <a:ext uri="{FF2B5EF4-FFF2-40B4-BE49-F238E27FC236}">
                  <a16:creationId xmlns:a16="http://schemas.microsoft.com/office/drawing/2014/main" id="{3D03D364-83A2-AC54-F3BD-0CE4B7013377}"/>
                </a:ext>
              </a:extLst>
            </p:cNvPr>
            <p:cNvSpPr/>
            <p:nvPr/>
          </p:nvSpPr>
          <p:spPr>
            <a:xfrm>
              <a:off x="811988" y="3596129"/>
              <a:ext cx="673852" cy="610436"/>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b="1" dirty="0">
                  <a:solidFill>
                    <a:schemeClr val="tx1"/>
                  </a:solidFill>
                  <a:effectLst/>
                  <a:ea typeface="Calibri" panose="020F0502020204030204" pitchFamily="34" charset="0"/>
                  <a:cs typeface="Times New Roman" panose="02020603050405020304" pitchFamily="18" charset="0"/>
                </a:rPr>
                <a:t>Agrico </a:t>
              </a:r>
              <a:br>
                <a:rPr lang="en-AU" b="1" dirty="0">
                  <a:solidFill>
                    <a:schemeClr val="tx1"/>
                  </a:solidFill>
                  <a:effectLst/>
                  <a:ea typeface="Calibri" panose="020F0502020204030204" pitchFamily="34" charset="0"/>
                  <a:cs typeface="Times New Roman" panose="02020603050405020304" pitchFamily="18" charset="0"/>
                </a:rPr>
              </a:br>
              <a:r>
                <a:rPr lang="en-AU" b="1" dirty="0">
                  <a:effectLst/>
                  <a:ea typeface="Calibri" panose="020F0502020204030204" pitchFamily="34" charset="0"/>
                  <a:cs typeface="Times New Roman" panose="02020603050405020304" pitchFamily="18" charset="0"/>
                </a:rPr>
                <a:t>Pty Ltd</a:t>
              </a:r>
              <a:endParaRPr lang="en-AU" dirty="0">
                <a:effectLst/>
                <a:ea typeface="Calibri" panose="020F0502020204030204" pitchFamily="34" charset="0"/>
                <a:cs typeface="Times New Roman" panose="02020603050405020304" pitchFamily="18" charset="0"/>
              </a:endParaRPr>
            </a:p>
          </p:txBody>
        </p:sp>
        <p:sp>
          <p:nvSpPr>
            <p:cNvPr id="18" name="Hexagon 17">
              <a:extLst>
                <a:ext uri="{FF2B5EF4-FFF2-40B4-BE49-F238E27FC236}">
                  <a16:creationId xmlns:a16="http://schemas.microsoft.com/office/drawing/2014/main" id="{3B0980AD-E53B-94ED-5DE2-222C7B9A952B}"/>
                </a:ext>
              </a:extLst>
            </p:cNvPr>
            <p:cNvSpPr/>
            <p:nvPr/>
          </p:nvSpPr>
          <p:spPr>
            <a:xfrm>
              <a:off x="750585" y="2089267"/>
              <a:ext cx="818515" cy="651510"/>
            </a:xfrm>
            <a:prstGeom prst="hexagon">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dirty="0">
                  <a:effectLst/>
                  <a:ea typeface="Calibri" panose="020F0502020204030204" pitchFamily="34" charset="0"/>
                  <a:cs typeface="Times New Roman" panose="02020603050405020304" pitchFamily="18" charset="0"/>
                </a:rPr>
                <a:t>Brown F/T</a:t>
              </a:r>
            </a:p>
          </p:txBody>
        </p:sp>
        <p:sp>
          <p:nvSpPr>
            <p:cNvPr id="19" name="Rectangle 18">
              <a:extLst>
                <a:ext uri="{FF2B5EF4-FFF2-40B4-BE49-F238E27FC236}">
                  <a16:creationId xmlns:a16="http://schemas.microsoft.com/office/drawing/2014/main" id="{AC0D22BE-F804-86C1-59F5-85DBACCC9CA2}"/>
                </a:ext>
              </a:extLst>
            </p:cNvPr>
            <p:cNvSpPr/>
            <p:nvPr/>
          </p:nvSpPr>
          <p:spPr>
            <a:xfrm>
              <a:off x="234406" y="1541530"/>
              <a:ext cx="833815" cy="509024"/>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sz="1600" dirty="0">
                  <a:effectLst/>
                  <a:ea typeface="Calibri" panose="020F0502020204030204" pitchFamily="34" charset="0"/>
                  <a:cs typeface="Times New Roman" panose="02020603050405020304" pitchFamily="18" charset="0"/>
                </a:rPr>
                <a:t>Corporate trustee</a:t>
              </a:r>
            </a:p>
          </p:txBody>
        </p:sp>
        <p:cxnSp>
          <p:nvCxnSpPr>
            <p:cNvPr id="20" name="Straight Arrow Connector 19">
              <a:extLst>
                <a:ext uri="{FF2B5EF4-FFF2-40B4-BE49-F238E27FC236}">
                  <a16:creationId xmlns:a16="http://schemas.microsoft.com/office/drawing/2014/main" id="{F435DA95-0A90-2094-3D68-DD63F632C620}"/>
                </a:ext>
              </a:extLst>
            </p:cNvPr>
            <p:cNvCxnSpPr/>
            <p:nvPr/>
          </p:nvCxnSpPr>
          <p:spPr>
            <a:xfrm>
              <a:off x="1101714" y="710020"/>
              <a:ext cx="8255" cy="86995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21" name="Rectangle 20">
              <a:extLst>
                <a:ext uri="{FF2B5EF4-FFF2-40B4-BE49-F238E27FC236}">
                  <a16:creationId xmlns:a16="http://schemas.microsoft.com/office/drawing/2014/main" id="{3BA9165B-E74B-4DF4-CC78-9AE3CE6BE6D9}"/>
                </a:ext>
              </a:extLst>
            </p:cNvPr>
            <p:cNvSpPr/>
            <p:nvPr/>
          </p:nvSpPr>
          <p:spPr>
            <a:xfrm>
              <a:off x="1972224" y="3596129"/>
              <a:ext cx="673735" cy="610436"/>
            </a:xfrm>
            <a:prstGeom prst="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dirty="0">
                  <a:solidFill>
                    <a:schemeClr val="tx1"/>
                  </a:solidFill>
                  <a:effectLst/>
                  <a:ea typeface="Calibri" panose="020F0502020204030204" pitchFamily="34" charset="0"/>
                  <a:cs typeface="Times New Roman" panose="02020603050405020304" pitchFamily="18" charset="0"/>
                </a:rPr>
                <a:t>Diego</a:t>
              </a:r>
              <a:r>
                <a:rPr lang="en-AU" u="sng" dirty="0">
                  <a:solidFill>
                    <a:srgbClr val="008080"/>
                  </a:solidFill>
                  <a:effectLst/>
                  <a:ea typeface="Calibri" panose="020F0502020204030204" pitchFamily="34" charset="0"/>
                  <a:cs typeface="Times New Roman" panose="02020603050405020304" pitchFamily="18" charset="0"/>
                </a:rPr>
                <a:t> </a:t>
              </a:r>
              <a:br>
                <a:rPr lang="en-AU" dirty="0">
                  <a:effectLst/>
                  <a:ea typeface="Calibri" panose="020F0502020204030204" pitchFamily="34" charset="0"/>
                  <a:cs typeface="Times New Roman" panose="02020603050405020304" pitchFamily="18" charset="0"/>
                </a:rPr>
              </a:br>
              <a:r>
                <a:rPr lang="en-AU" dirty="0">
                  <a:effectLst/>
                  <a:ea typeface="Calibri" panose="020F0502020204030204" pitchFamily="34" charset="0"/>
                  <a:cs typeface="Times New Roman" panose="02020603050405020304" pitchFamily="18" charset="0"/>
                </a:rPr>
                <a:t>Pty Ltd</a:t>
              </a:r>
            </a:p>
          </p:txBody>
        </p:sp>
        <p:cxnSp>
          <p:nvCxnSpPr>
            <p:cNvPr id="22" name="Straight Arrow Connector 21">
              <a:extLst>
                <a:ext uri="{FF2B5EF4-FFF2-40B4-BE49-F238E27FC236}">
                  <a16:creationId xmlns:a16="http://schemas.microsoft.com/office/drawing/2014/main" id="{8F14A91A-E559-1DD2-14EF-FE372CF283C0}"/>
                </a:ext>
              </a:extLst>
            </p:cNvPr>
            <p:cNvCxnSpPr/>
            <p:nvPr/>
          </p:nvCxnSpPr>
          <p:spPr>
            <a:xfrm>
              <a:off x="1141171" y="2740777"/>
              <a:ext cx="7315" cy="85535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3" name="Straight Arrow Connector 22">
              <a:extLst>
                <a:ext uri="{FF2B5EF4-FFF2-40B4-BE49-F238E27FC236}">
                  <a16:creationId xmlns:a16="http://schemas.microsoft.com/office/drawing/2014/main" id="{9085998B-BCDE-2D2D-77FD-70D44863BA7B}"/>
                </a:ext>
              </a:extLst>
            </p:cNvPr>
            <p:cNvCxnSpPr>
              <a:cxnSpLocks/>
              <a:endCxn id="21" idx="0"/>
            </p:cNvCxnSpPr>
            <p:nvPr/>
          </p:nvCxnSpPr>
          <p:spPr>
            <a:xfrm>
              <a:off x="1463040" y="2640787"/>
              <a:ext cx="846052" cy="9553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1F92CEC0-3E0A-6B9A-9326-C58D44045980}"/>
                </a:ext>
              </a:extLst>
            </p:cNvPr>
            <p:cNvSpPr/>
            <p:nvPr/>
          </p:nvSpPr>
          <p:spPr>
            <a:xfrm>
              <a:off x="3310905" y="3596128"/>
              <a:ext cx="673735" cy="610437"/>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dirty="0">
                  <a:solidFill>
                    <a:schemeClr val="tx1"/>
                  </a:solidFill>
                  <a:effectLst/>
                  <a:ea typeface="Calibri" panose="020F0502020204030204" pitchFamily="34" charset="0"/>
                  <a:cs typeface="Times New Roman" panose="02020603050405020304" pitchFamily="18" charset="0"/>
                </a:rPr>
                <a:t>Grant</a:t>
              </a:r>
              <a:r>
                <a:rPr lang="en-AU" u="sng" dirty="0">
                  <a:solidFill>
                    <a:srgbClr val="008080"/>
                  </a:solidFill>
                  <a:effectLst/>
                  <a:ea typeface="Calibri" panose="020F0502020204030204" pitchFamily="34" charset="0"/>
                  <a:cs typeface="Times New Roman" panose="02020603050405020304" pitchFamily="18" charset="0"/>
                </a:rPr>
                <a:t> </a:t>
              </a:r>
              <a:br>
                <a:rPr lang="en-AU" dirty="0">
                  <a:effectLst/>
                  <a:ea typeface="Calibri" panose="020F0502020204030204" pitchFamily="34" charset="0"/>
                  <a:cs typeface="Times New Roman" panose="02020603050405020304" pitchFamily="18" charset="0"/>
                </a:rPr>
              </a:br>
              <a:r>
                <a:rPr lang="en-AU" dirty="0">
                  <a:effectLst/>
                  <a:ea typeface="Calibri" panose="020F0502020204030204" pitchFamily="34" charset="0"/>
                  <a:cs typeface="Times New Roman" panose="02020603050405020304" pitchFamily="18" charset="0"/>
                </a:rPr>
                <a:t>Pty Ltd</a:t>
              </a:r>
            </a:p>
          </p:txBody>
        </p:sp>
        <p:cxnSp>
          <p:nvCxnSpPr>
            <p:cNvPr id="25" name="Straight Arrow Connector 24">
              <a:extLst>
                <a:ext uri="{FF2B5EF4-FFF2-40B4-BE49-F238E27FC236}">
                  <a16:creationId xmlns:a16="http://schemas.microsoft.com/office/drawing/2014/main" id="{B7055C8E-473E-D15B-8B19-DACD84BAA25D}"/>
                </a:ext>
              </a:extLst>
            </p:cNvPr>
            <p:cNvCxnSpPr>
              <a:stCxn id="18" idx="0"/>
            </p:cNvCxnSpPr>
            <p:nvPr/>
          </p:nvCxnSpPr>
          <p:spPr>
            <a:xfrm>
              <a:off x="1569100" y="2415022"/>
              <a:ext cx="1752001" cy="116942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6" name="Straight Arrow Connector 25">
              <a:extLst>
                <a:ext uri="{FF2B5EF4-FFF2-40B4-BE49-F238E27FC236}">
                  <a16:creationId xmlns:a16="http://schemas.microsoft.com/office/drawing/2014/main" id="{328789F6-C039-D06C-CF53-E519F9623FD9}"/>
                </a:ext>
              </a:extLst>
            </p:cNvPr>
            <p:cNvCxnSpPr/>
            <p:nvPr/>
          </p:nvCxnSpPr>
          <p:spPr>
            <a:xfrm flipV="1">
              <a:off x="3994099" y="3119310"/>
              <a:ext cx="336499" cy="476819"/>
            </a:xfrm>
            <a:prstGeom prst="straightConnector1">
              <a:avLst/>
            </a:prstGeom>
            <a:ln>
              <a:headEnd type="triangle" w="med" len="med"/>
              <a:tailEnd type="none" w="med" len="med"/>
            </a:ln>
          </p:spPr>
          <p:style>
            <a:lnRef idx="1">
              <a:schemeClr val="accent6"/>
            </a:lnRef>
            <a:fillRef idx="0">
              <a:schemeClr val="accent6"/>
            </a:fillRef>
            <a:effectRef idx="0">
              <a:schemeClr val="accent6"/>
            </a:effectRef>
            <a:fontRef idx="minor">
              <a:schemeClr val="tx1"/>
            </a:fontRef>
          </p:style>
        </p:cxnSp>
        <p:pic>
          <p:nvPicPr>
            <p:cNvPr id="27" name="Graphic 1983428834" descr="Man with solid fill">
              <a:extLst>
                <a:ext uri="{FF2B5EF4-FFF2-40B4-BE49-F238E27FC236}">
                  <a16:creationId xmlns:a16="http://schemas.microsoft.com/office/drawing/2014/main" id="{6FCBDD0C-EF48-703C-EFCE-C7280E4D32C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1174" y="59474"/>
              <a:ext cx="423697" cy="550721"/>
            </a:xfrm>
            <a:prstGeom prst="rect">
              <a:avLst/>
            </a:prstGeom>
          </p:spPr>
        </p:pic>
        <p:pic>
          <p:nvPicPr>
            <p:cNvPr id="28" name="Graphic 2052260575" descr="Woman with solid fill">
              <a:extLst>
                <a:ext uri="{FF2B5EF4-FFF2-40B4-BE49-F238E27FC236}">
                  <a16:creationId xmlns:a16="http://schemas.microsoft.com/office/drawing/2014/main" id="{2263D7D3-8E6F-F8EC-04D1-39B9F42E723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01393" y="411284"/>
              <a:ext cx="423697" cy="561053"/>
            </a:xfrm>
            <a:prstGeom prst="rect">
              <a:avLst/>
            </a:prstGeom>
          </p:spPr>
        </p:pic>
        <p:cxnSp>
          <p:nvCxnSpPr>
            <p:cNvPr id="29" name="Straight Connector 28">
              <a:extLst>
                <a:ext uri="{FF2B5EF4-FFF2-40B4-BE49-F238E27FC236}">
                  <a16:creationId xmlns:a16="http://schemas.microsoft.com/office/drawing/2014/main" id="{812DF30C-D967-65C9-1CB0-18FD93550746}"/>
                </a:ext>
              </a:extLst>
            </p:cNvPr>
            <p:cNvCxnSpPr/>
            <p:nvPr/>
          </p:nvCxnSpPr>
          <p:spPr>
            <a:xfrm flipH="1" flipV="1">
              <a:off x="1184943" y="710020"/>
              <a:ext cx="212260" cy="1378974"/>
            </a:xfrm>
            <a:prstGeom prst="line">
              <a:avLst/>
            </a:prstGeom>
            <a:ln>
              <a:prstDash val="dash"/>
            </a:ln>
          </p:spPr>
          <p:style>
            <a:lnRef idx="1">
              <a:schemeClr val="accent4"/>
            </a:lnRef>
            <a:fillRef idx="0">
              <a:schemeClr val="accent4"/>
            </a:fillRef>
            <a:effectRef idx="0">
              <a:schemeClr val="accent4"/>
            </a:effectRef>
            <a:fontRef idx="minor">
              <a:schemeClr val="tx1"/>
            </a:fontRef>
          </p:style>
        </p:cxnSp>
        <p:cxnSp>
          <p:nvCxnSpPr>
            <p:cNvPr id="30" name="Straight Connector 29">
              <a:extLst>
                <a:ext uri="{FF2B5EF4-FFF2-40B4-BE49-F238E27FC236}">
                  <a16:creationId xmlns:a16="http://schemas.microsoft.com/office/drawing/2014/main" id="{693805A7-BD11-5C7E-32F1-B469C5597016}"/>
                </a:ext>
              </a:extLst>
            </p:cNvPr>
            <p:cNvCxnSpPr/>
            <p:nvPr/>
          </p:nvCxnSpPr>
          <p:spPr>
            <a:xfrm flipV="1">
              <a:off x="1474592" y="1038758"/>
              <a:ext cx="566349" cy="1134304"/>
            </a:xfrm>
            <a:prstGeom prst="line">
              <a:avLst/>
            </a:prstGeom>
            <a:ln>
              <a:prstDash val="dash"/>
            </a:ln>
          </p:spPr>
          <p:style>
            <a:lnRef idx="1">
              <a:schemeClr val="accent4"/>
            </a:lnRef>
            <a:fillRef idx="0">
              <a:schemeClr val="accent4"/>
            </a:fillRef>
            <a:effectRef idx="0">
              <a:schemeClr val="accent4"/>
            </a:effectRef>
            <a:fontRef idx="minor">
              <a:schemeClr val="tx1"/>
            </a:fontRef>
          </p:style>
        </p:cxnSp>
        <p:pic>
          <p:nvPicPr>
            <p:cNvPr id="31" name="Graphic 480378835" descr="Group with solid fill">
              <a:extLst>
                <a:ext uri="{FF2B5EF4-FFF2-40B4-BE49-F238E27FC236}">
                  <a16:creationId xmlns:a16="http://schemas.microsoft.com/office/drawing/2014/main" id="{C8C359F8-1801-FF83-B029-9AB3B19482B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800668" y="548640"/>
              <a:ext cx="435852" cy="587088"/>
            </a:xfrm>
            <a:prstGeom prst="rect">
              <a:avLst/>
            </a:prstGeom>
          </p:spPr>
        </p:pic>
        <p:cxnSp>
          <p:nvCxnSpPr>
            <p:cNvPr id="32" name="Straight Connector 31">
              <a:extLst>
                <a:ext uri="{FF2B5EF4-FFF2-40B4-BE49-F238E27FC236}">
                  <a16:creationId xmlns:a16="http://schemas.microsoft.com/office/drawing/2014/main" id="{EC303F0B-B897-78A4-4A48-E939EC37481E}"/>
                </a:ext>
              </a:extLst>
            </p:cNvPr>
            <p:cNvCxnSpPr/>
            <p:nvPr/>
          </p:nvCxnSpPr>
          <p:spPr>
            <a:xfrm flipV="1">
              <a:off x="1547977" y="1075334"/>
              <a:ext cx="1392733" cy="1284850"/>
            </a:xfrm>
            <a:prstGeom prst="line">
              <a:avLst/>
            </a:prstGeom>
            <a:ln>
              <a:prstDash val="dash"/>
            </a:ln>
          </p:spPr>
          <p:style>
            <a:lnRef idx="1">
              <a:schemeClr val="accent4"/>
            </a:lnRef>
            <a:fillRef idx="0">
              <a:schemeClr val="accent4"/>
            </a:fillRef>
            <a:effectRef idx="0">
              <a:schemeClr val="accent4"/>
            </a:effectRef>
            <a:fontRef idx="minor">
              <a:schemeClr val="tx1"/>
            </a:fontRef>
          </p:style>
        </p:cxnSp>
        <p:pic>
          <p:nvPicPr>
            <p:cNvPr id="33" name="Graphic 783634901" descr="Man outline">
              <a:extLst>
                <a:ext uri="{FF2B5EF4-FFF2-40B4-BE49-F238E27FC236}">
                  <a16:creationId xmlns:a16="http://schemas.microsoft.com/office/drawing/2014/main" id="{83BBEF97-F16E-A1B5-8155-92CD6D3759C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286887" y="2627558"/>
              <a:ext cx="437512" cy="437512"/>
            </a:xfrm>
            <a:prstGeom prst="rect">
              <a:avLst/>
            </a:prstGeom>
          </p:spPr>
        </p:pic>
        <p:sp>
          <p:nvSpPr>
            <p:cNvPr id="34" name="Text Box 2">
              <a:extLst>
                <a:ext uri="{FF2B5EF4-FFF2-40B4-BE49-F238E27FC236}">
                  <a16:creationId xmlns:a16="http://schemas.microsoft.com/office/drawing/2014/main" id="{F9BE1B7D-0485-D01D-BFBB-DA09CB400F67}"/>
                </a:ext>
              </a:extLst>
            </p:cNvPr>
            <p:cNvSpPr txBox="1">
              <a:spLocks noChangeArrowheads="1"/>
            </p:cNvSpPr>
            <p:nvPr/>
          </p:nvSpPr>
          <p:spPr bwMode="auto">
            <a:xfrm>
              <a:off x="4117287" y="2073708"/>
              <a:ext cx="741044" cy="392159"/>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Mr Jackman</a:t>
              </a:r>
            </a:p>
          </p:txBody>
        </p:sp>
      </p:grpSp>
      <p:sp>
        <p:nvSpPr>
          <p:cNvPr id="35" name="Rectangle 34">
            <a:extLst>
              <a:ext uri="{FF2B5EF4-FFF2-40B4-BE49-F238E27FC236}">
                <a16:creationId xmlns:a16="http://schemas.microsoft.com/office/drawing/2014/main" id="{2A7BF670-0120-185B-5DD6-9888C005E16B}"/>
              </a:ext>
            </a:extLst>
          </p:cNvPr>
          <p:cNvSpPr/>
          <p:nvPr/>
        </p:nvSpPr>
        <p:spPr>
          <a:xfrm>
            <a:off x="8974667" y="6244168"/>
            <a:ext cx="3217333" cy="613833"/>
          </a:xfrm>
          <a:prstGeom prst="rect">
            <a:avLst/>
          </a:prstGeom>
          <a:noFill/>
          <a:ln w="25400" cap="flat" cmpd="sng" algn="ctr">
            <a:noFill/>
            <a:prstDash val="soli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AU" sz="1867" dirty="0">
              <a:solidFill>
                <a:srgbClr val="464145"/>
              </a:solidFill>
            </a:endParaRPr>
          </a:p>
        </p:txBody>
      </p:sp>
      <p:sp>
        <p:nvSpPr>
          <p:cNvPr id="37" name="TextBox 36">
            <a:extLst>
              <a:ext uri="{FF2B5EF4-FFF2-40B4-BE49-F238E27FC236}">
                <a16:creationId xmlns:a16="http://schemas.microsoft.com/office/drawing/2014/main" id="{005AE46E-3569-DF34-8BF8-E716CD98BA15}"/>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18</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5276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8D4A-345E-485C-8FC6-3E26F406BD15}"/>
              </a:ext>
            </a:extLst>
          </p:cNvPr>
          <p:cNvSpPr>
            <a:spLocks noGrp="1"/>
          </p:cNvSpPr>
          <p:nvPr>
            <p:ph type="title"/>
          </p:nvPr>
        </p:nvSpPr>
        <p:spPr/>
        <p:txBody>
          <a:bodyPr>
            <a:normAutofit/>
          </a:bodyPr>
          <a:lstStyle/>
          <a:p>
            <a:r>
              <a:rPr lang="en-AU" dirty="0">
                <a:effectLst/>
                <a:ea typeface="SimSun" panose="02010600030101010101" pitchFamily="2" charset="-122"/>
                <a:cs typeface="Times New Roman" panose="02020603050405020304" pitchFamily="18" charset="0"/>
              </a:rPr>
              <a:t>Brown Family Trust </a:t>
            </a:r>
            <a:r>
              <a:rPr lang="en-AU" dirty="0">
                <a:ea typeface="SimSun" panose="02010600030101010101" pitchFamily="2" charset="-122"/>
                <a:cs typeface="Times New Roman" panose="02020603050405020304" pitchFamily="18" charset="0"/>
              </a:rPr>
              <a:t>d</a:t>
            </a:r>
            <a:r>
              <a:rPr lang="en-AU" dirty="0">
                <a:effectLst/>
                <a:ea typeface="SimSun" panose="02010600030101010101" pitchFamily="2" charset="-122"/>
                <a:cs typeface="Times New Roman" panose="02020603050405020304" pitchFamily="18" charset="0"/>
              </a:rPr>
              <a:t>istributions</a:t>
            </a:r>
            <a:endParaRPr lang="en-AU" dirty="0"/>
          </a:p>
        </p:txBody>
      </p:sp>
      <p:sp>
        <p:nvSpPr>
          <p:cNvPr id="3" name="Text Placeholder 2">
            <a:extLst>
              <a:ext uri="{FF2B5EF4-FFF2-40B4-BE49-F238E27FC236}">
                <a16:creationId xmlns:a16="http://schemas.microsoft.com/office/drawing/2014/main" id="{5BDCFC51-48ED-4965-9EE9-63D63B17B598}"/>
              </a:ext>
            </a:extLst>
          </p:cNvPr>
          <p:cNvSpPr>
            <a:spLocks noGrp="1"/>
          </p:cNvSpPr>
          <p:nvPr>
            <p:ph type="body" sz="quarter" idx="10"/>
          </p:nvPr>
        </p:nvSpPr>
        <p:spPr>
          <a:xfrm>
            <a:off x="838200" y="1414400"/>
            <a:ext cx="10515600" cy="4486861"/>
          </a:xfrm>
        </p:spPr>
        <p:txBody>
          <a:bodyPr/>
          <a:lstStyle/>
          <a:p>
            <a:pPr marL="342900" indent="-342900">
              <a:buFont typeface="Wingdings" panose="05000000000000000000" pitchFamily="2" charset="2"/>
              <a:buChar char="§"/>
            </a:pPr>
            <a:r>
              <a:rPr lang="en-AU" dirty="0">
                <a:effectLst/>
                <a:latin typeface="Calibri" panose="020F0502020204030204" pitchFamily="34" charset="0"/>
                <a:ea typeface="SimSun" panose="02010600030101010101" pitchFamily="2" charset="-122"/>
                <a:cs typeface="Times New Roman" panose="02020603050405020304" pitchFamily="18" charset="0"/>
              </a:rPr>
              <a:t>None of the ‘other beneficiaries’ are affiliates of each other or of Mr Brown or Mrs Brown</a:t>
            </a:r>
            <a:endParaRPr lang="en-AU"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AU" dirty="0"/>
          </a:p>
        </p:txBody>
      </p:sp>
      <p:graphicFrame>
        <p:nvGraphicFramePr>
          <p:cNvPr id="4" name="Table 3">
            <a:extLst>
              <a:ext uri="{FF2B5EF4-FFF2-40B4-BE49-F238E27FC236}">
                <a16:creationId xmlns:a16="http://schemas.microsoft.com/office/drawing/2014/main" id="{96A81AC1-49F6-D85C-44BF-849A301B15E9}"/>
              </a:ext>
            </a:extLst>
          </p:cNvPr>
          <p:cNvGraphicFramePr>
            <a:graphicFrameLocks noGrp="1"/>
          </p:cNvGraphicFramePr>
          <p:nvPr>
            <p:extLst>
              <p:ext uri="{D42A27DB-BD31-4B8C-83A1-F6EECF244321}">
                <p14:modId xmlns:p14="http://schemas.microsoft.com/office/powerpoint/2010/main" val="3807043825"/>
              </p:ext>
            </p:extLst>
          </p:nvPr>
        </p:nvGraphicFramePr>
        <p:xfrm>
          <a:off x="838200" y="2432176"/>
          <a:ext cx="10584000" cy="3744001"/>
        </p:xfrm>
        <a:graphic>
          <a:graphicData uri="http://schemas.openxmlformats.org/drawingml/2006/table">
            <a:tbl>
              <a:tblPr firstRow="1" firstCol="1" bandRow="1">
                <a:tableStyleId>{5C22544A-7EE6-4342-B048-85BDC9FD1C3A}</a:tableStyleId>
              </a:tblPr>
              <a:tblGrid>
                <a:gridCol w="2646000">
                  <a:extLst>
                    <a:ext uri="{9D8B030D-6E8A-4147-A177-3AD203B41FA5}">
                      <a16:colId xmlns:a16="http://schemas.microsoft.com/office/drawing/2014/main" val="3038935021"/>
                    </a:ext>
                  </a:extLst>
                </a:gridCol>
                <a:gridCol w="2646000">
                  <a:extLst>
                    <a:ext uri="{9D8B030D-6E8A-4147-A177-3AD203B41FA5}">
                      <a16:colId xmlns:a16="http://schemas.microsoft.com/office/drawing/2014/main" val="1422130629"/>
                    </a:ext>
                  </a:extLst>
                </a:gridCol>
                <a:gridCol w="2646000">
                  <a:extLst>
                    <a:ext uri="{9D8B030D-6E8A-4147-A177-3AD203B41FA5}">
                      <a16:colId xmlns:a16="http://schemas.microsoft.com/office/drawing/2014/main" val="3424582378"/>
                    </a:ext>
                  </a:extLst>
                </a:gridCol>
                <a:gridCol w="2646000">
                  <a:extLst>
                    <a:ext uri="{9D8B030D-6E8A-4147-A177-3AD203B41FA5}">
                      <a16:colId xmlns:a16="http://schemas.microsoft.com/office/drawing/2014/main" val="329105383"/>
                    </a:ext>
                  </a:extLst>
                </a:gridCol>
              </a:tblGrid>
              <a:tr h="541893">
                <a:tc>
                  <a:txBody>
                    <a:bodyPr/>
                    <a:lstStyle/>
                    <a:p>
                      <a:pPr algn="just">
                        <a:spcBef>
                          <a:spcPts val="600"/>
                        </a:spcBef>
                        <a:spcAft>
                          <a:spcPts val="600"/>
                        </a:spcAft>
                      </a:pPr>
                      <a:r>
                        <a:rPr lang="en-US" sz="2400" dirty="0">
                          <a:effectLst/>
                        </a:rPr>
                        <a:t>Year</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400" dirty="0">
                          <a:effectLst/>
                        </a:rPr>
                        <a:t>Mr Brown</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400" dirty="0">
                          <a:effectLst/>
                        </a:rPr>
                        <a:t>Mrs Brown</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400" dirty="0">
                          <a:effectLst/>
                        </a:rPr>
                        <a:t>Other beneficiaries</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extLst>
                  <a:ext uri="{0D108BD9-81ED-4DB2-BD59-A6C34878D82A}">
                    <a16:rowId xmlns:a16="http://schemas.microsoft.com/office/drawing/2014/main" val="3081096496"/>
                  </a:ext>
                </a:extLst>
              </a:tr>
              <a:tr h="541893">
                <a:tc>
                  <a:txBody>
                    <a:bodyPr/>
                    <a:lstStyle/>
                    <a:p>
                      <a:pPr algn="just">
                        <a:spcBef>
                          <a:spcPts val="600"/>
                        </a:spcBef>
                        <a:spcAft>
                          <a:spcPts val="600"/>
                        </a:spcAft>
                      </a:pPr>
                      <a:r>
                        <a:rPr lang="en-US" sz="2400" dirty="0">
                          <a:effectLst/>
                        </a:rPr>
                        <a:t>2022</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400" dirty="0">
                          <a:effectLst/>
                        </a:rPr>
                        <a:t>15%</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algn="ctr">
                        <a:spcBef>
                          <a:spcPts val="600"/>
                        </a:spcBef>
                        <a:spcAft>
                          <a:spcPts val="600"/>
                        </a:spcAft>
                      </a:pPr>
                      <a:r>
                        <a:rPr lang="en-US" sz="2400" dirty="0">
                          <a:effectLst/>
                        </a:rPr>
                        <a:t>35%</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algn="ctr">
                        <a:spcBef>
                          <a:spcPts val="600"/>
                        </a:spcBef>
                        <a:spcAft>
                          <a:spcPts val="600"/>
                        </a:spcAft>
                      </a:pPr>
                      <a:r>
                        <a:rPr lang="en-US" sz="2400" dirty="0">
                          <a:effectLst/>
                        </a:rPr>
                        <a:t>50%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209810033"/>
                  </a:ext>
                </a:extLst>
              </a:tr>
              <a:tr h="1576429">
                <a:tc>
                  <a:txBody>
                    <a:bodyPr/>
                    <a:lstStyle/>
                    <a:p>
                      <a:pPr algn="just">
                        <a:spcBef>
                          <a:spcPts val="600"/>
                        </a:spcBef>
                        <a:spcAft>
                          <a:spcPts val="600"/>
                        </a:spcAft>
                      </a:pPr>
                      <a:r>
                        <a:rPr lang="en-US" sz="2400" dirty="0">
                          <a:effectLst/>
                        </a:rPr>
                        <a:t>2021</a:t>
                      </a:r>
                      <a:endParaRPr lang="en-AU" sz="2400" dirty="0">
                        <a:effectLst/>
                      </a:endParaRPr>
                    </a:p>
                    <a:p>
                      <a:pPr algn="just">
                        <a:spcBef>
                          <a:spcPts val="600"/>
                        </a:spcBef>
                        <a:spcAft>
                          <a:spcPts val="600"/>
                        </a:spcAft>
                      </a:pPr>
                      <a:r>
                        <a:rPr lang="en-US" sz="2400" dirty="0">
                          <a:effectLst/>
                        </a:rPr>
                        <a:t>TAX LOSS</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400" dirty="0">
                          <a:effectLst/>
                        </a:rPr>
                        <a:t>–</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algn="ctr">
                        <a:spcBef>
                          <a:spcPts val="600"/>
                        </a:spcBef>
                        <a:spcAft>
                          <a:spcPts val="600"/>
                        </a:spcAft>
                      </a:pPr>
                      <a:r>
                        <a:rPr lang="en-US" sz="2400" dirty="0">
                          <a:effectLst/>
                        </a:rPr>
                        <a:t>–</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algn="ctr">
                        <a:spcBef>
                          <a:spcPts val="600"/>
                        </a:spcBef>
                        <a:spcAft>
                          <a:spcPts val="600"/>
                        </a:spcAft>
                      </a:pPr>
                      <a:r>
                        <a:rPr lang="en-US" sz="2400" dirty="0">
                          <a:effectLst/>
                        </a:rPr>
                        <a:t>–</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1626153815"/>
                  </a:ext>
                </a:extLst>
              </a:tr>
              <a:tr h="541893">
                <a:tc>
                  <a:txBody>
                    <a:bodyPr/>
                    <a:lstStyle/>
                    <a:p>
                      <a:pPr algn="just">
                        <a:spcBef>
                          <a:spcPts val="600"/>
                        </a:spcBef>
                        <a:spcAft>
                          <a:spcPts val="600"/>
                        </a:spcAft>
                      </a:pPr>
                      <a:r>
                        <a:rPr lang="en-US" sz="2400" dirty="0">
                          <a:effectLst/>
                        </a:rPr>
                        <a:t>2020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400" dirty="0">
                          <a:effectLst/>
                        </a:rPr>
                        <a:t>10%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algn="ctr">
                        <a:spcBef>
                          <a:spcPts val="600"/>
                        </a:spcBef>
                        <a:spcAft>
                          <a:spcPts val="600"/>
                        </a:spcAft>
                      </a:pPr>
                      <a:r>
                        <a:rPr lang="en-US" sz="2400" dirty="0">
                          <a:effectLst/>
                        </a:rPr>
                        <a:t>30%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algn="ctr">
                        <a:spcBef>
                          <a:spcPts val="600"/>
                        </a:spcBef>
                        <a:spcAft>
                          <a:spcPts val="600"/>
                        </a:spcAft>
                      </a:pPr>
                      <a:r>
                        <a:rPr lang="en-US" sz="2400" dirty="0">
                          <a:effectLst/>
                        </a:rPr>
                        <a:t>60%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1392739623"/>
                  </a:ext>
                </a:extLst>
              </a:tr>
              <a:tr h="541893">
                <a:tc>
                  <a:txBody>
                    <a:bodyPr/>
                    <a:lstStyle/>
                    <a:p>
                      <a:pPr algn="just">
                        <a:spcBef>
                          <a:spcPts val="600"/>
                        </a:spcBef>
                        <a:spcAft>
                          <a:spcPts val="600"/>
                        </a:spcAft>
                      </a:pPr>
                      <a:r>
                        <a:rPr lang="en-US" sz="2400" dirty="0">
                          <a:effectLst/>
                        </a:rPr>
                        <a:t>2019</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400" dirty="0">
                          <a:effectLst/>
                        </a:rPr>
                        <a:t>20%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algn="ctr">
                        <a:spcBef>
                          <a:spcPts val="600"/>
                        </a:spcBef>
                        <a:spcAft>
                          <a:spcPts val="600"/>
                        </a:spcAft>
                      </a:pPr>
                      <a:r>
                        <a:rPr lang="en-US" sz="2400" dirty="0">
                          <a:effectLst/>
                        </a:rPr>
                        <a:t>30%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algn="ctr">
                        <a:spcBef>
                          <a:spcPts val="600"/>
                        </a:spcBef>
                        <a:spcAft>
                          <a:spcPts val="600"/>
                        </a:spcAft>
                      </a:pPr>
                      <a:r>
                        <a:rPr lang="en-US" sz="2400" dirty="0">
                          <a:effectLst/>
                        </a:rPr>
                        <a:t>50%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655633723"/>
                  </a:ext>
                </a:extLst>
              </a:tr>
            </a:tbl>
          </a:graphicData>
        </a:graphic>
      </p:graphicFrame>
      <p:sp>
        <p:nvSpPr>
          <p:cNvPr id="5" name="TextBox 4">
            <a:extLst>
              <a:ext uri="{FF2B5EF4-FFF2-40B4-BE49-F238E27FC236}">
                <a16:creationId xmlns:a16="http://schemas.microsoft.com/office/drawing/2014/main" id="{828F6C22-4D0D-6B58-3350-E8ECF04F33D1}"/>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18</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8784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8D4A-345E-485C-8FC6-3E26F406BD15}"/>
              </a:ext>
            </a:extLst>
          </p:cNvPr>
          <p:cNvSpPr>
            <a:spLocks noGrp="1"/>
          </p:cNvSpPr>
          <p:nvPr>
            <p:ph type="title"/>
          </p:nvPr>
        </p:nvSpPr>
        <p:spPr/>
        <p:txBody>
          <a:bodyPr>
            <a:noAutofit/>
          </a:bodyPr>
          <a:lstStyle/>
          <a:p>
            <a:pPr>
              <a:spcBef>
                <a:spcPts val="2400"/>
              </a:spcBef>
              <a:spcAft>
                <a:spcPts val="600"/>
              </a:spcAft>
            </a:pPr>
            <a:r>
              <a:rPr lang="en-US" dirty="0">
                <a:solidFill>
                  <a:srgbClr val="000000"/>
                </a:solidFill>
                <a:ea typeface="Times New Roman" panose="02020603050405020304" pitchFamily="18" charset="0"/>
                <a:cs typeface="Times New Roman" panose="02020603050405020304" pitchFamily="18" charset="0"/>
              </a:rPr>
              <a:t>Alternative </a:t>
            </a:r>
            <a:r>
              <a:rPr lang="en-AU" dirty="0">
                <a:solidFill>
                  <a:srgbClr val="000000"/>
                </a:solidFill>
                <a:effectLst/>
                <a:ea typeface="Times New Roman" panose="02020603050405020304" pitchFamily="18" charset="0"/>
                <a:cs typeface="Times New Roman" panose="02020603050405020304" pitchFamily="18" charset="0"/>
              </a:rPr>
              <a:t>scenario 3 — minority shareholding held by management</a:t>
            </a:r>
            <a:endParaRPr lang="en-AU" dirty="0">
              <a:effectLst/>
              <a:ea typeface="Times New Roman" panose="02020603050405020304" pitchFamily="18" charset="0"/>
              <a:cs typeface="Times New Roman" panose="02020603050405020304" pitchFamily="18" charset="0"/>
            </a:endParaRPr>
          </a:p>
        </p:txBody>
      </p:sp>
      <p:grpSp>
        <p:nvGrpSpPr>
          <p:cNvPr id="35" name="Canvas 2072804115">
            <a:extLst>
              <a:ext uri="{FF2B5EF4-FFF2-40B4-BE49-F238E27FC236}">
                <a16:creationId xmlns:a16="http://schemas.microsoft.com/office/drawing/2014/main" id="{EB063C11-65AF-C9FB-74B7-1798FFBB15BE}"/>
              </a:ext>
            </a:extLst>
          </p:cNvPr>
          <p:cNvGrpSpPr/>
          <p:nvPr/>
        </p:nvGrpSpPr>
        <p:grpSpPr>
          <a:xfrm>
            <a:off x="838200" y="1597796"/>
            <a:ext cx="10872000" cy="4608000"/>
            <a:chOff x="0" y="22865"/>
            <a:chExt cx="5731510" cy="2903855"/>
          </a:xfrm>
        </p:grpSpPr>
        <p:sp>
          <p:nvSpPr>
            <p:cNvPr id="36" name="Rectangle 35">
              <a:extLst>
                <a:ext uri="{FF2B5EF4-FFF2-40B4-BE49-F238E27FC236}">
                  <a16:creationId xmlns:a16="http://schemas.microsoft.com/office/drawing/2014/main" id="{35414ED9-8BB3-534B-C0B4-E295B40406A9}"/>
                </a:ext>
              </a:extLst>
            </p:cNvPr>
            <p:cNvSpPr/>
            <p:nvPr/>
          </p:nvSpPr>
          <p:spPr>
            <a:xfrm>
              <a:off x="0" y="22865"/>
              <a:ext cx="5731510" cy="2903855"/>
            </a:xfrm>
            <a:prstGeom prst="rect">
              <a:avLst/>
            </a:prstGeom>
            <a:solidFill>
              <a:prstClr val="white"/>
            </a:solidFill>
            <a:ln>
              <a:solidFill>
                <a:srgbClr val="000000"/>
              </a:solidFill>
            </a:ln>
          </p:spPr>
          <p:txBody>
            <a:bodyPr/>
            <a:lstStyle/>
            <a:p>
              <a:endParaRPr lang="en-AU" dirty="0"/>
            </a:p>
          </p:txBody>
        </p:sp>
        <p:sp>
          <p:nvSpPr>
            <p:cNvPr id="37" name="Text Box 2">
              <a:extLst>
                <a:ext uri="{FF2B5EF4-FFF2-40B4-BE49-F238E27FC236}">
                  <a16:creationId xmlns:a16="http://schemas.microsoft.com/office/drawing/2014/main" id="{C05CABDC-6FF6-4C50-CEC3-BAFA4DBD9996}"/>
                </a:ext>
              </a:extLst>
            </p:cNvPr>
            <p:cNvSpPr txBox="1">
              <a:spLocks noChangeArrowheads="1"/>
            </p:cNvSpPr>
            <p:nvPr/>
          </p:nvSpPr>
          <p:spPr bwMode="auto">
            <a:xfrm>
              <a:off x="3976589" y="1882541"/>
              <a:ext cx="1041638" cy="648518"/>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directors and executive management</a:t>
              </a:r>
            </a:p>
          </p:txBody>
        </p:sp>
        <p:sp>
          <p:nvSpPr>
            <p:cNvPr id="38" name="Text Box 2">
              <a:extLst>
                <a:ext uri="{FF2B5EF4-FFF2-40B4-BE49-F238E27FC236}">
                  <a16:creationId xmlns:a16="http://schemas.microsoft.com/office/drawing/2014/main" id="{C8D5132B-C2A5-0127-B4AD-3B8F35E52931}"/>
                </a:ext>
              </a:extLst>
            </p:cNvPr>
            <p:cNvSpPr txBox="1">
              <a:spLocks noChangeArrowheads="1"/>
            </p:cNvSpPr>
            <p:nvPr/>
          </p:nvSpPr>
          <p:spPr bwMode="auto">
            <a:xfrm>
              <a:off x="2828102" y="1884354"/>
              <a:ext cx="558164" cy="247130"/>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17%</a:t>
              </a:r>
            </a:p>
          </p:txBody>
        </p:sp>
        <p:sp>
          <p:nvSpPr>
            <p:cNvPr id="39" name="Text Box 2">
              <a:extLst>
                <a:ext uri="{FF2B5EF4-FFF2-40B4-BE49-F238E27FC236}">
                  <a16:creationId xmlns:a16="http://schemas.microsoft.com/office/drawing/2014/main" id="{96A2225A-9F31-4448-FC18-EE8381904F21}"/>
                </a:ext>
              </a:extLst>
            </p:cNvPr>
            <p:cNvSpPr txBox="1">
              <a:spLocks noChangeArrowheads="1"/>
            </p:cNvSpPr>
            <p:nvPr/>
          </p:nvSpPr>
          <p:spPr bwMode="auto">
            <a:xfrm>
              <a:off x="2403821" y="1474792"/>
              <a:ext cx="558799" cy="247130"/>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41%</a:t>
              </a:r>
            </a:p>
          </p:txBody>
        </p:sp>
        <p:sp>
          <p:nvSpPr>
            <p:cNvPr id="40" name="Text Box 2">
              <a:extLst>
                <a:ext uri="{FF2B5EF4-FFF2-40B4-BE49-F238E27FC236}">
                  <a16:creationId xmlns:a16="http://schemas.microsoft.com/office/drawing/2014/main" id="{D2ABFBBA-0DF4-6D18-0898-C8908FB227A8}"/>
                </a:ext>
              </a:extLst>
            </p:cNvPr>
            <p:cNvSpPr txBox="1">
              <a:spLocks noChangeArrowheads="1"/>
            </p:cNvSpPr>
            <p:nvPr/>
          </p:nvSpPr>
          <p:spPr bwMode="auto">
            <a:xfrm>
              <a:off x="1248020" y="1518682"/>
              <a:ext cx="558834" cy="247130"/>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42%</a:t>
              </a:r>
            </a:p>
          </p:txBody>
        </p:sp>
        <p:sp>
          <p:nvSpPr>
            <p:cNvPr id="41" name="Rectangle 40">
              <a:extLst>
                <a:ext uri="{FF2B5EF4-FFF2-40B4-BE49-F238E27FC236}">
                  <a16:creationId xmlns:a16="http://schemas.microsoft.com/office/drawing/2014/main" id="{26B56BC9-8B01-BC63-F5D7-318205C29519}"/>
                </a:ext>
              </a:extLst>
            </p:cNvPr>
            <p:cNvSpPr/>
            <p:nvPr/>
          </p:nvSpPr>
          <p:spPr>
            <a:xfrm>
              <a:off x="373076" y="394907"/>
              <a:ext cx="833815" cy="509024"/>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dirty="0">
                  <a:effectLst/>
                  <a:ea typeface="Calibri" panose="020F0502020204030204" pitchFamily="34" charset="0"/>
                  <a:cs typeface="Times New Roman" panose="02020603050405020304" pitchFamily="18" charset="0"/>
                </a:rPr>
                <a:t>Corporate trustee</a:t>
              </a:r>
            </a:p>
          </p:txBody>
        </p:sp>
        <p:sp>
          <p:nvSpPr>
            <p:cNvPr id="42" name="Hexagon 41">
              <a:extLst>
                <a:ext uri="{FF2B5EF4-FFF2-40B4-BE49-F238E27FC236}">
                  <a16:creationId xmlns:a16="http://schemas.microsoft.com/office/drawing/2014/main" id="{D54899BB-86A7-002D-E306-8CD2D6CEDE74}"/>
                </a:ext>
              </a:extLst>
            </p:cNvPr>
            <p:cNvSpPr/>
            <p:nvPr/>
          </p:nvSpPr>
          <p:spPr>
            <a:xfrm>
              <a:off x="943225" y="681331"/>
              <a:ext cx="818515" cy="651510"/>
            </a:xfrm>
            <a:prstGeom prst="hexagon">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dirty="0">
                  <a:solidFill>
                    <a:schemeClr val="tx1"/>
                  </a:solidFill>
                  <a:effectLst/>
                  <a:ea typeface="Calibri" panose="020F0502020204030204" pitchFamily="34" charset="0"/>
                  <a:cs typeface="Times New Roman" panose="02020603050405020304" pitchFamily="18" charset="0"/>
                </a:rPr>
                <a:t>Brown</a:t>
              </a:r>
              <a:r>
                <a:rPr lang="en-AU" u="sng" dirty="0">
                  <a:solidFill>
                    <a:srgbClr val="008080"/>
                  </a:solidFill>
                  <a:effectLst/>
                  <a:ea typeface="Calibri" panose="020F0502020204030204" pitchFamily="34" charset="0"/>
                  <a:cs typeface="Times New Roman" panose="02020603050405020304" pitchFamily="18" charset="0"/>
                </a:rPr>
                <a:t> </a:t>
              </a:r>
              <a:r>
                <a:rPr lang="en-AU" dirty="0">
                  <a:effectLst/>
                  <a:ea typeface="Calibri" panose="020F0502020204030204" pitchFamily="34" charset="0"/>
                  <a:cs typeface="Times New Roman" panose="02020603050405020304" pitchFamily="18" charset="0"/>
                </a:rPr>
                <a:t>F/T</a:t>
              </a:r>
            </a:p>
          </p:txBody>
        </p:sp>
        <p:sp>
          <p:nvSpPr>
            <p:cNvPr id="43" name="Rectangle 42">
              <a:extLst>
                <a:ext uri="{FF2B5EF4-FFF2-40B4-BE49-F238E27FC236}">
                  <a16:creationId xmlns:a16="http://schemas.microsoft.com/office/drawing/2014/main" id="{1521AA06-472B-D239-EA7B-A6245D49743E}"/>
                </a:ext>
              </a:extLst>
            </p:cNvPr>
            <p:cNvSpPr/>
            <p:nvPr/>
          </p:nvSpPr>
          <p:spPr>
            <a:xfrm>
              <a:off x="1997050" y="1923845"/>
              <a:ext cx="673735" cy="521970"/>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dirty="0">
                  <a:solidFill>
                    <a:schemeClr val="tx1"/>
                  </a:solidFill>
                  <a:effectLst/>
                  <a:ea typeface="Calibri" panose="020F0502020204030204" pitchFamily="34" charset="0"/>
                  <a:cs typeface="Times New Roman" panose="02020603050405020304" pitchFamily="18" charset="0"/>
                </a:rPr>
                <a:t>Grant </a:t>
              </a:r>
              <a:br>
                <a:rPr lang="en-AU" dirty="0">
                  <a:effectLst/>
                  <a:ea typeface="Calibri" panose="020F0502020204030204" pitchFamily="34" charset="0"/>
                  <a:cs typeface="Times New Roman" panose="02020603050405020304" pitchFamily="18" charset="0"/>
                </a:rPr>
              </a:br>
              <a:r>
                <a:rPr lang="en-AU" dirty="0">
                  <a:effectLst/>
                  <a:ea typeface="Calibri" panose="020F0502020204030204" pitchFamily="34" charset="0"/>
                  <a:cs typeface="Times New Roman" panose="02020603050405020304" pitchFamily="18" charset="0"/>
                </a:rPr>
                <a:t>Pty Ltd</a:t>
              </a:r>
            </a:p>
          </p:txBody>
        </p:sp>
        <p:cxnSp>
          <p:nvCxnSpPr>
            <p:cNvPr id="44" name="Straight Arrow Connector 43">
              <a:extLst>
                <a:ext uri="{FF2B5EF4-FFF2-40B4-BE49-F238E27FC236}">
                  <a16:creationId xmlns:a16="http://schemas.microsoft.com/office/drawing/2014/main" id="{5C71014E-5E25-121E-7002-4ED254A3868D}"/>
                </a:ext>
              </a:extLst>
            </p:cNvPr>
            <p:cNvCxnSpPr/>
            <p:nvPr/>
          </p:nvCxnSpPr>
          <p:spPr>
            <a:xfrm>
              <a:off x="1521562" y="1346609"/>
              <a:ext cx="475488" cy="57713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45" name="Straight Arrow Connector 44">
              <a:extLst>
                <a:ext uri="{FF2B5EF4-FFF2-40B4-BE49-F238E27FC236}">
                  <a16:creationId xmlns:a16="http://schemas.microsoft.com/office/drawing/2014/main" id="{BE18530A-DB54-5550-DFD1-BCF37ACBA087}"/>
                </a:ext>
              </a:extLst>
            </p:cNvPr>
            <p:cNvCxnSpPr/>
            <p:nvPr/>
          </p:nvCxnSpPr>
          <p:spPr>
            <a:xfrm flipV="1">
              <a:off x="2670785" y="1436814"/>
              <a:ext cx="336499" cy="476819"/>
            </a:xfrm>
            <a:prstGeom prst="straightConnector1">
              <a:avLst/>
            </a:prstGeom>
            <a:ln>
              <a:headEnd type="triangle" w="med" len="med"/>
              <a:tailEnd type="none" w="med" len="med"/>
            </a:ln>
          </p:spPr>
          <p:style>
            <a:lnRef idx="1">
              <a:schemeClr val="accent6"/>
            </a:lnRef>
            <a:fillRef idx="0">
              <a:schemeClr val="accent6"/>
            </a:fillRef>
            <a:effectRef idx="0">
              <a:schemeClr val="accent6"/>
            </a:effectRef>
            <a:fontRef idx="minor">
              <a:schemeClr val="tx1"/>
            </a:fontRef>
          </p:style>
        </p:cxnSp>
        <p:pic>
          <p:nvPicPr>
            <p:cNvPr id="46" name="Graphic 1972918891" descr="Users with solid fill">
              <a:extLst>
                <a:ext uri="{FF2B5EF4-FFF2-40B4-BE49-F238E27FC236}">
                  <a16:creationId xmlns:a16="http://schemas.microsoft.com/office/drawing/2014/main" id="{5945EA81-0639-031A-961E-32F0D632762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49726" y="1938528"/>
              <a:ext cx="409372" cy="409372"/>
            </a:xfrm>
            <a:prstGeom prst="rect">
              <a:avLst/>
            </a:prstGeom>
          </p:spPr>
        </p:pic>
        <p:cxnSp>
          <p:nvCxnSpPr>
            <p:cNvPr id="47" name="Straight Arrow Connector 46">
              <a:extLst>
                <a:ext uri="{FF2B5EF4-FFF2-40B4-BE49-F238E27FC236}">
                  <a16:creationId xmlns:a16="http://schemas.microsoft.com/office/drawing/2014/main" id="{8840BA37-F582-C4C0-33FB-1B92828DCC8E}"/>
                </a:ext>
              </a:extLst>
            </p:cNvPr>
            <p:cNvCxnSpPr/>
            <p:nvPr/>
          </p:nvCxnSpPr>
          <p:spPr>
            <a:xfrm flipH="1">
              <a:off x="2670785" y="2147439"/>
              <a:ext cx="822767" cy="0"/>
            </a:xfrm>
            <a:prstGeom prst="straightConnector1">
              <a:avLst/>
            </a:prstGeom>
            <a:ln>
              <a:headEnd type="triangle" w="med" len="med"/>
              <a:tailEnd type="none" w="med" len="med"/>
            </a:ln>
          </p:spPr>
          <p:style>
            <a:lnRef idx="1">
              <a:schemeClr val="accent6"/>
            </a:lnRef>
            <a:fillRef idx="0">
              <a:schemeClr val="accent6"/>
            </a:fillRef>
            <a:effectRef idx="0">
              <a:schemeClr val="accent6"/>
            </a:effectRef>
            <a:fontRef idx="minor">
              <a:schemeClr val="tx1"/>
            </a:fontRef>
          </p:style>
        </p:cxnSp>
        <p:sp>
          <p:nvSpPr>
            <p:cNvPr id="48" name="Text Box 2">
              <a:extLst>
                <a:ext uri="{FF2B5EF4-FFF2-40B4-BE49-F238E27FC236}">
                  <a16:creationId xmlns:a16="http://schemas.microsoft.com/office/drawing/2014/main" id="{26F6E5A8-4C6F-696C-70ED-C2FB732B12C0}"/>
                </a:ext>
              </a:extLst>
            </p:cNvPr>
            <p:cNvSpPr txBox="1">
              <a:spLocks noChangeArrowheads="1"/>
            </p:cNvSpPr>
            <p:nvPr/>
          </p:nvSpPr>
          <p:spPr bwMode="auto">
            <a:xfrm>
              <a:off x="2873846" y="604539"/>
              <a:ext cx="1024840" cy="447871"/>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Mr Jackman —passive investor</a:t>
              </a:r>
            </a:p>
          </p:txBody>
        </p:sp>
        <p:pic>
          <p:nvPicPr>
            <p:cNvPr id="50" name="Graphic 1" descr="Man outline">
              <a:extLst>
                <a:ext uri="{FF2B5EF4-FFF2-40B4-BE49-F238E27FC236}">
                  <a16:creationId xmlns:a16="http://schemas.microsoft.com/office/drawing/2014/main" id="{0B58FDF0-3A8F-92C2-3B95-3801B3DAA26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62620" y="1021248"/>
              <a:ext cx="436880" cy="436880"/>
            </a:xfrm>
            <a:prstGeom prst="rect">
              <a:avLst/>
            </a:prstGeom>
          </p:spPr>
        </p:pic>
      </p:grpSp>
      <p:sp>
        <p:nvSpPr>
          <p:cNvPr id="4" name="TextBox 3">
            <a:extLst>
              <a:ext uri="{FF2B5EF4-FFF2-40B4-BE49-F238E27FC236}">
                <a16:creationId xmlns:a16="http://schemas.microsoft.com/office/drawing/2014/main" id="{AC0387E5-2768-6296-81DD-3D6344E163BA}"/>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21</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86896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8D4A-345E-485C-8FC6-3E26F406BD15}"/>
              </a:ext>
            </a:extLst>
          </p:cNvPr>
          <p:cNvSpPr>
            <a:spLocks noGrp="1"/>
          </p:cNvSpPr>
          <p:nvPr>
            <p:ph type="title"/>
          </p:nvPr>
        </p:nvSpPr>
        <p:spPr/>
        <p:txBody>
          <a:bodyPr>
            <a:normAutofit/>
          </a:bodyPr>
          <a:lstStyle/>
          <a:p>
            <a:r>
              <a:rPr lang="en-AU" dirty="0"/>
              <a:t>Aggregated turnover calculation — 2022–23 </a:t>
            </a:r>
          </a:p>
        </p:txBody>
      </p:sp>
      <p:sp>
        <p:nvSpPr>
          <p:cNvPr id="3" name="Text Placeholder 2">
            <a:extLst>
              <a:ext uri="{FF2B5EF4-FFF2-40B4-BE49-F238E27FC236}">
                <a16:creationId xmlns:a16="http://schemas.microsoft.com/office/drawing/2014/main" id="{5BDCFC51-48ED-4965-9EE9-63D63B17B598}"/>
              </a:ext>
            </a:extLst>
          </p:cNvPr>
          <p:cNvSpPr>
            <a:spLocks noGrp="1"/>
          </p:cNvSpPr>
          <p:nvPr>
            <p:ph type="body" sz="quarter" idx="10"/>
          </p:nvPr>
        </p:nvSpPr>
        <p:spPr>
          <a:xfrm>
            <a:off x="856836" y="1308874"/>
            <a:ext cx="10515600" cy="5184000"/>
          </a:xfrm>
        </p:spPr>
        <p:txBody>
          <a:bodyPr>
            <a:normAutofit fontScale="92500" lnSpcReduction="20000"/>
          </a:bodyPr>
          <a:lstStyle/>
          <a:p>
            <a:pPr algn="l">
              <a:spcBef>
                <a:spcPts val="600"/>
              </a:spcBef>
              <a:spcAft>
                <a:spcPts val="1800"/>
              </a:spcAft>
            </a:pPr>
            <a:endParaRPr lang="en-AU"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l">
              <a:spcBef>
                <a:spcPts val="600"/>
              </a:spcBef>
              <a:spcAft>
                <a:spcPts val="1800"/>
              </a:spcAft>
            </a:pPr>
            <a:endParaRPr lang="en-AU" sz="1800" dirty="0">
              <a:latin typeface="Calibri" panose="020F0502020204030204" pitchFamily="34" charset="0"/>
              <a:ea typeface="Times New Roman" panose="02020603050405020304" pitchFamily="18" charset="0"/>
              <a:cs typeface="Times New Roman" panose="02020603050405020304" pitchFamily="18" charset="0"/>
            </a:endParaRPr>
          </a:p>
          <a:p>
            <a:pPr algn="l">
              <a:spcBef>
                <a:spcPts val="600"/>
              </a:spcBef>
              <a:spcAft>
                <a:spcPts val="1800"/>
              </a:spcAft>
            </a:pPr>
            <a:endParaRPr lang="en-AU"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l">
              <a:spcBef>
                <a:spcPts val="600"/>
              </a:spcBef>
              <a:spcAft>
                <a:spcPts val="1800"/>
              </a:spcAft>
            </a:pPr>
            <a:endParaRPr lang="en-AU" sz="1800" dirty="0">
              <a:latin typeface="Calibri" panose="020F0502020204030204" pitchFamily="34" charset="0"/>
              <a:ea typeface="Times New Roman" panose="02020603050405020304" pitchFamily="18" charset="0"/>
              <a:cs typeface="Times New Roman" panose="02020603050405020304" pitchFamily="18" charset="0"/>
            </a:endParaRPr>
          </a:p>
          <a:p>
            <a:pPr algn="l">
              <a:spcBef>
                <a:spcPts val="600"/>
              </a:spcBef>
              <a:spcAft>
                <a:spcPts val="1800"/>
              </a:spcAft>
            </a:pPr>
            <a:endParaRPr lang="en-AU"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l">
              <a:spcBef>
                <a:spcPts val="600"/>
              </a:spcBef>
              <a:spcAft>
                <a:spcPts val="1800"/>
              </a:spcAft>
            </a:pPr>
            <a:endParaRPr lang="en-AU" sz="1800" dirty="0">
              <a:latin typeface="Calibri" panose="020F0502020204030204" pitchFamily="34" charset="0"/>
              <a:ea typeface="Times New Roman" panose="02020603050405020304" pitchFamily="18" charset="0"/>
              <a:cs typeface="Times New Roman" panose="02020603050405020304" pitchFamily="18" charset="0"/>
            </a:endParaRPr>
          </a:p>
          <a:p>
            <a:pPr algn="l">
              <a:spcBef>
                <a:spcPts val="600"/>
              </a:spcBef>
              <a:spcAft>
                <a:spcPts val="1800"/>
              </a:spcAft>
            </a:pPr>
            <a:endParaRPr lang="en-AU"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285750" indent="-285750" algn="l">
              <a:spcBef>
                <a:spcPts val="600"/>
              </a:spcBef>
              <a:spcAft>
                <a:spcPts val="1800"/>
              </a:spcAft>
              <a:buFont typeface="Wingdings" panose="05000000000000000000" pitchFamily="2" charset="2"/>
              <a:buChar char="§"/>
            </a:pPr>
            <a:r>
              <a:rPr lang="en-AU" sz="20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The Company’s aggregated turnover for 2022–23 is $16 million. As this is less than $20 million, the </a:t>
            </a:r>
          </a:p>
          <a:p>
            <a:pPr marL="285750" indent="-285750" algn="l">
              <a:spcBef>
                <a:spcPts val="600"/>
              </a:spcBef>
              <a:spcAft>
                <a:spcPts val="1800"/>
              </a:spcAft>
              <a:buFont typeface="Wingdings" panose="05000000000000000000" pitchFamily="2" charset="2"/>
              <a:buChar char="§"/>
            </a:pPr>
            <a:r>
              <a:rPr lang="en-AU" sz="20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AgriCo Pty Ltd satisfies the aggregated turnover criterion for eligibility for the </a:t>
            </a:r>
            <a:r>
              <a:rPr lang="en-AU" sz="20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refundable</a:t>
            </a:r>
            <a:r>
              <a:rPr lang="en-AU" sz="20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R&amp;D tax offset for the year, as its aggregated turnover is below the $20 million threshold</a:t>
            </a:r>
          </a:p>
          <a:p>
            <a:pPr marL="285750" indent="-285750" algn="l">
              <a:spcBef>
                <a:spcPts val="600"/>
              </a:spcBef>
              <a:spcAft>
                <a:spcPts val="1800"/>
              </a:spcAft>
              <a:buFont typeface="Wingdings" panose="05000000000000000000" pitchFamily="2" charset="2"/>
              <a:buChar char="§"/>
            </a:pPr>
            <a:r>
              <a:rPr lang="en-AU" sz="2000" dirty="0">
                <a:solidFill>
                  <a:schemeClr val="tx1"/>
                </a:solidFill>
                <a:latin typeface="Calibri" panose="020F0502020204030204" pitchFamily="34" charset="0"/>
                <a:ea typeface="Times New Roman" panose="02020603050405020304" pitchFamily="18" charset="0"/>
                <a:cs typeface="Times New Roman" panose="02020603050405020304" pitchFamily="18" charset="0"/>
              </a:rPr>
              <a:t>Ignoring the alternative scenarios</a:t>
            </a:r>
            <a:endParaRPr lang="en-AU" sz="20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endParaRPr lang="en-AU" dirty="0"/>
          </a:p>
        </p:txBody>
      </p:sp>
      <p:graphicFrame>
        <p:nvGraphicFramePr>
          <p:cNvPr id="4" name="Table 3">
            <a:extLst>
              <a:ext uri="{FF2B5EF4-FFF2-40B4-BE49-F238E27FC236}">
                <a16:creationId xmlns:a16="http://schemas.microsoft.com/office/drawing/2014/main" id="{84544020-FC20-C8AE-95C4-8168DA2CDDB3}"/>
              </a:ext>
            </a:extLst>
          </p:cNvPr>
          <p:cNvGraphicFramePr>
            <a:graphicFrameLocks noGrp="1"/>
          </p:cNvGraphicFramePr>
          <p:nvPr>
            <p:extLst>
              <p:ext uri="{D42A27DB-BD31-4B8C-83A1-F6EECF244321}">
                <p14:modId xmlns:p14="http://schemas.microsoft.com/office/powerpoint/2010/main" val="452290250"/>
              </p:ext>
            </p:extLst>
          </p:nvPr>
        </p:nvGraphicFramePr>
        <p:xfrm>
          <a:off x="819564" y="1294232"/>
          <a:ext cx="10404000" cy="3811590"/>
        </p:xfrm>
        <a:graphic>
          <a:graphicData uri="http://schemas.openxmlformats.org/drawingml/2006/table">
            <a:tbl>
              <a:tblPr firstRow="1" firstCol="1" bandRow="1">
                <a:tableStyleId>{5C22544A-7EE6-4342-B048-85BDC9FD1C3A}</a:tableStyleId>
              </a:tblPr>
              <a:tblGrid>
                <a:gridCol w="3071828">
                  <a:extLst>
                    <a:ext uri="{9D8B030D-6E8A-4147-A177-3AD203B41FA5}">
                      <a16:colId xmlns:a16="http://schemas.microsoft.com/office/drawing/2014/main" val="1094828708"/>
                    </a:ext>
                  </a:extLst>
                </a:gridCol>
                <a:gridCol w="3934754">
                  <a:extLst>
                    <a:ext uri="{9D8B030D-6E8A-4147-A177-3AD203B41FA5}">
                      <a16:colId xmlns:a16="http://schemas.microsoft.com/office/drawing/2014/main" val="3586131660"/>
                    </a:ext>
                  </a:extLst>
                </a:gridCol>
                <a:gridCol w="3397418">
                  <a:extLst>
                    <a:ext uri="{9D8B030D-6E8A-4147-A177-3AD203B41FA5}">
                      <a16:colId xmlns:a16="http://schemas.microsoft.com/office/drawing/2014/main" val="2653422752"/>
                    </a:ext>
                  </a:extLst>
                </a:gridCol>
              </a:tblGrid>
              <a:tr h="547590">
                <a:tc>
                  <a:txBody>
                    <a:bodyPr/>
                    <a:lstStyle/>
                    <a:p>
                      <a:pPr algn="ctr">
                        <a:spcBef>
                          <a:spcPts val="600"/>
                        </a:spcBef>
                        <a:spcAft>
                          <a:spcPts val="600"/>
                        </a:spcAft>
                      </a:pPr>
                      <a:r>
                        <a:rPr lang="en-US" sz="2000" dirty="0">
                          <a:effectLst/>
                        </a:rPr>
                        <a:t>Entity</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000" dirty="0">
                          <a:effectLst/>
                        </a:rPr>
                        <a:t>Relationship</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000" dirty="0">
                          <a:effectLst/>
                        </a:rPr>
                        <a:t>Annual turnover 2022–23</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extLst>
                  <a:ext uri="{0D108BD9-81ED-4DB2-BD59-A6C34878D82A}">
                    <a16:rowId xmlns:a16="http://schemas.microsoft.com/office/drawing/2014/main" val="1275024811"/>
                  </a:ext>
                </a:extLst>
              </a:tr>
              <a:tr h="408000">
                <a:tc>
                  <a:txBody>
                    <a:bodyPr/>
                    <a:lstStyle/>
                    <a:p>
                      <a:pPr algn="just">
                        <a:spcBef>
                          <a:spcPts val="600"/>
                        </a:spcBef>
                        <a:spcAft>
                          <a:spcPts val="600"/>
                        </a:spcAft>
                      </a:pPr>
                      <a:r>
                        <a:rPr lang="en-US" sz="2000" dirty="0">
                          <a:effectLst/>
                        </a:rPr>
                        <a:t>AgriCo Pty Ltd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Taxpayer</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$4m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4236211378"/>
                  </a:ext>
                </a:extLst>
              </a:tr>
              <a:tr h="408000">
                <a:tc>
                  <a:txBody>
                    <a:bodyPr/>
                    <a:lstStyle/>
                    <a:p>
                      <a:pPr algn="just">
                        <a:spcBef>
                          <a:spcPts val="600"/>
                        </a:spcBef>
                        <a:spcAft>
                          <a:spcPts val="600"/>
                        </a:spcAft>
                      </a:pPr>
                      <a:r>
                        <a:rPr lang="en-US" sz="2000" dirty="0">
                          <a:effectLst/>
                        </a:rPr>
                        <a:t>The Brown Family Trust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$6m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1939502962"/>
                  </a:ext>
                </a:extLst>
              </a:tr>
              <a:tr h="408000">
                <a:tc>
                  <a:txBody>
                    <a:bodyPr/>
                    <a:lstStyle/>
                    <a:p>
                      <a:pPr algn="just">
                        <a:spcBef>
                          <a:spcPts val="600"/>
                        </a:spcBef>
                        <a:spcAft>
                          <a:spcPts val="600"/>
                        </a:spcAft>
                      </a:pPr>
                      <a:r>
                        <a:rPr lang="en-US" sz="2000" dirty="0">
                          <a:effectLst/>
                        </a:rPr>
                        <a:t>Mr Brown</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$1m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2072811233"/>
                  </a:ext>
                </a:extLst>
              </a:tr>
              <a:tr h="408000">
                <a:tc>
                  <a:txBody>
                    <a:bodyPr/>
                    <a:lstStyle/>
                    <a:p>
                      <a:pPr algn="just">
                        <a:spcBef>
                          <a:spcPts val="600"/>
                        </a:spcBef>
                        <a:spcAft>
                          <a:spcPts val="600"/>
                        </a:spcAft>
                      </a:pPr>
                      <a:r>
                        <a:rPr lang="en-US" sz="2000" dirty="0">
                          <a:effectLst/>
                        </a:rPr>
                        <a:t>Mrs Brown</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Not connected or an affiliate</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2355812520"/>
                  </a:ext>
                </a:extLst>
              </a:tr>
              <a:tr h="408000">
                <a:tc>
                  <a:txBody>
                    <a:bodyPr/>
                    <a:lstStyle/>
                    <a:p>
                      <a:pPr algn="just">
                        <a:spcBef>
                          <a:spcPts val="600"/>
                        </a:spcBef>
                        <a:spcAft>
                          <a:spcPts val="600"/>
                        </a:spcAft>
                      </a:pPr>
                      <a:r>
                        <a:rPr lang="en-US" sz="2000" dirty="0">
                          <a:effectLst/>
                        </a:rPr>
                        <a:t>Diego Pty Ltd </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$5m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1960628417"/>
                  </a:ext>
                </a:extLst>
              </a:tr>
              <a:tr h="408000">
                <a:tc>
                  <a:txBody>
                    <a:bodyPr/>
                    <a:lstStyle/>
                    <a:p>
                      <a:pPr algn="just">
                        <a:spcBef>
                          <a:spcPts val="600"/>
                        </a:spcBef>
                        <a:spcAft>
                          <a:spcPts val="600"/>
                        </a:spcAft>
                      </a:pPr>
                      <a:r>
                        <a:rPr lang="en-US" sz="2000" dirty="0">
                          <a:effectLst/>
                        </a:rPr>
                        <a:t>Grant Pty Ltd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Not connected or an affiliate</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2209568968"/>
                  </a:ext>
                </a:extLst>
              </a:tr>
              <a:tr h="408000">
                <a:tc>
                  <a:txBody>
                    <a:bodyPr/>
                    <a:lstStyle/>
                    <a:p>
                      <a:pPr algn="just">
                        <a:spcBef>
                          <a:spcPts val="600"/>
                        </a:spcBef>
                        <a:spcAft>
                          <a:spcPts val="600"/>
                        </a:spcAft>
                      </a:pPr>
                      <a:r>
                        <a:rPr lang="en-US" sz="2000" dirty="0">
                          <a:effectLst/>
                        </a:rPr>
                        <a:t>Mr Jackman</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Not connected or an affiliate</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3115081999"/>
                  </a:ext>
                </a:extLst>
              </a:tr>
              <a:tr h="408000">
                <a:tc>
                  <a:txBody>
                    <a:bodyPr/>
                    <a:lstStyle/>
                    <a:p>
                      <a:pPr algn="just">
                        <a:spcBef>
                          <a:spcPts val="600"/>
                        </a:spcBef>
                        <a:spcAft>
                          <a:spcPts val="600"/>
                        </a:spcAft>
                      </a:pPr>
                      <a:r>
                        <a:rPr lang="en-US" sz="2000" dirty="0">
                          <a:effectLst/>
                        </a:rPr>
                        <a:t> </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r">
                        <a:spcBef>
                          <a:spcPts val="600"/>
                        </a:spcBef>
                        <a:spcAft>
                          <a:spcPts val="600"/>
                        </a:spcAft>
                      </a:pPr>
                      <a:r>
                        <a:rPr lang="en-US" sz="2000" b="1" dirty="0">
                          <a:effectLst/>
                        </a:rPr>
                        <a:t>Aggregated turnover</a:t>
                      </a:r>
                      <a:endParaRPr lang="en-AU" sz="20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b="1" dirty="0">
                          <a:effectLst/>
                        </a:rPr>
                        <a:t>$16m</a:t>
                      </a:r>
                      <a:endParaRPr lang="en-AU" sz="20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3064079659"/>
                  </a:ext>
                </a:extLst>
              </a:tr>
            </a:tbl>
          </a:graphicData>
        </a:graphic>
      </p:graphicFrame>
      <p:sp>
        <p:nvSpPr>
          <p:cNvPr id="5" name="Rectangle 1">
            <a:extLst>
              <a:ext uri="{FF2B5EF4-FFF2-40B4-BE49-F238E27FC236}">
                <a16:creationId xmlns:a16="http://schemas.microsoft.com/office/drawing/2014/main" id="{73BD4D49-91C1-0845-124E-A27305AD91D3}"/>
              </a:ext>
            </a:extLst>
          </p:cNvPr>
          <p:cNvSpPr>
            <a:spLocks noChangeArrowheads="1"/>
          </p:cNvSpPr>
          <p:nvPr/>
        </p:nvSpPr>
        <p:spPr bwMode="auto">
          <a:xfrm>
            <a:off x="838836" y="1561514"/>
            <a:ext cx="3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AU" altLang="en-US" sz="1800" b="0" i="0" u="none" strike="noStrike" cap="none" normalizeH="0" baseline="0" dirty="0">
                <a:ln>
                  <a:noFill/>
                </a:ln>
                <a:solidFill>
                  <a:schemeClr val="tx1"/>
                </a:solidFill>
                <a:effectLst/>
                <a:latin typeface="Arial" panose="020B0604020202020204" pitchFamily="34" charset="0"/>
              </a:rPr>
            </a:br>
            <a:endParaRPr kumimoji="0" lang="en-AU"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C2E4EDA9-2EED-08CA-49E5-84261D66E543}"/>
              </a:ext>
            </a:extLst>
          </p:cNvPr>
          <p:cNvSpPr>
            <a:spLocks noChangeArrowheads="1"/>
          </p:cNvSpPr>
          <p:nvPr/>
        </p:nvSpPr>
        <p:spPr bwMode="auto">
          <a:xfrm>
            <a:off x="838836" y="1561514"/>
            <a:ext cx="36000" cy="952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dirty="0"/>
          </a:p>
        </p:txBody>
      </p:sp>
      <p:sp>
        <p:nvSpPr>
          <p:cNvPr id="7" name="Rectangle 3">
            <a:extLst>
              <a:ext uri="{FF2B5EF4-FFF2-40B4-BE49-F238E27FC236}">
                <a16:creationId xmlns:a16="http://schemas.microsoft.com/office/drawing/2014/main" id="{C6F4326B-95C2-904B-2571-5C285A155AA5}"/>
              </a:ext>
            </a:extLst>
          </p:cNvPr>
          <p:cNvSpPr>
            <a:spLocks noChangeArrowheads="1"/>
          </p:cNvSpPr>
          <p:nvPr/>
        </p:nvSpPr>
        <p:spPr bwMode="auto">
          <a:xfrm>
            <a:off x="286808" y="1676528"/>
            <a:ext cx="114005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AU" altLang="en-US" sz="1000" b="0" i="0" u="none" strike="noStrike" cap="none" normalizeH="0" baseline="3000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hlinkClick r:id="rId2"/>
              </a:rPr>
              <a:t>[</a:t>
            </a:r>
            <a:r>
              <a:rPr kumimoji="0" lang="en-AU" altLang="en-US" sz="1000" b="0" i="0" u="none" strike="noStrike" cap="none" normalizeH="0" baseline="30000" dirty="0" bmk="">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hlinkClick r:id="rId2"/>
              </a:rPr>
              <a:t>1]</a:t>
            </a:r>
            <a:r>
              <a:rPr kumimoji="0" lang="en-AU" altLang="en-US" sz="1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kumimoji="0" lang="en-US" altLang="en-US" sz="1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A7FB0E70-D2CE-C6AC-ECD5-357242AEE94E}"/>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22</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14014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8D4A-345E-485C-8FC6-3E26F406BD15}"/>
              </a:ext>
            </a:extLst>
          </p:cNvPr>
          <p:cNvSpPr>
            <a:spLocks noGrp="1"/>
          </p:cNvSpPr>
          <p:nvPr>
            <p:ph type="title"/>
          </p:nvPr>
        </p:nvSpPr>
        <p:spPr>
          <a:xfrm>
            <a:off x="838200" y="365126"/>
            <a:ext cx="10515600" cy="612000"/>
          </a:xfrm>
        </p:spPr>
        <p:txBody>
          <a:bodyPr>
            <a:noAutofit/>
          </a:bodyPr>
          <a:lstStyle/>
          <a:p>
            <a:r>
              <a:rPr lang="en-AU" dirty="0"/>
              <a:t>Sale of 70% of </a:t>
            </a:r>
            <a:r>
              <a:rPr lang="en-AU" dirty="0" err="1"/>
              <a:t>AgriCo</a:t>
            </a:r>
            <a:r>
              <a:rPr lang="en-AU" dirty="0"/>
              <a:t> Pty Ltd — 2023–24 </a:t>
            </a:r>
          </a:p>
        </p:txBody>
      </p:sp>
      <p:sp>
        <p:nvSpPr>
          <p:cNvPr id="3" name="Text Placeholder 2">
            <a:extLst>
              <a:ext uri="{FF2B5EF4-FFF2-40B4-BE49-F238E27FC236}">
                <a16:creationId xmlns:a16="http://schemas.microsoft.com/office/drawing/2014/main" id="{5BDCFC51-48ED-4965-9EE9-63D63B17B598}"/>
              </a:ext>
            </a:extLst>
          </p:cNvPr>
          <p:cNvSpPr>
            <a:spLocks noGrp="1"/>
          </p:cNvSpPr>
          <p:nvPr>
            <p:ph type="body" sz="quarter" idx="10"/>
          </p:nvPr>
        </p:nvSpPr>
        <p:spPr/>
        <p:txBody>
          <a:bodyPr/>
          <a:lstStyle/>
          <a:p>
            <a:pPr marL="342900" indent="-342900">
              <a:buFont typeface="Wingdings" panose="05000000000000000000" pitchFamily="2" charset="2"/>
              <a:buChar char="§"/>
            </a:pP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AU" dirty="0"/>
          </a:p>
        </p:txBody>
      </p:sp>
      <p:grpSp>
        <p:nvGrpSpPr>
          <p:cNvPr id="35" name="Canvas 59314454">
            <a:extLst>
              <a:ext uri="{FF2B5EF4-FFF2-40B4-BE49-F238E27FC236}">
                <a16:creationId xmlns:a16="http://schemas.microsoft.com/office/drawing/2014/main" id="{409B8CCB-54E1-9748-A242-8B7A0B451139}"/>
              </a:ext>
            </a:extLst>
          </p:cNvPr>
          <p:cNvGrpSpPr/>
          <p:nvPr/>
        </p:nvGrpSpPr>
        <p:grpSpPr>
          <a:xfrm>
            <a:off x="700246" y="1063771"/>
            <a:ext cx="11107427" cy="5482345"/>
            <a:chOff x="74955" y="-447872"/>
            <a:chExt cx="5731510" cy="7804785"/>
          </a:xfrm>
        </p:grpSpPr>
        <p:sp>
          <p:nvSpPr>
            <p:cNvPr id="36" name="Rectangle 35">
              <a:extLst>
                <a:ext uri="{FF2B5EF4-FFF2-40B4-BE49-F238E27FC236}">
                  <a16:creationId xmlns:a16="http://schemas.microsoft.com/office/drawing/2014/main" id="{87A2C195-7C00-5BA2-2008-687A913D7229}"/>
                </a:ext>
              </a:extLst>
            </p:cNvPr>
            <p:cNvSpPr/>
            <p:nvPr/>
          </p:nvSpPr>
          <p:spPr>
            <a:xfrm>
              <a:off x="74955" y="-447872"/>
              <a:ext cx="5731510" cy="7804785"/>
            </a:xfrm>
            <a:prstGeom prst="rect">
              <a:avLst/>
            </a:prstGeom>
            <a:solidFill>
              <a:prstClr val="white"/>
            </a:solidFill>
            <a:ln>
              <a:solidFill>
                <a:srgbClr val="000000"/>
              </a:solidFill>
            </a:ln>
          </p:spPr>
          <p:txBody>
            <a:bodyPr/>
            <a:lstStyle/>
            <a:p>
              <a:endParaRPr lang="en-AU" dirty="0"/>
            </a:p>
          </p:txBody>
        </p:sp>
        <p:sp>
          <p:nvSpPr>
            <p:cNvPr id="37" name="Text Box 2">
              <a:extLst>
                <a:ext uri="{FF2B5EF4-FFF2-40B4-BE49-F238E27FC236}">
                  <a16:creationId xmlns:a16="http://schemas.microsoft.com/office/drawing/2014/main" id="{A5688DD0-45F3-B767-D2F6-E887297EF069}"/>
                </a:ext>
              </a:extLst>
            </p:cNvPr>
            <p:cNvSpPr txBox="1">
              <a:spLocks noChangeArrowheads="1"/>
            </p:cNvSpPr>
            <p:nvPr/>
          </p:nvSpPr>
          <p:spPr bwMode="auto">
            <a:xfrm>
              <a:off x="3757035" y="6331168"/>
              <a:ext cx="804544" cy="816159"/>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sz="1400" dirty="0">
                  <a:effectLst/>
                  <a:latin typeface="Calibri" panose="020F0502020204030204" pitchFamily="34" charset="0"/>
                  <a:ea typeface="Calibri" panose="020F0502020204030204" pitchFamily="34" charset="0"/>
                  <a:cs typeface="Times New Roman" panose="02020603050405020304" pitchFamily="18" charset="0"/>
                </a:rPr>
                <a:t>non-entity joint venture</a:t>
              </a:r>
            </a:p>
          </p:txBody>
        </p:sp>
        <p:sp>
          <p:nvSpPr>
            <p:cNvPr id="38" name="Text Box 2">
              <a:extLst>
                <a:ext uri="{FF2B5EF4-FFF2-40B4-BE49-F238E27FC236}">
                  <a16:creationId xmlns:a16="http://schemas.microsoft.com/office/drawing/2014/main" id="{BF3AB9B0-0AFE-C8E9-B99C-E600F3345F6A}"/>
                </a:ext>
              </a:extLst>
            </p:cNvPr>
            <p:cNvSpPr txBox="1">
              <a:spLocks noChangeArrowheads="1"/>
            </p:cNvSpPr>
            <p:nvPr/>
          </p:nvSpPr>
          <p:spPr bwMode="auto">
            <a:xfrm>
              <a:off x="4928567" y="5999423"/>
              <a:ext cx="804672" cy="1317028"/>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owned by unrelated third party</a:t>
              </a:r>
            </a:p>
          </p:txBody>
        </p:sp>
        <p:sp>
          <p:nvSpPr>
            <p:cNvPr id="39" name="Text Box 2">
              <a:extLst>
                <a:ext uri="{FF2B5EF4-FFF2-40B4-BE49-F238E27FC236}">
                  <a16:creationId xmlns:a16="http://schemas.microsoft.com/office/drawing/2014/main" id="{DEA99D23-9FA0-7544-6E87-60CE120C8DCD}"/>
                </a:ext>
              </a:extLst>
            </p:cNvPr>
            <p:cNvSpPr txBox="1">
              <a:spLocks noChangeArrowheads="1"/>
            </p:cNvSpPr>
            <p:nvPr/>
          </p:nvSpPr>
          <p:spPr bwMode="auto">
            <a:xfrm>
              <a:off x="2395321" y="5663833"/>
              <a:ext cx="558164" cy="510818"/>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100%</a:t>
              </a:r>
            </a:p>
          </p:txBody>
        </p:sp>
        <p:sp>
          <p:nvSpPr>
            <p:cNvPr id="40" name="Text Box 2">
              <a:extLst>
                <a:ext uri="{FF2B5EF4-FFF2-40B4-BE49-F238E27FC236}">
                  <a16:creationId xmlns:a16="http://schemas.microsoft.com/office/drawing/2014/main" id="{D8E24A96-BB66-E94A-BFD3-C97F867A6D47}"/>
                </a:ext>
              </a:extLst>
            </p:cNvPr>
            <p:cNvSpPr txBox="1">
              <a:spLocks noChangeArrowheads="1"/>
            </p:cNvSpPr>
            <p:nvPr/>
          </p:nvSpPr>
          <p:spPr bwMode="auto">
            <a:xfrm>
              <a:off x="5135555" y="4614412"/>
              <a:ext cx="530859" cy="510818"/>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Mrs King</a:t>
              </a:r>
            </a:p>
          </p:txBody>
        </p:sp>
        <p:sp>
          <p:nvSpPr>
            <p:cNvPr id="41" name="Text Box 2">
              <a:extLst>
                <a:ext uri="{FF2B5EF4-FFF2-40B4-BE49-F238E27FC236}">
                  <a16:creationId xmlns:a16="http://schemas.microsoft.com/office/drawing/2014/main" id="{EC1DCDED-885D-384F-6BB6-4A01B2F5A00A}"/>
                </a:ext>
              </a:extLst>
            </p:cNvPr>
            <p:cNvSpPr txBox="1">
              <a:spLocks noChangeArrowheads="1"/>
            </p:cNvSpPr>
            <p:nvPr/>
          </p:nvSpPr>
          <p:spPr bwMode="auto">
            <a:xfrm>
              <a:off x="4823688" y="2625062"/>
              <a:ext cx="857249" cy="510818"/>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sole director</a:t>
              </a:r>
            </a:p>
          </p:txBody>
        </p:sp>
        <p:sp>
          <p:nvSpPr>
            <p:cNvPr id="42" name="Text Box 2">
              <a:extLst>
                <a:ext uri="{FF2B5EF4-FFF2-40B4-BE49-F238E27FC236}">
                  <a16:creationId xmlns:a16="http://schemas.microsoft.com/office/drawing/2014/main" id="{E6DA3F5C-4CDB-3069-9C6B-0AA4773CD592}"/>
                </a:ext>
              </a:extLst>
            </p:cNvPr>
            <p:cNvSpPr txBox="1">
              <a:spLocks noChangeArrowheads="1"/>
            </p:cNvSpPr>
            <p:nvPr/>
          </p:nvSpPr>
          <p:spPr bwMode="auto">
            <a:xfrm>
              <a:off x="2574277" y="-257122"/>
              <a:ext cx="983614" cy="610438"/>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ct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other beneficiaries</a:t>
              </a:r>
            </a:p>
          </p:txBody>
        </p:sp>
        <p:sp>
          <p:nvSpPr>
            <p:cNvPr id="43" name="Text Box 2">
              <a:extLst>
                <a:ext uri="{FF2B5EF4-FFF2-40B4-BE49-F238E27FC236}">
                  <a16:creationId xmlns:a16="http://schemas.microsoft.com/office/drawing/2014/main" id="{FD799DAA-2519-EE4C-9E0A-C4650D07CE06}"/>
                </a:ext>
              </a:extLst>
            </p:cNvPr>
            <p:cNvSpPr txBox="1">
              <a:spLocks noChangeArrowheads="1"/>
            </p:cNvSpPr>
            <p:nvPr/>
          </p:nvSpPr>
          <p:spPr bwMode="auto">
            <a:xfrm>
              <a:off x="1773625" y="1972225"/>
              <a:ext cx="991234" cy="510818"/>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distributions</a:t>
              </a:r>
              <a:r>
                <a:rPr lang="en-AU" sz="11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44" name="Text Box 2">
              <a:extLst>
                <a:ext uri="{FF2B5EF4-FFF2-40B4-BE49-F238E27FC236}">
                  <a16:creationId xmlns:a16="http://schemas.microsoft.com/office/drawing/2014/main" id="{53B90127-2F97-1C39-4FC8-E3084A5219ED}"/>
                </a:ext>
              </a:extLst>
            </p:cNvPr>
            <p:cNvSpPr txBox="1">
              <a:spLocks noChangeArrowheads="1"/>
            </p:cNvSpPr>
            <p:nvPr/>
          </p:nvSpPr>
          <p:spPr bwMode="auto">
            <a:xfrm>
              <a:off x="1778604" y="-269085"/>
              <a:ext cx="741044" cy="510818"/>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Mrs Brown</a:t>
              </a:r>
            </a:p>
          </p:txBody>
        </p:sp>
        <p:sp>
          <p:nvSpPr>
            <p:cNvPr id="45" name="Text Box 2">
              <a:extLst>
                <a:ext uri="{FF2B5EF4-FFF2-40B4-BE49-F238E27FC236}">
                  <a16:creationId xmlns:a16="http://schemas.microsoft.com/office/drawing/2014/main" id="{32DAC0CE-C82B-5B38-D0E7-878B56EB7133}"/>
                </a:ext>
              </a:extLst>
            </p:cNvPr>
            <p:cNvSpPr txBox="1">
              <a:spLocks noChangeArrowheads="1"/>
            </p:cNvSpPr>
            <p:nvPr/>
          </p:nvSpPr>
          <p:spPr bwMode="auto">
            <a:xfrm>
              <a:off x="4187842" y="3105744"/>
              <a:ext cx="558799" cy="510818"/>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58%</a:t>
              </a:r>
            </a:p>
          </p:txBody>
        </p:sp>
        <p:sp>
          <p:nvSpPr>
            <p:cNvPr id="46" name="Text Box 2">
              <a:extLst>
                <a:ext uri="{FF2B5EF4-FFF2-40B4-BE49-F238E27FC236}">
                  <a16:creationId xmlns:a16="http://schemas.microsoft.com/office/drawing/2014/main" id="{9B641D7D-28B2-2391-F40E-FCB6C3EAAF64}"/>
                </a:ext>
              </a:extLst>
            </p:cNvPr>
            <p:cNvSpPr txBox="1">
              <a:spLocks noChangeArrowheads="1"/>
            </p:cNvSpPr>
            <p:nvPr/>
          </p:nvSpPr>
          <p:spPr bwMode="auto">
            <a:xfrm>
              <a:off x="1065139" y="55250"/>
              <a:ext cx="741679" cy="510818"/>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Mr Brown</a:t>
              </a:r>
            </a:p>
          </p:txBody>
        </p:sp>
        <p:sp>
          <p:nvSpPr>
            <p:cNvPr id="47" name="Text Box 2">
              <a:extLst>
                <a:ext uri="{FF2B5EF4-FFF2-40B4-BE49-F238E27FC236}">
                  <a16:creationId xmlns:a16="http://schemas.microsoft.com/office/drawing/2014/main" id="{6F5AAE17-AE1D-2E48-5978-7FB6D76EE6A1}"/>
                </a:ext>
              </a:extLst>
            </p:cNvPr>
            <p:cNvSpPr txBox="1">
              <a:spLocks noChangeArrowheads="1"/>
            </p:cNvSpPr>
            <p:nvPr/>
          </p:nvSpPr>
          <p:spPr bwMode="auto">
            <a:xfrm>
              <a:off x="2228257" y="3054874"/>
              <a:ext cx="558834" cy="510818"/>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42%</a:t>
              </a:r>
            </a:p>
          </p:txBody>
        </p:sp>
        <p:sp>
          <p:nvSpPr>
            <p:cNvPr id="48" name="Text Box 2">
              <a:extLst>
                <a:ext uri="{FF2B5EF4-FFF2-40B4-BE49-F238E27FC236}">
                  <a16:creationId xmlns:a16="http://schemas.microsoft.com/office/drawing/2014/main" id="{D71C571E-B300-FD96-D4E0-ABD92596F122}"/>
                </a:ext>
              </a:extLst>
            </p:cNvPr>
            <p:cNvSpPr txBox="1">
              <a:spLocks noChangeArrowheads="1"/>
            </p:cNvSpPr>
            <p:nvPr/>
          </p:nvSpPr>
          <p:spPr bwMode="auto">
            <a:xfrm>
              <a:off x="1372377" y="3041935"/>
              <a:ext cx="741679" cy="510818"/>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80%</a:t>
              </a:r>
            </a:p>
          </p:txBody>
        </p:sp>
        <p:sp>
          <p:nvSpPr>
            <p:cNvPr id="49" name="Text Box 2">
              <a:extLst>
                <a:ext uri="{FF2B5EF4-FFF2-40B4-BE49-F238E27FC236}">
                  <a16:creationId xmlns:a16="http://schemas.microsoft.com/office/drawing/2014/main" id="{1C23DAE4-60BD-E81A-5B7F-68DB983951B5}"/>
                </a:ext>
              </a:extLst>
            </p:cNvPr>
            <p:cNvSpPr txBox="1">
              <a:spLocks noChangeArrowheads="1"/>
            </p:cNvSpPr>
            <p:nvPr/>
          </p:nvSpPr>
          <p:spPr bwMode="auto">
            <a:xfrm>
              <a:off x="172591" y="3549168"/>
              <a:ext cx="687321" cy="913924"/>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incurs R&amp;D expenditure</a:t>
              </a:r>
            </a:p>
          </p:txBody>
        </p:sp>
        <p:sp>
          <p:nvSpPr>
            <p:cNvPr id="50" name="Text Box 2">
              <a:extLst>
                <a:ext uri="{FF2B5EF4-FFF2-40B4-BE49-F238E27FC236}">
                  <a16:creationId xmlns:a16="http://schemas.microsoft.com/office/drawing/2014/main" id="{F5BC4B04-6E4E-C0C2-E9FB-01EF44109D22}"/>
                </a:ext>
              </a:extLst>
            </p:cNvPr>
            <p:cNvSpPr txBox="1">
              <a:spLocks noChangeArrowheads="1"/>
            </p:cNvSpPr>
            <p:nvPr/>
          </p:nvSpPr>
          <p:spPr bwMode="auto">
            <a:xfrm>
              <a:off x="596300" y="2682204"/>
              <a:ext cx="742314" cy="913924"/>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30% </a:t>
              </a:r>
              <a:r>
                <a:rPr lang="en-AU" sz="1600" dirty="0">
                  <a:effectLst/>
                  <a:latin typeface="Calibri" panose="020F0502020204030204" pitchFamily="34" charset="0"/>
                  <a:ea typeface="Calibri" panose="020F0502020204030204" pitchFamily="34" charset="0"/>
                  <a:cs typeface="Calibri" panose="020F0502020204030204" pitchFamily="34" charset="0"/>
                </a:rPr>
                <a:t>—</a:t>
              </a:r>
              <a:r>
                <a:rPr lang="en-AU" sz="1600" dirty="0">
                  <a:effectLst/>
                  <a:latin typeface="Calibri" panose="020F0502020204030204" pitchFamily="34" charset="0"/>
                  <a:ea typeface="Calibri" panose="020F0502020204030204" pitchFamily="34" charset="0"/>
                  <a:cs typeface="Times New Roman" panose="02020603050405020304" pitchFamily="18" charset="0"/>
                </a:rPr>
                <a:t> from </a:t>
              </a:r>
              <a:br>
                <a:rPr lang="en-AU" sz="1600" dirty="0">
                  <a:effectLst/>
                  <a:latin typeface="Calibri" panose="020F0502020204030204" pitchFamily="34" charset="0"/>
                  <a:ea typeface="Calibri" panose="020F0502020204030204" pitchFamily="34" charset="0"/>
                  <a:cs typeface="Times New Roman" panose="02020603050405020304" pitchFamily="18" charset="0"/>
                </a:rPr>
              </a:br>
              <a:r>
                <a:rPr lang="en-AU" sz="1600" dirty="0">
                  <a:effectLst/>
                  <a:latin typeface="Calibri" panose="020F0502020204030204" pitchFamily="34" charset="0"/>
                  <a:ea typeface="Calibri" panose="020F0502020204030204" pitchFamily="34" charset="0"/>
                  <a:cs typeface="Times New Roman" panose="02020603050405020304" pitchFamily="18" charset="0"/>
                </a:rPr>
                <a:t>1 Oct 2023</a:t>
              </a:r>
            </a:p>
          </p:txBody>
        </p:sp>
        <p:sp>
          <p:nvSpPr>
            <p:cNvPr id="51" name="Text Box 2">
              <a:extLst>
                <a:ext uri="{FF2B5EF4-FFF2-40B4-BE49-F238E27FC236}">
                  <a16:creationId xmlns:a16="http://schemas.microsoft.com/office/drawing/2014/main" id="{4FDA433E-1DA9-DCBE-A010-0C3EDAA74BD6}"/>
                </a:ext>
              </a:extLst>
            </p:cNvPr>
            <p:cNvSpPr txBox="1">
              <a:spLocks noChangeArrowheads="1"/>
            </p:cNvSpPr>
            <p:nvPr/>
          </p:nvSpPr>
          <p:spPr bwMode="auto">
            <a:xfrm>
              <a:off x="268722" y="823740"/>
              <a:ext cx="939226" cy="697824"/>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15000"/>
                </a:lnSpc>
                <a:spcAft>
                  <a:spcPts val="1000"/>
                </a:spcAft>
              </a:pPr>
              <a:r>
                <a:rPr lang="en-US" sz="1100" dirty="0">
                  <a:effectLst/>
                  <a:latin typeface="Calibri" panose="020F0502020204030204" pitchFamily="34" charset="0"/>
                  <a:ea typeface="Times New Roman" panose="02020603050405020304" pitchFamily="18" charset="0"/>
                  <a:cs typeface="Times New Roman" panose="02020603050405020304" pitchFamily="18" charset="0"/>
                </a:rPr>
                <a:t>sole shareholder / director</a:t>
              </a: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2" name="Rectangle 51">
              <a:extLst>
                <a:ext uri="{FF2B5EF4-FFF2-40B4-BE49-F238E27FC236}">
                  <a16:creationId xmlns:a16="http://schemas.microsoft.com/office/drawing/2014/main" id="{904EBB98-4714-9131-9A48-486A8095D24A}"/>
                </a:ext>
              </a:extLst>
            </p:cNvPr>
            <p:cNvSpPr/>
            <p:nvPr/>
          </p:nvSpPr>
          <p:spPr>
            <a:xfrm>
              <a:off x="874125" y="3596128"/>
              <a:ext cx="673852" cy="717505"/>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b="1" dirty="0">
                  <a:solidFill>
                    <a:schemeClr val="tx1"/>
                  </a:solidFill>
                  <a:effectLst/>
                  <a:ea typeface="Calibri" panose="020F0502020204030204" pitchFamily="34" charset="0"/>
                  <a:cs typeface="Times New Roman" panose="02020603050405020304" pitchFamily="18" charset="0"/>
                </a:rPr>
                <a:t>AgriCo</a:t>
              </a:r>
              <a:r>
                <a:rPr lang="en-AU" b="1" u="sng" dirty="0">
                  <a:solidFill>
                    <a:srgbClr val="008080"/>
                  </a:solidFill>
                  <a:effectLst/>
                  <a:ea typeface="Calibri" panose="020F0502020204030204" pitchFamily="34" charset="0"/>
                  <a:cs typeface="Times New Roman" panose="02020603050405020304" pitchFamily="18" charset="0"/>
                </a:rPr>
                <a:t> </a:t>
              </a:r>
              <a:br>
                <a:rPr lang="en-AU" b="1" dirty="0">
                  <a:effectLst/>
                  <a:ea typeface="Calibri" panose="020F0502020204030204" pitchFamily="34" charset="0"/>
                  <a:cs typeface="Times New Roman" panose="02020603050405020304" pitchFamily="18" charset="0"/>
                </a:rPr>
              </a:br>
              <a:r>
                <a:rPr lang="en-AU" b="1" dirty="0">
                  <a:effectLst/>
                  <a:ea typeface="Calibri" panose="020F0502020204030204" pitchFamily="34" charset="0"/>
                  <a:cs typeface="Times New Roman" panose="02020603050405020304" pitchFamily="18" charset="0"/>
                </a:rPr>
                <a:t>Pty Ltd</a:t>
              </a:r>
              <a:endParaRPr lang="en-AU" dirty="0">
                <a:effectLst/>
                <a:ea typeface="Calibri" panose="020F0502020204030204" pitchFamily="34" charset="0"/>
                <a:cs typeface="Times New Roman" panose="02020603050405020304" pitchFamily="18" charset="0"/>
              </a:endParaRPr>
            </a:p>
          </p:txBody>
        </p:sp>
        <p:sp>
          <p:nvSpPr>
            <p:cNvPr id="53" name="Hexagon 52">
              <a:extLst>
                <a:ext uri="{FF2B5EF4-FFF2-40B4-BE49-F238E27FC236}">
                  <a16:creationId xmlns:a16="http://schemas.microsoft.com/office/drawing/2014/main" id="{014232D5-4696-A01C-E1D4-4BAF63950F66}"/>
                </a:ext>
              </a:extLst>
            </p:cNvPr>
            <p:cNvSpPr/>
            <p:nvPr/>
          </p:nvSpPr>
          <p:spPr>
            <a:xfrm>
              <a:off x="750585" y="2089267"/>
              <a:ext cx="818515" cy="651510"/>
            </a:xfrm>
            <a:prstGeom prst="hexagon">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sz="1600" dirty="0">
                  <a:solidFill>
                    <a:schemeClr val="tx1"/>
                  </a:solidFill>
                  <a:effectLst/>
                  <a:ea typeface="Calibri" panose="020F0502020204030204" pitchFamily="34" charset="0"/>
                  <a:cs typeface="Times New Roman" panose="02020603050405020304" pitchFamily="18" charset="0"/>
                </a:rPr>
                <a:t>Brown</a:t>
              </a:r>
              <a:r>
                <a:rPr lang="en-AU" sz="1600" dirty="0">
                  <a:effectLst/>
                  <a:ea typeface="Calibri" panose="020F0502020204030204" pitchFamily="34" charset="0"/>
                  <a:cs typeface="Times New Roman" panose="02020603050405020304" pitchFamily="18" charset="0"/>
                </a:rPr>
                <a:t> F/T</a:t>
              </a:r>
            </a:p>
          </p:txBody>
        </p:sp>
        <p:sp>
          <p:nvSpPr>
            <p:cNvPr id="54" name="Rectangle 53">
              <a:extLst>
                <a:ext uri="{FF2B5EF4-FFF2-40B4-BE49-F238E27FC236}">
                  <a16:creationId xmlns:a16="http://schemas.microsoft.com/office/drawing/2014/main" id="{C96715D1-4E5B-A3DD-679A-BCD629C17473}"/>
                </a:ext>
              </a:extLst>
            </p:cNvPr>
            <p:cNvSpPr/>
            <p:nvPr/>
          </p:nvSpPr>
          <p:spPr>
            <a:xfrm>
              <a:off x="336499" y="1579970"/>
              <a:ext cx="833815" cy="509024"/>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sz="1100" dirty="0">
                  <a:effectLst/>
                  <a:ea typeface="Calibri" panose="020F0502020204030204" pitchFamily="34" charset="0"/>
                  <a:cs typeface="Times New Roman" panose="02020603050405020304" pitchFamily="18" charset="0"/>
                </a:rPr>
                <a:t>Corporate trustee</a:t>
              </a:r>
            </a:p>
          </p:txBody>
        </p:sp>
        <p:cxnSp>
          <p:nvCxnSpPr>
            <p:cNvPr id="55" name="Straight Arrow Connector 54">
              <a:extLst>
                <a:ext uri="{FF2B5EF4-FFF2-40B4-BE49-F238E27FC236}">
                  <a16:creationId xmlns:a16="http://schemas.microsoft.com/office/drawing/2014/main" id="{C1E27A26-6C36-97AA-5BEC-394105DC0F65}"/>
                </a:ext>
              </a:extLst>
            </p:cNvPr>
            <p:cNvCxnSpPr/>
            <p:nvPr/>
          </p:nvCxnSpPr>
          <p:spPr>
            <a:xfrm>
              <a:off x="1101714" y="710020"/>
              <a:ext cx="8255" cy="86995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56" name="Rectangle 55">
              <a:extLst>
                <a:ext uri="{FF2B5EF4-FFF2-40B4-BE49-F238E27FC236}">
                  <a16:creationId xmlns:a16="http://schemas.microsoft.com/office/drawing/2014/main" id="{6743BAA8-7BCD-5852-48A0-2F37EB4653D5}"/>
                </a:ext>
              </a:extLst>
            </p:cNvPr>
            <p:cNvSpPr/>
            <p:nvPr/>
          </p:nvSpPr>
          <p:spPr>
            <a:xfrm>
              <a:off x="1972224" y="3596128"/>
              <a:ext cx="721523" cy="717505"/>
            </a:xfrm>
            <a:prstGeom prst="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sz="1600" dirty="0">
                  <a:solidFill>
                    <a:schemeClr val="tx1"/>
                  </a:solidFill>
                  <a:effectLst/>
                  <a:ea typeface="Calibri" panose="020F0502020204030204" pitchFamily="34" charset="0"/>
                  <a:cs typeface="Times New Roman" panose="02020603050405020304" pitchFamily="18" charset="0"/>
                </a:rPr>
                <a:t>Diego</a:t>
              </a:r>
              <a:r>
                <a:rPr lang="en-AU" sz="1600" u="sng" dirty="0">
                  <a:solidFill>
                    <a:srgbClr val="008080"/>
                  </a:solidFill>
                  <a:effectLst/>
                  <a:ea typeface="Calibri" panose="020F0502020204030204" pitchFamily="34" charset="0"/>
                  <a:cs typeface="Times New Roman" panose="02020603050405020304" pitchFamily="18" charset="0"/>
                </a:rPr>
                <a:t> </a:t>
              </a:r>
              <a:br>
                <a:rPr lang="en-AU" sz="1600" dirty="0">
                  <a:effectLst/>
                  <a:ea typeface="Calibri" panose="020F0502020204030204" pitchFamily="34" charset="0"/>
                  <a:cs typeface="Times New Roman" panose="02020603050405020304" pitchFamily="18" charset="0"/>
                </a:rPr>
              </a:br>
              <a:r>
                <a:rPr lang="en-AU" sz="1600" dirty="0">
                  <a:effectLst/>
                  <a:ea typeface="Calibri" panose="020F0502020204030204" pitchFamily="34" charset="0"/>
                  <a:cs typeface="Times New Roman" panose="02020603050405020304" pitchFamily="18" charset="0"/>
                </a:rPr>
                <a:t>Pty Ltd</a:t>
              </a:r>
            </a:p>
          </p:txBody>
        </p:sp>
        <p:cxnSp>
          <p:nvCxnSpPr>
            <p:cNvPr id="57" name="Straight Arrow Connector 56">
              <a:extLst>
                <a:ext uri="{FF2B5EF4-FFF2-40B4-BE49-F238E27FC236}">
                  <a16:creationId xmlns:a16="http://schemas.microsoft.com/office/drawing/2014/main" id="{F5381DA2-7A1F-13C0-3D02-18B2E85FD8EC}"/>
                </a:ext>
              </a:extLst>
            </p:cNvPr>
            <p:cNvCxnSpPr>
              <a:cxnSpLocks/>
            </p:cNvCxnSpPr>
            <p:nvPr/>
          </p:nvCxnSpPr>
          <p:spPr>
            <a:xfrm>
              <a:off x="1205305" y="2779744"/>
              <a:ext cx="7570" cy="81638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8" name="Straight Arrow Connector 57">
              <a:extLst>
                <a:ext uri="{FF2B5EF4-FFF2-40B4-BE49-F238E27FC236}">
                  <a16:creationId xmlns:a16="http://schemas.microsoft.com/office/drawing/2014/main" id="{9E6B3276-F638-3749-BB2B-F85469B0D25B}"/>
                </a:ext>
              </a:extLst>
            </p:cNvPr>
            <p:cNvCxnSpPr/>
            <p:nvPr/>
          </p:nvCxnSpPr>
          <p:spPr>
            <a:xfrm>
              <a:off x="1463040" y="2640787"/>
              <a:ext cx="846052" cy="955342"/>
            </a:xfrm>
            <a:prstGeom prst="straightConnector1">
              <a:avLst/>
            </a:prstGeom>
            <a:ln>
              <a:prstDash val="solid"/>
              <a:tailEnd type="triangle"/>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5159A873-561C-CF4F-EAA1-F8664053D531}"/>
                </a:ext>
              </a:extLst>
            </p:cNvPr>
            <p:cNvSpPr/>
            <p:nvPr/>
          </p:nvSpPr>
          <p:spPr>
            <a:xfrm>
              <a:off x="3310905" y="3596128"/>
              <a:ext cx="673735" cy="820006"/>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sz="1600" dirty="0">
                  <a:solidFill>
                    <a:schemeClr val="tx1"/>
                  </a:solidFill>
                  <a:effectLst/>
                  <a:ea typeface="Calibri" panose="020F0502020204030204" pitchFamily="34" charset="0"/>
                  <a:cs typeface="Times New Roman" panose="02020603050405020304" pitchFamily="18" charset="0"/>
                </a:rPr>
                <a:t>Grant</a:t>
              </a:r>
              <a:r>
                <a:rPr lang="en-AU" sz="1600" u="sng" dirty="0">
                  <a:solidFill>
                    <a:srgbClr val="008080"/>
                  </a:solidFill>
                  <a:effectLst/>
                  <a:ea typeface="Calibri" panose="020F0502020204030204" pitchFamily="34" charset="0"/>
                  <a:cs typeface="Times New Roman" panose="02020603050405020304" pitchFamily="18" charset="0"/>
                </a:rPr>
                <a:t> </a:t>
              </a:r>
              <a:br>
                <a:rPr lang="en-AU" sz="1600" dirty="0">
                  <a:effectLst/>
                  <a:ea typeface="Calibri" panose="020F0502020204030204" pitchFamily="34" charset="0"/>
                  <a:cs typeface="Times New Roman" panose="02020603050405020304" pitchFamily="18" charset="0"/>
                </a:rPr>
              </a:br>
              <a:r>
                <a:rPr lang="en-AU" sz="1600" dirty="0">
                  <a:effectLst/>
                  <a:ea typeface="Calibri" panose="020F0502020204030204" pitchFamily="34" charset="0"/>
                  <a:cs typeface="Times New Roman" panose="02020603050405020304" pitchFamily="18" charset="0"/>
                </a:rPr>
                <a:t>Pty Ltd</a:t>
              </a:r>
            </a:p>
          </p:txBody>
        </p:sp>
        <p:cxnSp>
          <p:nvCxnSpPr>
            <p:cNvPr id="60" name="Straight Arrow Connector 59">
              <a:extLst>
                <a:ext uri="{FF2B5EF4-FFF2-40B4-BE49-F238E27FC236}">
                  <a16:creationId xmlns:a16="http://schemas.microsoft.com/office/drawing/2014/main" id="{48405515-AA7A-F7C0-2613-9CAD8A319B6B}"/>
                </a:ext>
              </a:extLst>
            </p:cNvPr>
            <p:cNvCxnSpPr/>
            <p:nvPr/>
          </p:nvCxnSpPr>
          <p:spPr>
            <a:xfrm>
              <a:off x="1569100" y="2415022"/>
              <a:ext cx="1752001" cy="116942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61" name="Straight Arrow Connector 60">
              <a:extLst>
                <a:ext uri="{FF2B5EF4-FFF2-40B4-BE49-F238E27FC236}">
                  <a16:creationId xmlns:a16="http://schemas.microsoft.com/office/drawing/2014/main" id="{6E5E3446-F8E9-7259-C240-5D8F041E91D1}"/>
                </a:ext>
              </a:extLst>
            </p:cNvPr>
            <p:cNvCxnSpPr/>
            <p:nvPr/>
          </p:nvCxnSpPr>
          <p:spPr>
            <a:xfrm flipV="1">
              <a:off x="3994099" y="3119310"/>
              <a:ext cx="336499" cy="476819"/>
            </a:xfrm>
            <a:prstGeom prst="straightConnector1">
              <a:avLst/>
            </a:prstGeom>
            <a:ln>
              <a:headEnd type="triangle" w="med" len="med"/>
              <a:tailEnd type="none" w="med" len="med"/>
            </a:ln>
          </p:spPr>
          <p:style>
            <a:lnRef idx="1">
              <a:schemeClr val="accent6"/>
            </a:lnRef>
            <a:fillRef idx="0">
              <a:schemeClr val="accent6"/>
            </a:fillRef>
            <a:effectRef idx="0">
              <a:schemeClr val="accent6"/>
            </a:effectRef>
            <a:fontRef idx="minor">
              <a:schemeClr val="tx1"/>
            </a:fontRef>
          </p:style>
        </p:cxnSp>
        <p:pic>
          <p:nvPicPr>
            <p:cNvPr id="62" name="Graphic 197640312" descr="Man with solid fill">
              <a:extLst>
                <a:ext uri="{FF2B5EF4-FFF2-40B4-BE49-F238E27FC236}">
                  <a16:creationId xmlns:a16="http://schemas.microsoft.com/office/drawing/2014/main" id="{CD1EB246-5155-5C4F-2EF2-33288DD2D4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1174" y="-250235"/>
              <a:ext cx="423697" cy="860431"/>
            </a:xfrm>
            <a:prstGeom prst="rect">
              <a:avLst/>
            </a:prstGeom>
          </p:spPr>
        </p:pic>
        <p:pic>
          <p:nvPicPr>
            <p:cNvPr id="63" name="Graphic 1126796687" descr="Woman with solid fill">
              <a:extLst>
                <a:ext uri="{FF2B5EF4-FFF2-40B4-BE49-F238E27FC236}">
                  <a16:creationId xmlns:a16="http://schemas.microsoft.com/office/drawing/2014/main" id="{0116A24C-09CB-9E27-4D70-1894E2D42C6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01393" y="217883"/>
              <a:ext cx="423697" cy="825753"/>
            </a:xfrm>
            <a:prstGeom prst="rect">
              <a:avLst/>
            </a:prstGeom>
          </p:spPr>
        </p:pic>
        <p:cxnSp>
          <p:nvCxnSpPr>
            <p:cNvPr id="64" name="Straight Connector 63">
              <a:extLst>
                <a:ext uri="{FF2B5EF4-FFF2-40B4-BE49-F238E27FC236}">
                  <a16:creationId xmlns:a16="http://schemas.microsoft.com/office/drawing/2014/main" id="{9DC5135B-77F4-6F08-D5BA-543E2950A1FF}"/>
                </a:ext>
              </a:extLst>
            </p:cNvPr>
            <p:cNvCxnSpPr/>
            <p:nvPr/>
          </p:nvCxnSpPr>
          <p:spPr>
            <a:xfrm flipH="1" flipV="1">
              <a:off x="1184943" y="710020"/>
              <a:ext cx="212260" cy="1378974"/>
            </a:xfrm>
            <a:prstGeom prst="line">
              <a:avLst/>
            </a:prstGeom>
            <a:ln>
              <a:prstDash val="dash"/>
            </a:ln>
          </p:spPr>
          <p:style>
            <a:lnRef idx="1">
              <a:schemeClr val="accent4"/>
            </a:lnRef>
            <a:fillRef idx="0">
              <a:schemeClr val="accent4"/>
            </a:fillRef>
            <a:effectRef idx="0">
              <a:schemeClr val="accent4"/>
            </a:effectRef>
            <a:fontRef idx="minor">
              <a:schemeClr val="tx1"/>
            </a:fontRef>
          </p:style>
        </p:cxnSp>
        <p:cxnSp>
          <p:nvCxnSpPr>
            <p:cNvPr id="65" name="Straight Connector 64">
              <a:extLst>
                <a:ext uri="{FF2B5EF4-FFF2-40B4-BE49-F238E27FC236}">
                  <a16:creationId xmlns:a16="http://schemas.microsoft.com/office/drawing/2014/main" id="{559A8059-6DC7-8286-2254-C92CD169A908}"/>
                </a:ext>
              </a:extLst>
            </p:cNvPr>
            <p:cNvCxnSpPr/>
            <p:nvPr/>
          </p:nvCxnSpPr>
          <p:spPr>
            <a:xfrm flipV="1">
              <a:off x="1474592" y="1038758"/>
              <a:ext cx="566349" cy="1134304"/>
            </a:xfrm>
            <a:prstGeom prst="line">
              <a:avLst/>
            </a:prstGeom>
            <a:ln>
              <a:prstDash val="dash"/>
            </a:ln>
          </p:spPr>
          <p:style>
            <a:lnRef idx="1">
              <a:schemeClr val="accent4"/>
            </a:lnRef>
            <a:fillRef idx="0">
              <a:schemeClr val="accent4"/>
            </a:fillRef>
            <a:effectRef idx="0">
              <a:schemeClr val="accent4"/>
            </a:effectRef>
            <a:fontRef idx="minor">
              <a:schemeClr val="tx1"/>
            </a:fontRef>
          </p:style>
        </p:cxnSp>
        <p:pic>
          <p:nvPicPr>
            <p:cNvPr id="66" name="Graphic 1082706071" descr="Group with solid fill">
              <a:extLst>
                <a:ext uri="{FF2B5EF4-FFF2-40B4-BE49-F238E27FC236}">
                  <a16:creationId xmlns:a16="http://schemas.microsoft.com/office/drawing/2014/main" id="{09FE66B8-314A-6ADE-7127-1FCB96C4A2D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86811" y="198185"/>
              <a:ext cx="435852" cy="988731"/>
            </a:xfrm>
            <a:prstGeom prst="rect">
              <a:avLst/>
            </a:prstGeom>
          </p:spPr>
        </p:pic>
        <p:cxnSp>
          <p:nvCxnSpPr>
            <p:cNvPr id="67" name="Straight Connector 66">
              <a:extLst>
                <a:ext uri="{FF2B5EF4-FFF2-40B4-BE49-F238E27FC236}">
                  <a16:creationId xmlns:a16="http://schemas.microsoft.com/office/drawing/2014/main" id="{2FDDDD7B-4DCA-C0E2-EE4E-FECEC935696A}"/>
                </a:ext>
              </a:extLst>
            </p:cNvPr>
            <p:cNvCxnSpPr/>
            <p:nvPr/>
          </p:nvCxnSpPr>
          <p:spPr>
            <a:xfrm flipV="1">
              <a:off x="1547977" y="1075334"/>
              <a:ext cx="1392733" cy="1284850"/>
            </a:xfrm>
            <a:prstGeom prst="line">
              <a:avLst/>
            </a:prstGeom>
            <a:ln>
              <a:prstDash val="dash"/>
            </a:ln>
          </p:spPr>
          <p:style>
            <a:lnRef idx="1">
              <a:schemeClr val="accent4"/>
            </a:lnRef>
            <a:fillRef idx="0">
              <a:schemeClr val="accent4"/>
            </a:fillRef>
            <a:effectRef idx="0">
              <a:schemeClr val="accent4"/>
            </a:effectRef>
            <a:fontRef idx="minor">
              <a:schemeClr val="tx1"/>
            </a:fontRef>
          </p:style>
        </p:cxnSp>
        <p:pic>
          <p:nvPicPr>
            <p:cNvPr id="68" name="Graphic 1891479763" descr="Man outline">
              <a:extLst>
                <a:ext uri="{FF2B5EF4-FFF2-40B4-BE49-F238E27FC236}">
                  <a16:creationId xmlns:a16="http://schemas.microsoft.com/office/drawing/2014/main" id="{1FA97BF8-5EFC-44EE-EE1C-094398D1D1F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286887" y="2360185"/>
              <a:ext cx="437512" cy="704886"/>
            </a:xfrm>
            <a:prstGeom prst="rect">
              <a:avLst/>
            </a:prstGeom>
          </p:spPr>
        </p:pic>
        <p:sp>
          <p:nvSpPr>
            <p:cNvPr id="69" name="Text Box 2">
              <a:extLst>
                <a:ext uri="{FF2B5EF4-FFF2-40B4-BE49-F238E27FC236}">
                  <a16:creationId xmlns:a16="http://schemas.microsoft.com/office/drawing/2014/main" id="{8FB4FCAF-1A35-4626-AEFB-A7801028525D}"/>
                </a:ext>
              </a:extLst>
            </p:cNvPr>
            <p:cNvSpPr txBox="1">
              <a:spLocks noChangeArrowheads="1"/>
            </p:cNvSpPr>
            <p:nvPr/>
          </p:nvSpPr>
          <p:spPr bwMode="auto">
            <a:xfrm>
              <a:off x="4135121" y="1874441"/>
              <a:ext cx="741044" cy="510818"/>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Mr Jackman</a:t>
              </a:r>
            </a:p>
          </p:txBody>
        </p:sp>
        <p:sp>
          <p:nvSpPr>
            <p:cNvPr id="70" name="Text Box 2">
              <a:extLst>
                <a:ext uri="{FF2B5EF4-FFF2-40B4-BE49-F238E27FC236}">
                  <a16:creationId xmlns:a16="http://schemas.microsoft.com/office/drawing/2014/main" id="{313811A5-42EF-FFB6-5A39-66CA560656DA}"/>
                </a:ext>
              </a:extLst>
            </p:cNvPr>
            <p:cNvSpPr txBox="1">
              <a:spLocks noChangeArrowheads="1"/>
            </p:cNvSpPr>
            <p:nvPr/>
          </p:nvSpPr>
          <p:spPr bwMode="auto">
            <a:xfrm>
              <a:off x="727618" y="4348637"/>
              <a:ext cx="741679" cy="913924"/>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70% </a:t>
              </a:r>
              <a:r>
                <a:rPr lang="en-AU" sz="1600" dirty="0">
                  <a:effectLst/>
                  <a:latin typeface="Calibri" panose="020F0502020204030204" pitchFamily="34" charset="0"/>
                  <a:ea typeface="Calibri" panose="020F0502020204030204" pitchFamily="34" charset="0"/>
                  <a:cs typeface="Calibri" panose="020F0502020204030204" pitchFamily="34" charset="0"/>
                </a:rPr>
                <a:t>— from </a:t>
              </a:r>
              <a:br>
                <a:rPr lang="en-AU" sz="1600" dirty="0">
                  <a:effectLst/>
                  <a:latin typeface="Calibri" panose="020F0502020204030204" pitchFamily="34" charset="0"/>
                  <a:ea typeface="Calibri" panose="020F0502020204030204" pitchFamily="34" charset="0"/>
                  <a:cs typeface="Calibri" panose="020F0502020204030204" pitchFamily="34" charset="0"/>
                </a:rPr>
              </a:br>
              <a:r>
                <a:rPr lang="en-AU" sz="1600" dirty="0">
                  <a:effectLst/>
                  <a:latin typeface="Calibri" panose="020F0502020204030204" pitchFamily="34" charset="0"/>
                  <a:ea typeface="Calibri" panose="020F0502020204030204" pitchFamily="34" charset="0"/>
                  <a:cs typeface="Calibri" panose="020F0502020204030204" pitchFamily="34" charset="0"/>
                </a:rPr>
                <a:t>1 Oct 2023</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1" name="Rectangle 70">
              <a:extLst>
                <a:ext uri="{FF2B5EF4-FFF2-40B4-BE49-F238E27FC236}">
                  <a16:creationId xmlns:a16="http://schemas.microsoft.com/office/drawing/2014/main" id="{89325B8A-62B8-DEA1-ED67-164F6BAD0410}"/>
                </a:ext>
              </a:extLst>
            </p:cNvPr>
            <p:cNvSpPr/>
            <p:nvPr/>
          </p:nvSpPr>
          <p:spPr>
            <a:xfrm>
              <a:off x="958255" y="5273890"/>
              <a:ext cx="790042" cy="768756"/>
            </a:xfrm>
            <a:prstGeom prst="rect">
              <a:avLst/>
            </a:prstGeom>
            <a:solidFill>
              <a:srgbClr val="AA72D4"/>
            </a:solidFill>
            <a:ln>
              <a:solidFill>
                <a:srgbClr val="7030A0"/>
              </a:solid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sz="1600" dirty="0">
                  <a:solidFill>
                    <a:schemeClr val="tx1"/>
                  </a:solidFill>
                  <a:effectLst/>
                  <a:ea typeface="Calibri" panose="020F0502020204030204" pitchFamily="34" charset="0"/>
                  <a:cs typeface="Times New Roman" panose="02020603050405020304" pitchFamily="18" charset="0"/>
                </a:rPr>
                <a:t>Keystone </a:t>
              </a:r>
              <a:r>
                <a:rPr lang="en-AU" sz="1600" dirty="0">
                  <a:effectLst/>
                  <a:ea typeface="Calibri" panose="020F0502020204030204" pitchFamily="34" charset="0"/>
                  <a:cs typeface="Times New Roman" panose="02020603050405020304" pitchFamily="18" charset="0"/>
                </a:rPr>
                <a:t>Co</a:t>
              </a:r>
            </a:p>
          </p:txBody>
        </p:sp>
        <p:cxnSp>
          <p:nvCxnSpPr>
            <p:cNvPr id="72" name="Straight Arrow Connector 71">
              <a:extLst>
                <a:ext uri="{FF2B5EF4-FFF2-40B4-BE49-F238E27FC236}">
                  <a16:creationId xmlns:a16="http://schemas.microsoft.com/office/drawing/2014/main" id="{A6E0C533-C576-A02C-8335-9379593E3021}"/>
                </a:ext>
              </a:extLst>
            </p:cNvPr>
            <p:cNvCxnSpPr>
              <a:cxnSpLocks/>
              <a:stCxn id="71" idx="0"/>
            </p:cNvCxnSpPr>
            <p:nvPr/>
          </p:nvCxnSpPr>
          <p:spPr>
            <a:xfrm flipH="1" flipV="1">
              <a:off x="1353276" y="4313633"/>
              <a:ext cx="1" cy="96025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73" name="Rectangle 72">
              <a:extLst>
                <a:ext uri="{FF2B5EF4-FFF2-40B4-BE49-F238E27FC236}">
                  <a16:creationId xmlns:a16="http://schemas.microsoft.com/office/drawing/2014/main" id="{3C87A78B-7E76-2A6E-5405-E5A36636B8BA}"/>
                </a:ext>
              </a:extLst>
            </p:cNvPr>
            <p:cNvSpPr/>
            <p:nvPr/>
          </p:nvSpPr>
          <p:spPr>
            <a:xfrm>
              <a:off x="2871993" y="5293325"/>
              <a:ext cx="789940" cy="666255"/>
            </a:xfrm>
            <a:prstGeom prst="rect">
              <a:avLst/>
            </a:prstGeom>
            <a:solidFill>
              <a:srgbClr val="C39BE1"/>
            </a:solidFill>
            <a:ln>
              <a:solidFill>
                <a:srgbClr val="AA72D4"/>
              </a:solid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sz="1600" dirty="0">
                  <a:effectLst/>
                  <a:ea typeface="Calibri" panose="020F0502020204030204" pitchFamily="34" charset="0"/>
                  <a:cs typeface="Times New Roman" panose="02020603050405020304" pitchFamily="18" charset="0"/>
                </a:rPr>
                <a:t>K Head Co</a:t>
              </a:r>
            </a:p>
          </p:txBody>
        </p:sp>
        <p:sp>
          <p:nvSpPr>
            <p:cNvPr id="74" name="Text Box 2">
              <a:extLst>
                <a:ext uri="{FF2B5EF4-FFF2-40B4-BE49-F238E27FC236}">
                  <a16:creationId xmlns:a16="http://schemas.microsoft.com/office/drawing/2014/main" id="{D0D4927D-171F-CD45-B3B3-1EAFB0EC2A63}"/>
                </a:ext>
              </a:extLst>
            </p:cNvPr>
            <p:cNvSpPr txBox="1">
              <a:spLocks noChangeArrowheads="1"/>
            </p:cNvSpPr>
            <p:nvPr/>
          </p:nvSpPr>
          <p:spPr bwMode="auto">
            <a:xfrm>
              <a:off x="2065127" y="5165403"/>
              <a:ext cx="558799" cy="510818"/>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100%</a:t>
              </a:r>
            </a:p>
          </p:txBody>
        </p:sp>
        <p:cxnSp>
          <p:nvCxnSpPr>
            <p:cNvPr id="75" name="Straight Arrow Connector 74">
              <a:extLst>
                <a:ext uri="{FF2B5EF4-FFF2-40B4-BE49-F238E27FC236}">
                  <a16:creationId xmlns:a16="http://schemas.microsoft.com/office/drawing/2014/main" id="{E4A287E5-BD58-2450-5C99-605A6B424E73}"/>
                </a:ext>
              </a:extLst>
            </p:cNvPr>
            <p:cNvCxnSpPr>
              <a:stCxn id="73" idx="1"/>
            </p:cNvCxnSpPr>
            <p:nvPr/>
          </p:nvCxnSpPr>
          <p:spPr>
            <a:xfrm flipH="1" flipV="1">
              <a:off x="1755648" y="5537142"/>
              <a:ext cx="1116345" cy="89311"/>
            </a:xfrm>
            <a:prstGeom prst="straightConnector1">
              <a:avLst/>
            </a:prstGeom>
            <a:ln>
              <a:solidFill>
                <a:srgbClr val="AA72D4"/>
              </a:solidFill>
              <a:tailEnd type="triangle"/>
            </a:ln>
          </p:spPr>
          <p:style>
            <a:lnRef idx="1">
              <a:schemeClr val="accent1"/>
            </a:lnRef>
            <a:fillRef idx="0">
              <a:schemeClr val="accent1"/>
            </a:fillRef>
            <a:effectRef idx="0">
              <a:schemeClr val="accent1"/>
            </a:effectRef>
            <a:fontRef idx="minor">
              <a:schemeClr val="tx1"/>
            </a:fontRef>
          </p:style>
        </p:cxnSp>
        <p:sp>
          <p:nvSpPr>
            <p:cNvPr id="76" name="Text Box 2">
              <a:extLst>
                <a:ext uri="{FF2B5EF4-FFF2-40B4-BE49-F238E27FC236}">
                  <a16:creationId xmlns:a16="http://schemas.microsoft.com/office/drawing/2014/main" id="{82A2DF44-FD26-EAE6-F2A7-196975DF432E}"/>
                </a:ext>
              </a:extLst>
            </p:cNvPr>
            <p:cNvSpPr txBox="1">
              <a:spLocks noChangeArrowheads="1"/>
            </p:cNvSpPr>
            <p:nvPr/>
          </p:nvSpPr>
          <p:spPr bwMode="auto">
            <a:xfrm>
              <a:off x="4586629" y="4208547"/>
              <a:ext cx="665683" cy="510818"/>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Mr King</a:t>
              </a:r>
            </a:p>
          </p:txBody>
        </p:sp>
        <p:pic>
          <p:nvPicPr>
            <p:cNvPr id="77" name="Graphic 477856609" descr="Woman with solid fill">
              <a:extLst>
                <a:ext uri="{FF2B5EF4-FFF2-40B4-BE49-F238E27FC236}">
                  <a16:creationId xmlns:a16="http://schemas.microsoft.com/office/drawing/2014/main" id="{0C03551F-A765-ABCC-5CF2-68EC6923EDC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32223" y="4991546"/>
              <a:ext cx="408437" cy="721650"/>
            </a:xfrm>
            <a:prstGeom prst="rect">
              <a:avLst/>
            </a:prstGeom>
          </p:spPr>
        </p:pic>
        <p:pic>
          <p:nvPicPr>
            <p:cNvPr id="78" name="Graphic 664575565" descr="Man with solid fill">
              <a:extLst>
                <a:ext uri="{FF2B5EF4-FFF2-40B4-BE49-F238E27FC236}">
                  <a16:creationId xmlns:a16="http://schemas.microsoft.com/office/drawing/2014/main" id="{830083BA-6994-5BAD-C4F2-6814DB93ED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38485" y="4709271"/>
              <a:ext cx="408437" cy="650769"/>
            </a:xfrm>
            <a:prstGeom prst="rect">
              <a:avLst/>
            </a:prstGeom>
          </p:spPr>
        </p:pic>
        <p:sp>
          <p:nvSpPr>
            <p:cNvPr id="79" name="Text Box 2">
              <a:extLst>
                <a:ext uri="{FF2B5EF4-FFF2-40B4-BE49-F238E27FC236}">
                  <a16:creationId xmlns:a16="http://schemas.microsoft.com/office/drawing/2014/main" id="{BA219D32-475C-0F59-4542-022C6925AE7A}"/>
                </a:ext>
              </a:extLst>
            </p:cNvPr>
            <p:cNvSpPr txBox="1">
              <a:spLocks noChangeArrowheads="1"/>
            </p:cNvSpPr>
            <p:nvPr/>
          </p:nvSpPr>
          <p:spPr bwMode="auto">
            <a:xfrm>
              <a:off x="3676664" y="4991547"/>
              <a:ext cx="931911" cy="510818"/>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35% each</a:t>
              </a:r>
            </a:p>
          </p:txBody>
        </p:sp>
        <p:cxnSp>
          <p:nvCxnSpPr>
            <p:cNvPr id="80" name="Straight Arrow Connector 79">
              <a:extLst>
                <a:ext uri="{FF2B5EF4-FFF2-40B4-BE49-F238E27FC236}">
                  <a16:creationId xmlns:a16="http://schemas.microsoft.com/office/drawing/2014/main" id="{9EE465DE-B530-8DB4-992A-6427FE7E5966}"/>
                </a:ext>
              </a:extLst>
            </p:cNvPr>
            <p:cNvCxnSpPr>
              <a:stCxn id="73" idx="3"/>
            </p:cNvCxnSpPr>
            <p:nvPr/>
          </p:nvCxnSpPr>
          <p:spPr>
            <a:xfrm flipV="1">
              <a:off x="3661933" y="5069434"/>
              <a:ext cx="1122205" cy="557019"/>
            </a:xfrm>
            <a:prstGeom prst="straightConnector1">
              <a:avLst/>
            </a:prstGeom>
            <a:ln>
              <a:solidFill>
                <a:srgbClr val="AA72D4"/>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1" name="Text Box 2">
              <a:extLst>
                <a:ext uri="{FF2B5EF4-FFF2-40B4-BE49-F238E27FC236}">
                  <a16:creationId xmlns:a16="http://schemas.microsoft.com/office/drawing/2014/main" id="{4DE83A67-81FA-08AB-08C7-11AB6AFD9B2A}"/>
                </a:ext>
              </a:extLst>
            </p:cNvPr>
            <p:cNvSpPr txBox="1">
              <a:spLocks noChangeArrowheads="1"/>
            </p:cNvSpPr>
            <p:nvPr/>
          </p:nvSpPr>
          <p:spPr bwMode="auto">
            <a:xfrm>
              <a:off x="4042426" y="5610290"/>
              <a:ext cx="931544" cy="510818"/>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sz="1600" dirty="0">
                  <a:effectLst/>
                  <a:latin typeface="Calibri" panose="020F0502020204030204" pitchFamily="34" charset="0"/>
                  <a:ea typeface="Calibri" panose="020F0502020204030204" pitchFamily="34" charset="0"/>
                  <a:cs typeface="Times New Roman" panose="02020603050405020304" pitchFamily="18" charset="0"/>
                </a:rPr>
                <a:t>65% each</a:t>
              </a:r>
            </a:p>
          </p:txBody>
        </p:sp>
        <p:cxnSp>
          <p:nvCxnSpPr>
            <p:cNvPr id="82" name="Straight Arrow Connector 81">
              <a:extLst>
                <a:ext uri="{FF2B5EF4-FFF2-40B4-BE49-F238E27FC236}">
                  <a16:creationId xmlns:a16="http://schemas.microsoft.com/office/drawing/2014/main" id="{7D410FC5-7E1C-8862-93AC-4DF16688C15F}"/>
                </a:ext>
              </a:extLst>
            </p:cNvPr>
            <p:cNvCxnSpPr/>
            <p:nvPr/>
          </p:nvCxnSpPr>
          <p:spPr>
            <a:xfrm flipV="1">
              <a:off x="3650284" y="5609784"/>
              <a:ext cx="1596569" cy="30235"/>
            </a:xfrm>
            <a:prstGeom prst="straightConnector1">
              <a:avLst/>
            </a:prstGeom>
            <a:ln>
              <a:solidFill>
                <a:srgbClr val="AA72D4"/>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3" name="Rectangle 82">
              <a:extLst>
                <a:ext uri="{FF2B5EF4-FFF2-40B4-BE49-F238E27FC236}">
                  <a16:creationId xmlns:a16="http://schemas.microsoft.com/office/drawing/2014/main" id="{33503031-24A4-69A9-033F-A255A93309D8}"/>
                </a:ext>
              </a:extLst>
            </p:cNvPr>
            <p:cNvSpPr/>
            <p:nvPr/>
          </p:nvSpPr>
          <p:spPr>
            <a:xfrm>
              <a:off x="1536192" y="6473869"/>
              <a:ext cx="534010" cy="666255"/>
            </a:xfrm>
            <a:prstGeom prst="rect">
              <a:avLst/>
            </a:prstGeom>
          </p:spPr>
          <p:style>
            <a:lnRef idx="1">
              <a:schemeClr val="accent3"/>
            </a:lnRef>
            <a:fillRef idx="2">
              <a:schemeClr val="accent3"/>
            </a:fillRef>
            <a:effectRef idx="1">
              <a:schemeClr val="accent3"/>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sz="1600" dirty="0">
                  <a:effectLst/>
                  <a:ea typeface="Calibri" panose="020F0502020204030204" pitchFamily="34" charset="0"/>
                  <a:cs typeface="Times New Roman" panose="02020603050405020304" pitchFamily="18" charset="0"/>
                </a:rPr>
                <a:t>N Co</a:t>
              </a:r>
            </a:p>
          </p:txBody>
        </p:sp>
        <p:sp>
          <p:nvSpPr>
            <p:cNvPr id="84" name="Rectangle 83">
              <a:extLst>
                <a:ext uri="{FF2B5EF4-FFF2-40B4-BE49-F238E27FC236}">
                  <a16:creationId xmlns:a16="http://schemas.microsoft.com/office/drawing/2014/main" id="{931B773D-DD36-EB5A-0AEC-B4F1D86DC9E5}"/>
                </a:ext>
              </a:extLst>
            </p:cNvPr>
            <p:cNvSpPr/>
            <p:nvPr/>
          </p:nvSpPr>
          <p:spPr>
            <a:xfrm>
              <a:off x="2352615" y="6478261"/>
              <a:ext cx="533400" cy="666255"/>
            </a:xfrm>
            <a:prstGeom prst="rect">
              <a:avLst/>
            </a:prstGeom>
          </p:spPr>
          <p:style>
            <a:lnRef idx="1">
              <a:schemeClr val="accent3"/>
            </a:lnRef>
            <a:fillRef idx="2">
              <a:schemeClr val="accent3"/>
            </a:fillRef>
            <a:effectRef idx="1">
              <a:schemeClr val="accent3"/>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sz="1600" dirty="0">
                  <a:effectLst/>
                  <a:ea typeface="Calibri" panose="020F0502020204030204" pitchFamily="34" charset="0"/>
                  <a:cs typeface="Times New Roman" panose="02020603050405020304" pitchFamily="18" charset="0"/>
                </a:rPr>
                <a:t>O Co</a:t>
              </a:r>
            </a:p>
          </p:txBody>
        </p:sp>
        <p:sp>
          <p:nvSpPr>
            <p:cNvPr id="85" name="Rectangle 84">
              <a:extLst>
                <a:ext uri="{FF2B5EF4-FFF2-40B4-BE49-F238E27FC236}">
                  <a16:creationId xmlns:a16="http://schemas.microsoft.com/office/drawing/2014/main" id="{2FB978C7-9FC2-38F5-8DCE-55C1060958E4}"/>
                </a:ext>
              </a:extLst>
            </p:cNvPr>
            <p:cNvSpPr/>
            <p:nvPr/>
          </p:nvSpPr>
          <p:spPr>
            <a:xfrm>
              <a:off x="3164602" y="6478263"/>
              <a:ext cx="533400" cy="615005"/>
            </a:xfrm>
            <a:prstGeom prst="rect">
              <a:avLst/>
            </a:prstGeom>
          </p:spPr>
          <p:style>
            <a:lnRef idx="1">
              <a:schemeClr val="accent3"/>
            </a:lnRef>
            <a:fillRef idx="2">
              <a:schemeClr val="accent3"/>
            </a:fillRef>
            <a:effectRef idx="1">
              <a:schemeClr val="accent3"/>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sz="1600" dirty="0">
                  <a:effectLst/>
                  <a:ea typeface="Calibri" panose="020F0502020204030204" pitchFamily="34" charset="0"/>
                  <a:cs typeface="Times New Roman" panose="02020603050405020304" pitchFamily="18" charset="0"/>
                </a:rPr>
                <a:t>P Co</a:t>
              </a:r>
            </a:p>
          </p:txBody>
        </p:sp>
        <p:cxnSp>
          <p:nvCxnSpPr>
            <p:cNvPr id="86" name="Straight Connector 85">
              <a:extLst>
                <a:ext uri="{FF2B5EF4-FFF2-40B4-BE49-F238E27FC236}">
                  <a16:creationId xmlns:a16="http://schemas.microsoft.com/office/drawing/2014/main" id="{2262377F-9A96-1F7A-087D-3488D13ACB90}"/>
                </a:ext>
              </a:extLst>
            </p:cNvPr>
            <p:cNvCxnSpPr/>
            <p:nvPr/>
          </p:nvCxnSpPr>
          <p:spPr>
            <a:xfrm>
              <a:off x="1806818" y="6188579"/>
              <a:ext cx="1638642" cy="40"/>
            </a:xfrm>
            <a:prstGeom prst="line">
              <a:avLst/>
            </a:prstGeom>
          </p:spPr>
          <p:style>
            <a:lnRef idx="1">
              <a:schemeClr val="accent3"/>
            </a:lnRef>
            <a:fillRef idx="0">
              <a:schemeClr val="accent3"/>
            </a:fillRef>
            <a:effectRef idx="0">
              <a:schemeClr val="accent3"/>
            </a:effectRef>
            <a:fontRef idx="minor">
              <a:schemeClr val="tx1"/>
            </a:fontRef>
          </p:style>
        </p:cxnSp>
        <p:cxnSp>
          <p:nvCxnSpPr>
            <p:cNvPr id="87" name="Straight Connector 86">
              <a:extLst>
                <a:ext uri="{FF2B5EF4-FFF2-40B4-BE49-F238E27FC236}">
                  <a16:creationId xmlns:a16="http://schemas.microsoft.com/office/drawing/2014/main" id="{7733D9F8-E3BA-D468-D94C-5A321738B128}"/>
                </a:ext>
              </a:extLst>
            </p:cNvPr>
            <p:cNvCxnSpPr/>
            <p:nvPr/>
          </p:nvCxnSpPr>
          <p:spPr>
            <a:xfrm>
              <a:off x="2962656" y="5771693"/>
              <a:ext cx="0" cy="416966"/>
            </a:xfrm>
            <a:prstGeom prst="line">
              <a:avLst/>
            </a:prstGeom>
          </p:spPr>
          <p:style>
            <a:lnRef idx="1">
              <a:schemeClr val="accent3"/>
            </a:lnRef>
            <a:fillRef idx="0">
              <a:schemeClr val="accent3"/>
            </a:fillRef>
            <a:effectRef idx="0">
              <a:schemeClr val="accent3"/>
            </a:effectRef>
            <a:fontRef idx="minor">
              <a:schemeClr val="tx1"/>
            </a:fontRef>
          </p:style>
        </p:cxnSp>
        <p:cxnSp>
          <p:nvCxnSpPr>
            <p:cNvPr id="88" name="Straight Connector 87">
              <a:extLst>
                <a:ext uri="{FF2B5EF4-FFF2-40B4-BE49-F238E27FC236}">
                  <a16:creationId xmlns:a16="http://schemas.microsoft.com/office/drawing/2014/main" id="{CC1CEF9F-9846-3FBA-48A7-CEB0C832DA31}"/>
                </a:ext>
              </a:extLst>
            </p:cNvPr>
            <p:cNvCxnSpPr>
              <a:endCxn id="83" idx="0"/>
            </p:cNvCxnSpPr>
            <p:nvPr/>
          </p:nvCxnSpPr>
          <p:spPr>
            <a:xfrm flipH="1">
              <a:off x="1803197" y="6188620"/>
              <a:ext cx="3618" cy="285250"/>
            </a:xfrm>
            <a:prstGeom prst="line">
              <a:avLst/>
            </a:prstGeom>
          </p:spPr>
          <p:style>
            <a:lnRef idx="1">
              <a:schemeClr val="accent3"/>
            </a:lnRef>
            <a:fillRef idx="0">
              <a:schemeClr val="accent3"/>
            </a:fillRef>
            <a:effectRef idx="0">
              <a:schemeClr val="accent3"/>
            </a:effectRef>
            <a:fontRef idx="minor">
              <a:schemeClr val="tx1"/>
            </a:fontRef>
          </p:style>
        </p:cxnSp>
        <p:cxnSp>
          <p:nvCxnSpPr>
            <p:cNvPr id="89" name="Straight Connector 88">
              <a:extLst>
                <a:ext uri="{FF2B5EF4-FFF2-40B4-BE49-F238E27FC236}">
                  <a16:creationId xmlns:a16="http://schemas.microsoft.com/office/drawing/2014/main" id="{5305C219-7DC5-7580-0AEF-29435A7010C3}"/>
                </a:ext>
              </a:extLst>
            </p:cNvPr>
            <p:cNvCxnSpPr/>
            <p:nvPr/>
          </p:nvCxnSpPr>
          <p:spPr>
            <a:xfrm flipH="1">
              <a:off x="2630297" y="6188611"/>
              <a:ext cx="3175" cy="285115"/>
            </a:xfrm>
            <a:prstGeom prst="line">
              <a:avLst/>
            </a:prstGeom>
          </p:spPr>
          <p:style>
            <a:lnRef idx="1">
              <a:schemeClr val="accent3"/>
            </a:lnRef>
            <a:fillRef idx="0">
              <a:schemeClr val="accent3"/>
            </a:fillRef>
            <a:effectRef idx="0">
              <a:schemeClr val="accent3"/>
            </a:effectRef>
            <a:fontRef idx="minor">
              <a:schemeClr val="tx1"/>
            </a:fontRef>
          </p:style>
        </p:cxnSp>
        <p:cxnSp>
          <p:nvCxnSpPr>
            <p:cNvPr id="90" name="Straight Connector 89">
              <a:extLst>
                <a:ext uri="{FF2B5EF4-FFF2-40B4-BE49-F238E27FC236}">
                  <a16:creationId xmlns:a16="http://schemas.microsoft.com/office/drawing/2014/main" id="{DF5028B0-342B-C3B0-7A46-37569273F97A}"/>
                </a:ext>
              </a:extLst>
            </p:cNvPr>
            <p:cNvCxnSpPr/>
            <p:nvPr/>
          </p:nvCxnSpPr>
          <p:spPr>
            <a:xfrm flipH="1">
              <a:off x="3442285" y="6193147"/>
              <a:ext cx="3175" cy="285115"/>
            </a:xfrm>
            <a:prstGeom prst="line">
              <a:avLst/>
            </a:prstGeom>
          </p:spPr>
          <p:style>
            <a:lnRef idx="1">
              <a:schemeClr val="accent3"/>
            </a:lnRef>
            <a:fillRef idx="0">
              <a:schemeClr val="accent3"/>
            </a:fillRef>
            <a:effectRef idx="0">
              <a:schemeClr val="accent3"/>
            </a:effectRef>
            <a:fontRef idx="minor">
              <a:schemeClr val="tx1"/>
            </a:fontRef>
          </p:style>
        </p:cxnSp>
        <p:sp>
          <p:nvSpPr>
            <p:cNvPr id="91" name="Oval 90">
              <a:extLst>
                <a:ext uri="{FF2B5EF4-FFF2-40B4-BE49-F238E27FC236}">
                  <a16:creationId xmlns:a16="http://schemas.microsoft.com/office/drawing/2014/main" id="{83EBCFD7-CC7E-7E05-A3F7-D470EAC28B22}"/>
                </a:ext>
              </a:extLst>
            </p:cNvPr>
            <p:cNvSpPr/>
            <p:nvPr/>
          </p:nvSpPr>
          <p:spPr>
            <a:xfrm>
              <a:off x="4557369" y="6433837"/>
              <a:ext cx="351129" cy="717505"/>
            </a:xfrm>
            <a:prstGeom prst="ellipse">
              <a:avLst/>
            </a:prstGeom>
          </p:spPr>
          <p:style>
            <a:lnRef idx="1">
              <a:schemeClr val="dk1"/>
            </a:lnRef>
            <a:fillRef idx="2">
              <a:schemeClr val="dk1"/>
            </a:fillRef>
            <a:effectRef idx="1">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AU" sz="1600" dirty="0">
                  <a:effectLst/>
                  <a:ea typeface="Calibri" panose="020F0502020204030204" pitchFamily="34" charset="0"/>
                  <a:cs typeface="Times New Roman" panose="02020603050405020304" pitchFamily="18" charset="0"/>
                </a:rPr>
                <a:t>Q</a:t>
              </a:r>
            </a:p>
          </p:txBody>
        </p:sp>
        <p:cxnSp>
          <p:nvCxnSpPr>
            <p:cNvPr id="92" name="Straight Connector 91">
              <a:extLst>
                <a:ext uri="{FF2B5EF4-FFF2-40B4-BE49-F238E27FC236}">
                  <a16:creationId xmlns:a16="http://schemas.microsoft.com/office/drawing/2014/main" id="{8C0F457A-6B54-2198-983D-9BE22C84F672}"/>
                </a:ext>
              </a:extLst>
            </p:cNvPr>
            <p:cNvCxnSpPr>
              <a:cxnSpLocks/>
            </p:cNvCxnSpPr>
            <p:nvPr/>
          </p:nvCxnSpPr>
          <p:spPr>
            <a:xfrm>
              <a:off x="3705318" y="6780459"/>
              <a:ext cx="225288" cy="110141"/>
            </a:xfrm>
            <a:prstGeom prst="line">
              <a:avLst/>
            </a:prstGeom>
          </p:spPr>
          <p:style>
            <a:lnRef idx="1">
              <a:schemeClr val="dk1"/>
            </a:lnRef>
            <a:fillRef idx="0">
              <a:schemeClr val="dk1"/>
            </a:fillRef>
            <a:effectRef idx="0">
              <a:schemeClr val="dk1"/>
            </a:effectRef>
            <a:fontRef idx="minor">
              <a:schemeClr val="tx1"/>
            </a:fontRef>
          </p:style>
        </p:cxnSp>
        <p:cxnSp>
          <p:nvCxnSpPr>
            <p:cNvPr id="93" name="Straight Connector 92">
              <a:extLst>
                <a:ext uri="{FF2B5EF4-FFF2-40B4-BE49-F238E27FC236}">
                  <a16:creationId xmlns:a16="http://schemas.microsoft.com/office/drawing/2014/main" id="{B99402C8-D291-6CBA-FC25-5B6FD0F112D2}"/>
                </a:ext>
              </a:extLst>
            </p:cNvPr>
            <p:cNvCxnSpPr>
              <a:cxnSpLocks/>
              <a:stCxn id="37" idx="3"/>
            </p:cNvCxnSpPr>
            <p:nvPr/>
          </p:nvCxnSpPr>
          <p:spPr>
            <a:xfrm flipH="1">
              <a:off x="4324765" y="6739248"/>
              <a:ext cx="236814" cy="151352"/>
            </a:xfrm>
            <a:prstGeom prst="line">
              <a:avLst/>
            </a:prstGeom>
          </p:spPr>
          <p:style>
            <a:lnRef idx="1">
              <a:schemeClr val="dk1"/>
            </a:lnRef>
            <a:fillRef idx="0">
              <a:schemeClr val="dk1"/>
            </a:fillRef>
            <a:effectRef idx="0">
              <a:schemeClr val="dk1"/>
            </a:effectRef>
            <a:fontRef idx="minor">
              <a:schemeClr val="tx1"/>
            </a:fontRef>
          </p:style>
        </p:cxnSp>
      </p:grpSp>
      <p:sp>
        <p:nvSpPr>
          <p:cNvPr id="4" name="TextBox 3">
            <a:extLst>
              <a:ext uri="{FF2B5EF4-FFF2-40B4-BE49-F238E27FC236}">
                <a16:creationId xmlns:a16="http://schemas.microsoft.com/office/drawing/2014/main" id="{D8439AB3-EE77-BF54-1EBF-C0CC1EDF9738}"/>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22</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68759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8D4A-345E-485C-8FC6-3E26F406BD15}"/>
              </a:ext>
            </a:extLst>
          </p:cNvPr>
          <p:cNvSpPr>
            <a:spLocks noGrp="1"/>
          </p:cNvSpPr>
          <p:nvPr>
            <p:ph type="title"/>
          </p:nvPr>
        </p:nvSpPr>
        <p:spPr>
          <a:xfrm>
            <a:off x="838200" y="273578"/>
            <a:ext cx="10515600" cy="774358"/>
          </a:xfrm>
        </p:spPr>
        <p:txBody>
          <a:bodyPr>
            <a:normAutofit/>
          </a:bodyPr>
          <a:lstStyle/>
          <a:p>
            <a:r>
              <a:rPr lang="en-AU" dirty="0"/>
              <a:t>Aggregated turnover calculation — 2023–24</a:t>
            </a:r>
          </a:p>
        </p:txBody>
      </p:sp>
      <p:sp>
        <p:nvSpPr>
          <p:cNvPr id="3" name="Text Placeholder 2">
            <a:extLst>
              <a:ext uri="{FF2B5EF4-FFF2-40B4-BE49-F238E27FC236}">
                <a16:creationId xmlns:a16="http://schemas.microsoft.com/office/drawing/2014/main" id="{5BDCFC51-48ED-4965-9EE9-63D63B17B598}"/>
              </a:ext>
            </a:extLst>
          </p:cNvPr>
          <p:cNvSpPr>
            <a:spLocks noGrp="1"/>
          </p:cNvSpPr>
          <p:nvPr>
            <p:ph type="body" sz="quarter" idx="10"/>
          </p:nvPr>
        </p:nvSpPr>
        <p:spPr>
          <a:xfrm>
            <a:off x="856836" y="1308874"/>
            <a:ext cx="10515600" cy="5184000"/>
          </a:xfrm>
        </p:spPr>
        <p:txBody>
          <a:bodyPr>
            <a:normAutofit/>
          </a:bodyPr>
          <a:lstStyle/>
          <a:p>
            <a:pPr algn="l">
              <a:spcBef>
                <a:spcPts val="600"/>
              </a:spcBef>
              <a:spcAft>
                <a:spcPts val="1800"/>
              </a:spcAft>
            </a:pPr>
            <a:endParaRPr lang="en-AU"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l">
              <a:spcBef>
                <a:spcPts val="600"/>
              </a:spcBef>
              <a:spcAft>
                <a:spcPts val="1800"/>
              </a:spcAft>
            </a:pPr>
            <a:endParaRPr lang="en-AU" sz="1800" dirty="0">
              <a:latin typeface="Calibri" panose="020F0502020204030204" pitchFamily="34" charset="0"/>
              <a:ea typeface="Times New Roman" panose="02020603050405020304" pitchFamily="18" charset="0"/>
              <a:cs typeface="Times New Roman" panose="02020603050405020304" pitchFamily="18" charset="0"/>
            </a:endParaRPr>
          </a:p>
          <a:p>
            <a:pPr algn="l">
              <a:spcBef>
                <a:spcPts val="600"/>
              </a:spcBef>
              <a:spcAft>
                <a:spcPts val="1800"/>
              </a:spcAft>
            </a:pPr>
            <a:endParaRPr lang="en-AU"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l">
              <a:spcBef>
                <a:spcPts val="600"/>
              </a:spcBef>
              <a:spcAft>
                <a:spcPts val="1800"/>
              </a:spcAft>
            </a:pPr>
            <a:endParaRPr lang="en-AU" sz="1800" dirty="0">
              <a:latin typeface="Calibri" panose="020F0502020204030204" pitchFamily="34" charset="0"/>
              <a:ea typeface="Times New Roman" panose="02020603050405020304" pitchFamily="18" charset="0"/>
              <a:cs typeface="Times New Roman" panose="02020603050405020304" pitchFamily="18" charset="0"/>
            </a:endParaRPr>
          </a:p>
          <a:p>
            <a:pPr algn="l">
              <a:spcBef>
                <a:spcPts val="600"/>
              </a:spcBef>
              <a:spcAft>
                <a:spcPts val="1800"/>
              </a:spcAft>
            </a:pPr>
            <a:endParaRPr lang="en-AU"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l">
              <a:spcBef>
                <a:spcPts val="600"/>
              </a:spcBef>
              <a:spcAft>
                <a:spcPts val="1800"/>
              </a:spcAft>
            </a:pPr>
            <a:endParaRPr lang="en-AU" sz="1800" dirty="0">
              <a:latin typeface="Calibri" panose="020F0502020204030204" pitchFamily="34" charset="0"/>
              <a:ea typeface="Times New Roman" panose="02020603050405020304" pitchFamily="18" charset="0"/>
              <a:cs typeface="Times New Roman" panose="02020603050405020304" pitchFamily="18" charset="0"/>
            </a:endParaRPr>
          </a:p>
          <a:p>
            <a:pPr algn="l">
              <a:spcBef>
                <a:spcPts val="600"/>
              </a:spcBef>
              <a:spcAft>
                <a:spcPts val="1800"/>
              </a:spcAft>
            </a:pPr>
            <a:endParaRPr lang="en-AU"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AU" dirty="0"/>
          </a:p>
        </p:txBody>
      </p:sp>
      <p:sp>
        <p:nvSpPr>
          <p:cNvPr id="5" name="Rectangle 1">
            <a:extLst>
              <a:ext uri="{FF2B5EF4-FFF2-40B4-BE49-F238E27FC236}">
                <a16:creationId xmlns:a16="http://schemas.microsoft.com/office/drawing/2014/main" id="{73BD4D49-91C1-0845-124E-A27305AD91D3}"/>
              </a:ext>
            </a:extLst>
          </p:cNvPr>
          <p:cNvSpPr>
            <a:spLocks noChangeArrowheads="1"/>
          </p:cNvSpPr>
          <p:nvPr/>
        </p:nvSpPr>
        <p:spPr bwMode="auto">
          <a:xfrm>
            <a:off x="838836" y="1561514"/>
            <a:ext cx="3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AU" altLang="en-US" sz="1800" b="0" i="0" u="none" strike="noStrike" cap="none" normalizeH="0" baseline="0" dirty="0">
                <a:ln>
                  <a:noFill/>
                </a:ln>
                <a:solidFill>
                  <a:schemeClr val="tx1"/>
                </a:solidFill>
                <a:effectLst/>
                <a:latin typeface="Arial" panose="020B0604020202020204" pitchFamily="34" charset="0"/>
              </a:rPr>
            </a:br>
            <a:endParaRPr kumimoji="0" lang="en-AU"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C2E4EDA9-2EED-08CA-49E5-84261D66E543}"/>
              </a:ext>
            </a:extLst>
          </p:cNvPr>
          <p:cNvSpPr>
            <a:spLocks noChangeArrowheads="1"/>
          </p:cNvSpPr>
          <p:nvPr/>
        </p:nvSpPr>
        <p:spPr bwMode="auto">
          <a:xfrm>
            <a:off x="838836" y="1561514"/>
            <a:ext cx="36000" cy="952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dirty="0"/>
          </a:p>
        </p:txBody>
      </p:sp>
      <p:graphicFrame>
        <p:nvGraphicFramePr>
          <p:cNvPr id="8" name="Table 7">
            <a:extLst>
              <a:ext uri="{FF2B5EF4-FFF2-40B4-BE49-F238E27FC236}">
                <a16:creationId xmlns:a16="http://schemas.microsoft.com/office/drawing/2014/main" id="{29C68DCC-AB76-22E4-251C-AD21D991BBFE}"/>
              </a:ext>
            </a:extLst>
          </p:cNvPr>
          <p:cNvGraphicFramePr>
            <a:graphicFrameLocks noGrp="1"/>
          </p:cNvGraphicFramePr>
          <p:nvPr>
            <p:extLst>
              <p:ext uri="{D42A27DB-BD31-4B8C-83A1-F6EECF244321}">
                <p14:modId xmlns:p14="http://schemas.microsoft.com/office/powerpoint/2010/main" val="2302696030"/>
              </p:ext>
            </p:extLst>
          </p:nvPr>
        </p:nvGraphicFramePr>
        <p:xfrm>
          <a:off x="819564" y="922033"/>
          <a:ext cx="10944000" cy="5566635"/>
        </p:xfrm>
        <a:graphic>
          <a:graphicData uri="http://schemas.openxmlformats.org/drawingml/2006/table">
            <a:tbl>
              <a:tblPr firstRow="1" firstCol="1" bandRow="1">
                <a:tableStyleId>{5C22544A-7EE6-4342-B048-85BDC9FD1C3A}</a:tableStyleId>
              </a:tblPr>
              <a:tblGrid>
                <a:gridCol w="3232443">
                  <a:extLst>
                    <a:ext uri="{9D8B030D-6E8A-4147-A177-3AD203B41FA5}">
                      <a16:colId xmlns:a16="http://schemas.microsoft.com/office/drawing/2014/main" val="2601773775"/>
                    </a:ext>
                  </a:extLst>
                </a:gridCol>
                <a:gridCol w="4407947">
                  <a:extLst>
                    <a:ext uri="{9D8B030D-6E8A-4147-A177-3AD203B41FA5}">
                      <a16:colId xmlns:a16="http://schemas.microsoft.com/office/drawing/2014/main" val="3504033465"/>
                    </a:ext>
                  </a:extLst>
                </a:gridCol>
                <a:gridCol w="3303610">
                  <a:extLst>
                    <a:ext uri="{9D8B030D-6E8A-4147-A177-3AD203B41FA5}">
                      <a16:colId xmlns:a16="http://schemas.microsoft.com/office/drawing/2014/main" val="1340685357"/>
                    </a:ext>
                  </a:extLst>
                </a:gridCol>
              </a:tblGrid>
              <a:tr h="310531">
                <a:tc>
                  <a:txBody>
                    <a:bodyPr/>
                    <a:lstStyle/>
                    <a:p>
                      <a:pPr algn="ctr">
                        <a:spcBef>
                          <a:spcPts val="600"/>
                        </a:spcBef>
                        <a:spcAft>
                          <a:spcPts val="600"/>
                        </a:spcAft>
                      </a:pPr>
                      <a:r>
                        <a:rPr lang="en-US" sz="2000" dirty="0">
                          <a:effectLst/>
                        </a:rPr>
                        <a:t>Entity</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000" dirty="0">
                          <a:effectLst/>
                        </a:rPr>
                        <a:t>Relationship</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000" dirty="0">
                          <a:effectLst/>
                        </a:rPr>
                        <a:t>Annual turnover 2023–24</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extLst>
                  <a:ext uri="{0D108BD9-81ED-4DB2-BD59-A6C34878D82A}">
                    <a16:rowId xmlns:a16="http://schemas.microsoft.com/office/drawing/2014/main" val="1132053657"/>
                  </a:ext>
                </a:extLst>
              </a:tr>
              <a:tr h="310531">
                <a:tc>
                  <a:txBody>
                    <a:bodyPr/>
                    <a:lstStyle/>
                    <a:p>
                      <a:pPr algn="just">
                        <a:spcBef>
                          <a:spcPts val="600"/>
                        </a:spcBef>
                        <a:spcAft>
                          <a:spcPts val="600"/>
                        </a:spcAft>
                      </a:pPr>
                      <a:r>
                        <a:rPr lang="en-US" sz="2000" dirty="0">
                          <a:effectLst/>
                        </a:rPr>
                        <a:t>AgriCo Pty Ltd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Taxpayer</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$3m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1265182425"/>
                  </a:ext>
                </a:extLst>
              </a:tr>
              <a:tr h="562282">
                <a:tc>
                  <a:txBody>
                    <a:bodyPr/>
                    <a:lstStyle/>
                    <a:p>
                      <a:pPr algn="just">
                        <a:spcBef>
                          <a:spcPts val="600"/>
                        </a:spcBef>
                        <a:spcAft>
                          <a:spcPts val="600"/>
                        </a:spcAft>
                      </a:pPr>
                      <a:r>
                        <a:rPr lang="en-US" sz="2000" dirty="0">
                          <a:effectLst/>
                        </a:rPr>
                        <a:t>The Brown Family Trust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 (92/366 days)</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Approx $6m × 92/366 = $1.5m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2831475192"/>
                  </a:ext>
                </a:extLst>
              </a:tr>
              <a:tr h="621063">
                <a:tc>
                  <a:txBody>
                    <a:bodyPr/>
                    <a:lstStyle/>
                    <a:p>
                      <a:pPr algn="just">
                        <a:spcBef>
                          <a:spcPts val="600"/>
                        </a:spcBef>
                        <a:spcAft>
                          <a:spcPts val="600"/>
                        </a:spcAft>
                      </a:pPr>
                      <a:r>
                        <a:rPr lang="en-US" sz="2000" dirty="0">
                          <a:effectLst/>
                        </a:rPr>
                        <a:t>Mr Brown</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 (92/366 days)</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Approx $1m × 92/366 = $0.25m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1309373490"/>
                  </a:ext>
                </a:extLst>
              </a:tr>
              <a:tr h="310531">
                <a:tc>
                  <a:txBody>
                    <a:bodyPr/>
                    <a:lstStyle/>
                    <a:p>
                      <a:pPr algn="just">
                        <a:spcBef>
                          <a:spcPts val="600"/>
                        </a:spcBef>
                        <a:spcAft>
                          <a:spcPts val="600"/>
                        </a:spcAft>
                      </a:pPr>
                      <a:r>
                        <a:rPr lang="en-US" sz="2000" dirty="0">
                          <a:effectLst/>
                        </a:rPr>
                        <a:t>Mrs Brown</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Not connected or an affiliate</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981876364"/>
                  </a:ext>
                </a:extLst>
              </a:tr>
              <a:tr h="562282">
                <a:tc>
                  <a:txBody>
                    <a:bodyPr/>
                    <a:lstStyle/>
                    <a:p>
                      <a:pPr algn="just">
                        <a:spcBef>
                          <a:spcPts val="600"/>
                        </a:spcBef>
                        <a:spcAft>
                          <a:spcPts val="600"/>
                        </a:spcAft>
                      </a:pPr>
                      <a:r>
                        <a:rPr lang="en-US" sz="2000" dirty="0">
                          <a:effectLst/>
                        </a:rPr>
                        <a:t>Diego Pty Ltd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 (92/366 days)</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Approx $4m × 92/366 = $1m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3817951679"/>
                  </a:ext>
                </a:extLst>
              </a:tr>
              <a:tr h="310531">
                <a:tc>
                  <a:txBody>
                    <a:bodyPr/>
                    <a:lstStyle/>
                    <a:p>
                      <a:pPr algn="just">
                        <a:spcBef>
                          <a:spcPts val="600"/>
                        </a:spcBef>
                        <a:spcAft>
                          <a:spcPts val="600"/>
                        </a:spcAft>
                      </a:pPr>
                      <a:r>
                        <a:rPr lang="en-US" sz="2000" dirty="0">
                          <a:effectLst/>
                        </a:rPr>
                        <a:t>Grant Pty Ltd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Not connected or an affiliate</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90135590"/>
                  </a:ext>
                </a:extLst>
              </a:tr>
              <a:tr h="310531">
                <a:tc>
                  <a:txBody>
                    <a:bodyPr/>
                    <a:lstStyle/>
                    <a:p>
                      <a:pPr algn="just">
                        <a:spcBef>
                          <a:spcPts val="600"/>
                        </a:spcBef>
                        <a:spcAft>
                          <a:spcPts val="600"/>
                        </a:spcAft>
                      </a:pPr>
                      <a:r>
                        <a:rPr lang="en-US" sz="2000" dirty="0">
                          <a:effectLst/>
                        </a:rPr>
                        <a:t>Mr Jackman</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Not connected or an affiliate</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3160077382"/>
                  </a:ext>
                </a:extLst>
              </a:tr>
              <a:tr h="310531">
                <a:tc>
                  <a:txBody>
                    <a:bodyPr/>
                    <a:lstStyle/>
                    <a:p>
                      <a:pPr algn="just">
                        <a:spcBef>
                          <a:spcPts val="600"/>
                        </a:spcBef>
                        <a:spcAft>
                          <a:spcPts val="600"/>
                        </a:spcAft>
                      </a:pPr>
                      <a:r>
                        <a:rPr lang="en-US" sz="2000" dirty="0">
                          <a:effectLst/>
                        </a:rPr>
                        <a:t>Keystone Co </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 (274/366 days)</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$6m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2007859613"/>
                  </a:ext>
                </a:extLst>
              </a:tr>
              <a:tr h="310531">
                <a:tc>
                  <a:txBody>
                    <a:bodyPr/>
                    <a:lstStyle/>
                    <a:p>
                      <a:pPr algn="just">
                        <a:spcBef>
                          <a:spcPts val="600"/>
                        </a:spcBef>
                        <a:spcAft>
                          <a:spcPts val="600"/>
                        </a:spcAft>
                      </a:pPr>
                      <a:r>
                        <a:rPr lang="en-US" sz="2000" dirty="0">
                          <a:effectLst/>
                        </a:rPr>
                        <a:t>K Head Co </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 (274/366 days)</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$5m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31635142"/>
                  </a:ext>
                </a:extLst>
              </a:tr>
              <a:tr h="310531">
                <a:tc>
                  <a:txBody>
                    <a:bodyPr/>
                    <a:lstStyle/>
                    <a:p>
                      <a:pPr algn="just">
                        <a:spcBef>
                          <a:spcPts val="600"/>
                        </a:spcBef>
                        <a:spcAft>
                          <a:spcPts val="600"/>
                        </a:spcAft>
                      </a:pPr>
                      <a:r>
                        <a:rPr lang="en-US" sz="2000" dirty="0">
                          <a:effectLst/>
                        </a:rPr>
                        <a:t>Mr King</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Not connected or an affiliate</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2552965722"/>
                  </a:ext>
                </a:extLst>
              </a:tr>
              <a:tr h="310531">
                <a:tc>
                  <a:txBody>
                    <a:bodyPr/>
                    <a:lstStyle/>
                    <a:p>
                      <a:pPr algn="just">
                        <a:spcBef>
                          <a:spcPts val="600"/>
                        </a:spcBef>
                        <a:spcAft>
                          <a:spcPts val="600"/>
                        </a:spcAft>
                      </a:pPr>
                      <a:r>
                        <a:rPr lang="en-US" sz="2000" dirty="0">
                          <a:effectLst/>
                        </a:rPr>
                        <a:t>Mrs King</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 (274/366 days)</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$0.25m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3320639224"/>
                  </a:ext>
                </a:extLst>
              </a:tr>
              <a:tr h="310531">
                <a:tc>
                  <a:txBody>
                    <a:bodyPr/>
                    <a:lstStyle/>
                    <a:p>
                      <a:pPr algn="just">
                        <a:spcBef>
                          <a:spcPts val="600"/>
                        </a:spcBef>
                        <a:spcAft>
                          <a:spcPts val="600"/>
                        </a:spcAft>
                      </a:pPr>
                      <a:r>
                        <a:rPr lang="en-US" sz="2000" dirty="0">
                          <a:effectLst/>
                        </a:rPr>
                        <a:t>N Co, O Co, P Co</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 (274/366 days)</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$6m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4054660212"/>
                  </a:ext>
                </a:extLst>
              </a:tr>
              <a:tr h="310531">
                <a:tc>
                  <a:txBody>
                    <a:bodyPr/>
                    <a:lstStyle/>
                    <a:p>
                      <a:pPr algn="just">
                        <a:spcBef>
                          <a:spcPts val="600"/>
                        </a:spcBef>
                        <a:spcAft>
                          <a:spcPts val="600"/>
                        </a:spcAft>
                      </a:pPr>
                      <a:r>
                        <a:rPr lang="en-US" sz="2000" dirty="0">
                          <a:effectLst/>
                        </a:rPr>
                        <a:t>Non-entity joint venture</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Not connected or an affiliate</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3462555662"/>
                  </a:ext>
                </a:extLst>
              </a:tr>
              <a:tr h="310531">
                <a:tc>
                  <a:txBody>
                    <a:bodyPr/>
                    <a:lstStyle/>
                    <a:p>
                      <a:pPr algn="just">
                        <a:spcBef>
                          <a:spcPts val="600"/>
                        </a:spcBef>
                        <a:spcAft>
                          <a:spcPts val="600"/>
                        </a:spcAft>
                      </a:pPr>
                      <a:r>
                        <a:rPr lang="en-US" sz="2000" dirty="0">
                          <a:effectLst/>
                        </a:rPr>
                        <a:t> </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r">
                        <a:spcBef>
                          <a:spcPts val="600"/>
                        </a:spcBef>
                        <a:spcAft>
                          <a:spcPts val="600"/>
                        </a:spcAft>
                      </a:pPr>
                      <a:r>
                        <a:rPr lang="en-US" sz="2000" b="1" dirty="0">
                          <a:effectLst/>
                        </a:rPr>
                        <a:t>Aggregated turnover</a:t>
                      </a:r>
                      <a:endParaRPr lang="en-AU" sz="20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b="1" dirty="0">
                          <a:effectLst/>
                        </a:rPr>
                        <a:t>$23m</a:t>
                      </a:r>
                      <a:endParaRPr lang="en-AU" sz="20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597318918"/>
                  </a:ext>
                </a:extLst>
              </a:tr>
            </a:tbl>
          </a:graphicData>
        </a:graphic>
      </p:graphicFrame>
      <p:sp>
        <p:nvSpPr>
          <p:cNvPr id="9" name="Rectangle 1">
            <a:extLst>
              <a:ext uri="{FF2B5EF4-FFF2-40B4-BE49-F238E27FC236}">
                <a16:creationId xmlns:a16="http://schemas.microsoft.com/office/drawing/2014/main" id="{C350DF37-3CD7-1903-F938-8D7BC05826E9}"/>
              </a:ext>
            </a:extLst>
          </p:cNvPr>
          <p:cNvSpPr>
            <a:spLocks noChangeArrowheads="1"/>
          </p:cNvSpPr>
          <p:nvPr/>
        </p:nvSpPr>
        <p:spPr bwMode="auto">
          <a:xfrm>
            <a:off x="727393" y="1561355"/>
            <a:ext cx="12192000" cy="3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AU" altLang="en-US" sz="1800" b="0" i="0" u="none" strike="noStrike" cap="none" normalizeH="0" baseline="0" dirty="0">
                <a:ln>
                  <a:noFill/>
                </a:ln>
                <a:solidFill>
                  <a:schemeClr val="tx1"/>
                </a:solidFill>
                <a:effectLst/>
                <a:latin typeface="Arial" panose="020B0604020202020204" pitchFamily="34" charset="0"/>
              </a:rPr>
            </a:br>
            <a:endParaRPr kumimoji="0" lang="en-AU"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EEE0F13B-E6B8-1304-6781-B3F6FDA2A03B}"/>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26</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08366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8D4A-345E-485C-8FC6-3E26F406BD15}"/>
              </a:ext>
            </a:extLst>
          </p:cNvPr>
          <p:cNvSpPr>
            <a:spLocks noGrp="1"/>
          </p:cNvSpPr>
          <p:nvPr>
            <p:ph type="title"/>
          </p:nvPr>
        </p:nvSpPr>
        <p:spPr>
          <a:xfrm>
            <a:off x="422564" y="474686"/>
            <a:ext cx="10931236" cy="664798"/>
          </a:xfrm>
        </p:spPr>
        <p:txBody>
          <a:bodyPr/>
          <a:lstStyle/>
          <a:p>
            <a:r>
              <a:rPr lang="en-AU" dirty="0"/>
              <a:t>Aggregated turnover calculation — 2024–25</a:t>
            </a:r>
          </a:p>
        </p:txBody>
      </p:sp>
      <p:graphicFrame>
        <p:nvGraphicFramePr>
          <p:cNvPr id="4" name="Table 3">
            <a:extLst>
              <a:ext uri="{FF2B5EF4-FFF2-40B4-BE49-F238E27FC236}">
                <a16:creationId xmlns:a16="http://schemas.microsoft.com/office/drawing/2014/main" id="{4393D80A-BC26-30B2-DD80-4CE27FCB76BB}"/>
              </a:ext>
            </a:extLst>
          </p:cNvPr>
          <p:cNvGraphicFramePr>
            <a:graphicFrameLocks noGrp="1"/>
          </p:cNvGraphicFramePr>
          <p:nvPr>
            <p:extLst>
              <p:ext uri="{D42A27DB-BD31-4B8C-83A1-F6EECF244321}">
                <p14:modId xmlns:p14="http://schemas.microsoft.com/office/powerpoint/2010/main" val="3113115084"/>
              </p:ext>
            </p:extLst>
          </p:nvPr>
        </p:nvGraphicFramePr>
        <p:xfrm>
          <a:off x="506182" y="1139484"/>
          <a:ext cx="10764000" cy="5076000"/>
        </p:xfrm>
        <a:graphic>
          <a:graphicData uri="http://schemas.openxmlformats.org/drawingml/2006/table">
            <a:tbl>
              <a:tblPr firstRow="1" firstCol="1" bandRow="1">
                <a:tableStyleId>{5C22544A-7EE6-4342-B048-85BDC9FD1C3A}</a:tableStyleId>
              </a:tblPr>
              <a:tblGrid>
                <a:gridCol w="3179278">
                  <a:extLst>
                    <a:ext uri="{9D8B030D-6E8A-4147-A177-3AD203B41FA5}">
                      <a16:colId xmlns:a16="http://schemas.microsoft.com/office/drawing/2014/main" val="3359061560"/>
                    </a:ext>
                  </a:extLst>
                </a:gridCol>
                <a:gridCol w="4335447">
                  <a:extLst>
                    <a:ext uri="{9D8B030D-6E8A-4147-A177-3AD203B41FA5}">
                      <a16:colId xmlns:a16="http://schemas.microsoft.com/office/drawing/2014/main" val="740566017"/>
                    </a:ext>
                  </a:extLst>
                </a:gridCol>
                <a:gridCol w="3249275">
                  <a:extLst>
                    <a:ext uri="{9D8B030D-6E8A-4147-A177-3AD203B41FA5}">
                      <a16:colId xmlns:a16="http://schemas.microsoft.com/office/drawing/2014/main" val="358139509"/>
                    </a:ext>
                  </a:extLst>
                </a:gridCol>
              </a:tblGrid>
              <a:tr h="340800">
                <a:tc>
                  <a:txBody>
                    <a:bodyPr/>
                    <a:lstStyle/>
                    <a:p>
                      <a:pPr algn="ctr">
                        <a:spcBef>
                          <a:spcPts val="600"/>
                        </a:spcBef>
                        <a:spcAft>
                          <a:spcPts val="600"/>
                        </a:spcAft>
                      </a:pPr>
                      <a:r>
                        <a:rPr lang="en-US" sz="2000" dirty="0">
                          <a:effectLst/>
                        </a:rPr>
                        <a:t>Entity</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000" dirty="0">
                          <a:effectLst/>
                        </a:rPr>
                        <a:t>Relationship</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000" dirty="0">
                          <a:effectLst/>
                        </a:rPr>
                        <a:t>Annual turnover 2024–25</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extLst>
                  <a:ext uri="{0D108BD9-81ED-4DB2-BD59-A6C34878D82A}">
                    <a16:rowId xmlns:a16="http://schemas.microsoft.com/office/drawing/2014/main" val="3999241166"/>
                  </a:ext>
                </a:extLst>
              </a:tr>
              <a:tr h="340800">
                <a:tc>
                  <a:txBody>
                    <a:bodyPr/>
                    <a:lstStyle/>
                    <a:p>
                      <a:pPr algn="just">
                        <a:spcBef>
                          <a:spcPts val="600"/>
                        </a:spcBef>
                        <a:spcAft>
                          <a:spcPts val="600"/>
                        </a:spcAft>
                      </a:pPr>
                      <a:r>
                        <a:rPr lang="en-US" sz="2000" dirty="0">
                          <a:effectLst/>
                        </a:rPr>
                        <a:t>AgriCo Pty Ltd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Taxpayer</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$2.5m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718278914"/>
                  </a:ext>
                </a:extLst>
              </a:tr>
              <a:tr h="340800">
                <a:tc>
                  <a:txBody>
                    <a:bodyPr/>
                    <a:lstStyle/>
                    <a:p>
                      <a:pPr algn="just">
                        <a:spcBef>
                          <a:spcPts val="600"/>
                        </a:spcBef>
                        <a:spcAft>
                          <a:spcPts val="600"/>
                        </a:spcAft>
                      </a:pPr>
                      <a:r>
                        <a:rPr lang="en-US" sz="2000" dirty="0">
                          <a:effectLst/>
                        </a:rPr>
                        <a:t>The Brown Family Trust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Not connected or an affiliate</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1271218464"/>
                  </a:ext>
                </a:extLst>
              </a:tr>
              <a:tr h="340800">
                <a:tc>
                  <a:txBody>
                    <a:bodyPr/>
                    <a:lstStyle/>
                    <a:p>
                      <a:pPr algn="just">
                        <a:spcBef>
                          <a:spcPts val="600"/>
                        </a:spcBef>
                        <a:spcAft>
                          <a:spcPts val="600"/>
                        </a:spcAft>
                      </a:pPr>
                      <a:r>
                        <a:rPr lang="en-US" sz="2000" dirty="0">
                          <a:effectLst/>
                        </a:rPr>
                        <a:t>Mr Brown</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Not connected or an affiliate</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2740981565"/>
                  </a:ext>
                </a:extLst>
              </a:tr>
              <a:tr h="340800">
                <a:tc>
                  <a:txBody>
                    <a:bodyPr/>
                    <a:lstStyle/>
                    <a:p>
                      <a:pPr algn="just">
                        <a:spcBef>
                          <a:spcPts val="600"/>
                        </a:spcBef>
                        <a:spcAft>
                          <a:spcPts val="600"/>
                        </a:spcAft>
                      </a:pPr>
                      <a:r>
                        <a:rPr lang="en-US" sz="2000" dirty="0">
                          <a:effectLst/>
                        </a:rPr>
                        <a:t>Mrs Brown</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Not connected or an affiliate</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1702148635"/>
                  </a:ext>
                </a:extLst>
              </a:tr>
              <a:tr h="340800">
                <a:tc>
                  <a:txBody>
                    <a:bodyPr/>
                    <a:lstStyle/>
                    <a:p>
                      <a:pPr algn="just">
                        <a:spcBef>
                          <a:spcPts val="600"/>
                        </a:spcBef>
                        <a:spcAft>
                          <a:spcPts val="600"/>
                        </a:spcAft>
                      </a:pPr>
                      <a:r>
                        <a:rPr lang="en-US" sz="2000" dirty="0">
                          <a:effectLst/>
                        </a:rPr>
                        <a:t>Diego Pty Ltd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Not connected or an affiliate</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3770860224"/>
                  </a:ext>
                </a:extLst>
              </a:tr>
              <a:tr h="340800">
                <a:tc>
                  <a:txBody>
                    <a:bodyPr/>
                    <a:lstStyle/>
                    <a:p>
                      <a:pPr algn="just">
                        <a:spcBef>
                          <a:spcPts val="600"/>
                        </a:spcBef>
                        <a:spcAft>
                          <a:spcPts val="600"/>
                        </a:spcAft>
                      </a:pPr>
                      <a:r>
                        <a:rPr lang="en-US" sz="2000" dirty="0">
                          <a:effectLst/>
                        </a:rPr>
                        <a:t>Grant Pty Ltd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Not connected or an affiliate</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1403646145"/>
                  </a:ext>
                </a:extLst>
              </a:tr>
              <a:tr h="340800">
                <a:tc>
                  <a:txBody>
                    <a:bodyPr/>
                    <a:lstStyle/>
                    <a:p>
                      <a:pPr algn="just">
                        <a:spcBef>
                          <a:spcPts val="600"/>
                        </a:spcBef>
                        <a:spcAft>
                          <a:spcPts val="600"/>
                        </a:spcAft>
                      </a:pPr>
                      <a:r>
                        <a:rPr lang="en-US" sz="2000" dirty="0">
                          <a:effectLst/>
                        </a:rPr>
                        <a:t>Mr Jackman</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Not connected or an affiliate</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501253300"/>
                  </a:ext>
                </a:extLst>
              </a:tr>
              <a:tr h="340800">
                <a:tc>
                  <a:txBody>
                    <a:bodyPr/>
                    <a:lstStyle/>
                    <a:p>
                      <a:pPr algn="just">
                        <a:spcBef>
                          <a:spcPts val="600"/>
                        </a:spcBef>
                        <a:spcAft>
                          <a:spcPts val="600"/>
                        </a:spcAft>
                      </a:pPr>
                      <a:r>
                        <a:rPr lang="en-US" sz="2000" dirty="0">
                          <a:effectLst/>
                        </a:rPr>
                        <a:t>Keystone Co </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$4m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1805838797"/>
                  </a:ext>
                </a:extLst>
              </a:tr>
              <a:tr h="340800">
                <a:tc>
                  <a:txBody>
                    <a:bodyPr/>
                    <a:lstStyle/>
                    <a:p>
                      <a:pPr algn="just">
                        <a:spcBef>
                          <a:spcPts val="600"/>
                        </a:spcBef>
                        <a:spcAft>
                          <a:spcPts val="600"/>
                        </a:spcAft>
                      </a:pPr>
                      <a:r>
                        <a:rPr lang="en-US" sz="2000" dirty="0">
                          <a:effectLst/>
                        </a:rPr>
                        <a:t>K Head Co </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$4m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3858845177"/>
                  </a:ext>
                </a:extLst>
              </a:tr>
              <a:tr h="340800">
                <a:tc>
                  <a:txBody>
                    <a:bodyPr/>
                    <a:lstStyle/>
                    <a:p>
                      <a:pPr algn="just">
                        <a:spcBef>
                          <a:spcPts val="600"/>
                        </a:spcBef>
                        <a:spcAft>
                          <a:spcPts val="600"/>
                        </a:spcAft>
                      </a:pPr>
                      <a:r>
                        <a:rPr lang="en-US" sz="2000" dirty="0">
                          <a:effectLst/>
                        </a:rPr>
                        <a:t>Mr King</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Not connected or an affiliate</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3791671585"/>
                  </a:ext>
                </a:extLst>
              </a:tr>
              <a:tr h="340800">
                <a:tc>
                  <a:txBody>
                    <a:bodyPr/>
                    <a:lstStyle/>
                    <a:p>
                      <a:pPr algn="just">
                        <a:spcBef>
                          <a:spcPts val="600"/>
                        </a:spcBef>
                        <a:spcAft>
                          <a:spcPts val="600"/>
                        </a:spcAft>
                      </a:pPr>
                      <a:r>
                        <a:rPr lang="en-US" sz="2000" dirty="0">
                          <a:effectLst/>
                        </a:rPr>
                        <a:t>Mrs King</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$0.5m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758198270"/>
                  </a:ext>
                </a:extLst>
              </a:tr>
              <a:tr h="340800">
                <a:tc>
                  <a:txBody>
                    <a:bodyPr/>
                    <a:lstStyle/>
                    <a:p>
                      <a:pPr algn="just">
                        <a:spcBef>
                          <a:spcPts val="600"/>
                        </a:spcBef>
                        <a:spcAft>
                          <a:spcPts val="600"/>
                        </a:spcAft>
                      </a:pPr>
                      <a:r>
                        <a:rPr lang="en-US" sz="2000" dirty="0">
                          <a:effectLst/>
                        </a:rPr>
                        <a:t>N Co, O Co, P Co</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$6m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3329017127"/>
                  </a:ext>
                </a:extLst>
              </a:tr>
              <a:tr h="0">
                <a:tc>
                  <a:txBody>
                    <a:bodyPr/>
                    <a:lstStyle/>
                    <a:p>
                      <a:pPr algn="just">
                        <a:spcBef>
                          <a:spcPts val="600"/>
                        </a:spcBef>
                        <a:spcAft>
                          <a:spcPts val="600"/>
                        </a:spcAft>
                      </a:pPr>
                      <a:r>
                        <a:rPr lang="en-US" sz="2000" dirty="0">
                          <a:effectLst/>
                        </a:rPr>
                        <a:t>Non-entity joint venture</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Not connected or an affiliate</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411506968"/>
                  </a:ext>
                </a:extLst>
              </a:tr>
              <a:tr h="340800">
                <a:tc>
                  <a:txBody>
                    <a:bodyPr/>
                    <a:lstStyle/>
                    <a:p>
                      <a:pPr algn="just">
                        <a:spcBef>
                          <a:spcPts val="600"/>
                        </a:spcBef>
                        <a:spcAft>
                          <a:spcPts val="600"/>
                        </a:spcAft>
                      </a:pPr>
                      <a:r>
                        <a:rPr lang="en-US" sz="2000" dirty="0">
                          <a:effectLst/>
                        </a:rPr>
                        <a:t> </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r">
                        <a:spcBef>
                          <a:spcPts val="600"/>
                        </a:spcBef>
                        <a:spcAft>
                          <a:spcPts val="600"/>
                        </a:spcAft>
                      </a:pPr>
                      <a:r>
                        <a:rPr lang="en-US" sz="2000" b="1" dirty="0">
                          <a:effectLst/>
                          <a:latin typeface="Calibri" panose="020F0502020204030204" pitchFamily="34" charset="0"/>
                          <a:ea typeface="Times New Roman" panose="02020603050405020304" pitchFamily="18" charset="0"/>
                          <a:cs typeface="Times New Roman" panose="02020603050405020304" pitchFamily="18" charset="0"/>
                        </a:rPr>
                        <a:t>Aggregated turnover</a:t>
                      </a:r>
                      <a:endParaRPr lang="en-AU" sz="20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b="1" dirty="0">
                          <a:effectLst/>
                        </a:rPr>
                        <a:t>$17m</a:t>
                      </a:r>
                      <a:endParaRPr lang="en-AU" sz="20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986964437"/>
                  </a:ext>
                </a:extLst>
              </a:tr>
            </a:tbl>
          </a:graphicData>
        </a:graphic>
      </p:graphicFrame>
      <p:sp>
        <p:nvSpPr>
          <p:cNvPr id="5" name="Text Placeholder 4">
            <a:extLst>
              <a:ext uri="{FF2B5EF4-FFF2-40B4-BE49-F238E27FC236}">
                <a16:creationId xmlns:a16="http://schemas.microsoft.com/office/drawing/2014/main" id="{3E7764A8-82E3-901B-110E-0772B6702E1A}"/>
              </a:ext>
            </a:extLst>
          </p:cNvPr>
          <p:cNvSpPr>
            <a:spLocks noGrp="1"/>
          </p:cNvSpPr>
          <p:nvPr>
            <p:ph type="body" sz="quarter" idx="10"/>
          </p:nvPr>
        </p:nvSpPr>
        <p:spPr>
          <a:xfrm>
            <a:off x="838200" y="1331003"/>
            <a:ext cx="10515600" cy="5364162"/>
          </a:xfrm>
          <a:prstGeom prst="rect">
            <a:avLst/>
          </a:prstGeom>
          <a:noFill/>
          <a:ln w="25400" cap="flat" cmpd="sng" algn="ctr">
            <a:noFill/>
            <a:prstDash val="soli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AU" sz="1867" dirty="0">
                <a:solidFill>
                  <a:srgbClr val="464145"/>
                </a:solidFill>
              </a:rPr>
              <a:t>  </a:t>
            </a:r>
          </a:p>
        </p:txBody>
      </p:sp>
      <p:sp>
        <p:nvSpPr>
          <p:cNvPr id="3" name="TextBox 2">
            <a:extLst>
              <a:ext uri="{FF2B5EF4-FFF2-40B4-BE49-F238E27FC236}">
                <a16:creationId xmlns:a16="http://schemas.microsoft.com/office/drawing/2014/main" id="{92E76A73-BE3F-4790-12F0-991051F86E7E}"/>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27</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36225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A21D7-9602-4261-A28F-A613EA7F7BC8}"/>
              </a:ext>
            </a:extLst>
          </p:cNvPr>
          <p:cNvSpPr>
            <a:spLocks noGrp="1"/>
          </p:cNvSpPr>
          <p:nvPr>
            <p:ph type="title"/>
          </p:nvPr>
        </p:nvSpPr>
        <p:spPr/>
        <p:txBody>
          <a:bodyPr>
            <a:normAutofit fontScale="90000"/>
          </a:bodyPr>
          <a:lstStyle/>
          <a:p>
            <a:r>
              <a:rPr lang="en-AU" b="1" dirty="0"/>
              <a:t>Case Study 3 — SBE capital allowances concessions </a:t>
            </a:r>
          </a:p>
        </p:txBody>
      </p:sp>
    </p:spTree>
    <p:extLst>
      <p:ext uri="{BB962C8B-B14F-4D97-AF65-F5344CB8AC3E}">
        <p14:creationId xmlns:p14="http://schemas.microsoft.com/office/powerpoint/2010/main" val="1936123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8D4A-345E-485C-8FC6-3E26F406BD15}"/>
              </a:ext>
            </a:extLst>
          </p:cNvPr>
          <p:cNvSpPr>
            <a:spLocks noGrp="1"/>
          </p:cNvSpPr>
          <p:nvPr>
            <p:ph type="title"/>
          </p:nvPr>
        </p:nvSpPr>
        <p:spPr/>
        <p:txBody>
          <a:bodyPr/>
          <a:lstStyle/>
          <a:p>
            <a:r>
              <a:rPr lang="en-AU" dirty="0"/>
              <a:t>Facts &amp; Issue</a:t>
            </a:r>
          </a:p>
        </p:txBody>
      </p:sp>
      <p:sp>
        <p:nvSpPr>
          <p:cNvPr id="3" name="Text Placeholder 2">
            <a:extLst>
              <a:ext uri="{FF2B5EF4-FFF2-40B4-BE49-F238E27FC236}">
                <a16:creationId xmlns:a16="http://schemas.microsoft.com/office/drawing/2014/main" id="{5BDCFC51-48ED-4965-9EE9-63D63B17B598}"/>
              </a:ext>
            </a:extLst>
          </p:cNvPr>
          <p:cNvSpPr>
            <a:spLocks noGrp="1"/>
          </p:cNvSpPr>
          <p:nvPr>
            <p:ph type="body" sz="quarter" idx="10"/>
          </p:nvPr>
        </p:nvSpPr>
        <p:spPr>
          <a:xfrm>
            <a:off x="838200" y="1561513"/>
            <a:ext cx="10515600" cy="5040000"/>
          </a:xfrm>
        </p:spPr>
        <p:txBody>
          <a:bodyPr>
            <a:normAutofit/>
          </a:bodyPr>
          <a:lstStyle/>
          <a:p>
            <a:pPr algn="just">
              <a:spcBef>
                <a:spcPts val="600"/>
              </a:spcBef>
              <a:spcAft>
                <a:spcPts val="600"/>
              </a:spcAft>
            </a:pPr>
            <a:r>
              <a:rPr lang="en-AU" b="1" dirty="0">
                <a:effectLst/>
                <a:latin typeface="Calibri" panose="020F0502020204030204" pitchFamily="34" charset="0"/>
                <a:ea typeface="SimSun" panose="02010600030101010101" pitchFamily="2" charset="-122"/>
                <a:cs typeface="Times New Roman" panose="02020603050405020304" pitchFamily="18" charset="0"/>
              </a:rPr>
              <a:t>Facts</a:t>
            </a:r>
          </a:p>
          <a:p>
            <a:pPr marL="285750" indent="-285750" algn="just">
              <a:spcBef>
                <a:spcPts val="600"/>
              </a:spcBef>
              <a:spcAft>
                <a:spcPts val="600"/>
              </a:spcAft>
              <a:buFont typeface="Wingdings" panose="05000000000000000000" pitchFamily="2" charset="2"/>
              <a:buChar char="§"/>
            </a:pPr>
            <a:r>
              <a:rPr lang="en-AU" dirty="0">
                <a:effectLst/>
                <a:latin typeface="Calibri" panose="020F0502020204030204" pitchFamily="34" charset="0"/>
                <a:ea typeface="SimSun" panose="02010600030101010101" pitchFamily="2" charset="-122"/>
                <a:cs typeface="Times New Roman" panose="02020603050405020304" pitchFamily="18" charset="0"/>
              </a:rPr>
              <a:t>Sundance Pty Ltd (the Company) commenced a primary production business on 1 October 2022. It had acquired a number of depreciating assets for use in the business. The Company is part of a larger group</a:t>
            </a:r>
          </a:p>
          <a:p>
            <a:pPr marL="285750" indent="-285750" algn="just">
              <a:spcBef>
                <a:spcPts val="600"/>
              </a:spcBef>
              <a:spcAft>
                <a:spcPts val="600"/>
              </a:spcAft>
              <a:buFont typeface="Wingdings" panose="05000000000000000000" pitchFamily="2" charset="2"/>
              <a:buChar char="§"/>
            </a:pPr>
            <a:r>
              <a:rPr lang="en-AU" b="1" dirty="0">
                <a:effectLst/>
                <a:latin typeface="Calibri" panose="020F0502020204030204" pitchFamily="34" charset="0"/>
                <a:ea typeface="SimSun" panose="02010600030101010101" pitchFamily="2" charset="-122"/>
                <a:cs typeface="Times New Roman" panose="02020603050405020304" pitchFamily="18" charset="0"/>
              </a:rPr>
              <a:t>The Company’s tax adviser needs to work out which other entities are connected with it or are affiliates of it in order to calculate the Company’s aggregated turnover for the 2022–23 year</a:t>
            </a:r>
            <a:endParaRPr lang="en-AU" b="1"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indent="-342900" algn="just">
              <a:spcBef>
                <a:spcPts val="300"/>
              </a:spcBef>
              <a:buFont typeface="Wingdings" panose="05000000000000000000" pitchFamily="2" charset="2"/>
              <a:buChar char="§"/>
            </a:pPr>
            <a:endParaRPr lang="en-AU" b="1" dirty="0">
              <a:effectLst/>
              <a:latin typeface="Calibri" panose="020F0502020204030204" pitchFamily="34" charset="0"/>
              <a:ea typeface="Times New Roman" panose="02020603050405020304" pitchFamily="18" charset="0"/>
              <a:cs typeface="Times New Roman" panose="02020603050405020304" pitchFamily="18" charset="0"/>
            </a:endParaRPr>
          </a:p>
          <a:p>
            <a:r>
              <a:rPr lang="en-AU" b="1" dirty="0">
                <a:solidFill>
                  <a:schemeClr val="tx1"/>
                </a:solidFill>
              </a:rPr>
              <a:t>Issue</a:t>
            </a:r>
          </a:p>
          <a:p>
            <a:pPr algn="just">
              <a:spcBef>
                <a:spcPts val="600"/>
              </a:spcBef>
              <a:spcAft>
                <a:spcPts val="600"/>
              </a:spcAft>
            </a:pPr>
            <a:r>
              <a:rPr lang="en-AU" dirty="0">
                <a:latin typeface="Calibri" panose="020F0502020204030204" pitchFamily="34" charset="0"/>
                <a:ea typeface="SimSun" panose="02010600030101010101" pitchFamily="2" charset="-122"/>
                <a:cs typeface="Times New Roman" panose="02020603050405020304" pitchFamily="18" charset="0"/>
              </a:rPr>
              <a:t>I</a:t>
            </a:r>
            <a:r>
              <a:rPr lang="en-AU" dirty="0">
                <a:effectLst/>
                <a:latin typeface="Calibri" panose="020F0502020204030204" pitchFamily="34" charset="0"/>
                <a:ea typeface="SimSun" panose="02010600030101010101" pitchFamily="2" charset="-122"/>
                <a:cs typeface="Times New Roman" panose="02020603050405020304" pitchFamily="18" charset="0"/>
              </a:rPr>
              <a:t>f the Company’s aggregated turnover is less than $10 million then it would be entitled to use the small business concessions in Subdiv 328-D, including the uncapped instant asset write-off for 2022–23</a:t>
            </a:r>
            <a:endParaRPr lang="en-AU"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AU" dirty="0"/>
          </a:p>
        </p:txBody>
      </p:sp>
      <p:sp>
        <p:nvSpPr>
          <p:cNvPr id="4" name="TextBox 3">
            <a:extLst>
              <a:ext uri="{FF2B5EF4-FFF2-40B4-BE49-F238E27FC236}">
                <a16:creationId xmlns:a16="http://schemas.microsoft.com/office/drawing/2014/main" id="{FE99F3C3-2423-E6C1-1BBC-42268D736F7E}"/>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28</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32251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8D4A-345E-485C-8FC6-3E26F406BD15}"/>
              </a:ext>
            </a:extLst>
          </p:cNvPr>
          <p:cNvSpPr>
            <a:spLocks noGrp="1"/>
          </p:cNvSpPr>
          <p:nvPr>
            <p:ph type="title"/>
          </p:nvPr>
        </p:nvSpPr>
        <p:spPr/>
        <p:txBody>
          <a:bodyPr/>
          <a:lstStyle/>
          <a:p>
            <a:r>
              <a:rPr lang="en-AU" dirty="0"/>
              <a:t>Group structure</a:t>
            </a:r>
          </a:p>
        </p:txBody>
      </p:sp>
      <p:sp>
        <p:nvSpPr>
          <p:cNvPr id="3" name="Text Placeholder 2">
            <a:extLst>
              <a:ext uri="{FF2B5EF4-FFF2-40B4-BE49-F238E27FC236}">
                <a16:creationId xmlns:a16="http://schemas.microsoft.com/office/drawing/2014/main" id="{5BDCFC51-48ED-4965-9EE9-63D63B17B598}"/>
              </a:ext>
            </a:extLst>
          </p:cNvPr>
          <p:cNvSpPr>
            <a:spLocks noGrp="1"/>
          </p:cNvSpPr>
          <p:nvPr>
            <p:ph type="body" sz="quarter" idx="10"/>
          </p:nvPr>
        </p:nvSpPr>
        <p:spPr/>
        <p:txBody>
          <a:bodyPr/>
          <a:lstStyle/>
          <a:p>
            <a:endParaRPr lang="en-AU" dirty="0"/>
          </a:p>
        </p:txBody>
      </p:sp>
      <p:grpSp>
        <p:nvGrpSpPr>
          <p:cNvPr id="35" name="Canvas 1">
            <a:extLst>
              <a:ext uri="{FF2B5EF4-FFF2-40B4-BE49-F238E27FC236}">
                <a16:creationId xmlns:a16="http://schemas.microsoft.com/office/drawing/2014/main" id="{A21B46EE-D429-3CC1-841E-24B0A037F2D4}"/>
              </a:ext>
            </a:extLst>
          </p:cNvPr>
          <p:cNvGrpSpPr/>
          <p:nvPr/>
        </p:nvGrpSpPr>
        <p:grpSpPr>
          <a:xfrm>
            <a:off x="596429" y="1056601"/>
            <a:ext cx="10999139" cy="5292001"/>
            <a:chOff x="-1" y="-67997"/>
            <a:chExt cx="5660828" cy="6024245"/>
          </a:xfrm>
        </p:grpSpPr>
        <p:sp>
          <p:nvSpPr>
            <p:cNvPr id="36" name="Rectangle 35">
              <a:extLst>
                <a:ext uri="{FF2B5EF4-FFF2-40B4-BE49-F238E27FC236}">
                  <a16:creationId xmlns:a16="http://schemas.microsoft.com/office/drawing/2014/main" id="{F00C0D40-83FD-D1ED-9CC4-962DAA1A6AC1}"/>
                </a:ext>
              </a:extLst>
            </p:cNvPr>
            <p:cNvSpPr/>
            <p:nvPr/>
          </p:nvSpPr>
          <p:spPr>
            <a:xfrm>
              <a:off x="-1" y="-67997"/>
              <a:ext cx="5660828" cy="6024245"/>
            </a:xfrm>
            <a:prstGeom prst="rect">
              <a:avLst/>
            </a:prstGeom>
            <a:solidFill>
              <a:prstClr val="white"/>
            </a:solidFill>
            <a:ln>
              <a:solidFill>
                <a:schemeClr val="tx1"/>
              </a:solidFill>
            </a:ln>
          </p:spPr>
          <p:txBody>
            <a:bodyPr/>
            <a:lstStyle/>
            <a:p>
              <a:endParaRPr lang="en-AU" dirty="0"/>
            </a:p>
          </p:txBody>
        </p:sp>
        <p:sp>
          <p:nvSpPr>
            <p:cNvPr id="37" name="Text Box 2">
              <a:extLst>
                <a:ext uri="{FF2B5EF4-FFF2-40B4-BE49-F238E27FC236}">
                  <a16:creationId xmlns:a16="http://schemas.microsoft.com/office/drawing/2014/main" id="{EED4131E-766B-4971-EF54-67CB1F122158}"/>
                </a:ext>
              </a:extLst>
            </p:cNvPr>
            <p:cNvSpPr txBox="1">
              <a:spLocks noChangeArrowheads="1"/>
            </p:cNvSpPr>
            <p:nvPr/>
          </p:nvSpPr>
          <p:spPr bwMode="auto">
            <a:xfrm>
              <a:off x="3311615" y="5153094"/>
              <a:ext cx="2261373" cy="652624"/>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nSpc>
                  <a:spcPct val="115000"/>
                </a:lnSpc>
                <a:spcAft>
                  <a:spcPts val="1000"/>
                </a:spcAft>
              </a:pPr>
              <a:r>
                <a:rPr lang="en-AU" sz="1400" dirty="0">
                  <a:effectLst/>
                  <a:latin typeface="Calibri" panose="020F0502020204030204" pitchFamily="34" charset="0"/>
                  <a:ea typeface="Calibri" panose="020F0502020204030204" pitchFamily="34" charset="0"/>
                  <a:cs typeface="Times New Roman" panose="02020603050405020304" pitchFamily="18" charset="0"/>
                </a:rPr>
                <a:t>Mr Tran is the trustee of the Tran F/T </a:t>
              </a:r>
              <a:br>
                <a:rPr lang="en-AU" sz="1400" dirty="0">
                  <a:effectLst/>
                  <a:latin typeface="Calibri" panose="020F0502020204030204" pitchFamily="34" charset="0"/>
                  <a:ea typeface="Calibri" panose="020F0502020204030204" pitchFamily="34" charset="0"/>
                  <a:cs typeface="Times New Roman" panose="02020603050405020304" pitchFamily="18" charset="0"/>
                </a:rPr>
              </a:br>
              <a:r>
                <a:rPr lang="en-AU" sz="1400" dirty="0">
                  <a:latin typeface="Calibri" panose="020F0502020204030204" pitchFamily="34" charset="0"/>
                  <a:ea typeface="Calibri" panose="020F0502020204030204" pitchFamily="34" charset="0"/>
                  <a:cs typeface="Times New Roman" panose="02020603050405020304" pitchFamily="18" charset="0"/>
                </a:rPr>
                <a:t>Mrs Tran is</a:t>
              </a:r>
              <a:r>
                <a:rPr lang="en-AU" sz="1400" dirty="0">
                  <a:effectLst/>
                  <a:latin typeface="Calibri" panose="020F0502020204030204" pitchFamily="34" charset="0"/>
                  <a:ea typeface="Calibri" panose="020F0502020204030204" pitchFamily="34" charset="0"/>
                  <a:cs typeface="Times New Roman" panose="02020603050405020304" pitchFamily="18" charset="0"/>
                </a:rPr>
                <a:t> sole director of Tran Co</a:t>
              </a:r>
            </a:p>
          </p:txBody>
        </p:sp>
        <p:sp>
          <p:nvSpPr>
            <p:cNvPr id="38" name="Text Box 2">
              <a:extLst>
                <a:ext uri="{FF2B5EF4-FFF2-40B4-BE49-F238E27FC236}">
                  <a16:creationId xmlns:a16="http://schemas.microsoft.com/office/drawing/2014/main" id="{6F5E8B62-F802-6810-02A1-8A340434D576}"/>
                </a:ext>
              </a:extLst>
            </p:cNvPr>
            <p:cNvSpPr txBox="1">
              <a:spLocks noChangeArrowheads="1"/>
            </p:cNvSpPr>
            <p:nvPr/>
          </p:nvSpPr>
          <p:spPr bwMode="auto">
            <a:xfrm>
              <a:off x="4891094" y="1030055"/>
              <a:ext cx="507005" cy="468166"/>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ctr">
                <a:lnSpc>
                  <a:spcPct val="115000"/>
                </a:lnSpc>
                <a:spcAft>
                  <a:spcPts val="1000"/>
                </a:spcAft>
              </a:pPr>
              <a:r>
                <a:rPr lang="en-AU" sz="1400" dirty="0">
                  <a:effectLst/>
                  <a:latin typeface="Calibri" panose="020F0502020204030204" pitchFamily="34" charset="0"/>
                  <a:ea typeface="Calibri" panose="020F0502020204030204" pitchFamily="34" charset="0"/>
                  <a:cs typeface="Times New Roman" panose="02020603050405020304" pitchFamily="18" charset="0"/>
                </a:rPr>
                <a:t>daughter </a:t>
              </a:r>
              <a:r>
                <a:rPr lang="en-AU" sz="1400" dirty="0">
                  <a:effectLst/>
                  <a:latin typeface="Calibri" panose="020F0502020204030204" pitchFamily="34" charset="0"/>
                  <a:ea typeface="Calibri" panose="020F0502020204030204" pitchFamily="34" charset="0"/>
                  <a:cs typeface="Calibri" panose="020F0502020204030204" pitchFamily="34" charset="0"/>
                </a:rPr>
                <a:t>—</a:t>
              </a:r>
              <a:r>
                <a:rPr lang="en-AU" sz="1400" dirty="0">
                  <a:effectLst/>
                  <a:latin typeface="Calibri" panose="020F0502020204030204" pitchFamily="34" charset="0"/>
                  <a:ea typeface="Calibri" panose="020F0502020204030204" pitchFamily="34" charset="0"/>
                  <a:cs typeface="Times New Roman" panose="02020603050405020304" pitchFamily="18" charset="0"/>
                </a:rPr>
                <a:t> Tina</a:t>
              </a:r>
            </a:p>
          </p:txBody>
        </p:sp>
        <p:sp>
          <p:nvSpPr>
            <p:cNvPr id="39" name="Text Box 2">
              <a:extLst>
                <a:ext uri="{FF2B5EF4-FFF2-40B4-BE49-F238E27FC236}">
                  <a16:creationId xmlns:a16="http://schemas.microsoft.com/office/drawing/2014/main" id="{617F71CB-DFA5-C718-6485-6F495E7248A0}"/>
                </a:ext>
              </a:extLst>
            </p:cNvPr>
            <p:cNvSpPr txBox="1">
              <a:spLocks noChangeArrowheads="1"/>
            </p:cNvSpPr>
            <p:nvPr/>
          </p:nvSpPr>
          <p:spPr bwMode="auto">
            <a:xfrm>
              <a:off x="4368734" y="2164205"/>
              <a:ext cx="630554" cy="370582"/>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nSpc>
                  <a:spcPct val="115000"/>
                </a:lnSpc>
                <a:spcAft>
                  <a:spcPts val="1000"/>
                </a:spcAft>
              </a:pPr>
              <a:r>
                <a:rPr lang="en-AU" sz="1400" dirty="0">
                  <a:effectLst/>
                  <a:latin typeface="Calibri" panose="020F0502020204030204" pitchFamily="34" charset="0"/>
                  <a:ea typeface="Calibri" panose="020F0502020204030204" pitchFamily="34" charset="0"/>
                  <a:cs typeface="Times New Roman" panose="02020603050405020304" pitchFamily="18" charset="0"/>
                </a:rPr>
                <a:t>Mrs T</a:t>
              </a:r>
            </a:p>
          </p:txBody>
        </p:sp>
        <p:sp>
          <p:nvSpPr>
            <p:cNvPr id="40" name="Text Box 2">
              <a:extLst>
                <a:ext uri="{FF2B5EF4-FFF2-40B4-BE49-F238E27FC236}">
                  <a16:creationId xmlns:a16="http://schemas.microsoft.com/office/drawing/2014/main" id="{501D7353-D19B-DCC5-79C9-37C03749D7DA}"/>
                </a:ext>
              </a:extLst>
            </p:cNvPr>
            <p:cNvSpPr txBox="1">
              <a:spLocks noChangeArrowheads="1"/>
            </p:cNvSpPr>
            <p:nvPr/>
          </p:nvSpPr>
          <p:spPr bwMode="auto">
            <a:xfrm>
              <a:off x="2030492" y="2551824"/>
              <a:ext cx="540385" cy="335915"/>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15000"/>
                </a:lnSpc>
                <a:spcAft>
                  <a:spcPts val="1000"/>
                </a:spcAft>
              </a:pPr>
              <a:r>
                <a:rPr lang="en-AU" sz="1400" dirty="0">
                  <a:effectLst/>
                  <a:latin typeface="Calibri" panose="020F0502020204030204" pitchFamily="34" charset="0"/>
                  <a:ea typeface="Calibri" panose="020F0502020204030204" pitchFamily="34" charset="0"/>
                  <a:cs typeface="Times New Roman" panose="02020603050405020304" pitchFamily="18" charset="0"/>
                </a:rPr>
                <a:t>60%</a:t>
              </a:r>
            </a:p>
          </p:txBody>
        </p:sp>
        <p:sp>
          <p:nvSpPr>
            <p:cNvPr id="41" name="Text Box 2">
              <a:extLst>
                <a:ext uri="{FF2B5EF4-FFF2-40B4-BE49-F238E27FC236}">
                  <a16:creationId xmlns:a16="http://schemas.microsoft.com/office/drawing/2014/main" id="{89A0E970-C11B-FF69-E646-B2F909A2250B}"/>
                </a:ext>
              </a:extLst>
            </p:cNvPr>
            <p:cNvSpPr txBox="1">
              <a:spLocks noChangeArrowheads="1"/>
            </p:cNvSpPr>
            <p:nvPr/>
          </p:nvSpPr>
          <p:spPr bwMode="auto">
            <a:xfrm>
              <a:off x="5104861" y="2309000"/>
              <a:ext cx="392296" cy="370582"/>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nSpc>
                  <a:spcPct val="115000"/>
                </a:lnSpc>
                <a:spcAft>
                  <a:spcPts val="1000"/>
                </a:spcAft>
              </a:pPr>
              <a:r>
                <a:rPr lang="en-AU" sz="1400" dirty="0">
                  <a:effectLst/>
                  <a:latin typeface="Calibri" panose="020F0502020204030204" pitchFamily="34" charset="0"/>
                  <a:ea typeface="Calibri" panose="020F0502020204030204" pitchFamily="34" charset="0"/>
                  <a:cs typeface="Times New Roman" panose="02020603050405020304" pitchFamily="18" charset="0"/>
                </a:rPr>
                <a:t>Mr T</a:t>
              </a:r>
            </a:p>
          </p:txBody>
        </p:sp>
        <p:sp>
          <p:nvSpPr>
            <p:cNvPr id="43" name="Text Box 2">
              <a:extLst>
                <a:ext uri="{FF2B5EF4-FFF2-40B4-BE49-F238E27FC236}">
                  <a16:creationId xmlns:a16="http://schemas.microsoft.com/office/drawing/2014/main" id="{9598A7E9-3A98-2829-2BF9-86981DCD5F41}"/>
                </a:ext>
              </a:extLst>
            </p:cNvPr>
            <p:cNvSpPr txBox="1">
              <a:spLocks noChangeArrowheads="1"/>
            </p:cNvSpPr>
            <p:nvPr/>
          </p:nvSpPr>
          <p:spPr bwMode="auto">
            <a:xfrm>
              <a:off x="1713623" y="3034910"/>
              <a:ext cx="320003" cy="370582"/>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nSpc>
                  <a:spcPct val="115000"/>
                </a:lnSpc>
                <a:spcAft>
                  <a:spcPts val="1000"/>
                </a:spcAft>
              </a:pPr>
              <a:r>
                <a:rPr lang="en-AU" sz="1400" dirty="0">
                  <a:effectLst/>
                  <a:latin typeface="Calibri" panose="020F0502020204030204" pitchFamily="34" charset="0"/>
                  <a:ea typeface="Calibri" panose="020F0502020204030204" pitchFamily="34" charset="0"/>
                  <a:cs typeface="Times New Roman" panose="02020603050405020304" pitchFamily="18" charset="0"/>
                </a:rPr>
                <a:t>Mr S</a:t>
              </a:r>
            </a:p>
          </p:txBody>
        </p:sp>
        <p:sp>
          <p:nvSpPr>
            <p:cNvPr id="44" name="Text Box 2">
              <a:extLst>
                <a:ext uri="{FF2B5EF4-FFF2-40B4-BE49-F238E27FC236}">
                  <a16:creationId xmlns:a16="http://schemas.microsoft.com/office/drawing/2014/main" id="{AE97E1C8-9460-428A-9399-853C529F7520}"/>
                </a:ext>
              </a:extLst>
            </p:cNvPr>
            <p:cNvSpPr txBox="1">
              <a:spLocks noChangeArrowheads="1"/>
            </p:cNvSpPr>
            <p:nvPr/>
          </p:nvSpPr>
          <p:spPr bwMode="auto">
            <a:xfrm>
              <a:off x="710762" y="2983796"/>
              <a:ext cx="991234" cy="370582"/>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nSpc>
                  <a:spcPct val="115000"/>
                </a:lnSpc>
                <a:spcAft>
                  <a:spcPts val="1000"/>
                </a:spcAft>
              </a:pPr>
              <a:r>
                <a:rPr lang="en-AU" sz="1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distributions</a:t>
              </a:r>
            </a:p>
          </p:txBody>
        </p:sp>
        <p:sp>
          <p:nvSpPr>
            <p:cNvPr id="45" name="Text Box 2">
              <a:extLst>
                <a:ext uri="{FF2B5EF4-FFF2-40B4-BE49-F238E27FC236}">
                  <a16:creationId xmlns:a16="http://schemas.microsoft.com/office/drawing/2014/main" id="{4B1EBB65-D132-14CD-DD94-E863ACC8E078}"/>
                </a:ext>
              </a:extLst>
            </p:cNvPr>
            <p:cNvSpPr txBox="1">
              <a:spLocks noChangeArrowheads="1"/>
            </p:cNvSpPr>
            <p:nvPr/>
          </p:nvSpPr>
          <p:spPr bwMode="auto">
            <a:xfrm>
              <a:off x="2018996" y="3276944"/>
              <a:ext cx="541019" cy="336472"/>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15000"/>
                </a:lnSpc>
                <a:spcAft>
                  <a:spcPts val="1000"/>
                </a:spcAft>
              </a:pPr>
              <a:r>
                <a:rPr lang="en-AU" sz="1400" dirty="0">
                  <a:effectLst/>
                  <a:latin typeface="Calibri" panose="020F0502020204030204" pitchFamily="34" charset="0"/>
                  <a:ea typeface="Calibri" panose="020F0502020204030204" pitchFamily="34" charset="0"/>
                  <a:cs typeface="Times New Roman" panose="02020603050405020304" pitchFamily="18" charset="0"/>
                </a:rPr>
                <a:t>20%</a:t>
              </a:r>
            </a:p>
          </p:txBody>
        </p:sp>
        <p:sp>
          <p:nvSpPr>
            <p:cNvPr id="47" name="Text Box 2">
              <a:extLst>
                <a:ext uri="{FF2B5EF4-FFF2-40B4-BE49-F238E27FC236}">
                  <a16:creationId xmlns:a16="http://schemas.microsoft.com/office/drawing/2014/main" id="{4212252E-ACA9-F954-FD95-4C9AFE0DACAF}"/>
                </a:ext>
              </a:extLst>
            </p:cNvPr>
            <p:cNvSpPr txBox="1">
              <a:spLocks noChangeArrowheads="1"/>
            </p:cNvSpPr>
            <p:nvPr/>
          </p:nvSpPr>
          <p:spPr bwMode="auto">
            <a:xfrm>
              <a:off x="1500547" y="1359399"/>
              <a:ext cx="449107" cy="370582"/>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nSpc>
                  <a:spcPct val="115000"/>
                </a:lnSpc>
                <a:spcAft>
                  <a:spcPts val="1000"/>
                </a:spcAft>
              </a:pPr>
              <a:r>
                <a:rPr lang="en-AU" sz="1400" dirty="0">
                  <a:effectLst/>
                  <a:latin typeface="Calibri" panose="020F0502020204030204" pitchFamily="34" charset="0"/>
                  <a:ea typeface="Calibri" panose="020F0502020204030204" pitchFamily="34" charset="0"/>
                  <a:cs typeface="Times New Roman" panose="02020603050405020304" pitchFamily="18" charset="0"/>
                </a:rPr>
                <a:t>50%</a:t>
              </a:r>
            </a:p>
          </p:txBody>
        </p:sp>
        <p:sp>
          <p:nvSpPr>
            <p:cNvPr id="48" name="Text Box 2">
              <a:extLst>
                <a:ext uri="{FF2B5EF4-FFF2-40B4-BE49-F238E27FC236}">
                  <a16:creationId xmlns:a16="http://schemas.microsoft.com/office/drawing/2014/main" id="{D88B3BEB-FF2A-DD07-F8DB-ACA9AB07E0CE}"/>
                </a:ext>
              </a:extLst>
            </p:cNvPr>
            <p:cNvSpPr txBox="1">
              <a:spLocks noChangeArrowheads="1"/>
            </p:cNvSpPr>
            <p:nvPr/>
          </p:nvSpPr>
          <p:spPr bwMode="auto">
            <a:xfrm>
              <a:off x="277978" y="1414213"/>
              <a:ext cx="751839" cy="446421"/>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rents land</a:t>
              </a:r>
            </a:p>
          </p:txBody>
        </p:sp>
        <p:sp>
          <p:nvSpPr>
            <p:cNvPr id="49" name="Text Box 2">
              <a:extLst>
                <a:ext uri="{FF2B5EF4-FFF2-40B4-BE49-F238E27FC236}">
                  <a16:creationId xmlns:a16="http://schemas.microsoft.com/office/drawing/2014/main" id="{409C9C77-94DC-E3E7-A3C6-D1DB26F72DD8}"/>
                </a:ext>
              </a:extLst>
            </p:cNvPr>
            <p:cNvSpPr txBox="1">
              <a:spLocks noChangeArrowheads="1"/>
            </p:cNvSpPr>
            <p:nvPr/>
          </p:nvSpPr>
          <p:spPr bwMode="auto">
            <a:xfrm>
              <a:off x="237566" y="2316698"/>
              <a:ext cx="517808" cy="809046"/>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nSpc>
                  <a:spcPct val="115000"/>
                </a:lnSpc>
                <a:spcAft>
                  <a:spcPts val="1000"/>
                </a:spcAft>
              </a:pPr>
              <a:r>
                <a:rPr lang="en-AU" dirty="0">
                  <a:effectLst/>
                  <a:latin typeface="Calibri" panose="020F0502020204030204" pitchFamily="34" charset="0"/>
                  <a:ea typeface="Calibri" panose="020F0502020204030204" pitchFamily="34" charset="0"/>
                  <a:cs typeface="Times New Roman" panose="02020603050405020304" pitchFamily="18" charset="0"/>
                </a:rPr>
                <a:t>owns land</a:t>
              </a:r>
            </a:p>
          </p:txBody>
        </p:sp>
        <p:sp>
          <p:nvSpPr>
            <p:cNvPr id="50" name="Rectangle 49">
              <a:extLst>
                <a:ext uri="{FF2B5EF4-FFF2-40B4-BE49-F238E27FC236}">
                  <a16:creationId xmlns:a16="http://schemas.microsoft.com/office/drawing/2014/main" id="{C7BA1FA9-4370-E00C-64CF-850691735E44}"/>
                </a:ext>
              </a:extLst>
            </p:cNvPr>
            <p:cNvSpPr/>
            <p:nvPr/>
          </p:nvSpPr>
          <p:spPr>
            <a:xfrm>
              <a:off x="2201676" y="592775"/>
              <a:ext cx="1243584" cy="629107"/>
            </a:xfrm>
            <a:prstGeom prst="rect">
              <a:avLst/>
            </a:prstGeom>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b="1" dirty="0">
                  <a:solidFill>
                    <a:schemeClr val="tx1"/>
                  </a:solidFill>
                  <a:effectLst/>
                  <a:ea typeface="Calibri" panose="020F0502020204030204" pitchFamily="34" charset="0"/>
                  <a:cs typeface="Times New Roman" panose="02020603050405020304" pitchFamily="18" charset="0"/>
                </a:rPr>
                <a:t>Sundance P</a:t>
              </a:r>
              <a:r>
                <a:rPr lang="en-US" b="1" dirty="0">
                  <a:effectLst/>
                  <a:ea typeface="Calibri" panose="020F0502020204030204" pitchFamily="34" charset="0"/>
                  <a:cs typeface="Times New Roman" panose="02020603050405020304" pitchFamily="18" charset="0"/>
                </a:rPr>
                <a:t>ty Ltd</a:t>
              </a:r>
              <a:endParaRPr lang="en-AU" dirty="0">
                <a:effectLst/>
                <a:ea typeface="Calibri" panose="020F0502020204030204" pitchFamily="34" charset="0"/>
                <a:cs typeface="Times New Roman" panose="02020603050405020304" pitchFamily="18" charset="0"/>
              </a:endParaRPr>
            </a:p>
          </p:txBody>
        </p:sp>
        <p:sp>
          <p:nvSpPr>
            <p:cNvPr id="51" name="Hexagon 50">
              <a:extLst>
                <a:ext uri="{FF2B5EF4-FFF2-40B4-BE49-F238E27FC236}">
                  <a16:creationId xmlns:a16="http://schemas.microsoft.com/office/drawing/2014/main" id="{2AA033A3-75EC-D5E9-1011-39968D77C96F}"/>
                </a:ext>
              </a:extLst>
            </p:cNvPr>
            <p:cNvSpPr/>
            <p:nvPr/>
          </p:nvSpPr>
          <p:spPr>
            <a:xfrm>
              <a:off x="1045941" y="2143356"/>
              <a:ext cx="892030" cy="855880"/>
            </a:xfrm>
            <a:prstGeom prst="hexagon">
              <a:avLst/>
            </a:prstGeom>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dirty="0">
                  <a:effectLst/>
                  <a:ea typeface="Calibri" panose="020F0502020204030204" pitchFamily="34" charset="0"/>
                  <a:cs typeface="Times New Roman" panose="02020603050405020304" pitchFamily="18" charset="0"/>
                </a:rPr>
                <a:t>S</a:t>
              </a:r>
              <a:r>
                <a:rPr lang="en-US" dirty="0">
                  <a:solidFill>
                    <a:schemeClr val="tx1"/>
                  </a:solidFill>
                  <a:effectLst/>
                  <a:ea typeface="Calibri" panose="020F0502020204030204" pitchFamily="34" charset="0"/>
                  <a:cs typeface="Times New Roman" panose="02020603050405020304" pitchFamily="18" charset="0"/>
                </a:rPr>
                <a:t>mith </a:t>
              </a:r>
              <a:r>
                <a:rPr lang="en-US" dirty="0">
                  <a:effectLst/>
                  <a:ea typeface="Calibri" panose="020F0502020204030204" pitchFamily="34" charset="0"/>
                  <a:cs typeface="Times New Roman" panose="02020603050405020304" pitchFamily="18" charset="0"/>
                </a:rPr>
                <a:t>Family Trust</a:t>
              </a:r>
              <a:endParaRPr lang="en-AU" dirty="0">
                <a:effectLst/>
                <a:ea typeface="Calibri" panose="020F0502020204030204" pitchFamily="34" charset="0"/>
                <a:cs typeface="Times New Roman" panose="02020603050405020304" pitchFamily="18" charset="0"/>
              </a:endParaRPr>
            </a:p>
          </p:txBody>
        </p:sp>
        <p:sp>
          <p:nvSpPr>
            <p:cNvPr id="52" name="Hexagon 51">
              <a:extLst>
                <a:ext uri="{FF2B5EF4-FFF2-40B4-BE49-F238E27FC236}">
                  <a16:creationId xmlns:a16="http://schemas.microsoft.com/office/drawing/2014/main" id="{55FD657A-94D0-FA1E-1AA8-21FB83869FA0}"/>
                </a:ext>
              </a:extLst>
            </p:cNvPr>
            <p:cNvSpPr/>
            <p:nvPr/>
          </p:nvSpPr>
          <p:spPr>
            <a:xfrm>
              <a:off x="3464525" y="2177050"/>
              <a:ext cx="891540" cy="855345"/>
            </a:xfrm>
            <a:prstGeom prst="hexagon">
              <a:avLst/>
            </a:prstGeom>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dirty="0">
                  <a:effectLst/>
                  <a:ea typeface="Calibri" panose="020F0502020204030204" pitchFamily="34" charset="0"/>
                  <a:cs typeface="Times New Roman" panose="02020603050405020304" pitchFamily="18" charset="0"/>
                </a:rPr>
                <a:t>T</a:t>
              </a:r>
              <a:r>
                <a:rPr lang="en-US" dirty="0">
                  <a:solidFill>
                    <a:schemeClr val="tx1"/>
                  </a:solidFill>
                  <a:effectLst/>
                  <a:ea typeface="Calibri" panose="020F0502020204030204" pitchFamily="34" charset="0"/>
                  <a:cs typeface="Times New Roman" panose="02020603050405020304" pitchFamily="18" charset="0"/>
                </a:rPr>
                <a:t>ran</a:t>
              </a:r>
              <a:r>
                <a:rPr lang="en-US" dirty="0">
                  <a:effectLst/>
                  <a:ea typeface="Calibri" panose="020F0502020204030204" pitchFamily="34" charset="0"/>
                  <a:cs typeface="Times New Roman" panose="02020603050405020304" pitchFamily="18" charset="0"/>
                </a:rPr>
                <a:t> Family Trust</a:t>
              </a:r>
              <a:endParaRPr lang="en-AU" dirty="0">
                <a:effectLst/>
                <a:ea typeface="Calibri" panose="020F0502020204030204" pitchFamily="34" charset="0"/>
                <a:cs typeface="Times New Roman" panose="02020603050405020304" pitchFamily="18" charset="0"/>
              </a:endParaRPr>
            </a:p>
          </p:txBody>
        </p:sp>
        <p:pic>
          <p:nvPicPr>
            <p:cNvPr id="53" name="Graphic 69602651" descr="Agriculture outline">
              <a:extLst>
                <a:ext uri="{FF2B5EF4-FFF2-40B4-BE49-F238E27FC236}">
                  <a16:creationId xmlns:a16="http://schemas.microsoft.com/office/drawing/2014/main" id="{640E62AD-D52A-F03A-A394-C32D227836E4}"/>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4357" y="1982090"/>
              <a:ext cx="281762" cy="281762"/>
            </a:xfrm>
            <a:prstGeom prst="rect">
              <a:avLst/>
            </a:prstGeom>
          </p:spPr>
        </p:pic>
        <p:cxnSp>
          <p:nvCxnSpPr>
            <p:cNvPr id="54" name="Straight Arrow Connector 53">
              <a:extLst>
                <a:ext uri="{FF2B5EF4-FFF2-40B4-BE49-F238E27FC236}">
                  <a16:creationId xmlns:a16="http://schemas.microsoft.com/office/drawing/2014/main" id="{D9004986-2E61-5203-9A39-A8EF3CB53EA6}"/>
                </a:ext>
              </a:extLst>
            </p:cNvPr>
            <p:cNvCxnSpPr>
              <a:stCxn id="51" idx="3"/>
            </p:cNvCxnSpPr>
            <p:nvPr/>
          </p:nvCxnSpPr>
          <p:spPr>
            <a:xfrm flipH="1" flipV="1">
              <a:off x="482803" y="2314684"/>
              <a:ext cx="563138" cy="256454"/>
            </a:xfrm>
            <a:prstGeom prst="straightConnector1">
              <a:avLst/>
            </a:prstGeom>
            <a:ln w="9525" cap="flat" cmpd="sng" algn="ctr">
              <a:solidFill>
                <a:schemeClr val="accent4"/>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pic>
          <p:nvPicPr>
            <p:cNvPr id="55" name="Graphic 262254753" descr="Man with solid fill">
              <a:extLst>
                <a:ext uri="{FF2B5EF4-FFF2-40B4-BE49-F238E27FC236}">
                  <a16:creationId xmlns:a16="http://schemas.microsoft.com/office/drawing/2014/main" id="{82F6674D-5DA6-4243-BF64-B8DF72CDCEEC}"/>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0746" y="3452651"/>
              <a:ext cx="332880" cy="600865"/>
            </a:xfrm>
            <a:prstGeom prst="rect">
              <a:avLst/>
            </a:prstGeom>
          </p:spPr>
        </p:pic>
        <p:pic>
          <p:nvPicPr>
            <p:cNvPr id="56" name="Graphic 1718536672" descr="Man outline">
              <a:extLst>
                <a:ext uri="{FF2B5EF4-FFF2-40B4-BE49-F238E27FC236}">
                  <a16:creationId xmlns:a16="http://schemas.microsoft.com/office/drawing/2014/main" id="{A716D2B9-0938-3882-B49E-4E299AAAE2B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08412" y="2176917"/>
              <a:ext cx="332880" cy="639103"/>
            </a:xfrm>
            <a:prstGeom prst="rect">
              <a:avLst/>
            </a:prstGeom>
          </p:spPr>
        </p:pic>
        <p:pic>
          <p:nvPicPr>
            <p:cNvPr id="57" name="Graphic 898242586" descr="Woman with solid fill">
              <a:extLst>
                <a:ext uri="{FF2B5EF4-FFF2-40B4-BE49-F238E27FC236}">
                  <a16:creationId xmlns:a16="http://schemas.microsoft.com/office/drawing/2014/main" id="{382D4269-2B79-BEC6-38C6-9D7D28E96EDB}"/>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32650" y="3879361"/>
              <a:ext cx="332880" cy="663277"/>
            </a:xfrm>
            <a:prstGeom prst="rect">
              <a:avLst/>
            </a:prstGeom>
          </p:spPr>
        </p:pic>
        <p:pic>
          <p:nvPicPr>
            <p:cNvPr id="58" name="Graphic 496585402" descr="Woman outline">
              <a:extLst>
                <a:ext uri="{FF2B5EF4-FFF2-40B4-BE49-F238E27FC236}">
                  <a16:creationId xmlns:a16="http://schemas.microsoft.com/office/drawing/2014/main" id="{3B3B506C-F2C2-18B4-CC8F-4691045159F0}"/>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535413" y="2207762"/>
              <a:ext cx="332880" cy="604805"/>
            </a:xfrm>
            <a:prstGeom prst="rect">
              <a:avLst/>
            </a:prstGeom>
          </p:spPr>
        </p:pic>
        <p:sp>
          <p:nvSpPr>
            <p:cNvPr id="59" name="Rectangle 58">
              <a:extLst>
                <a:ext uri="{FF2B5EF4-FFF2-40B4-BE49-F238E27FC236}">
                  <a16:creationId xmlns:a16="http://schemas.microsoft.com/office/drawing/2014/main" id="{E1917B46-DD47-2B0C-FBAE-084629228520}"/>
                </a:ext>
              </a:extLst>
            </p:cNvPr>
            <p:cNvSpPr/>
            <p:nvPr/>
          </p:nvSpPr>
          <p:spPr>
            <a:xfrm>
              <a:off x="4828032" y="3679550"/>
              <a:ext cx="563270" cy="467535"/>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dirty="0">
                  <a:effectLst/>
                  <a:ea typeface="Calibri" panose="020F0502020204030204" pitchFamily="34" charset="0"/>
                  <a:cs typeface="Times New Roman" panose="02020603050405020304" pitchFamily="18" charset="0"/>
                </a:rPr>
                <a:t>T</a:t>
              </a:r>
              <a:r>
                <a:rPr lang="en-US" dirty="0">
                  <a:solidFill>
                    <a:schemeClr val="tx1"/>
                  </a:solidFill>
                  <a:effectLst/>
                  <a:ea typeface="Calibri" panose="020F0502020204030204" pitchFamily="34" charset="0"/>
                  <a:cs typeface="Times New Roman" panose="02020603050405020304" pitchFamily="18" charset="0"/>
                </a:rPr>
                <a:t>ran</a:t>
              </a:r>
              <a:r>
                <a:rPr lang="en-US" dirty="0">
                  <a:effectLst/>
                  <a:ea typeface="Calibri" panose="020F0502020204030204" pitchFamily="34" charset="0"/>
                  <a:cs typeface="Times New Roman" panose="02020603050405020304" pitchFamily="18" charset="0"/>
                </a:rPr>
                <a:t> Co</a:t>
              </a:r>
              <a:endParaRPr lang="en-AU" dirty="0">
                <a:effectLst/>
                <a:ea typeface="Calibri" panose="020F0502020204030204" pitchFamily="34" charset="0"/>
                <a:cs typeface="Times New Roman" panose="02020603050405020304" pitchFamily="18" charset="0"/>
              </a:endParaRPr>
            </a:p>
          </p:txBody>
        </p:sp>
        <p:pic>
          <p:nvPicPr>
            <p:cNvPr id="60" name="Graphic 1380223758" descr="Female Profile outline">
              <a:extLst>
                <a:ext uri="{FF2B5EF4-FFF2-40B4-BE49-F238E27FC236}">
                  <a16:creationId xmlns:a16="http://schemas.microsoft.com/office/drawing/2014/main" id="{0C4AEF86-9C76-E23B-2F5E-B0D6C60B5692}"/>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306248" y="1565705"/>
              <a:ext cx="292365" cy="655448"/>
            </a:xfrm>
            <a:prstGeom prst="rect">
              <a:avLst/>
            </a:prstGeom>
          </p:spPr>
        </p:pic>
        <p:sp>
          <p:nvSpPr>
            <p:cNvPr id="61" name="Rectangle 60">
              <a:extLst>
                <a:ext uri="{FF2B5EF4-FFF2-40B4-BE49-F238E27FC236}">
                  <a16:creationId xmlns:a16="http://schemas.microsoft.com/office/drawing/2014/main" id="{785149FC-F4F6-AD43-8B04-61411FBACCDA}"/>
                </a:ext>
              </a:extLst>
            </p:cNvPr>
            <p:cNvSpPr/>
            <p:nvPr/>
          </p:nvSpPr>
          <p:spPr>
            <a:xfrm>
              <a:off x="2491604" y="3196143"/>
              <a:ext cx="675878" cy="467360"/>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2000" dirty="0">
                  <a:effectLst/>
                  <a:ea typeface="Calibri" panose="020F0502020204030204" pitchFamily="34" charset="0"/>
                  <a:cs typeface="Times New Roman" panose="02020603050405020304" pitchFamily="18" charset="0"/>
                </a:rPr>
                <a:t>S</a:t>
              </a:r>
              <a:r>
                <a:rPr lang="en-US" sz="2000" dirty="0">
                  <a:solidFill>
                    <a:schemeClr val="tx1"/>
                  </a:solidFill>
                  <a:effectLst/>
                  <a:ea typeface="Calibri" panose="020F0502020204030204" pitchFamily="34" charset="0"/>
                  <a:cs typeface="Times New Roman" panose="02020603050405020304" pitchFamily="18" charset="0"/>
                </a:rPr>
                <a:t>mith</a:t>
              </a:r>
              <a:r>
                <a:rPr lang="en-US" sz="2000" dirty="0">
                  <a:effectLst/>
                  <a:ea typeface="Calibri" panose="020F0502020204030204" pitchFamily="34" charset="0"/>
                  <a:cs typeface="Times New Roman" panose="02020603050405020304" pitchFamily="18" charset="0"/>
                </a:rPr>
                <a:t> Co</a:t>
              </a:r>
              <a:endParaRPr lang="en-AU" sz="2000" dirty="0">
                <a:effectLst/>
                <a:ea typeface="Calibri" panose="020F0502020204030204" pitchFamily="34" charset="0"/>
                <a:cs typeface="Times New Roman" panose="02020603050405020304" pitchFamily="18" charset="0"/>
              </a:endParaRPr>
            </a:p>
          </p:txBody>
        </p:sp>
        <p:cxnSp>
          <p:nvCxnSpPr>
            <p:cNvPr id="62" name="Straight Connector 61">
              <a:extLst>
                <a:ext uri="{FF2B5EF4-FFF2-40B4-BE49-F238E27FC236}">
                  <a16:creationId xmlns:a16="http://schemas.microsoft.com/office/drawing/2014/main" id="{28286EE8-AA16-5DE2-8688-8C0B9FBD362A}"/>
                </a:ext>
              </a:extLst>
            </p:cNvPr>
            <p:cNvCxnSpPr/>
            <p:nvPr/>
          </p:nvCxnSpPr>
          <p:spPr>
            <a:xfrm flipV="1">
              <a:off x="1345997" y="1082584"/>
              <a:ext cx="855679" cy="1060466"/>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444A81E-7D2B-5CFF-2DA1-6029B0BA05C0}"/>
                </a:ext>
              </a:extLst>
            </p:cNvPr>
            <p:cNvCxnSpPr>
              <a:stCxn id="52" idx="5"/>
            </p:cNvCxnSpPr>
            <p:nvPr/>
          </p:nvCxnSpPr>
          <p:spPr>
            <a:xfrm flipH="1" flipV="1">
              <a:off x="3445260" y="1105232"/>
              <a:ext cx="696982" cy="1071684"/>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4F86D4CF-1334-EE86-FB11-66739E658F28}"/>
                </a:ext>
              </a:extLst>
            </p:cNvPr>
            <p:cNvCxnSpPr/>
            <p:nvPr/>
          </p:nvCxnSpPr>
          <p:spPr>
            <a:xfrm flipV="1">
              <a:off x="519379" y="627585"/>
              <a:ext cx="1650355" cy="1310943"/>
            </a:xfrm>
            <a:prstGeom prst="straightConnector1">
              <a:avLst/>
            </a:prstGeom>
            <a:ln w="9525" cap="flat" cmpd="sng" algn="ctr">
              <a:solidFill>
                <a:schemeClr val="accent4"/>
              </a:solidFill>
              <a:prstDash val="dash"/>
              <a:round/>
              <a:headEnd type="triangle" w="med" len="med"/>
              <a:tailEnd type="none" w="med" len="med"/>
            </a:ln>
          </p:spPr>
          <p:style>
            <a:lnRef idx="0">
              <a:scrgbClr r="0" g="0" b="0"/>
            </a:lnRef>
            <a:fillRef idx="0">
              <a:scrgbClr r="0" g="0" b="0"/>
            </a:fillRef>
            <a:effectRef idx="0">
              <a:scrgbClr r="0" g="0" b="0"/>
            </a:effectRef>
            <a:fontRef idx="minor">
              <a:schemeClr val="tx1"/>
            </a:fontRef>
          </p:style>
        </p:cxnSp>
        <p:cxnSp>
          <p:nvCxnSpPr>
            <p:cNvPr id="65" name="Straight Connector 64">
              <a:extLst>
                <a:ext uri="{FF2B5EF4-FFF2-40B4-BE49-F238E27FC236}">
                  <a16:creationId xmlns:a16="http://schemas.microsoft.com/office/drawing/2014/main" id="{4A3204C9-5B2A-4E3D-8B7B-F971107D97EF}"/>
                </a:ext>
              </a:extLst>
            </p:cNvPr>
            <p:cNvCxnSpPr/>
            <p:nvPr/>
          </p:nvCxnSpPr>
          <p:spPr>
            <a:xfrm flipV="1">
              <a:off x="2995743" y="1224777"/>
              <a:ext cx="0" cy="1565053"/>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3D341F3-2180-8C4F-7C89-E677C1D5075E}"/>
                </a:ext>
              </a:extLst>
            </p:cNvPr>
            <p:cNvCxnSpPr/>
            <p:nvPr/>
          </p:nvCxnSpPr>
          <p:spPr>
            <a:xfrm flipH="1">
              <a:off x="1397203" y="3006363"/>
              <a:ext cx="58522" cy="826802"/>
            </a:xfrm>
            <a:prstGeom prst="line">
              <a:avLst/>
            </a:prstGeom>
            <a:ln>
              <a:prstDash val="dash"/>
            </a:ln>
          </p:spPr>
          <p:style>
            <a:lnRef idx="1">
              <a:schemeClr val="accent2"/>
            </a:lnRef>
            <a:fillRef idx="0">
              <a:schemeClr val="accent2"/>
            </a:fillRef>
            <a:effectRef idx="0">
              <a:schemeClr val="accent2"/>
            </a:effectRef>
            <a:fontRef idx="minor">
              <a:schemeClr val="tx1"/>
            </a:fontRef>
          </p:style>
        </p:cxnSp>
        <p:cxnSp>
          <p:nvCxnSpPr>
            <p:cNvPr id="68" name="Straight Connector 67">
              <a:extLst>
                <a:ext uri="{FF2B5EF4-FFF2-40B4-BE49-F238E27FC236}">
                  <a16:creationId xmlns:a16="http://schemas.microsoft.com/office/drawing/2014/main" id="{7D9AB807-5197-6551-DCB4-C4D44EECE01C}"/>
                </a:ext>
              </a:extLst>
            </p:cNvPr>
            <p:cNvCxnSpPr/>
            <p:nvPr/>
          </p:nvCxnSpPr>
          <p:spPr>
            <a:xfrm>
              <a:off x="1514047" y="3006080"/>
              <a:ext cx="204826" cy="556423"/>
            </a:xfrm>
            <a:prstGeom prst="line">
              <a:avLst/>
            </a:prstGeom>
            <a:ln>
              <a:prstDash val="dash"/>
            </a:ln>
          </p:spPr>
          <p:style>
            <a:lnRef idx="1">
              <a:schemeClr val="accent2"/>
            </a:lnRef>
            <a:fillRef idx="0">
              <a:schemeClr val="accent2"/>
            </a:fillRef>
            <a:effectRef idx="0">
              <a:schemeClr val="accent2"/>
            </a:effectRef>
            <a:fontRef idx="minor">
              <a:schemeClr val="tx1"/>
            </a:fontRef>
          </p:style>
        </p:cxnSp>
        <p:cxnSp>
          <p:nvCxnSpPr>
            <p:cNvPr id="69" name="Straight Connector 68">
              <a:extLst>
                <a:ext uri="{FF2B5EF4-FFF2-40B4-BE49-F238E27FC236}">
                  <a16:creationId xmlns:a16="http://schemas.microsoft.com/office/drawing/2014/main" id="{D728E7A6-C905-22E6-E413-59EECB8AC2FF}"/>
                </a:ext>
              </a:extLst>
            </p:cNvPr>
            <p:cNvCxnSpPr/>
            <p:nvPr/>
          </p:nvCxnSpPr>
          <p:spPr>
            <a:xfrm flipV="1">
              <a:off x="2040941" y="3438144"/>
              <a:ext cx="450663" cy="175565"/>
            </a:xfrm>
            <a:prstGeom prst="line">
              <a:avLst/>
            </a:prstGeom>
            <a:ln>
              <a:headEnd type="none" w="med" len="med"/>
              <a:tailEnd type="triangle" w="med" len="med"/>
            </a:ln>
          </p:spPr>
          <p:style>
            <a:lnRef idx="1">
              <a:schemeClr val="accent4"/>
            </a:lnRef>
            <a:fillRef idx="0">
              <a:schemeClr val="accent4"/>
            </a:fillRef>
            <a:effectRef idx="0">
              <a:schemeClr val="accent4"/>
            </a:effectRef>
            <a:fontRef idx="minor">
              <a:schemeClr val="tx1"/>
            </a:fontRef>
          </p:style>
        </p:cxnSp>
        <p:cxnSp>
          <p:nvCxnSpPr>
            <p:cNvPr id="70" name="Straight Connector 69">
              <a:extLst>
                <a:ext uri="{FF2B5EF4-FFF2-40B4-BE49-F238E27FC236}">
                  <a16:creationId xmlns:a16="http://schemas.microsoft.com/office/drawing/2014/main" id="{C2D009F1-0D55-5EF7-E6E8-1BCE7A0058C4}"/>
                </a:ext>
              </a:extLst>
            </p:cNvPr>
            <p:cNvCxnSpPr/>
            <p:nvPr/>
          </p:nvCxnSpPr>
          <p:spPr>
            <a:xfrm flipH="1">
              <a:off x="1514047" y="3679546"/>
              <a:ext cx="1265729" cy="460858"/>
            </a:xfrm>
            <a:prstGeom prst="line">
              <a:avLst/>
            </a:prstGeom>
            <a:ln>
              <a:headEnd type="triangle" w="med" len="med"/>
              <a:tailEnd type="none" w="med" len="med"/>
            </a:ln>
          </p:spPr>
          <p:style>
            <a:lnRef idx="1">
              <a:schemeClr val="accent4"/>
            </a:lnRef>
            <a:fillRef idx="0">
              <a:schemeClr val="accent4"/>
            </a:fillRef>
            <a:effectRef idx="0">
              <a:schemeClr val="accent4"/>
            </a:effectRef>
            <a:fontRef idx="minor">
              <a:schemeClr val="tx1"/>
            </a:fontRef>
          </p:style>
        </p:cxnSp>
        <p:sp>
          <p:nvSpPr>
            <p:cNvPr id="71" name="Text Box 2">
              <a:extLst>
                <a:ext uri="{FF2B5EF4-FFF2-40B4-BE49-F238E27FC236}">
                  <a16:creationId xmlns:a16="http://schemas.microsoft.com/office/drawing/2014/main" id="{552503AA-4024-9AF0-CFD2-A534BB1C1A86}"/>
                </a:ext>
              </a:extLst>
            </p:cNvPr>
            <p:cNvSpPr txBox="1">
              <a:spLocks noChangeArrowheads="1"/>
            </p:cNvSpPr>
            <p:nvPr/>
          </p:nvSpPr>
          <p:spPr bwMode="auto">
            <a:xfrm>
              <a:off x="159328" y="5156531"/>
              <a:ext cx="2431414" cy="652624"/>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nSpc>
                  <a:spcPct val="115000"/>
                </a:lnSpc>
                <a:spcAft>
                  <a:spcPts val="1000"/>
                </a:spcAft>
              </a:pPr>
              <a:r>
                <a:rPr lang="en-AU" sz="1400" dirty="0">
                  <a:effectLst/>
                  <a:latin typeface="Calibri" panose="020F0502020204030204" pitchFamily="34" charset="0"/>
                  <a:ea typeface="Calibri" panose="020F0502020204030204" pitchFamily="34" charset="0"/>
                  <a:cs typeface="Times New Roman" panose="02020603050405020304" pitchFamily="18" charset="0"/>
                </a:rPr>
                <a:t>Mr and Mrs Smith are the trustees of Smith F/T and directors of Smith Co</a:t>
              </a:r>
            </a:p>
          </p:txBody>
        </p:sp>
        <p:pic>
          <p:nvPicPr>
            <p:cNvPr id="72" name="Graphic 1825916995" descr="Family with two children with solid fill">
              <a:extLst>
                <a:ext uri="{FF2B5EF4-FFF2-40B4-BE49-F238E27FC236}">
                  <a16:creationId xmlns:a16="http://schemas.microsoft.com/office/drawing/2014/main" id="{C7FBBF64-13EA-14D1-DBBC-F1C620811DE5}"/>
                </a:ext>
              </a:extLst>
            </p:cNvPr>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25245" y="3388348"/>
              <a:ext cx="296393" cy="461364"/>
            </a:xfrm>
            <a:prstGeom prst="rect">
              <a:avLst/>
            </a:prstGeom>
          </p:spPr>
        </p:pic>
        <p:cxnSp>
          <p:nvCxnSpPr>
            <p:cNvPr id="73" name="Straight Connector 72">
              <a:extLst>
                <a:ext uri="{FF2B5EF4-FFF2-40B4-BE49-F238E27FC236}">
                  <a16:creationId xmlns:a16="http://schemas.microsoft.com/office/drawing/2014/main" id="{BB59A032-B42F-664D-87DE-C40D0C91C9B5}"/>
                </a:ext>
              </a:extLst>
            </p:cNvPr>
            <p:cNvCxnSpPr/>
            <p:nvPr/>
          </p:nvCxnSpPr>
          <p:spPr>
            <a:xfrm flipH="1">
              <a:off x="1133856" y="3018112"/>
              <a:ext cx="212141" cy="573652"/>
            </a:xfrm>
            <a:prstGeom prst="line">
              <a:avLst/>
            </a:prstGeom>
            <a:ln>
              <a:prstDash val="dash"/>
            </a:ln>
          </p:spPr>
          <p:style>
            <a:lnRef idx="1">
              <a:schemeClr val="accent2"/>
            </a:lnRef>
            <a:fillRef idx="0">
              <a:schemeClr val="accent2"/>
            </a:fillRef>
            <a:effectRef idx="0">
              <a:schemeClr val="accent2"/>
            </a:effectRef>
            <a:fontRef idx="minor">
              <a:schemeClr val="tx1"/>
            </a:fontRef>
          </p:style>
        </p:cxnSp>
        <p:sp>
          <p:nvSpPr>
            <p:cNvPr id="74" name="Text Box 2">
              <a:extLst>
                <a:ext uri="{FF2B5EF4-FFF2-40B4-BE49-F238E27FC236}">
                  <a16:creationId xmlns:a16="http://schemas.microsoft.com/office/drawing/2014/main" id="{943E89C1-58A8-7672-B522-0D234F8A9D22}"/>
                </a:ext>
              </a:extLst>
            </p:cNvPr>
            <p:cNvSpPr txBox="1">
              <a:spLocks noChangeArrowheads="1"/>
            </p:cNvSpPr>
            <p:nvPr/>
          </p:nvSpPr>
          <p:spPr bwMode="auto">
            <a:xfrm>
              <a:off x="678299" y="3814632"/>
              <a:ext cx="647916" cy="934667"/>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AU" sz="1400" dirty="0">
                  <a:effectLst/>
                  <a:latin typeface="Calibri" panose="020F0502020204030204" pitchFamily="34" charset="0"/>
                  <a:ea typeface="Calibri" panose="020F0502020204030204" pitchFamily="34" charset="0"/>
                  <a:cs typeface="Times New Roman" panose="02020603050405020304" pitchFamily="18" charset="0"/>
                </a:rPr>
                <a:t>extended family members</a:t>
              </a:r>
            </a:p>
          </p:txBody>
        </p:sp>
        <p:cxnSp>
          <p:nvCxnSpPr>
            <p:cNvPr id="75" name="Straight Connector 74">
              <a:extLst>
                <a:ext uri="{FF2B5EF4-FFF2-40B4-BE49-F238E27FC236}">
                  <a16:creationId xmlns:a16="http://schemas.microsoft.com/office/drawing/2014/main" id="{40F1371D-A4DE-E55D-AB6F-FD3E2EFF0494}"/>
                </a:ext>
              </a:extLst>
            </p:cNvPr>
            <p:cNvCxnSpPr/>
            <p:nvPr/>
          </p:nvCxnSpPr>
          <p:spPr>
            <a:xfrm flipH="1" flipV="1">
              <a:off x="1923898" y="2706624"/>
              <a:ext cx="574307" cy="479727"/>
            </a:xfrm>
            <a:prstGeom prst="line">
              <a:avLst/>
            </a:prstGeom>
            <a:ln>
              <a:headEnd type="triangl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76" name="Straight Connector 75">
              <a:extLst>
                <a:ext uri="{FF2B5EF4-FFF2-40B4-BE49-F238E27FC236}">
                  <a16:creationId xmlns:a16="http://schemas.microsoft.com/office/drawing/2014/main" id="{4A0B4AE5-80DF-B0AF-6614-A9C4747DA696}"/>
                </a:ext>
              </a:extLst>
            </p:cNvPr>
            <p:cNvCxnSpPr>
              <a:endCxn id="59" idx="0"/>
            </p:cNvCxnSpPr>
            <p:nvPr/>
          </p:nvCxnSpPr>
          <p:spPr>
            <a:xfrm>
              <a:off x="5109667" y="2852188"/>
              <a:ext cx="0" cy="827136"/>
            </a:xfrm>
            <a:prstGeom prst="line">
              <a:avLst/>
            </a:prstGeom>
            <a:ln>
              <a:headEnd type="none" w="med" len="med"/>
              <a:tailEnd type="triangle" w="med" len="med"/>
            </a:ln>
          </p:spPr>
          <p:style>
            <a:lnRef idx="1">
              <a:schemeClr val="accent6"/>
            </a:lnRef>
            <a:fillRef idx="0">
              <a:schemeClr val="accent6"/>
            </a:fillRef>
            <a:effectRef idx="0">
              <a:schemeClr val="accent6"/>
            </a:effectRef>
            <a:fontRef idx="minor">
              <a:schemeClr val="tx1"/>
            </a:fontRef>
          </p:style>
        </p:cxnSp>
        <p:cxnSp>
          <p:nvCxnSpPr>
            <p:cNvPr id="77" name="Straight Connector 76">
              <a:extLst>
                <a:ext uri="{FF2B5EF4-FFF2-40B4-BE49-F238E27FC236}">
                  <a16:creationId xmlns:a16="http://schemas.microsoft.com/office/drawing/2014/main" id="{2C12FC88-780A-E2AB-731C-C3ED4FC6A1D7}"/>
                </a:ext>
              </a:extLst>
            </p:cNvPr>
            <p:cNvCxnSpPr/>
            <p:nvPr/>
          </p:nvCxnSpPr>
          <p:spPr>
            <a:xfrm flipV="1">
              <a:off x="4247200" y="2735885"/>
              <a:ext cx="332115" cy="116478"/>
            </a:xfrm>
            <a:prstGeom prst="line">
              <a:avLst/>
            </a:prstGeom>
            <a:ln>
              <a:prstDash val="dash"/>
            </a:ln>
          </p:spPr>
          <p:style>
            <a:lnRef idx="1">
              <a:schemeClr val="accent2"/>
            </a:lnRef>
            <a:fillRef idx="0">
              <a:schemeClr val="accent2"/>
            </a:fillRef>
            <a:effectRef idx="0">
              <a:schemeClr val="accent2"/>
            </a:effectRef>
            <a:fontRef idx="minor">
              <a:schemeClr val="tx1"/>
            </a:fontRef>
          </p:style>
        </p:cxnSp>
        <p:sp>
          <p:nvSpPr>
            <p:cNvPr id="78" name="Text Box 2">
              <a:extLst>
                <a:ext uri="{FF2B5EF4-FFF2-40B4-BE49-F238E27FC236}">
                  <a16:creationId xmlns:a16="http://schemas.microsoft.com/office/drawing/2014/main" id="{46C6DE3E-AA14-28B1-CE32-AAEB343CBBDF}"/>
                </a:ext>
              </a:extLst>
            </p:cNvPr>
            <p:cNvSpPr txBox="1">
              <a:spLocks noChangeArrowheads="1"/>
            </p:cNvSpPr>
            <p:nvPr/>
          </p:nvSpPr>
          <p:spPr bwMode="auto">
            <a:xfrm>
              <a:off x="3813915" y="3264515"/>
              <a:ext cx="591709" cy="370582"/>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nSpc>
                  <a:spcPct val="115000"/>
                </a:lnSpc>
                <a:spcAft>
                  <a:spcPts val="1000"/>
                </a:spcAft>
              </a:pPr>
              <a:r>
                <a:rPr lang="en-AU" sz="1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distributions</a:t>
              </a:r>
            </a:p>
          </p:txBody>
        </p:sp>
        <p:cxnSp>
          <p:nvCxnSpPr>
            <p:cNvPr id="79" name="Straight Connector 78">
              <a:extLst>
                <a:ext uri="{FF2B5EF4-FFF2-40B4-BE49-F238E27FC236}">
                  <a16:creationId xmlns:a16="http://schemas.microsoft.com/office/drawing/2014/main" id="{37B5C542-466D-D48D-A6EB-13A9D77F71C5}"/>
                </a:ext>
              </a:extLst>
            </p:cNvPr>
            <p:cNvCxnSpPr/>
            <p:nvPr/>
          </p:nvCxnSpPr>
          <p:spPr>
            <a:xfrm flipV="1">
              <a:off x="4228186" y="2801722"/>
              <a:ext cx="775411" cy="142404"/>
            </a:xfrm>
            <a:prstGeom prst="line">
              <a:avLst/>
            </a:prstGeom>
            <a:ln>
              <a:prstDash val="dash"/>
            </a:ln>
          </p:spPr>
          <p:style>
            <a:lnRef idx="1">
              <a:schemeClr val="accent2"/>
            </a:lnRef>
            <a:fillRef idx="0">
              <a:schemeClr val="accent2"/>
            </a:fillRef>
            <a:effectRef idx="0">
              <a:schemeClr val="accent2"/>
            </a:effectRef>
            <a:fontRef idx="minor">
              <a:schemeClr val="tx1"/>
            </a:fontRef>
          </p:style>
        </p:cxnSp>
        <p:cxnSp>
          <p:nvCxnSpPr>
            <p:cNvPr id="80" name="Straight Connector 79">
              <a:extLst>
                <a:ext uri="{FF2B5EF4-FFF2-40B4-BE49-F238E27FC236}">
                  <a16:creationId xmlns:a16="http://schemas.microsoft.com/office/drawing/2014/main" id="{01D0E713-4225-1910-BEB1-40421256C067}"/>
                </a:ext>
              </a:extLst>
            </p:cNvPr>
            <p:cNvCxnSpPr/>
            <p:nvPr/>
          </p:nvCxnSpPr>
          <p:spPr>
            <a:xfrm>
              <a:off x="4083725" y="3125988"/>
              <a:ext cx="671156" cy="648656"/>
            </a:xfrm>
            <a:prstGeom prst="line">
              <a:avLst/>
            </a:prstGeom>
            <a:ln>
              <a:prstDash val="dash"/>
            </a:ln>
          </p:spPr>
          <p:style>
            <a:lnRef idx="1">
              <a:schemeClr val="accent2"/>
            </a:lnRef>
            <a:fillRef idx="0">
              <a:schemeClr val="accent2"/>
            </a:fillRef>
            <a:effectRef idx="0">
              <a:schemeClr val="accent2"/>
            </a:effectRef>
            <a:fontRef idx="minor">
              <a:schemeClr val="tx1"/>
            </a:fontRef>
          </p:style>
        </p:cxnSp>
        <p:cxnSp>
          <p:nvCxnSpPr>
            <p:cNvPr id="81" name="Straight Connector 80">
              <a:extLst>
                <a:ext uri="{FF2B5EF4-FFF2-40B4-BE49-F238E27FC236}">
                  <a16:creationId xmlns:a16="http://schemas.microsoft.com/office/drawing/2014/main" id="{25F45187-1694-1CDA-1F7A-BA74A323FB4F}"/>
                </a:ext>
              </a:extLst>
            </p:cNvPr>
            <p:cNvCxnSpPr>
              <a:cxnSpLocks/>
            </p:cNvCxnSpPr>
            <p:nvPr/>
          </p:nvCxnSpPr>
          <p:spPr>
            <a:xfrm flipV="1">
              <a:off x="4266673" y="1735841"/>
              <a:ext cx="1038393" cy="340363"/>
            </a:xfrm>
            <a:prstGeom prst="line">
              <a:avLst/>
            </a:prstGeom>
            <a:ln>
              <a:prstDash val="dash"/>
            </a:ln>
          </p:spPr>
          <p:style>
            <a:lnRef idx="1">
              <a:schemeClr val="accent2"/>
            </a:lnRef>
            <a:fillRef idx="0">
              <a:schemeClr val="accent2"/>
            </a:fillRef>
            <a:effectRef idx="0">
              <a:schemeClr val="accent2"/>
            </a:effectRef>
            <a:fontRef idx="minor">
              <a:schemeClr val="tx1"/>
            </a:fontRef>
          </p:style>
        </p:cxnSp>
        <p:cxnSp>
          <p:nvCxnSpPr>
            <p:cNvPr id="82" name="Straight Connector 81">
              <a:extLst>
                <a:ext uri="{FF2B5EF4-FFF2-40B4-BE49-F238E27FC236}">
                  <a16:creationId xmlns:a16="http://schemas.microsoft.com/office/drawing/2014/main" id="{E500D7B0-DB5F-3482-CC03-17FA5FB8D2FB}"/>
                </a:ext>
              </a:extLst>
            </p:cNvPr>
            <p:cNvCxnSpPr/>
            <p:nvPr/>
          </p:nvCxnSpPr>
          <p:spPr>
            <a:xfrm>
              <a:off x="4776826" y="3109519"/>
              <a:ext cx="226771" cy="569808"/>
            </a:xfrm>
            <a:prstGeom prst="line">
              <a:avLst/>
            </a:prstGeom>
            <a:ln>
              <a:headEnd type="none" w="med" len="med"/>
              <a:tailEnd type="triangle" w="med" len="med"/>
            </a:ln>
          </p:spPr>
          <p:style>
            <a:lnRef idx="1">
              <a:schemeClr val="accent6"/>
            </a:lnRef>
            <a:fillRef idx="0">
              <a:schemeClr val="accent6"/>
            </a:fillRef>
            <a:effectRef idx="0">
              <a:schemeClr val="accent6"/>
            </a:effectRef>
            <a:fontRef idx="minor">
              <a:schemeClr val="tx1"/>
            </a:fontRef>
          </p:style>
        </p:cxnSp>
        <p:cxnSp>
          <p:nvCxnSpPr>
            <p:cNvPr id="83" name="Straight Connector 82">
              <a:extLst>
                <a:ext uri="{FF2B5EF4-FFF2-40B4-BE49-F238E27FC236}">
                  <a16:creationId xmlns:a16="http://schemas.microsoft.com/office/drawing/2014/main" id="{98601AED-8E4B-0724-E527-3D8CBCD59332}"/>
                </a:ext>
              </a:extLst>
            </p:cNvPr>
            <p:cNvCxnSpPr>
              <a:cxnSpLocks/>
            </p:cNvCxnSpPr>
            <p:nvPr/>
          </p:nvCxnSpPr>
          <p:spPr>
            <a:xfrm flipH="1">
              <a:off x="5391302" y="2277354"/>
              <a:ext cx="151973" cy="1357743"/>
            </a:xfrm>
            <a:prstGeom prst="line">
              <a:avLst/>
            </a:prstGeom>
            <a:ln>
              <a:headEnd type="none" w="med" len="med"/>
              <a:tailEnd type="triangle" w="med" len="med"/>
            </a:ln>
          </p:spPr>
          <p:style>
            <a:lnRef idx="1">
              <a:schemeClr val="accent6"/>
            </a:lnRef>
            <a:fillRef idx="0">
              <a:schemeClr val="accent6"/>
            </a:fillRef>
            <a:effectRef idx="0">
              <a:schemeClr val="accent6"/>
            </a:effectRef>
            <a:fontRef idx="minor">
              <a:schemeClr val="tx1"/>
            </a:fontRef>
          </p:style>
        </p:cxnSp>
      </p:grpSp>
      <p:sp>
        <p:nvSpPr>
          <p:cNvPr id="90" name="Text Box 2">
            <a:extLst>
              <a:ext uri="{FF2B5EF4-FFF2-40B4-BE49-F238E27FC236}">
                <a16:creationId xmlns:a16="http://schemas.microsoft.com/office/drawing/2014/main" id="{011F9FC6-315C-D55F-52AB-733F51671D5D}"/>
              </a:ext>
            </a:extLst>
          </p:cNvPr>
          <p:cNvSpPr txBox="1">
            <a:spLocks noChangeArrowheads="1"/>
          </p:cNvSpPr>
          <p:nvPr/>
        </p:nvSpPr>
        <p:spPr bwMode="auto">
          <a:xfrm>
            <a:off x="7980022" y="2200088"/>
            <a:ext cx="872627" cy="325538"/>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nSpc>
                <a:spcPct val="115000"/>
              </a:lnSpc>
              <a:spcAft>
                <a:spcPts val="1000"/>
              </a:spcAft>
            </a:pPr>
            <a:r>
              <a:rPr lang="en-AU" sz="1400" dirty="0">
                <a:effectLst/>
                <a:latin typeface="Calibri" panose="020F0502020204030204" pitchFamily="34" charset="0"/>
                <a:ea typeface="Calibri" panose="020F0502020204030204" pitchFamily="34" charset="0"/>
                <a:cs typeface="Times New Roman" panose="02020603050405020304" pitchFamily="18" charset="0"/>
              </a:rPr>
              <a:t>50%</a:t>
            </a:r>
          </a:p>
        </p:txBody>
      </p:sp>
      <p:sp>
        <p:nvSpPr>
          <p:cNvPr id="86" name="Text Box 2">
            <a:extLst>
              <a:ext uri="{FF2B5EF4-FFF2-40B4-BE49-F238E27FC236}">
                <a16:creationId xmlns:a16="http://schemas.microsoft.com/office/drawing/2014/main" id="{53C676B6-4E38-457E-94A0-BD216C0446BA}"/>
              </a:ext>
            </a:extLst>
          </p:cNvPr>
          <p:cNvSpPr txBox="1">
            <a:spLocks noChangeArrowheads="1"/>
          </p:cNvSpPr>
          <p:nvPr/>
        </p:nvSpPr>
        <p:spPr bwMode="auto">
          <a:xfrm>
            <a:off x="9467629" y="3955712"/>
            <a:ext cx="516199" cy="315514"/>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15000"/>
              </a:lnSpc>
              <a:spcAft>
                <a:spcPts val="1000"/>
              </a:spcAft>
            </a:pPr>
            <a:r>
              <a:rPr lang="en-AU" sz="1400" dirty="0">
                <a:latin typeface="Calibri" panose="020F0502020204030204" pitchFamily="34" charset="0"/>
                <a:ea typeface="Calibri" panose="020F0502020204030204" pitchFamily="34" charset="0"/>
                <a:cs typeface="Times New Roman" panose="02020603050405020304" pitchFamily="18" charset="0"/>
              </a:rPr>
              <a:t>3</a:t>
            </a:r>
            <a:r>
              <a:rPr lang="en-AU" sz="1400" dirty="0">
                <a:effectLst/>
                <a:latin typeface="Calibri" panose="020F0502020204030204" pitchFamily="34" charset="0"/>
                <a:ea typeface="Calibri" panose="020F0502020204030204" pitchFamily="34" charset="0"/>
                <a:cs typeface="Times New Roman" panose="02020603050405020304" pitchFamily="18" charset="0"/>
              </a:rPr>
              <a:t>3%</a:t>
            </a:r>
          </a:p>
        </p:txBody>
      </p:sp>
      <p:sp>
        <p:nvSpPr>
          <p:cNvPr id="88" name="Text Box 2">
            <a:extLst>
              <a:ext uri="{FF2B5EF4-FFF2-40B4-BE49-F238E27FC236}">
                <a16:creationId xmlns:a16="http://schemas.microsoft.com/office/drawing/2014/main" id="{B04D8DC3-F122-43AF-8D16-6AC50607E4A3}"/>
              </a:ext>
            </a:extLst>
          </p:cNvPr>
          <p:cNvSpPr txBox="1">
            <a:spLocks noChangeArrowheads="1"/>
          </p:cNvSpPr>
          <p:nvPr/>
        </p:nvSpPr>
        <p:spPr bwMode="auto">
          <a:xfrm>
            <a:off x="10044590" y="3717654"/>
            <a:ext cx="547929" cy="315514"/>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15000"/>
              </a:lnSpc>
              <a:spcAft>
                <a:spcPts val="1000"/>
              </a:spcAft>
            </a:pPr>
            <a:r>
              <a:rPr lang="en-AU" sz="1400" dirty="0">
                <a:latin typeface="Calibri" panose="020F0502020204030204" pitchFamily="34" charset="0"/>
                <a:ea typeface="Calibri" panose="020F0502020204030204" pitchFamily="34" charset="0"/>
                <a:cs typeface="Times New Roman" panose="02020603050405020304" pitchFamily="18" charset="0"/>
              </a:rPr>
              <a:t>3</a:t>
            </a:r>
            <a:r>
              <a:rPr lang="en-AU" sz="1400" dirty="0">
                <a:effectLst/>
                <a:latin typeface="Calibri" panose="020F0502020204030204" pitchFamily="34" charset="0"/>
                <a:ea typeface="Calibri" panose="020F0502020204030204" pitchFamily="34" charset="0"/>
                <a:cs typeface="Times New Roman" panose="02020603050405020304" pitchFamily="18" charset="0"/>
              </a:rPr>
              <a:t>3%</a:t>
            </a:r>
          </a:p>
        </p:txBody>
      </p:sp>
      <p:sp>
        <p:nvSpPr>
          <p:cNvPr id="89" name="Text Box 2">
            <a:extLst>
              <a:ext uri="{FF2B5EF4-FFF2-40B4-BE49-F238E27FC236}">
                <a16:creationId xmlns:a16="http://schemas.microsoft.com/office/drawing/2014/main" id="{B5875942-79B0-47BF-BC32-561EAA846CF1}"/>
              </a:ext>
            </a:extLst>
          </p:cNvPr>
          <p:cNvSpPr txBox="1">
            <a:spLocks noChangeArrowheads="1"/>
          </p:cNvSpPr>
          <p:nvPr/>
        </p:nvSpPr>
        <p:spPr bwMode="auto">
          <a:xfrm>
            <a:off x="3145083" y="5052581"/>
            <a:ext cx="742004" cy="325538"/>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nSpc>
                <a:spcPct val="115000"/>
              </a:lnSpc>
              <a:spcAft>
                <a:spcPts val="1000"/>
              </a:spcAft>
            </a:pPr>
            <a:r>
              <a:rPr lang="en-AU" sz="1400" dirty="0">
                <a:effectLst/>
                <a:latin typeface="Calibri" panose="020F0502020204030204" pitchFamily="34" charset="0"/>
                <a:ea typeface="Calibri" panose="020F0502020204030204" pitchFamily="34" charset="0"/>
                <a:cs typeface="Times New Roman" panose="02020603050405020304" pitchFamily="18" charset="0"/>
              </a:rPr>
              <a:t>Mrs S</a:t>
            </a:r>
          </a:p>
        </p:txBody>
      </p:sp>
      <p:sp>
        <p:nvSpPr>
          <p:cNvPr id="87" name="Text Box 2">
            <a:extLst>
              <a:ext uri="{FF2B5EF4-FFF2-40B4-BE49-F238E27FC236}">
                <a16:creationId xmlns:a16="http://schemas.microsoft.com/office/drawing/2014/main" id="{6CA813BD-5E9D-4EB4-A688-DDB9F59503B3}"/>
              </a:ext>
            </a:extLst>
          </p:cNvPr>
          <p:cNvSpPr txBox="1">
            <a:spLocks noChangeArrowheads="1"/>
          </p:cNvSpPr>
          <p:nvPr/>
        </p:nvSpPr>
        <p:spPr bwMode="auto">
          <a:xfrm>
            <a:off x="10617782" y="3702602"/>
            <a:ext cx="516190" cy="325417"/>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15000"/>
              </a:lnSpc>
              <a:spcAft>
                <a:spcPts val="1000"/>
              </a:spcAft>
            </a:pPr>
            <a:r>
              <a:rPr lang="en-AU" sz="1400" dirty="0">
                <a:latin typeface="Calibri" panose="020F0502020204030204" pitchFamily="34" charset="0"/>
                <a:ea typeface="Calibri" panose="020F0502020204030204" pitchFamily="34" charset="0"/>
                <a:cs typeface="Times New Roman" panose="02020603050405020304" pitchFamily="18" charset="0"/>
              </a:rPr>
              <a:t>3</a:t>
            </a:r>
            <a:r>
              <a:rPr lang="en-AU" sz="1400" dirty="0">
                <a:effectLst/>
                <a:latin typeface="Calibri" panose="020F0502020204030204" pitchFamily="34" charset="0"/>
                <a:ea typeface="Calibri" panose="020F0502020204030204" pitchFamily="34" charset="0"/>
                <a:cs typeface="Times New Roman" panose="02020603050405020304" pitchFamily="18" charset="0"/>
              </a:rPr>
              <a:t>3%</a:t>
            </a:r>
          </a:p>
        </p:txBody>
      </p:sp>
      <p:sp>
        <p:nvSpPr>
          <p:cNvPr id="9" name="Text Box 2">
            <a:extLst>
              <a:ext uri="{FF2B5EF4-FFF2-40B4-BE49-F238E27FC236}">
                <a16:creationId xmlns:a16="http://schemas.microsoft.com/office/drawing/2014/main" id="{E31B0764-76A8-ACB5-54E4-9EE0A62B4148}"/>
              </a:ext>
            </a:extLst>
          </p:cNvPr>
          <p:cNvSpPr txBox="1">
            <a:spLocks noChangeArrowheads="1"/>
          </p:cNvSpPr>
          <p:nvPr/>
        </p:nvSpPr>
        <p:spPr bwMode="auto">
          <a:xfrm>
            <a:off x="9462860" y="4824313"/>
            <a:ext cx="2044520" cy="821059"/>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gn="ctr">
              <a:lnSpc>
                <a:spcPct val="115000"/>
              </a:lnSpc>
              <a:spcAft>
                <a:spcPts val="1000"/>
              </a:spcAft>
            </a:pPr>
            <a:r>
              <a:rPr lang="en-US" sz="1400" dirty="0">
                <a:latin typeface="Calibri" panose="020F0502020204030204" pitchFamily="34" charset="0"/>
                <a:ea typeface="Calibri" panose="020F0502020204030204" pitchFamily="34" charset="0"/>
                <a:cs typeface="Times New Roman" panose="02020603050405020304" pitchFamily="18" charset="0"/>
              </a:rPr>
              <a:t>received annual d</a:t>
            </a:r>
            <a:r>
              <a:rPr lang="en-AU" sz="1400" dirty="0" err="1">
                <a:latin typeface="Calibri" panose="020F0502020204030204" pitchFamily="34" charset="0"/>
                <a:ea typeface="Calibri" panose="020F0502020204030204" pitchFamily="34" charset="0"/>
                <a:cs typeface="Times New Roman" panose="02020603050405020304" pitchFamily="18" charset="0"/>
              </a:rPr>
              <a:t>istributions</a:t>
            </a:r>
            <a:r>
              <a:rPr lang="en-AU" sz="1400" dirty="0">
                <a:latin typeface="Calibri" panose="020F0502020204030204" pitchFamily="34" charset="0"/>
                <a:ea typeface="Calibri" panose="020F0502020204030204" pitchFamily="34" charset="0"/>
                <a:cs typeface="Times New Roman" panose="02020603050405020304" pitchFamily="18" charset="0"/>
              </a:rPr>
              <a:t> of 60% of trust income</a:t>
            </a:r>
            <a:endParaRPr lang="en-AU"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7C4CC82B-9B17-9D2A-C892-67F97AEAE76D}"/>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28</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57094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8D4A-345E-485C-8FC6-3E26F406BD15}"/>
              </a:ext>
            </a:extLst>
          </p:cNvPr>
          <p:cNvSpPr>
            <a:spLocks noGrp="1"/>
          </p:cNvSpPr>
          <p:nvPr>
            <p:ph type="title"/>
          </p:nvPr>
        </p:nvSpPr>
        <p:spPr/>
        <p:txBody>
          <a:bodyPr/>
          <a:lstStyle/>
          <a:p>
            <a:r>
              <a:rPr lang="en-AU" dirty="0"/>
              <a:t>Smith Family Trust &amp; Tran Family Trust distributions</a:t>
            </a:r>
          </a:p>
        </p:txBody>
      </p:sp>
      <p:sp>
        <p:nvSpPr>
          <p:cNvPr id="3" name="Text Placeholder 2">
            <a:extLst>
              <a:ext uri="{FF2B5EF4-FFF2-40B4-BE49-F238E27FC236}">
                <a16:creationId xmlns:a16="http://schemas.microsoft.com/office/drawing/2014/main" id="{5BDCFC51-48ED-4965-9EE9-63D63B17B598}"/>
              </a:ext>
            </a:extLst>
          </p:cNvPr>
          <p:cNvSpPr>
            <a:spLocks noGrp="1"/>
          </p:cNvSpPr>
          <p:nvPr>
            <p:ph type="body" sz="quarter" idx="10"/>
          </p:nvPr>
        </p:nvSpPr>
        <p:spPr/>
        <p:txBody>
          <a:bodyPr/>
          <a:lstStyle/>
          <a:p>
            <a:r>
              <a:rPr lang="en-AU" b="1" dirty="0">
                <a:effectLst/>
                <a:latin typeface="Calibri" panose="020F0502020204030204" pitchFamily="34" charset="0"/>
                <a:ea typeface="Times New Roman" panose="02020603050405020304" pitchFamily="18" charset="0"/>
                <a:cs typeface="Times New Roman" panose="02020603050405020304" pitchFamily="18" charset="0"/>
              </a:rPr>
              <a:t>Smith Family Trust distributions</a:t>
            </a:r>
          </a:p>
          <a:p>
            <a:endParaRPr lang="en-AU" b="1" dirty="0">
              <a:latin typeface="Calibri" panose="020F0502020204030204" pitchFamily="34" charset="0"/>
              <a:ea typeface="Times New Roman" panose="02020603050405020304" pitchFamily="18" charset="0"/>
              <a:cs typeface="Times New Roman" panose="02020603050405020304" pitchFamily="18" charset="0"/>
            </a:endParaRPr>
          </a:p>
          <a:p>
            <a:endParaRPr lang="en-AU" b="1"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AU" b="1" dirty="0">
              <a:latin typeface="Calibri" panose="020F0502020204030204" pitchFamily="34" charset="0"/>
              <a:ea typeface="Times New Roman" panose="02020603050405020304" pitchFamily="18" charset="0"/>
              <a:cs typeface="Times New Roman" panose="02020603050405020304" pitchFamily="18" charset="0"/>
            </a:endParaRPr>
          </a:p>
          <a:p>
            <a:endParaRPr lang="en-AU" b="1" dirty="0">
              <a:effectLst/>
              <a:latin typeface="Calibri" panose="020F0502020204030204" pitchFamily="34" charset="0"/>
              <a:ea typeface="Times New Roman" panose="02020603050405020304" pitchFamily="18" charset="0"/>
              <a:cs typeface="Times New Roman" panose="02020603050405020304" pitchFamily="18" charset="0"/>
            </a:endParaRPr>
          </a:p>
          <a:p>
            <a:r>
              <a:rPr lang="en-AU" b="1" dirty="0">
                <a:effectLst/>
                <a:latin typeface="Calibri" panose="020F0502020204030204" pitchFamily="34" charset="0"/>
                <a:ea typeface="Times New Roman" panose="02020603050405020304" pitchFamily="18" charset="0"/>
                <a:cs typeface="Times New Roman" panose="02020603050405020304" pitchFamily="18" charset="0"/>
              </a:rPr>
              <a:t>Tran Family Trust Distributions</a:t>
            </a:r>
          </a:p>
          <a:p>
            <a:endParaRPr lang="en-AU" b="1"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AU" dirty="0"/>
          </a:p>
        </p:txBody>
      </p:sp>
      <p:graphicFrame>
        <p:nvGraphicFramePr>
          <p:cNvPr id="7" name="Table 6">
            <a:extLst>
              <a:ext uri="{FF2B5EF4-FFF2-40B4-BE49-F238E27FC236}">
                <a16:creationId xmlns:a16="http://schemas.microsoft.com/office/drawing/2014/main" id="{A8ADC163-CEC2-810C-0477-81F2829F2B5B}"/>
              </a:ext>
            </a:extLst>
          </p:cNvPr>
          <p:cNvGraphicFramePr>
            <a:graphicFrameLocks noGrp="1"/>
          </p:cNvGraphicFramePr>
          <p:nvPr>
            <p:extLst>
              <p:ext uri="{D42A27DB-BD31-4B8C-83A1-F6EECF244321}">
                <p14:modId xmlns:p14="http://schemas.microsoft.com/office/powerpoint/2010/main" val="3272667263"/>
              </p:ext>
            </p:extLst>
          </p:nvPr>
        </p:nvGraphicFramePr>
        <p:xfrm>
          <a:off x="838200" y="1920320"/>
          <a:ext cx="10584000" cy="1884624"/>
        </p:xfrm>
        <a:graphic>
          <a:graphicData uri="http://schemas.openxmlformats.org/drawingml/2006/table">
            <a:tbl>
              <a:tblPr firstRow="1" firstCol="1" bandRow="1">
                <a:tableStyleId>{5C22544A-7EE6-4342-B048-85BDC9FD1C3A}</a:tableStyleId>
              </a:tblPr>
              <a:tblGrid>
                <a:gridCol w="2646000">
                  <a:extLst>
                    <a:ext uri="{9D8B030D-6E8A-4147-A177-3AD203B41FA5}">
                      <a16:colId xmlns:a16="http://schemas.microsoft.com/office/drawing/2014/main" val="3234900473"/>
                    </a:ext>
                  </a:extLst>
                </a:gridCol>
                <a:gridCol w="2646000">
                  <a:extLst>
                    <a:ext uri="{9D8B030D-6E8A-4147-A177-3AD203B41FA5}">
                      <a16:colId xmlns:a16="http://schemas.microsoft.com/office/drawing/2014/main" val="1451087461"/>
                    </a:ext>
                  </a:extLst>
                </a:gridCol>
                <a:gridCol w="2646000">
                  <a:extLst>
                    <a:ext uri="{9D8B030D-6E8A-4147-A177-3AD203B41FA5}">
                      <a16:colId xmlns:a16="http://schemas.microsoft.com/office/drawing/2014/main" val="279169598"/>
                    </a:ext>
                  </a:extLst>
                </a:gridCol>
                <a:gridCol w="2646000">
                  <a:extLst>
                    <a:ext uri="{9D8B030D-6E8A-4147-A177-3AD203B41FA5}">
                      <a16:colId xmlns:a16="http://schemas.microsoft.com/office/drawing/2014/main" val="3440093391"/>
                    </a:ext>
                  </a:extLst>
                </a:gridCol>
              </a:tblGrid>
              <a:tr h="387024">
                <a:tc>
                  <a:txBody>
                    <a:bodyPr/>
                    <a:lstStyle/>
                    <a:p>
                      <a:pPr algn="just">
                        <a:spcBef>
                          <a:spcPts val="600"/>
                        </a:spcBef>
                        <a:spcAft>
                          <a:spcPts val="600"/>
                        </a:spcAft>
                      </a:pPr>
                      <a:r>
                        <a:rPr lang="en-US" sz="2400" dirty="0">
                          <a:effectLst/>
                        </a:rPr>
                        <a:t>Year</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400" dirty="0">
                          <a:effectLst/>
                        </a:rPr>
                        <a:t>Mr S</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400" dirty="0">
                          <a:effectLst/>
                        </a:rPr>
                        <a:t>Mrs S</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400" dirty="0">
                          <a:effectLst/>
                        </a:rPr>
                        <a:t>Other beneficiaries</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extLst>
                  <a:ext uri="{0D108BD9-81ED-4DB2-BD59-A6C34878D82A}">
                    <a16:rowId xmlns:a16="http://schemas.microsoft.com/office/drawing/2014/main" val="2717486548"/>
                  </a:ext>
                </a:extLst>
              </a:tr>
              <a:tr h="374400">
                <a:tc>
                  <a:txBody>
                    <a:bodyPr/>
                    <a:lstStyle/>
                    <a:p>
                      <a:pPr algn="just">
                        <a:spcBef>
                          <a:spcPts val="600"/>
                        </a:spcBef>
                        <a:spcAft>
                          <a:spcPts val="600"/>
                        </a:spcAft>
                      </a:pPr>
                      <a:r>
                        <a:rPr lang="en-US" sz="2400" dirty="0">
                          <a:effectLst/>
                        </a:rPr>
                        <a:t>2022</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400" dirty="0">
                          <a:effectLst/>
                        </a:rPr>
                        <a:t>35%</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algn="ctr">
                        <a:spcBef>
                          <a:spcPts val="600"/>
                        </a:spcBef>
                        <a:spcAft>
                          <a:spcPts val="600"/>
                        </a:spcAft>
                      </a:pPr>
                      <a:r>
                        <a:rPr lang="en-US" sz="2400" dirty="0">
                          <a:effectLst/>
                        </a:rPr>
                        <a:t>44%</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algn="ctr">
                        <a:spcBef>
                          <a:spcPts val="600"/>
                        </a:spcBef>
                        <a:spcAft>
                          <a:spcPts val="600"/>
                        </a:spcAft>
                      </a:pPr>
                      <a:r>
                        <a:rPr lang="en-US" sz="2400" dirty="0">
                          <a:effectLst/>
                        </a:rPr>
                        <a:t>20%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1465657855"/>
                  </a:ext>
                </a:extLst>
              </a:tr>
              <a:tr h="374400">
                <a:tc>
                  <a:txBody>
                    <a:bodyPr/>
                    <a:lstStyle/>
                    <a:p>
                      <a:pPr algn="just">
                        <a:spcBef>
                          <a:spcPts val="600"/>
                        </a:spcBef>
                        <a:spcAft>
                          <a:spcPts val="600"/>
                        </a:spcAft>
                      </a:pPr>
                      <a:r>
                        <a:rPr lang="en-US" sz="2400" dirty="0">
                          <a:effectLst/>
                        </a:rPr>
                        <a:t>2021</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400" dirty="0">
                          <a:effectLst/>
                        </a:rPr>
                        <a:t>20%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algn="ctr">
                        <a:spcBef>
                          <a:spcPts val="600"/>
                        </a:spcBef>
                        <a:spcAft>
                          <a:spcPts val="600"/>
                        </a:spcAft>
                      </a:pPr>
                      <a:r>
                        <a:rPr lang="en-US" sz="2400" dirty="0">
                          <a:effectLst/>
                        </a:rPr>
                        <a:t>45%</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algn="ctr">
                        <a:spcBef>
                          <a:spcPts val="600"/>
                        </a:spcBef>
                        <a:spcAft>
                          <a:spcPts val="600"/>
                        </a:spcAft>
                      </a:pPr>
                      <a:r>
                        <a:rPr lang="en-US" sz="2400" dirty="0">
                          <a:effectLst/>
                        </a:rPr>
                        <a:t>25%</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526218209"/>
                  </a:ext>
                </a:extLst>
              </a:tr>
              <a:tr h="374400">
                <a:tc>
                  <a:txBody>
                    <a:bodyPr/>
                    <a:lstStyle/>
                    <a:p>
                      <a:pPr algn="just">
                        <a:spcBef>
                          <a:spcPts val="600"/>
                        </a:spcBef>
                        <a:spcAft>
                          <a:spcPts val="600"/>
                        </a:spcAft>
                      </a:pPr>
                      <a:r>
                        <a:rPr lang="en-US" sz="2400" dirty="0">
                          <a:effectLst/>
                        </a:rPr>
                        <a:t>2020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400" dirty="0">
                          <a:effectLst/>
                        </a:rPr>
                        <a:t>30%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algn="ctr">
                        <a:spcBef>
                          <a:spcPts val="600"/>
                        </a:spcBef>
                        <a:spcAft>
                          <a:spcPts val="600"/>
                        </a:spcAft>
                      </a:pPr>
                      <a:r>
                        <a:rPr lang="en-US" sz="2400" dirty="0">
                          <a:effectLst/>
                        </a:rPr>
                        <a:t>40%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algn="ctr">
                        <a:spcBef>
                          <a:spcPts val="600"/>
                        </a:spcBef>
                        <a:spcAft>
                          <a:spcPts val="600"/>
                        </a:spcAft>
                      </a:pPr>
                      <a:r>
                        <a:rPr lang="en-US" sz="2400" dirty="0">
                          <a:effectLst/>
                        </a:rPr>
                        <a:t>30%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49689405"/>
                  </a:ext>
                </a:extLst>
              </a:tr>
              <a:tr h="374400">
                <a:tc>
                  <a:txBody>
                    <a:bodyPr/>
                    <a:lstStyle/>
                    <a:p>
                      <a:pPr algn="just">
                        <a:spcBef>
                          <a:spcPts val="600"/>
                        </a:spcBef>
                        <a:spcAft>
                          <a:spcPts val="600"/>
                        </a:spcAft>
                      </a:pPr>
                      <a:r>
                        <a:rPr lang="en-US" sz="2400" dirty="0">
                          <a:effectLst/>
                        </a:rPr>
                        <a:t>2019</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400" dirty="0">
                          <a:effectLst/>
                        </a:rPr>
                        <a:t>20%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algn="ctr">
                        <a:spcBef>
                          <a:spcPts val="600"/>
                        </a:spcBef>
                        <a:spcAft>
                          <a:spcPts val="600"/>
                        </a:spcAft>
                      </a:pPr>
                      <a:r>
                        <a:rPr lang="en-US" sz="2400" dirty="0">
                          <a:effectLst/>
                        </a:rPr>
                        <a:t>30%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algn="ctr">
                        <a:spcBef>
                          <a:spcPts val="600"/>
                        </a:spcBef>
                        <a:spcAft>
                          <a:spcPts val="600"/>
                        </a:spcAft>
                      </a:pPr>
                      <a:r>
                        <a:rPr lang="en-US" sz="2400" dirty="0">
                          <a:effectLst/>
                        </a:rPr>
                        <a:t>50%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2112306660"/>
                  </a:ext>
                </a:extLst>
              </a:tr>
            </a:tbl>
          </a:graphicData>
        </a:graphic>
      </p:graphicFrame>
      <p:graphicFrame>
        <p:nvGraphicFramePr>
          <p:cNvPr id="10" name="Table 9">
            <a:extLst>
              <a:ext uri="{FF2B5EF4-FFF2-40B4-BE49-F238E27FC236}">
                <a16:creationId xmlns:a16="http://schemas.microsoft.com/office/drawing/2014/main" id="{0ECCF9FF-A78A-0C57-A2AB-DF46BC7E6778}"/>
              </a:ext>
            </a:extLst>
          </p:cNvPr>
          <p:cNvGraphicFramePr>
            <a:graphicFrameLocks noGrp="1"/>
          </p:cNvGraphicFramePr>
          <p:nvPr>
            <p:extLst>
              <p:ext uri="{D42A27DB-BD31-4B8C-83A1-F6EECF244321}">
                <p14:modId xmlns:p14="http://schemas.microsoft.com/office/powerpoint/2010/main" val="3502402131"/>
              </p:ext>
            </p:extLst>
          </p:nvPr>
        </p:nvGraphicFramePr>
        <p:xfrm>
          <a:off x="838200" y="4344194"/>
          <a:ext cx="10512000" cy="2274679"/>
        </p:xfrm>
        <a:graphic>
          <a:graphicData uri="http://schemas.openxmlformats.org/drawingml/2006/table">
            <a:tbl>
              <a:tblPr firstRow="1" firstCol="1" bandRow="1">
                <a:tableStyleId>{5C22544A-7EE6-4342-B048-85BDC9FD1C3A}</a:tableStyleId>
              </a:tblPr>
              <a:tblGrid>
                <a:gridCol w="2022924">
                  <a:extLst>
                    <a:ext uri="{9D8B030D-6E8A-4147-A177-3AD203B41FA5}">
                      <a16:colId xmlns:a16="http://schemas.microsoft.com/office/drawing/2014/main" val="2814311640"/>
                    </a:ext>
                  </a:extLst>
                </a:gridCol>
                <a:gridCol w="2231531">
                  <a:extLst>
                    <a:ext uri="{9D8B030D-6E8A-4147-A177-3AD203B41FA5}">
                      <a16:colId xmlns:a16="http://schemas.microsoft.com/office/drawing/2014/main" val="3078059762"/>
                    </a:ext>
                  </a:extLst>
                </a:gridCol>
                <a:gridCol w="2231531">
                  <a:extLst>
                    <a:ext uri="{9D8B030D-6E8A-4147-A177-3AD203B41FA5}">
                      <a16:colId xmlns:a16="http://schemas.microsoft.com/office/drawing/2014/main" val="1966655198"/>
                    </a:ext>
                  </a:extLst>
                </a:gridCol>
                <a:gridCol w="2170985">
                  <a:extLst>
                    <a:ext uri="{9D8B030D-6E8A-4147-A177-3AD203B41FA5}">
                      <a16:colId xmlns:a16="http://schemas.microsoft.com/office/drawing/2014/main" val="3650908691"/>
                    </a:ext>
                  </a:extLst>
                </a:gridCol>
                <a:gridCol w="1855029">
                  <a:extLst>
                    <a:ext uri="{9D8B030D-6E8A-4147-A177-3AD203B41FA5}">
                      <a16:colId xmlns:a16="http://schemas.microsoft.com/office/drawing/2014/main" val="1244957623"/>
                    </a:ext>
                  </a:extLst>
                </a:gridCol>
              </a:tblGrid>
              <a:tr h="453600">
                <a:tc>
                  <a:txBody>
                    <a:bodyPr/>
                    <a:lstStyle/>
                    <a:p>
                      <a:pPr algn="just">
                        <a:spcBef>
                          <a:spcPts val="600"/>
                        </a:spcBef>
                        <a:spcAft>
                          <a:spcPts val="600"/>
                        </a:spcAft>
                      </a:pPr>
                      <a:r>
                        <a:rPr lang="en-US" sz="2400" dirty="0">
                          <a:effectLst/>
                        </a:rPr>
                        <a:t>Year</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400" dirty="0">
                          <a:effectLst/>
                        </a:rPr>
                        <a:t>Mr T</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400" dirty="0">
                          <a:effectLst/>
                        </a:rPr>
                        <a:t>Mrs T</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400" dirty="0">
                          <a:effectLst/>
                        </a:rPr>
                        <a:t>Daughter</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400" dirty="0">
                          <a:effectLst/>
                        </a:rPr>
                        <a:t>T Co</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extLst>
                  <a:ext uri="{0D108BD9-81ED-4DB2-BD59-A6C34878D82A}">
                    <a16:rowId xmlns:a16="http://schemas.microsoft.com/office/drawing/2014/main" val="3696311582"/>
                  </a:ext>
                </a:extLst>
              </a:tr>
              <a:tr h="453600">
                <a:tc>
                  <a:txBody>
                    <a:bodyPr/>
                    <a:lstStyle/>
                    <a:p>
                      <a:pPr algn="just">
                        <a:spcBef>
                          <a:spcPts val="600"/>
                        </a:spcBef>
                        <a:spcAft>
                          <a:spcPts val="600"/>
                        </a:spcAft>
                      </a:pPr>
                      <a:r>
                        <a:rPr lang="en-US" sz="2400" dirty="0">
                          <a:effectLst/>
                        </a:rPr>
                        <a:t>2022</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400" dirty="0">
                          <a:effectLst/>
                        </a:rPr>
                        <a:t>10%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algn="ctr">
                        <a:spcBef>
                          <a:spcPts val="600"/>
                        </a:spcBef>
                        <a:spcAft>
                          <a:spcPts val="600"/>
                        </a:spcAft>
                      </a:pPr>
                      <a:r>
                        <a:rPr lang="en-US" sz="2400" dirty="0">
                          <a:effectLst/>
                        </a:rPr>
                        <a:t>10%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algn="ctr">
                        <a:spcBef>
                          <a:spcPts val="600"/>
                        </a:spcBef>
                        <a:spcAft>
                          <a:spcPts val="600"/>
                        </a:spcAft>
                      </a:pPr>
                      <a:r>
                        <a:rPr lang="en-US" sz="2400" dirty="0">
                          <a:effectLst/>
                        </a:rPr>
                        <a:t>20%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algn="ctr">
                        <a:spcBef>
                          <a:spcPts val="600"/>
                        </a:spcBef>
                        <a:spcAft>
                          <a:spcPts val="600"/>
                        </a:spcAft>
                      </a:pPr>
                      <a:r>
                        <a:rPr lang="en-US" sz="2400" dirty="0">
                          <a:effectLst/>
                        </a:rPr>
                        <a:t>60%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2646244116"/>
                  </a:ext>
                </a:extLst>
              </a:tr>
              <a:tr h="453600">
                <a:tc>
                  <a:txBody>
                    <a:bodyPr/>
                    <a:lstStyle/>
                    <a:p>
                      <a:pPr algn="just">
                        <a:spcBef>
                          <a:spcPts val="600"/>
                        </a:spcBef>
                        <a:spcAft>
                          <a:spcPts val="600"/>
                        </a:spcAft>
                      </a:pPr>
                      <a:r>
                        <a:rPr lang="en-US" sz="2400" dirty="0">
                          <a:effectLst/>
                        </a:rPr>
                        <a:t>2021</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400" dirty="0">
                          <a:effectLst/>
                        </a:rPr>
                        <a:t>10%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algn="ctr">
                        <a:spcBef>
                          <a:spcPts val="600"/>
                        </a:spcBef>
                        <a:spcAft>
                          <a:spcPts val="600"/>
                        </a:spcAft>
                      </a:pPr>
                      <a:r>
                        <a:rPr lang="en-US" sz="2400" dirty="0">
                          <a:effectLst/>
                        </a:rPr>
                        <a:t>10%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algn="ctr">
                        <a:spcBef>
                          <a:spcPts val="600"/>
                        </a:spcBef>
                        <a:spcAft>
                          <a:spcPts val="600"/>
                        </a:spcAft>
                      </a:pPr>
                      <a:r>
                        <a:rPr lang="en-US" sz="2400" dirty="0">
                          <a:effectLst/>
                        </a:rPr>
                        <a:t>20%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algn="ctr">
                        <a:spcBef>
                          <a:spcPts val="600"/>
                        </a:spcBef>
                        <a:spcAft>
                          <a:spcPts val="600"/>
                        </a:spcAft>
                      </a:pPr>
                      <a:r>
                        <a:rPr lang="en-US" sz="2400" dirty="0">
                          <a:effectLst/>
                        </a:rPr>
                        <a:t>60%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2087332805"/>
                  </a:ext>
                </a:extLst>
              </a:tr>
              <a:tr h="460279">
                <a:tc>
                  <a:txBody>
                    <a:bodyPr/>
                    <a:lstStyle/>
                    <a:p>
                      <a:pPr algn="just">
                        <a:spcBef>
                          <a:spcPts val="600"/>
                        </a:spcBef>
                        <a:spcAft>
                          <a:spcPts val="600"/>
                        </a:spcAft>
                      </a:pPr>
                      <a:r>
                        <a:rPr lang="en-US" sz="2400" dirty="0">
                          <a:effectLst/>
                        </a:rPr>
                        <a:t>2020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400" dirty="0">
                          <a:effectLst/>
                        </a:rPr>
                        <a:t>10%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algn="ctr">
                        <a:spcBef>
                          <a:spcPts val="600"/>
                        </a:spcBef>
                        <a:spcAft>
                          <a:spcPts val="600"/>
                        </a:spcAft>
                      </a:pPr>
                      <a:r>
                        <a:rPr lang="en-US" sz="2400" dirty="0">
                          <a:effectLst/>
                        </a:rPr>
                        <a:t>10%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algn="ctr">
                        <a:spcBef>
                          <a:spcPts val="600"/>
                        </a:spcBef>
                        <a:spcAft>
                          <a:spcPts val="600"/>
                        </a:spcAft>
                      </a:pPr>
                      <a:r>
                        <a:rPr lang="en-US" sz="2400" dirty="0">
                          <a:effectLst/>
                        </a:rPr>
                        <a:t>20%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algn="ctr">
                        <a:spcBef>
                          <a:spcPts val="600"/>
                        </a:spcBef>
                        <a:spcAft>
                          <a:spcPts val="600"/>
                        </a:spcAft>
                      </a:pPr>
                      <a:r>
                        <a:rPr lang="en-US" sz="2400" dirty="0">
                          <a:effectLst/>
                        </a:rPr>
                        <a:t>60%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3561552571"/>
                  </a:ext>
                </a:extLst>
              </a:tr>
              <a:tr h="453600">
                <a:tc>
                  <a:txBody>
                    <a:bodyPr/>
                    <a:lstStyle/>
                    <a:p>
                      <a:pPr algn="just">
                        <a:spcBef>
                          <a:spcPts val="600"/>
                        </a:spcBef>
                        <a:spcAft>
                          <a:spcPts val="600"/>
                        </a:spcAft>
                      </a:pPr>
                      <a:r>
                        <a:rPr lang="en-US" sz="2400" dirty="0">
                          <a:effectLst/>
                        </a:rPr>
                        <a:t>2019</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400" dirty="0">
                          <a:effectLst/>
                        </a:rPr>
                        <a:t>10%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algn="ctr">
                        <a:spcBef>
                          <a:spcPts val="600"/>
                        </a:spcBef>
                        <a:spcAft>
                          <a:spcPts val="600"/>
                        </a:spcAft>
                      </a:pPr>
                      <a:r>
                        <a:rPr lang="en-US" sz="2400" dirty="0">
                          <a:effectLst/>
                        </a:rPr>
                        <a:t>10%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algn="ctr">
                        <a:spcBef>
                          <a:spcPts val="600"/>
                        </a:spcBef>
                        <a:spcAft>
                          <a:spcPts val="600"/>
                        </a:spcAft>
                      </a:pPr>
                      <a:r>
                        <a:rPr lang="en-US" sz="2400" dirty="0">
                          <a:effectLst/>
                        </a:rPr>
                        <a:t>20%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algn="ctr">
                        <a:spcBef>
                          <a:spcPts val="600"/>
                        </a:spcBef>
                        <a:spcAft>
                          <a:spcPts val="600"/>
                        </a:spcAft>
                      </a:pPr>
                      <a:r>
                        <a:rPr lang="en-US" sz="2400" dirty="0">
                          <a:effectLst/>
                        </a:rPr>
                        <a:t>60%</a:t>
                      </a:r>
                      <a:endParaRPr lang="en-AU"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2347067454"/>
                  </a:ext>
                </a:extLst>
              </a:tr>
            </a:tbl>
          </a:graphicData>
        </a:graphic>
      </p:graphicFrame>
      <p:sp>
        <p:nvSpPr>
          <p:cNvPr id="5" name="TextBox 4">
            <a:extLst>
              <a:ext uri="{FF2B5EF4-FFF2-40B4-BE49-F238E27FC236}">
                <a16:creationId xmlns:a16="http://schemas.microsoft.com/office/drawing/2014/main" id="{7ADB2A75-C900-FD7C-B372-DA7F67698D01}"/>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29</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47175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8D4A-345E-485C-8FC6-3E26F406BD15}"/>
              </a:ext>
            </a:extLst>
          </p:cNvPr>
          <p:cNvSpPr>
            <a:spLocks noGrp="1"/>
          </p:cNvSpPr>
          <p:nvPr>
            <p:ph type="title"/>
          </p:nvPr>
        </p:nvSpPr>
        <p:spPr>
          <a:xfrm>
            <a:off x="574963" y="365126"/>
            <a:ext cx="10515600" cy="774358"/>
          </a:xfrm>
        </p:spPr>
        <p:txBody>
          <a:bodyPr/>
          <a:lstStyle/>
          <a:p>
            <a:r>
              <a:rPr lang="en-AU" dirty="0"/>
              <a:t>Aggregated turnover calculation 2022–23</a:t>
            </a:r>
          </a:p>
        </p:txBody>
      </p:sp>
      <p:graphicFrame>
        <p:nvGraphicFramePr>
          <p:cNvPr id="4" name="Table 3">
            <a:extLst>
              <a:ext uri="{FF2B5EF4-FFF2-40B4-BE49-F238E27FC236}">
                <a16:creationId xmlns:a16="http://schemas.microsoft.com/office/drawing/2014/main" id="{777775B4-52B7-4759-4D47-0E81299575AF}"/>
              </a:ext>
            </a:extLst>
          </p:cNvPr>
          <p:cNvGraphicFramePr>
            <a:graphicFrameLocks noGrp="1"/>
          </p:cNvGraphicFramePr>
          <p:nvPr>
            <p:extLst>
              <p:ext uri="{D42A27DB-BD31-4B8C-83A1-F6EECF244321}">
                <p14:modId xmlns:p14="http://schemas.microsoft.com/office/powerpoint/2010/main" val="4063110257"/>
              </p:ext>
            </p:extLst>
          </p:nvPr>
        </p:nvGraphicFramePr>
        <p:xfrm>
          <a:off x="804000" y="1135828"/>
          <a:ext cx="10584000" cy="5111996"/>
        </p:xfrm>
        <a:graphic>
          <a:graphicData uri="http://schemas.openxmlformats.org/drawingml/2006/table">
            <a:tbl>
              <a:tblPr firstRow="1" firstCol="1" bandRow="1">
                <a:tableStyleId>{5C22544A-7EE6-4342-B048-85BDC9FD1C3A}</a:tableStyleId>
              </a:tblPr>
              <a:tblGrid>
                <a:gridCol w="3126118">
                  <a:extLst>
                    <a:ext uri="{9D8B030D-6E8A-4147-A177-3AD203B41FA5}">
                      <a16:colId xmlns:a16="http://schemas.microsoft.com/office/drawing/2014/main" val="879178342"/>
                    </a:ext>
                  </a:extLst>
                </a:gridCol>
                <a:gridCol w="4262922">
                  <a:extLst>
                    <a:ext uri="{9D8B030D-6E8A-4147-A177-3AD203B41FA5}">
                      <a16:colId xmlns:a16="http://schemas.microsoft.com/office/drawing/2014/main" val="1536868588"/>
                    </a:ext>
                  </a:extLst>
                </a:gridCol>
                <a:gridCol w="3194960">
                  <a:extLst>
                    <a:ext uri="{9D8B030D-6E8A-4147-A177-3AD203B41FA5}">
                      <a16:colId xmlns:a16="http://schemas.microsoft.com/office/drawing/2014/main" val="1067650850"/>
                    </a:ext>
                  </a:extLst>
                </a:gridCol>
              </a:tblGrid>
              <a:tr h="393230">
                <a:tc>
                  <a:txBody>
                    <a:bodyPr/>
                    <a:lstStyle/>
                    <a:p>
                      <a:pPr algn="ctr">
                        <a:spcBef>
                          <a:spcPts val="600"/>
                        </a:spcBef>
                        <a:spcAft>
                          <a:spcPts val="600"/>
                        </a:spcAft>
                      </a:pPr>
                      <a:r>
                        <a:rPr lang="en-US" sz="2000" dirty="0">
                          <a:effectLst/>
                        </a:rPr>
                        <a:t>Entity</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000" dirty="0">
                          <a:effectLst/>
                        </a:rPr>
                        <a:t>Relationship</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000" dirty="0">
                          <a:effectLst/>
                        </a:rPr>
                        <a:t>Annual turnover 2022–23</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extLst>
                  <a:ext uri="{0D108BD9-81ED-4DB2-BD59-A6C34878D82A}">
                    <a16:rowId xmlns:a16="http://schemas.microsoft.com/office/drawing/2014/main" val="4279036647"/>
                  </a:ext>
                </a:extLst>
              </a:tr>
              <a:tr h="393230">
                <a:tc>
                  <a:txBody>
                    <a:bodyPr/>
                    <a:lstStyle/>
                    <a:p>
                      <a:pPr algn="just">
                        <a:spcBef>
                          <a:spcPts val="600"/>
                        </a:spcBef>
                        <a:spcAft>
                          <a:spcPts val="600"/>
                        </a:spcAft>
                      </a:pPr>
                      <a:r>
                        <a:rPr lang="en-US" sz="2000" dirty="0">
                          <a:effectLst/>
                        </a:rPr>
                        <a:t>Sundance Pty Ltd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Taxpayer</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$3.7 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656480451"/>
                  </a:ext>
                </a:extLst>
              </a:tr>
              <a:tr h="393230">
                <a:tc>
                  <a:txBody>
                    <a:bodyPr/>
                    <a:lstStyle/>
                    <a:p>
                      <a:pPr algn="just">
                        <a:spcBef>
                          <a:spcPts val="600"/>
                        </a:spcBef>
                        <a:spcAft>
                          <a:spcPts val="600"/>
                        </a:spcAft>
                      </a:pPr>
                      <a:r>
                        <a:rPr lang="en-US" sz="2000" dirty="0">
                          <a:effectLst/>
                        </a:rPr>
                        <a:t>The Smith Family Trust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 </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$2.0 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3784078952"/>
                  </a:ext>
                </a:extLst>
              </a:tr>
              <a:tr h="786466">
                <a:tc>
                  <a:txBody>
                    <a:bodyPr/>
                    <a:lstStyle/>
                    <a:p>
                      <a:pPr algn="just">
                        <a:spcBef>
                          <a:spcPts val="600"/>
                        </a:spcBef>
                        <a:spcAft>
                          <a:spcPts val="600"/>
                        </a:spcAft>
                      </a:pPr>
                      <a:r>
                        <a:rPr lang="en-US" sz="2000" dirty="0">
                          <a:effectLst/>
                        </a:rPr>
                        <a:t>Mrs Smith (not carrying on a business)</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1958777034"/>
                  </a:ext>
                </a:extLst>
              </a:tr>
              <a:tr h="393230">
                <a:tc>
                  <a:txBody>
                    <a:bodyPr/>
                    <a:lstStyle/>
                    <a:p>
                      <a:pPr algn="just">
                        <a:spcBef>
                          <a:spcPts val="600"/>
                        </a:spcBef>
                        <a:spcAft>
                          <a:spcPts val="600"/>
                        </a:spcAft>
                      </a:pPr>
                      <a:r>
                        <a:rPr lang="en-US" sz="2000" dirty="0">
                          <a:effectLst/>
                        </a:rPr>
                        <a:t>Mr Smith</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$1.0 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3225800959"/>
                  </a:ext>
                </a:extLst>
              </a:tr>
              <a:tr h="393230">
                <a:tc>
                  <a:txBody>
                    <a:bodyPr/>
                    <a:lstStyle/>
                    <a:p>
                      <a:pPr algn="just">
                        <a:spcBef>
                          <a:spcPts val="600"/>
                        </a:spcBef>
                        <a:spcAft>
                          <a:spcPts val="600"/>
                        </a:spcAft>
                      </a:pPr>
                      <a:r>
                        <a:rPr lang="en-US" sz="2000" dirty="0">
                          <a:effectLst/>
                        </a:rPr>
                        <a:t>Smith Co</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$0.2 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2486998936"/>
                  </a:ext>
                </a:extLst>
              </a:tr>
              <a:tr h="393230">
                <a:tc>
                  <a:txBody>
                    <a:bodyPr/>
                    <a:lstStyle/>
                    <a:p>
                      <a:pPr algn="just">
                        <a:spcBef>
                          <a:spcPts val="600"/>
                        </a:spcBef>
                        <a:spcAft>
                          <a:spcPts val="600"/>
                        </a:spcAft>
                      </a:pPr>
                      <a:r>
                        <a:rPr lang="en-US" sz="2000" dirty="0">
                          <a:effectLst/>
                        </a:rPr>
                        <a:t>Tran Family Trust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$1.5 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4042106866"/>
                  </a:ext>
                </a:extLst>
              </a:tr>
              <a:tr h="393230">
                <a:tc>
                  <a:txBody>
                    <a:bodyPr/>
                    <a:lstStyle/>
                    <a:p>
                      <a:pPr algn="just">
                        <a:spcBef>
                          <a:spcPts val="600"/>
                        </a:spcBef>
                        <a:spcAft>
                          <a:spcPts val="600"/>
                        </a:spcAft>
                      </a:pPr>
                      <a:r>
                        <a:rPr lang="en-US" sz="2000" dirty="0">
                          <a:effectLst/>
                        </a:rPr>
                        <a:t>Mr Tran</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$0.5 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486946819"/>
                  </a:ext>
                </a:extLst>
              </a:tr>
              <a:tr h="393230">
                <a:tc>
                  <a:txBody>
                    <a:bodyPr/>
                    <a:lstStyle/>
                    <a:p>
                      <a:pPr algn="just">
                        <a:spcBef>
                          <a:spcPts val="600"/>
                        </a:spcBef>
                        <a:spcAft>
                          <a:spcPts val="600"/>
                        </a:spcAft>
                      </a:pPr>
                      <a:r>
                        <a:rPr lang="en-US" sz="2000" dirty="0">
                          <a:effectLst/>
                        </a:rPr>
                        <a:t>Mrs Tran</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$0.3 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1370245580"/>
                  </a:ext>
                </a:extLst>
              </a:tr>
              <a:tr h="393230">
                <a:tc>
                  <a:txBody>
                    <a:bodyPr/>
                    <a:lstStyle/>
                    <a:p>
                      <a:pPr algn="just">
                        <a:spcBef>
                          <a:spcPts val="600"/>
                        </a:spcBef>
                        <a:spcAft>
                          <a:spcPts val="600"/>
                        </a:spcAft>
                      </a:pPr>
                      <a:r>
                        <a:rPr lang="en-US" sz="2000" dirty="0">
                          <a:effectLst/>
                        </a:rPr>
                        <a:t>Tina</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Not connected or an affiliate</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2606998042"/>
                  </a:ext>
                </a:extLst>
              </a:tr>
              <a:tr h="393230">
                <a:tc>
                  <a:txBody>
                    <a:bodyPr/>
                    <a:lstStyle/>
                    <a:p>
                      <a:pPr algn="just">
                        <a:spcBef>
                          <a:spcPts val="600"/>
                        </a:spcBef>
                        <a:spcAft>
                          <a:spcPts val="600"/>
                        </a:spcAft>
                      </a:pPr>
                      <a:r>
                        <a:rPr lang="en-US" sz="2000" dirty="0">
                          <a:effectLst/>
                        </a:rPr>
                        <a:t>Tran Co</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$0.1 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1045233358"/>
                  </a:ext>
                </a:extLst>
              </a:tr>
              <a:tr h="393230">
                <a:tc>
                  <a:txBody>
                    <a:bodyPr/>
                    <a:lstStyle/>
                    <a:p>
                      <a:pPr algn="just">
                        <a:spcBef>
                          <a:spcPts val="600"/>
                        </a:spcBef>
                        <a:spcAft>
                          <a:spcPts val="600"/>
                        </a:spcAft>
                      </a:pPr>
                      <a:r>
                        <a:rPr lang="en-US" sz="2000" dirty="0">
                          <a:effectLst/>
                        </a:rPr>
                        <a:t> </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r">
                        <a:spcBef>
                          <a:spcPts val="600"/>
                        </a:spcBef>
                        <a:spcAft>
                          <a:spcPts val="600"/>
                        </a:spcAft>
                      </a:pPr>
                      <a:r>
                        <a:rPr lang="en-US" sz="2000" b="1" dirty="0">
                          <a:effectLst/>
                        </a:rPr>
                        <a:t>Aggregated turnover</a:t>
                      </a:r>
                      <a:endParaRPr lang="en-AU" sz="20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b="1" dirty="0">
                          <a:effectLst/>
                        </a:rPr>
                        <a:t>$9.3 m</a:t>
                      </a:r>
                      <a:endParaRPr lang="en-AU" sz="20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625017745"/>
                  </a:ext>
                </a:extLst>
              </a:tr>
            </a:tbl>
          </a:graphicData>
        </a:graphic>
      </p:graphicFrame>
      <p:sp>
        <p:nvSpPr>
          <p:cNvPr id="3" name="TextBox 2">
            <a:extLst>
              <a:ext uri="{FF2B5EF4-FFF2-40B4-BE49-F238E27FC236}">
                <a16:creationId xmlns:a16="http://schemas.microsoft.com/office/drawing/2014/main" id="{86F81239-F89B-8E3C-5F20-DB8DFAD100BD}"/>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32</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20634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8D4A-345E-485C-8FC6-3E26F406BD15}"/>
              </a:ext>
            </a:extLst>
          </p:cNvPr>
          <p:cNvSpPr>
            <a:spLocks noGrp="1"/>
          </p:cNvSpPr>
          <p:nvPr>
            <p:ph type="title"/>
          </p:nvPr>
        </p:nvSpPr>
        <p:spPr/>
        <p:txBody>
          <a:bodyPr>
            <a:normAutofit/>
          </a:bodyPr>
          <a:lstStyle/>
          <a:p>
            <a:r>
              <a:rPr lang="en-AU" dirty="0"/>
              <a:t>Aggregated turnover calculation 2023–24</a:t>
            </a:r>
          </a:p>
        </p:txBody>
      </p:sp>
      <p:graphicFrame>
        <p:nvGraphicFramePr>
          <p:cNvPr id="4" name="Table 3">
            <a:extLst>
              <a:ext uri="{FF2B5EF4-FFF2-40B4-BE49-F238E27FC236}">
                <a16:creationId xmlns:a16="http://schemas.microsoft.com/office/drawing/2014/main" id="{AC093612-7990-2910-B359-F94D3A1D98FC}"/>
              </a:ext>
            </a:extLst>
          </p:cNvPr>
          <p:cNvGraphicFramePr>
            <a:graphicFrameLocks noGrp="1"/>
          </p:cNvGraphicFramePr>
          <p:nvPr>
            <p:extLst>
              <p:ext uri="{D42A27DB-BD31-4B8C-83A1-F6EECF244321}">
                <p14:modId xmlns:p14="http://schemas.microsoft.com/office/powerpoint/2010/main" val="2787357874"/>
              </p:ext>
            </p:extLst>
          </p:nvPr>
        </p:nvGraphicFramePr>
        <p:xfrm>
          <a:off x="838200" y="1270569"/>
          <a:ext cx="11160000" cy="5004004"/>
        </p:xfrm>
        <a:graphic>
          <a:graphicData uri="http://schemas.openxmlformats.org/drawingml/2006/table">
            <a:tbl>
              <a:tblPr firstRow="1" firstCol="1" bandRow="1">
                <a:tableStyleId>{5C22544A-7EE6-4342-B048-85BDC9FD1C3A}</a:tableStyleId>
              </a:tblPr>
              <a:tblGrid>
                <a:gridCol w="3296241">
                  <a:extLst>
                    <a:ext uri="{9D8B030D-6E8A-4147-A177-3AD203B41FA5}">
                      <a16:colId xmlns:a16="http://schemas.microsoft.com/office/drawing/2014/main" val="954083972"/>
                    </a:ext>
                  </a:extLst>
                </a:gridCol>
                <a:gridCol w="4494947">
                  <a:extLst>
                    <a:ext uri="{9D8B030D-6E8A-4147-A177-3AD203B41FA5}">
                      <a16:colId xmlns:a16="http://schemas.microsoft.com/office/drawing/2014/main" val="801629719"/>
                    </a:ext>
                  </a:extLst>
                </a:gridCol>
                <a:gridCol w="3368812">
                  <a:extLst>
                    <a:ext uri="{9D8B030D-6E8A-4147-A177-3AD203B41FA5}">
                      <a16:colId xmlns:a16="http://schemas.microsoft.com/office/drawing/2014/main" val="2051493266"/>
                    </a:ext>
                  </a:extLst>
                </a:gridCol>
              </a:tblGrid>
              <a:tr h="357434">
                <a:tc>
                  <a:txBody>
                    <a:bodyPr/>
                    <a:lstStyle/>
                    <a:p>
                      <a:pPr algn="ctr">
                        <a:spcBef>
                          <a:spcPts val="600"/>
                        </a:spcBef>
                        <a:spcAft>
                          <a:spcPts val="600"/>
                        </a:spcAft>
                      </a:pPr>
                      <a:r>
                        <a:rPr lang="en-US" sz="2000" dirty="0">
                          <a:effectLst/>
                        </a:rPr>
                        <a:t>Entity</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000" dirty="0">
                          <a:effectLst/>
                        </a:rPr>
                        <a:t>Relationship</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ctr">
                        <a:spcBef>
                          <a:spcPts val="600"/>
                        </a:spcBef>
                        <a:spcAft>
                          <a:spcPts val="600"/>
                        </a:spcAft>
                      </a:pPr>
                      <a:r>
                        <a:rPr lang="en-US" sz="2000" dirty="0">
                          <a:effectLst/>
                        </a:rPr>
                        <a:t>Annual turnover 2023–24</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extLst>
                  <a:ext uri="{0D108BD9-81ED-4DB2-BD59-A6C34878D82A}">
                    <a16:rowId xmlns:a16="http://schemas.microsoft.com/office/drawing/2014/main" val="191816877"/>
                  </a:ext>
                </a:extLst>
              </a:tr>
              <a:tr h="357434">
                <a:tc>
                  <a:txBody>
                    <a:bodyPr/>
                    <a:lstStyle/>
                    <a:p>
                      <a:pPr algn="just">
                        <a:spcBef>
                          <a:spcPts val="600"/>
                        </a:spcBef>
                        <a:spcAft>
                          <a:spcPts val="600"/>
                        </a:spcAft>
                      </a:pPr>
                      <a:r>
                        <a:rPr lang="en-US" sz="2000" dirty="0">
                          <a:effectLst/>
                        </a:rPr>
                        <a:t>Sundance Pty Ltd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Taxpayer</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$4.0 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1988216940"/>
                  </a:ext>
                </a:extLst>
              </a:tr>
              <a:tr h="357434">
                <a:tc>
                  <a:txBody>
                    <a:bodyPr/>
                    <a:lstStyle/>
                    <a:p>
                      <a:pPr algn="just">
                        <a:spcBef>
                          <a:spcPts val="600"/>
                        </a:spcBef>
                        <a:spcAft>
                          <a:spcPts val="600"/>
                        </a:spcAft>
                      </a:pPr>
                      <a:r>
                        <a:rPr lang="en-US" sz="2000" dirty="0">
                          <a:effectLst/>
                        </a:rPr>
                        <a:t>The Smith Family Trust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 </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$2.0 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3343131830"/>
                  </a:ext>
                </a:extLst>
              </a:tr>
              <a:tr h="714832">
                <a:tc>
                  <a:txBody>
                    <a:bodyPr/>
                    <a:lstStyle/>
                    <a:p>
                      <a:pPr algn="just">
                        <a:spcBef>
                          <a:spcPts val="600"/>
                        </a:spcBef>
                        <a:spcAft>
                          <a:spcPts val="600"/>
                        </a:spcAft>
                      </a:pPr>
                      <a:r>
                        <a:rPr lang="en-US" sz="2000" dirty="0">
                          <a:effectLst/>
                        </a:rPr>
                        <a:t>Mrs Smith (not carrying on a business)</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3729463377"/>
                  </a:ext>
                </a:extLst>
              </a:tr>
              <a:tr h="714832">
                <a:tc>
                  <a:txBody>
                    <a:bodyPr/>
                    <a:lstStyle/>
                    <a:p>
                      <a:pPr algn="just">
                        <a:spcBef>
                          <a:spcPts val="600"/>
                        </a:spcBef>
                        <a:spcAft>
                          <a:spcPts val="600"/>
                        </a:spcAft>
                      </a:pPr>
                      <a:r>
                        <a:rPr lang="en-US" sz="2000" dirty="0">
                          <a:effectLst/>
                        </a:rPr>
                        <a:t>Mr Smith (123 days)</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$0.5m × 366/123 = approx $0.9 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2488647245"/>
                  </a:ext>
                </a:extLst>
              </a:tr>
              <a:tr h="357434">
                <a:tc>
                  <a:txBody>
                    <a:bodyPr/>
                    <a:lstStyle/>
                    <a:p>
                      <a:pPr algn="just">
                        <a:spcBef>
                          <a:spcPts val="600"/>
                        </a:spcBef>
                        <a:spcAft>
                          <a:spcPts val="600"/>
                        </a:spcAft>
                      </a:pPr>
                      <a:r>
                        <a:rPr lang="en-US" sz="2000" dirty="0">
                          <a:effectLst/>
                        </a:rPr>
                        <a:t>Smith Co</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$0.2 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2726075085"/>
                  </a:ext>
                </a:extLst>
              </a:tr>
              <a:tr h="357434">
                <a:tc>
                  <a:txBody>
                    <a:bodyPr/>
                    <a:lstStyle/>
                    <a:p>
                      <a:pPr algn="just">
                        <a:spcBef>
                          <a:spcPts val="600"/>
                        </a:spcBef>
                        <a:spcAft>
                          <a:spcPts val="600"/>
                        </a:spcAft>
                      </a:pPr>
                      <a:r>
                        <a:rPr lang="en-US" sz="2000" dirty="0">
                          <a:effectLst/>
                        </a:rPr>
                        <a:t>Tran Family Trust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$2.5 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1602236532"/>
                  </a:ext>
                </a:extLst>
              </a:tr>
              <a:tr h="357434">
                <a:tc>
                  <a:txBody>
                    <a:bodyPr/>
                    <a:lstStyle/>
                    <a:p>
                      <a:pPr algn="just">
                        <a:spcBef>
                          <a:spcPts val="600"/>
                        </a:spcBef>
                        <a:spcAft>
                          <a:spcPts val="600"/>
                        </a:spcAft>
                      </a:pPr>
                      <a:r>
                        <a:rPr lang="en-US" sz="2000" dirty="0">
                          <a:effectLst/>
                        </a:rPr>
                        <a:t>Mr Tran</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$0.4 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2247561616"/>
                  </a:ext>
                </a:extLst>
              </a:tr>
              <a:tr h="357434">
                <a:tc>
                  <a:txBody>
                    <a:bodyPr/>
                    <a:lstStyle/>
                    <a:p>
                      <a:pPr algn="just">
                        <a:spcBef>
                          <a:spcPts val="600"/>
                        </a:spcBef>
                        <a:spcAft>
                          <a:spcPts val="600"/>
                        </a:spcAft>
                      </a:pPr>
                      <a:r>
                        <a:rPr lang="en-US" sz="2000" dirty="0">
                          <a:effectLst/>
                        </a:rPr>
                        <a:t>Mrs Tran</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$0.3 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3839930807"/>
                  </a:ext>
                </a:extLst>
              </a:tr>
              <a:tr h="357434">
                <a:tc>
                  <a:txBody>
                    <a:bodyPr/>
                    <a:lstStyle/>
                    <a:p>
                      <a:pPr algn="just">
                        <a:spcBef>
                          <a:spcPts val="600"/>
                        </a:spcBef>
                        <a:spcAft>
                          <a:spcPts val="600"/>
                        </a:spcAft>
                      </a:pPr>
                      <a:r>
                        <a:rPr lang="en-US" sz="2000" dirty="0">
                          <a:effectLst/>
                        </a:rPr>
                        <a:t>Tina</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Not connected or an affiliate</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dirty="0">
                          <a:effectLst/>
                        </a:rPr>
                        <a:t>–</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2349785232"/>
                  </a:ext>
                </a:extLst>
              </a:tr>
              <a:tr h="357434">
                <a:tc>
                  <a:txBody>
                    <a:bodyPr/>
                    <a:lstStyle/>
                    <a:p>
                      <a:pPr algn="just">
                        <a:spcBef>
                          <a:spcPts val="600"/>
                        </a:spcBef>
                        <a:spcAft>
                          <a:spcPts val="600"/>
                        </a:spcAft>
                      </a:pPr>
                      <a:r>
                        <a:rPr lang="en-US" sz="2000" dirty="0">
                          <a:effectLst/>
                        </a:rPr>
                        <a:t>Tran Co</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just">
                        <a:spcBef>
                          <a:spcPts val="600"/>
                        </a:spcBef>
                        <a:spcAft>
                          <a:spcPts val="600"/>
                        </a:spcAft>
                      </a:pPr>
                      <a:r>
                        <a:rPr lang="en-US" sz="2000" dirty="0">
                          <a:effectLst/>
                        </a:rPr>
                        <a:t>Connected</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tc>
                  <a:txBody>
                    <a:bodyPr/>
                    <a:lstStyle/>
                    <a:p>
                      <a:pPr marR="306070" algn="r">
                        <a:spcBef>
                          <a:spcPts val="600"/>
                        </a:spcBef>
                        <a:spcAft>
                          <a:spcPts val="600"/>
                        </a:spcAft>
                      </a:pPr>
                      <a:r>
                        <a:rPr lang="en-US" sz="2000" dirty="0">
                          <a:effectLst/>
                        </a:rPr>
                        <a:t>$0.1 m</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CECE8"/>
                    </a:solidFill>
                  </a:tcPr>
                </a:tc>
                <a:extLst>
                  <a:ext uri="{0D108BD9-81ED-4DB2-BD59-A6C34878D82A}">
                    <a16:rowId xmlns:a16="http://schemas.microsoft.com/office/drawing/2014/main" val="239678362"/>
                  </a:ext>
                </a:extLst>
              </a:tr>
              <a:tr h="357434">
                <a:tc>
                  <a:txBody>
                    <a:bodyPr/>
                    <a:lstStyle/>
                    <a:p>
                      <a:pPr algn="just">
                        <a:spcBef>
                          <a:spcPts val="600"/>
                        </a:spcBef>
                        <a:spcAft>
                          <a:spcPts val="600"/>
                        </a:spcAft>
                      </a:pPr>
                      <a:r>
                        <a:rPr lang="en-US" sz="2000" dirty="0">
                          <a:effectLst/>
                        </a:rPr>
                        <a:t> </a:t>
                      </a:r>
                      <a:endParaRPr lang="en-AU"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ED7D31"/>
                    </a:solidFill>
                  </a:tcPr>
                </a:tc>
                <a:tc>
                  <a:txBody>
                    <a:bodyPr/>
                    <a:lstStyle/>
                    <a:p>
                      <a:pPr algn="r">
                        <a:spcBef>
                          <a:spcPts val="600"/>
                        </a:spcBef>
                        <a:spcAft>
                          <a:spcPts val="600"/>
                        </a:spcAft>
                      </a:pPr>
                      <a:r>
                        <a:rPr lang="en-US" sz="2000" b="1" dirty="0">
                          <a:effectLst/>
                          <a:latin typeface="Calibri" panose="020F0502020204030204" pitchFamily="34" charset="0"/>
                          <a:ea typeface="Times New Roman" panose="02020603050405020304" pitchFamily="18" charset="0"/>
                          <a:cs typeface="Times New Roman" panose="02020603050405020304" pitchFamily="18" charset="0"/>
                        </a:rPr>
                        <a:t>Aggregated turnover</a:t>
                      </a:r>
                      <a:endParaRPr lang="en-AU" sz="20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tc>
                  <a:txBody>
                    <a:bodyPr/>
                    <a:lstStyle/>
                    <a:p>
                      <a:pPr marR="306070" algn="r">
                        <a:spcBef>
                          <a:spcPts val="600"/>
                        </a:spcBef>
                        <a:spcAft>
                          <a:spcPts val="600"/>
                        </a:spcAft>
                      </a:pPr>
                      <a:r>
                        <a:rPr lang="en-US" sz="2000" b="1" dirty="0">
                          <a:effectLst/>
                        </a:rPr>
                        <a:t>$10.4 m</a:t>
                      </a:r>
                      <a:endParaRPr lang="en-AU" sz="20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solidFill>
                      <a:srgbClr val="F8D7CD"/>
                    </a:solidFill>
                  </a:tcPr>
                </a:tc>
                <a:extLst>
                  <a:ext uri="{0D108BD9-81ED-4DB2-BD59-A6C34878D82A}">
                    <a16:rowId xmlns:a16="http://schemas.microsoft.com/office/drawing/2014/main" val="1063274405"/>
                  </a:ext>
                </a:extLst>
              </a:tr>
            </a:tbl>
          </a:graphicData>
        </a:graphic>
      </p:graphicFrame>
      <p:sp>
        <p:nvSpPr>
          <p:cNvPr id="5" name="Rectangle 1">
            <a:extLst>
              <a:ext uri="{FF2B5EF4-FFF2-40B4-BE49-F238E27FC236}">
                <a16:creationId xmlns:a16="http://schemas.microsoft.com/office/drawing/2014/main" id="{14AC4E1A-1637-B003-0153-5B0A4567D27C}"/>
              </a:ext>
            </a:extLst>
          </p:cNvPr>
          <p:cNvSpPr>
            <a:spLocks noChangeArrowheads="1"/>
          </p:cNvSpPr>
          <p:nvPr/>
        </p:nvSpPr>
        <p:spPr bwMode="auto">
          <a:xfrm>
            <a:off x="838200" y="1561038"/>
            <a:ext cx="12192000" cy="3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AU" altLang="en-US" sz="1800" b="0" i="0" u="none" strike="noStrike" cap="none" normalizeH="0" baseline="0" dirty="0">
                <a:ln>
                  <a:noFill/>
                </a:ln>
                <a:solidFill>
                  <a:schemeClr val="tx1"/>
                </a:solidFill>
                <a:effectLst/>
                <a:latin typeface="Arial" panose="020B0604020202020204" pitchFamily="34" charset="0"/>
              </a:rPr>
            </a:br>
            <a:endParaRPr kumimoji="0" lang="en-AU"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0325ECF2-193D-2D9F-D194-E0325DA2D5F5}"/>
              </a:ext>
            </a:extLst>
          </p:cNvPr>
          <p:cNvSpPr txBox="1"/>
          <p:nvPr/>
        </p:nvSpPr>
        <p:spPr>
          <a:xfrm>
            <a:off x="10801350" y="6488668"/>
            <a:ext cx="13906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Page Ref </a:t>
            </a:r>
            <a:r>
              <a:rPr lang="en-US" dirty="0">
                <a:solidFill>
                  <a:srgbClr val="464145"/>
                </a:solidFill>
                <a:latin typeface="Calibri" panose="020F0502020204030204"/>
              </a:rPr>
              <a:t>34</a:t>
            </a:r>
            <a:r>
              <a:rPr kumimoji="0" lang="en-US" sz="1800" b="0" i="0" u="none" strike="noStrike" kern="1200" cap="none" spc="0" normalizeH="0" baseline="0" noProof="0" dirty="0">
                <a:ln>
                  <a:noFill/>
                </a:ln>
                <a:solidFill>
                  <a:srgbClr val="464145"/>
                </a:solidFill>
                <a:effectLst/>
                <a:uLnTx/>
                <a:uFillTx/>
                <a:latin typeface="Calibri" panose="020F0502020204030204"/>
                <a:ea typeface="+mn-ea"/>
                <a:cs typeface="+mn-cs"/>
              </a:rPr>
              <a:t> </a:t>
            </a:r>
            <a:endParaRPr kumimoji="0" lang="en-AU" sz="1800" b="0" i="0" u="none" strike="noStrike" kern="1200" cap="none" spc="0" normalizeH="0" baseline="0" noProof="0" dirty="0">
              <a:ln>
                <a:noFill/>
              </a:ln>
              <a:solidFill>
                <a:srgbClr val="46414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00486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76225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26F802D2AD4BF4BB98DD4ABF878A35A" ma:contentTypeVersion="15" ma:contentTypeDescription="Create a new document." ma:contentTypeScope="" ma:versionID="cdedff3a27e7fce948e9c960dfcb10a3">
  <xsd:schema xmlns:xsd="http://www.w3.org/2001/XMLSchema" xmlns:xs="http://www.w3.org/2001/XMLSchema" xmlns:p="http://schemas.microsoft.com/office/2006/metadata/properties" xmlns:ns1="http://schemas.microsoft.com/sharepoint/v3" xmlns:ns2="02f4b4bf-87b8-4439-b9d9-06a8dd603bd9" xmlns:ns3="4426c1a6-cb93-481f-a6bb-b4dface94a1b" targetNamespace="http://schemas.microsoft.com/office/2006/metadata/properties" ma:root="true" ma:fieldsID="1a2c76b45f1a2b7f566ab58fce2389df" ns1:_="" ns2:_="" ns3:_="">
    <xsd:import namespace="http://schemas.microsoft.com/sharepoint/v3"/>
    <xsd:import namespace="02f4b4bf-87b8-4439-b9d9-06a8dd603bd9"/>
    <xsd:import namespace="4426c1a6-cb93-481f-a6bb-b4dface94a1b"/>
    <xsd:element name="properties">
      <xsd:complexType>
        <xsd:sequence>
          <xsd:element name="documentManagement">
            <xsd:complexType>
              <xsd:all>
                <xsd:element ref="ns2:MediaServiceMetadata" minOccurs="0"/>
                <xsd:element ref="ns2:MediaServiceFastMetadata" minOccurs="0"/>
                <xsd:element ref="ns2:MediaLengthInSeconds" minOccurs="0"/>
                <xsd:element ref="ns2:MediaServiceDateTaken" minOccurs="0"/>
                <xsd:element ref="ns3:SharedWithUsers" minOccurs="0"/>
                <xsd:element ref="ns3:SharedWithDetails" minOccurs="0"/>
                <xsd:element ref="ns2:lcf76f155ced4ddcb4097134ff3c332f" minOccurs="0"/>
                <xsd:element ref="ns2:MediaServiceOCR" minOccurs="0"/>
                <xsd:element ref="ns2:MediaServiceGenerationTime" minOccurs="0"/>
                <xsd:element ref="ns2:MediaServiceEventHashCode" minOccurs="0"/>
                <xsd:element ref="ns2:MediaServiceObjectDetectorVersions" minOccurs="0"/>
                <xsd:element ref="ns1:_ip_UnifiedCompliancePolicyProperties" minOccurs="0"/>
                <xsd:element ref="ns1:_ip_UnifiedCompliancePolicyUIAc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2f4b4bf-87b8-4439-b9d9-06a8dd603bd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73c3872b-38b2-481e-ac62-77e4bd7669e2"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426c1a6-cb93-481f-a6bb-b4dface94a1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942098D-DFA0-4BD4-8A89-7469E5A4D4FD}">
  <ds:schemaRefs>
    <ds:schemaRef ds:uri="http://schemas.microsoft.com/sharepoint/v3/contenttype/forms"/>
  </ds:schemaRefs>
</ds:datastoreItem>
</file>

<file path=customXml/itemProps2.xml><?xml version="1.0" encoding="utf-8"?>
<ds:datastoreItem xmlns:ds="http://schemas.openxmlformats.org/officeDocument/2006/customXml" ds:itemID="{2368A0B5-172F-475C-AB9F-9756964EF0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2f4b4bf-87b8-4439-b9d9-06a8dd603bd9"/>
    <ds:schemaRef ds:uri="4426c1a6-cb93-481f-a6bb-b4dface94a1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1359</TotalTime>
  <Words>2603</Words>
  <Application>Microsoft Office PowerPoint</Application>
  <PresentationFormat>Widescreen</PresentationFormat>
  <Paragraphs>640</Paragraphs>
  <Slides>33</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SimSun</vt:lpstr>
      <vt:lpstr>Arial</vt:lpstr>
      <vt:lpstr>Calibri</vt:lpstr>
      <vt:lpstr>Calibri Light</vt:lpstr>
      <vt:lpstr>Open Sans</vt:lpstr>
      <vt:lpstr>Times New Roman</vt:lpstr>
      <vt:lpstr>Wingdings</vt:lpstr>
      <vt:lpstr>Office Theme</vt:lpstr>
      <vt:lpstr>  Grouping for aggregated turnover purposes</vt:lpstr>
      <vt:lpstr>Learning objectives</vt:lpstr>
      <vt:lpstr>Introduction</vt:lpstr>
      <vt:lpstr>Key ideas</vt:lpstr>
      <vt:lpstr>The definitions of an SBE and a CGT SBE</vt:lpstr>
      <vt:lpstr>The definition of an SBE and a CGT SBE</vt:lpstr>
      <vt:lpstr>Concessions with an aggregated turnover threshold</vt:lpstr>
      <vt:lpstr>Gutteridge v FCT – trust not ‘controlled’ by sole  director of corporate trustee</vt:lpstr>
      <vt:lpstr>Case Study 1 — Small business CGT concessions</vt:lpstr>
      <vt:lpstr>Scenario 1 — Can the Unit Trust access the SB CGT concessions in 2022–23?</vt:lpstr>
      <vt:lpstr>Scenario 1a — Penny’s 40% unit holding is owned by Davis F/T</vt:lpstr>
      <vt:lpstr>Scenario 1b — Quentin departs &amp; property 2 sold</vt:lpstr>
      <vt:lpstr>Scenario 2a — Sale of a passively held trust asset </vt:lpstr>
      <vt:lpstr>Scenario 2b — Business carried on through a company</vt:lpstr>
      <vt:lpstr>Scenario 2c — Three equal shareholders in Q2 Pty Ltd</vt:lpstr>
      <vt:lpstr>Scenario 2d — Four equal shareholders in Q2</vt:lpstr>
      <vt:lpstr>Scenario 2e — Patrick turned 18 years old on 1 April 2023</vt:lpstr>
      <vt:lpstr>Case Study 2 – R&amp;D tax offset</vt:lpstr>
      <vt:lpstr>R&amp;D tax offset – Division 355 ITAA 1997</vt:lpstr>
      <vt:lpstr>Group structure</vt:lpstr>
      <vt:lpstr>Brown Family Trust distributions</vt:lpstr>
      <vt:lpstr>Alternative scenario 3 — minority shareholding held by management</vt:lpstr>
      <vt:lpstr>Aggregated turnover calculation — 2022–23 </vt:lpstr>
      <vt:lpstr>Sale of 70% of AgriCo Pty Ltd — 2023–24 </vt:lpstr>
      <vt:lpstr>Aggregated turnover calculation — 2023–24</vt:lpstr>
      <vt:lpstr>Aggregated turnover calculation — 2024–25</vt:lpstr>
      <vt:lpstr>Case Study 3 — SBE capital allowances concessions </vt:lpstr>
      <vt:lpstr>Facts &amp; Issue</vt:lpstr>
      <vt:lpstr>Group structure</vt:lpstr>
      <vt:lpstr>Smith Family Trust &amp; Tran Family Trust distributions</vt:lpstr>
      <vt:lpstr>Aggregated turnover calculation 2022–23</vt:lpstr>
      <vt:lpstr>Aggregated turnover calculation 2023–24</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Lee-Ann Hayes</dc:creator>
  <cp:lastModifiedBy>Victoria Stevens</cp:lastModifiedBy>
  <cp:revision>90</cp:revision>
  <cp:lastPrinted>2024-01-23T08:47:53Z</cp:lastPrinted>
  <dcterms:created xsi:type="dcterms:W3CDTF">2022-06-24T02:02:10Z</dcterms:created>
  <dcterms:modified xsi:type="dcterms:W3CDTF">2024-01-29T03:23:53Z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ead51b8-3a5d-45a1-9048-6db802ca875d_Enabled">
    <vt:lpwstr>true</vt:lpwstr>
  </property>
  <property fmtid="{D5CDD505-2E9C-101B-9397-08002B2CF9AE}" pid="3" name="MSIP_Label_3ead51b8-3a5d-45a1-9048-6db802ca875d_SetDate">
    <vt:lpwstr>2024-01-16T01:35:23Z</vt:lpwstr>
  </property>
  <property fmtid="{D5CDD505-2E9C-101B-9397-08002B2CF9AE}" pid="4" name="MSIP_Label_3ead51b8-3a5d-45a1-9048-6db802ca875d_Method">
    <vt:lpwstr>Standard</vt:lpwstr>
  </property>
  <property fmtid="{D5CDD505-2E9C-101B-9397-08002B2CF9AE}" pid="5" name="MSIP_Label_3ead51b8-3a5d-45a1-9048-6db802ca875d_Name">
    <vt:lpwstr>Confidential</vt:lpwstr>
  </property>
  <property fmtid="{D5CDD505-2E9C-101B-9397-08002B2CF9AE}" pid="6" name="MSIP_Label_3ead51b8-3a5d-45a1-9048-6db802ca875d_SiteId">
    <vt:lpwstr>20cc64fd-c51c-463f-9ecd-5f2c175fc280</vt:lpwstr>
  </property>
  <property fmtid="{D5CDD505-2E9C-101B-9397-08002B2CF9AE}" pid="7" name="MSIP_Label_3ead51b8-3a5d-45a1-9048-6db802ca875d_ActionId">
    <vt:lpwstr>9202e0df-ebef-4ce4-8b54-70993772555e</vt:lpwstr>
  </property>
  <property fmtid="{D5CDD505-2E9C-101B-9397-08002B2CF9AE}" pid="8" name="MSIP_Label_3ead51b8-3a5d-45a1-9048-6db802ca875d_ContentBits">
    <vt:lpwstr>0</vt:lpwstr>
  </property>
</Properties>
</file>