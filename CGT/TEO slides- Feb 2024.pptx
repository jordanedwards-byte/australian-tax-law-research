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1"/>
  </p:sldMasterIdLst>
  <p:notesMasterIdLst>
    <p:notesMasterId r:id="rId34"/>
  </p:notesMasterIdLst>
  <p:handoutMasterIdLst>
    <p:handoutMasterId r:id="rId35"/>
  </p:handoutMasterIdLst>
  <p:sldIdLst>
    <p:sldId id="294" r:id="rId2"/>
    <p:sldId id="298" r:id="rId3"/>
    <p:sldId id="300" r:id="rId4"/>
    <p:sldId id="299" r:id="rId5"/>
    <p:sldId id="327" r:id="rId6"/>
    <p:sldId id="324" r:id="rId7"/>
    <p:sldId id="326" r:id="rId8"/>
    <p:sldId id="323" r:id="rId9"/>
    <p:sldId id="301" r:id="rId10"/>
    <p:sldId id="307" r:id="rId11"/>
    <p:sldId id="308" r:id="rId12"/>
    <p:sldId id="309" r:id="rId13"/>
    <p:sldId id="302" r:id="rId14"/>
    <p:sldId id="303" r:id="rId15"/>
    <p:sldId id="304" r:id="rId16"/>
    <p:sldId id="311" r:id="rId17"/>
    <p:sldId id="312" r:id="rId18"/>
    <p:sldId id="314" r:id="rId19"/>
    <p:sldId id="315" r:id="rId20"/>
    <p:sldId id="322" r:id="rId21"/>
    <p:sldId id="313" r:id="rId22"/>
    <p:sldId id="317" r:id="rId23"/>
    <p:sldId id="318" r:id="rId24"/>
    <p:sldId id="316" r:id="rId25"/>
    <p:sldId id="305" r:id="rId26"/>
    <p:sldId id="310" r:id="rId27"/>
    <p:sldId id="306" r:id="rId28"/>
    <p:sldId id="320" r:id="rId29"/>
    <p:sldId id="325" r:id="rId30"/>
    <p:sldId id="321" r:id="rId31"/>
    <p:sldId id="319" r:id="rId32"/>
    <p:sldId id="297" r:id="rId33"/>
  </p:sldIdLst>
  <p:sldSz cx="12192000" cy="685800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1B1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7561BF-6EB8-4B18-BEE2-F4373EF2BE80}" v="1" dt="2024-02-18T23:32:21.9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0" autoAdjust="0"/>
    <p:restoredTop sz="94762" autoAdjust="0"/>
  </p:normalViewPr>
  <p:slideViewPr>
    <p:cSldViewPr snapToGrid="0">
      <p:cViewPr>
        <p:scale>
          <a:sx n="72" d="100"/>
          <a:sy n="72" d="100"/>
        </p:scale>
        <p:origin x="1410" y="780"/>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87" d="100"/>
          <a:sy n="87" d="100"/>
        </p:scale>
        <p:origin x="384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 Duonis" userId="7b15413b-8529-44ea-abbc-6e630af62d3d" providerId="ADAL" clId="{F87561BF-6EB8-4B18-BEE2-F4373EF2BE80}"/>
    <pc:docChg chg="undo custSel addSld modSld">
      <pc:chgData name="Alex Duonis" userId="7b15413b-8529-44ea-abbc-6e630af62d3d" providerId="ADAL" clId="{F87561BF-6EB8-4B18-BEE2-F4373EF2BE80}" dt="2024-02-19T01:45:35.834" v="1707" actId="115"/>
      <pc:docMkLst>
        <pc:docMk/>
      </pc:docMkLst>
      <pc:sldChg chg="modSp mod">
        <pc:chgData name="Alex Duonis" userId="7b15413b-8529-44ea-abbc-6e630af62d3d" providerId="ADAL" clId="{F87561BF-6EB8-4B18-BEE2-F4373EF2BE80}" dt="2024-02-19T01:35:36.490" v="1660" actId="1076"/>
        <pc:sldMkLst>
          <pc:docMk/>
          <pc:sldMk cId="2553664306" sldId="294"/>
        </pc:sldMkLst>
        <pc:spChg chg="mod">
          <ac:chgData name="Alex Duonis" userId="7b15413b-8529-44ea-abbc-6e630af62d3d" providerId="ADAL" clId="{F87561BF-6EB8-4B18-BEE2-F4373EF2BE80}" dt="2024-02-19T01:35:36.490" v="1660" actId="1076"/>
          <ac:spMkLst>
            <pc:docMk/>
            <pc:sldMk cId="2553664306" sldId="294"/>
            <ac:spMk id="2" creationId="{E55FE311-1473-4B2B-889C-7F7CD6B2F617}"/>
          </ac:spMkLst>
        </pc:spChg>
      </pc:sldChg>
      <pc:sldChg chg="modSp mod">
        <pc:chgData name="Alex Duonis" userId="7b15413b-8529-44ea-abbc-6e630af62d3d" providerId="ADAL" clId="{F87561BF-6EB8-4B18-BEE2-F4373EF2BE80}" dt="2024-02-18T23:17:26.712" v="1" actId="20577"/>
        <pc:sldMkLst>
          <pc:docMk/>
          <pc:sldMk cId="3339188759" sldId="298"/>
        </pc:sldMkLst>
        <pc:spChg chg="mod">
          <ac:chgData name="Alex Duonis" userId="7b15413b-8529-44ea-abbc-6e630af62d3d" providerId="ADAL" clId="{F87561BF-6EB8-4B18-BEE2-F4373EF2BE80}" dt="2024-02-18T23:17:26.712" v="1" actId="20577"/>
          <ac:spMkLst>
            <pc:docMk/>
            <pc:sldMk cId="3339188759" sldId="298"/>
            <ac:spMk id="4" creationId="{6D0A9A2D-89B2-4C5B-809E-16B375ECC1A9}"/>
          </ac:spMkLst>
        </pc:spChg>
      </pc:sldChg>
      <pc:sldChg chg="modSp mod">
        <pc:chgData name="Alex Duonis" userId="7b15413b-8529-44ea-abbc-6e630af62d3d" providerId="ADAL" clId="{F87561BF-6EB8-4B18-BEE2-F4373EF2BE80}" dt="2024-02-18T23:23:44.540" v="210" actId="20577"/>
        <pc:sldMkLst>
          <pc:docMk/>
          <pc:sldMk cId="4167174052" sldId="299"/>
        </pc:sldMkLst>
        <pc:graphicFrameChg chg="modGraphic">
          <ac:chgData name="Alex Duonis" userId="7b15413b-8529-44ea-abbc-6e630af62d3d" providerId="ADAL" clId="{F87561BF-6EB8-4B18-BEE2-F4373EF2BE80}" dt="2024-02-18T23:23:44.540" v="210" actId="20577"/>
          <ac:graphicFrameMkLst>
            <pc:docMk/>
            <pc:sldMk cId="4167174052" sldId="299"/>
            <ac:graphicFrameMk id="2" creationId="{FF7EDD66-1769-46A4-BCC2-CF3A95C49937}"/>
          </ac:graphicFrameMkLst>
        </pc:graphicFrameChg>
      </pc:sldChg>
      <pc:sldChg chg="modSp mod">
        <pc:chgData name="Alex Duonis" userId="7b15413b-8529-44ea-abbc-6e630af62d3d" providerId="ADAL" clId="{F87561BF-6EB8-4B18-BEE2-F4373EF2BE80}" dt="2024-02-19T01:37:14.260" v="1696" actId="20577"/>
        <pc:sldMkLst>
          <pc:docMk/>
          <pc:sldMk cId="1819702508" sldId="300"/>
        </pc:sldMkLst>
        <pc:spChg chg="mod">
          <ac:chgData name="Alex Duonis" userId="7b15413b-8529-44ea-abbc-6e630af62d3d" providerId="ADAL" clId="{F87561BF-6EB8-4B18-BEE2-F4373EF2BE80}" dt="2024-02-19T01:36:26.531" v="1694" actId="20577"/>
          <ac:spMkLst>
            <pc:docMk/>
            <pc:sldMk cId="1819702508" sldId="300"/>
            <ac:spMk id="4" creationId="{2E3FF8C0-E639-4F69-898D-3B8BB48CED48}"/>
          </ac:spMkLst>
        </pc:spChg>
        <pc:spChg chg="mod">
          <ac:chgData name="Alex Duonis" userId="7b15413b-8529-44ea-abbc-6e630af62d3d" providerId="ADAL" clId="{F87561BF-6EB8-4B18-BEE2-F4373EF2BE80}" dt="2024-02-19T01:36:23.073" v="1693" actId="20577"/>
          <ac:spMkLst>
            <pc:docMk/>
            <pc:sldMk cId="1819702508" sldId="300"/>
            <ac:spMk id="5" creationId="{438060FF-42B3-461E-B1D6-D584FB22774A}"/>
          </ac:spMkLst>
        </pc:spChg>
        <pc:graphicFrameChg chg="mod modGraphic">
          <ac:chgData name="Alex Duonis" userId="7b15413b-8529-44ea-abbc-6e630af62d3d" providerId="ADAL" clId="{F87561BF-6EB8-4B18-BEE2-F4373EF2BE80}" dt="2024-02-19T01:37:14.260" v="1696" actId="20577"/>
          <ac:graphicFrameMkLst>
            <pc:docMk/>
            <pc:sldMk cId="1819702508" sldId="300"/>
            <ac:graphicFrameMk id="2" creationId="{5691C227-F9A2-4AB0-9241-CECB81D8750C}"/>
          </ac:graphicFrameMkLst>
        </pc:graphicFrameChg>
      </pc:sldChg>
      <pc:sldChg chg="modSp mod">
        <pc:chgData name="Alex Duonis" userId="7b15413b-8529-44ea-abbc-6e630af62d3d" providerId="ADAL" clId="{F87561BF-6EB8-4B18-BEE2-F4373EF2BE80}" dt="2024-02-19T00:53:10.862" v="1043" actId="20577"/>
        <pc:sldMkLst>
          <pc:docMk/>
          <pc:sldMk cId="463220556" sldId="304"/>
        </pc:sldMkLst>
        <pc:spChg chg="mod">
          <ac:chgData name="Alex Duonis" userId="7b15413b-8529-44ea-abbc-6e630af62d3d" providerId="ADAL" clId="{F87561BF-6EB8-4B18-BEE2-F4373EF2BE80}" dt="2024-02-19T00:53:10.862" v="1043" actId="20577"/>
          <ac:spMkLst>
            <pc:docMk/>
            <pc:sldMk cId="463220556" sldId="304"/>
            <ac:spMk id="4" creationId="{2E3FF8C0-E639-4F69-898D-3B8BB48CED48}"/>
          </ac:spMkLst>
        </pc:spChg>
        <pc:spChg chg="mod">
          <ac:chgData name="Alex Duonis" userId="7b15413b-8529-44ea-abbc-6e630af62d3d" providerId="ADAL" clId="{F87561BF-6EB8-4B18-BEE2-F4373EF2BE80}" dt="2024-02-19T00:53:04.517" v="1039" actId="14100"/>
          <ac:spMkLst>
            <pc:docMk/>
            <pc:sldMk cId="463220556" sldId="304"/>
            <ac:spMk id="5" creationId="{438060FF-42B3-461E-B1D6-D584FB22774A}"/>
          </ac:spMkLst>
        </pc:spChg>
      </pc:sldChg>
      <pc:sldChg chg="modSp mod">
        <pc:chgData name="Alex Duonis" userId="7b15413b-8529-44ea-abbc-6e630af62d3d" providerId="ADAL" clId="{F87561BF-6EB8-4B18-BEE2-F4373EF2BE80}" dt="2024-02-19T00:49:53.171" v="1024" actId="313"/>
        <pc:sldMkLst>
          <pc:docMk/>
          <pc:sldMk cId="1278482125" sldId="309"/>
        </pc:sldMkLst>
        <pc:spChg chg="mod">
          <ac:chgData name="Alex Duonis" userId="7b15413b-8529-44ea-abbc-6e630af62d3d" providerId="ADAL" clId="{F87561BF-6EB8-4B18-BEE2-F4373EF2BE80}" dt="2024-02-19T00:49:53.171" v="1024" actId="313"/>
          <ac:spMkLst>
            <pc:docMk/>
            <pc:sldMk cId="1278482125" sldId="309"/>
            <ac:spMk id="5" creationId="{438060FF-42B3-461E-B1D6-D584FB22774A}"/>
          </ac:spMkLst>
        </pc:spChg>
      </pc:sldChg>
      <pc:sldChg chg="modSp mod">
        <pc:chgData name="Alex Duonis" userId="7b15413b-8529-44ea-abbc-6e630af62d3d" providerId="ADAL" clId="{F87561BF-6EB8-4B18-BEE2-F4373EF2BE80}" dt="2024-02-19T00:56:52.103" v="1055" actId="255"/>
        <pc:sldMkLst>
          <pc:docMk/>
          <pc:sldMk cId="2699368475" sldId="311"/>
        </pc:sldMkLst>
        <pc:spChg chg="mod">
          <ac:chgData name="Alex Duonis" userId="7b15413b-8529-44ea-abbc-6e630af62d3d" providerId="ADAL" clId="{F87561BF-6EB8-4B18-BEE2-F4373EF2BE80}" dt="2024-02-19T00:56:52.103" v="1055" actId="255"/>
          <ac:spMkLst>
            <pc:docMk/>
            <pc:sldMk cId="2699368475" sldId="311"/>
            <ac:spMk id="5" creationId="{438060FF-42B3-461E-B1D6-D584FB22774A}"/>
          </ac:spMkLst>
        </pc:spChg>
      </pc:sldChg>
      <pc:sldChg chg="modSp mod">
        <pc:chgData name="Alex Duonis" userId="7b15413b-8529-44ea-abbc-6e630af62d3d" providerId="ADAL" clId="{F87561BF-6EB8-4B18-BEE2-F4373EF2BE80}" dt="2024-02-19T00:57:38.202" v="1060" actId="255"/>
        <pc:sldMkLst>
          <pc:docMk/>
          <pc:sldMk cId="3982109734" sldId="312"/>
        </pc:sldMkLst>
        <pc:spChg chg="mod">
          <ac:chgData name="Alex Duonis" userId="7b15413b-8529-44ea-abbc-6e630af62d3d" providerId="ADAL" clId="{F87561BF-6EB8-4B18-BEE2-F4373EF2BE80}" dt="2024-02-19T00:57:38.202" v="1060" actId="255"/>
          <ac:spMkLst>
            <pc:docMk/>
            <pc:sldMk cId="3982109734" sldId="312"/>
            <ac:spMk id="5" creationId="{438060FF-42B3-461E-B1D6-D584FB22774A}"/>
          </ac:spMkLst>
        </pc:spChg>
      </pc:sldChg>
      <pc:sldChg chg="modSp mod">
        <pc:chgData name="Alex Duonis" userId="7b15413b-8529-44ea-abbc-6e630af62d3d" providerId="ADAL" clId="{F87561BF-6EB8-4B18-BEE2-F4373EF2BE80}" dt="2024-02-19T01:18:31.208" v="1544" actId="313"/>
        <pc:sldMkLst>
          <pc:docMk/>
          <pc:sldMk cId="942836776" sldId="313"/>
        </pc:sldMkLst>
        <pc:spChg chg="mod">
          <ac:chgData name="Alex Duonis" userId="7b15413b-8529-44ea-abbc-6e630af62d3d" providerId="ADAL" clId="{F87561BF-6EB8-4B18-BEE2-F4373EF2BE80}" dt="2024-02-19T01:18:31.208" v="1544" actId="313"/>
          <ac:spMkLst>
            <pc:docMk/>
            <pc:sldMk cId="942836776" sldId="313"/>
            <ac:spMk id="5" creationId="{438060FF-42B3-461E-B1D6-D584FB22774A}"/>
          </ac:spMkLst>
        </pc:spChg>
      </pc:sldChg>
      <pc:sldChg chg="modSp mod">
        <pc:chgData name="Alex Duonis" userId="7b15413b-8529-44ea-abbc-6e630af62d3d" providerId="ADAL" clId="{F87561BF-6EB8-4B18-BEE2-F4373EF2BE80}" dt="2024-02-19T01:11:49.278" v="1075" actId="27636"/>
        <pc:sldMkLst>
          <pc:docMk/>
          <pc:sldMk cId="4280282634" sldId="314"/>
        </pc:sldMkLst>
        <pc:spChg chg="mod">
          <ac:chgData name="Alex Duonis" userId="7b15413b-8529-44ea-abbc-6e630af62d3d" providerId="ADAL" clId="{F87561BF-6EB8-4B18-BEE2-F4373EF2BE80}" dt="2024-02-19T01:11:49.278" v="1075" actId="27636"/>
          <ac:spMkLst>
            <pc:docMk/>
            <pc:sldMk cId="4280282634" sldId="314"/>
            <ac:spMk id="5" creationId="{438060FF-42B3-461E-B1D6-D584FB22774A}"/>
          </ac:spMkLst>
        </pc:spChg>
      </pc:sldChg>
      <pc:sldChg chg="modSp mod">
        <pc:chgData name="Alex Duonis" userId="7b15413b-8529-44ea-abbc-6e630af62d3d" providerId="ADAL" clId="{F87561BF-6EB8-4B18-BEE2-F4373EF2BE80}" dt="2024-02-19T01:12:16.978" v="1082" actId="20577"/>
        <pc:sldMkLst>
          <pc:docMk/>
          <pc:sldMk cId="920517997" sldId="315"/>
        </pc:sldMkLst>
        <pc:spChg chg="mod">
          <ac:chgData name="Alex Duonis" userId="7b15413b-8529-44ea-abbc-6e630af62d3d" providerId="ADAL" clId="{F87561BF-6EB8-4B18-BEE2-F4373EF2BE80}" dt="2024-02-19T01:12:16.978" v="1082" actId="20577"/>
          <ac:spMkLst>
            <pc:docMk/>
            <pc:sldMk cId="920517997" sldId="315"/>
            <ac:spMk id="5" creationId="{438060FF-42B3-461E-B1D6-D584FB22774A}"/>
          </ac:spMkLst>
        </pc:spChg>
      </pc:sldChg>
      <pc:sldChg chg="modSp mod">
        <pc:chgData name="Alex Duonis" userId="7b15413b-8529-44ea-abbc-6e630af62d3d" providerId="ADAL" clId="{F87561BF-6EB8-4B18-BEE2-F4373EF2BE80}" dt="2024-02-19T01:26:57.169" v="1641" actId="27636"/>
        <pc:sldMkLst>
          <pc:docMk/>
          <pc:sldMk cId="788481052" sldId="316"/>
        </pc:sldMkLst>
        <pc:spChg chg="mod">
          <ac:chgData name="Alex Duonis" userId="7b15413b-8529-44ea-abbc-6e630af62d3d" providerId="ADAL" clId="{F87561BF-6EB8-4B18-BEE2-F4373EF2BE80}" dt="2024-02-19T01:26:57.169" v="1641" actId="27636"/>
          <ac:spMkLst>
            <pc:docMk/>
            <pc:sldMk cId="788481052" sldId="316"/>
            <ac:spMk id="5" creationId="{438060FF-42B3-461E-B1D6-D584FB22774A}"/>
          </ac:spMkLst>
        </pc:spChg>
      </pc:sldChg>
      <pc:sldChg chg="modSp mod">
        <pc:chgData name="Alex Duonis" userId="7b15413b-8529-44ea-abbc-6e630af62d3d" providerId="ADAL" clId="{F87561BF-6EB8-4B18-BEE2-F4373EF2BE80}" dt="2024-02-19T01:21:36.886" v="1545" actId="20577"/>
        <pc:sldMkLst>
          <pc:docMk/>
          <pc:sldMk cId="1324494431" sldId="317"/>
        </pc:sldMkLst>
        <pc:spChg chg="mod">
          <ac:chgData name="Alex Duonis" userId="7b15413b-8529-44ea-abbc-6e630af62d3d" providerId="ADAL" clId="{F87561BF-6EB8-4B18-BEE2-F4373EF2BE80}" dt="2024-02-19T01:21:36.886" v="1545" actId="20577"/>
          <ac:spMkLst>
            <pc:docMk/>
            <pc:sldMk cId="1324494431" sldId="317"/>
            <ac:spMk id="5" creationId="{438060FF-42B3-461E-B1D6-D584FB22774A}"/>
          </ac:spMkLst>
        </pc:spChg>
      </pc:sldChg>
      <pc:sldChg chg="modSp mod">
        <pc:chgData name="Alex Duonis" userId="7b15413b-8529-44ea-abbc-6e630af62d3d" providerId="ADAL" clId="{F87561BF-6EB8-4B18-BEE2-F4373EF2BE80}" dt="2024-02-19T01:22:03.185" v="1567" actId="20577"/>
        <pc:sldMkLst>
          <pc:docMk/>
          <pc:sldMk cId="922087388" sldId="318"/>
        </pc:sldMkLst>
        <pc:graphicFrameChg chg="modGraphic">
          <ac:chgData name="Alex Duonis" userId="7b15413b-8529-44ea-abbc-6e630af62d3d" providerId="ADAL" clId="{F87561BF-6EB8-4B18-BEE2-F4373EF2BE80}" dt="2024-02-19T01:22:03.185" v="1567" actId="20577"/>
          <ac:graphicFrameMkLst>
            <pc:docMk/>
            <pc:sldMk cId="922087388" sldId="318"/>
            <ac:graphicFrameMk id="2" creationId="{AD310093-3358-4968-A50F-F85374ECBE22}"/>
          </ac:graphicFrameMkLst>
        </pc:graphicFrameChg>
      </pc:sldChg>
      <pc:sldChg chg="modSp mod">
        <pc:chgData name="Alex Duonis" userId="7b15413b-8529-44ea-abbc-6e630af62d3d" providerId="ADAL" clId="{F87561BF-6EB8-4B18-BEE2-F4373EF2BE80}" dt="2024-02-19T01:33:01.969" v="1655" actId="20577"/>
        <pc:sldMkLst>
          <pc:docMk/>
          <pc:sldMk cId="2953177834" sldId="319"/>
        </pc:sldMkLst>
        <pc:spChg chg="mod">
          <ac:chgData name="Alex Duonis" userId="7b15413b-8529-44ea-abbc-6e630af62d3d" providerId="ADAL" clId="{F87561BF-6EB8-4B18-BEE2-F4373EF2BE80}" dt="2024-02-19T01:33:01.969" v="1655" actId="20577"/>
          <ac:spMkLst>
            <pc:docMk/>
            <pc:sldMk cId="2953177834" sldId="319"/>
            <ac:spMk id="5" creationId="{438060FF-42B3-461E-B1D6-D584FB22774A}"/>
          </ac:spMkLst>
        </pc:spChg>
      </pc:sldChg>
      <pc:sldChg chg="modSp mod">
        <pc:chgData name="Alex Duonis" userId="7b15413b-8529-44ea-abbc-6e630af62d3d" providerId="ADAL" clId="{F87561BF-6EB8-4B18-BEE2-F4373EF2BE80}" dt="2024-02-19T01:45:35.834" v="1707" actId="115"/>
        <pc:sldMkLst>
          <pc:docMk/>
          <pc:sldMk cId="2518238965" sldId="323"/>
        </pc:sldMkLst>
        <pc:spChg chg="mod">
          <ac:chgData name="Alex Duonis" userId="7b15413b-8529-44ea-abbc-6e630af62d3d" providerId="ADAL" clId="{F87561BF-6EB8-4B18-BEE2-F4373EF2BE80}" dt="2024-02-19T01:45:35.834" v="1707" actId="115"/>
          <ac:spMkLst>
            <pc:docMk/>
            <pc:sldMk cId="2518238965" sldId="323"/>
            <ac:spMk id="5" creationId="{438060FF-42B3-461E-B1D6-D584FB22774A}"/>
          </ac:spMkLst>
        </pc:spChg>
      </pc:sldChg>
      <pc:sldChg chg="modSp mod">
        <pc:chgData name="Alex Duonis" userId="7b15413b-8529-44ea-abbc-6e630af62d3d" providerId="ADAL" clId="{F87561BF-6EB8-4B18-BEE2-F4373EF2BE80}" dt="2024-02-18T23:32:11.607" v="219" actId="20577"/>
        <pc:sldMkLst>
          <pc:docMk/>
          <pc:sldMk cId="4256614850" sldId="324"/>
        </pc:sldMkLst>
        <pc:graphicFrameChg chg="modGraphic">
          <ac:chgData name="Alex Duonis" userId="7b15413b-8529-44ea-abbc-6e630af62d3d" providerId="ADAL" clId="{F87561BF-6EB8-4B18-BEE2-F4373EF2BE80}" dt="2024-02-18T23:32:11.607" v="219" actId="20577"/>
          <ac:graphicFrameMkLst>
            <pc:docMk/>
            <pc:sldMk cId="4256614850" sldId="324"/>
            <ac:graphicFrameMk id="2" creationId="{0C91CFF6-1161-496E-91FF-7D54F4593A78}"/>
          </ac:graphicFrameMkLst>
        </pc:graphicFrameChg>
      </pc:sldChg>
      <pc:sldChg chg="modSp mod">
        <pc:chgData name="Alex Duonis" userId="7b15413b-8529-44ea-abbc-6e630af62d3d" providerId="ADAL" clId="{F87561BF-6EB8-4B18-BEE2-F4373EF2BE80}" dt="2024-02-18T23:32:02.289" v="218" actId="20577"/>
        <pc:sldMkLst>
          <pc:docMk/>
          <pc:sldMk cId="2827862660" sldId="326"/>
        </pc:sldMkLst>
        <pc:graphicFrameChg chg="modGraphic">
          <ac:chgData name="Alex Duonis" userId="7b15413b-8529-44ea-abbc-6e630af62d3d" providerId="ADAL" clId="{F87561BF-6EB8-4B18-BEE2-F4373EF2BE80}" dt="2024-02-18T23:32:02.289" v="218" actId="20577"/>
          <ac:graphicFrameMkLst>
            <pc:docMk/>
            <pc:sldMk cId="2827862660" sldId="326"/>
            <ac:graphicFrameMk id="7" creationId="{906AB1E5-A6E3-4055-8022-F67C3358A56E}"/>
          </ac:graphicFrameMkLst>
        </pc:graphicFrameChg>
      </pc:sldChg>
      <pc:sldChg chg="modSp add mod">
        <pc:chgData name="Alex Duonis" userId="7b15413b-8529-44ea-abbc-6e630af62d3d" providerId="ADAL" clId="{F87561BF-6EB8-4B18-BEE2-F4373EF2BE80}" dt="2024-02-19T01:39:52.239" v="1706" actId="20577"/>
        <pc:sldMkLst>
          <pc:docMk/>
          <pc:sldMk cId="1743997591" sldId="327"/>
        </pc:sldMkLst>
        <pc:spChg chg="mod">
          <ac:chgData name="Alex Duonis" userId="7b15413b-8529-44ea-abbc-6e630af62d3d" providerId="ADAL" clId="{F87561BF-6EB8-4B18-BEE2-F4373EF2BE80}" dt="2024-02-19T00:28:29.077" v="254" actId="20577"/>
          <ac:spMkLst>
            <pc:docMk/>
            <pc:sldMk cId="1743997591" sldId="327"/>
            <ac:spMk id="4" creationId="{2E3FF8C0-E639-4F69-898D-3B8BB48CED48}"/>
          </ac:spMkLst>
        </pc:spChg>
        <pc:graphicFrameChg chg="modGraphic">
          <ac:chgData name="Alex Duonis" userId="7b15413b-8529-44ea-abbc-6e630af62d3d" providerId="ADAL" clId="{F87561BF-6EB8-4B18-BEE2-F4373EF2BE80}" dt="2024-02-19T01:39:52.239" v="1706" actId="20577"/>
          <ac:graphicFrameMkLst>
            <pc:docMk/>
            <pc:sldMk cId="1743997591" sldId="327"/>
            <ac:graphicFrameMk id="2" creationId="{FF7EDD66-1769-46A4-BCC2-CF3A95C49937}"/>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20E68F4-1707-4634-9B5A-D887ACA82444}"/>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r>
              <a:rPr lang="en-NZ"/>
              <a:t>Tax Issues for Kiwis working, doing business or investing in Australia 2023</a:t>
            </a:r>
            <a:endParaRPr lang="en-AU" dirty="0"/>
          </a:p>
        </p:txBody>
      </p:sp>
      <p:sp>
        <p:nvSpPr>
          <p:cNvPr id="3" name="Date Placeholder 2">
            <a:extLst>
              <a:ext uri="{FF2B5EF4-FFF2-40B4-BE49-F238E27FC236}">
                <a16:creationId xmlns:a16="http://schemas.microsoft.com/office/drawing/2014/main" id="{3019E6FE-BE4E-4210-A981-5612C9AF28E2}"/>
              </a:ext>
            </a:extLst>
          </p:cNvPr>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r>
              <a:rPr lang="en-AU"/>
              <a:t>8/02/2023</a:t>
            </a:r>
            <a:endParaRPr lang="en-AU" dirty="0"/>
          </a:p>
        </p:txBody>
      </p:sp>
      <p:sp>
        <p:nvSpPr>
          <p:cNvPr id="4" name="Footer Placeholder 3">
            <a:extLst>
              <a:ext uri="{FF2B5EF4-FFF2-40B4-BE49-F238E27FC236}">
                <a16:creationId xmlns:a16="http://schemas.microsoft.com/office/drawing/2014/main" id="{153450EF-5C10-4F25-B8B3-166AADBFD331}"/>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AU" dirty="0"/>
          </a:p>
        </p:txBody>
      </p:sp>
      <p:sp>
        <p:nvSpPr>
          <p:cNvPr id="5" name="Slide Number Placeholder 4">
            <a:extLst>
              <a:ext uri="{FF2B5EF4-FFF2-40B4-BE49-F238E27FC236}">
                <a16:creationId xmlns:a16="http://schemas.microsoft.com/office/drawing/2014/main" id="{6CDBAD91-5B5B-4485-9AB4-9D56066DC80F}"/>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D0A8E268-4831-4489-A70C-FB2DE9FB10BD}" type="slidenum">
              <a:rPr lang="en-AU" smtClean="0"/>
              <a:t>‹#›</a:t>
            </a:fld>
            <a:endParaRPr lang="en-AU" dirty="0"/>
          </a:p>
        </p:txBody>
      </p:sp>
    </p:spTree>
    <p:extLst>
      <p:ext uri="{BB962C8B-B14F-4D97-AF65-F5344CB8AC3E}">
        <p14:creationId xmlns:p14="http://schemas.microsoft.com/office/powerpoint/2010/main" val="1574029286"/>
      </p:ext>
    </p:extLst>
  </p:cSld>
  <p:clrMap bg1="lt1" tx1="dk1" bg2="lt2" tx2="dk2" accent1="accent1" accent2="accent2" accent3="accent3" accent4="accent4" accent5="accent5" accent6="accent6" hlink="hlink" folHlink="folHlink"/>
  <p:hf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r>
              <a:rPr lang="en-NZ"/>
              <a:t>Tax Issues for Kiwis working, doing business or investing in Australia 2023</a:t>
            </a:r>
            <a:endParaRPr lang="en-AU" dirty="0"/>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r>
              <a:rPr lang="en-AU"/>
              <a:t>8/02/2023</a:t>
            </a:r>
            <a:endParaRPr lang="en-AU" dirty="0"/>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5C72805F-138B-4FB9-BB6A-6BB00438C459}" type="slidenum">
              <a:rPr lang="en-AU" smtClean="0"/>
              <a:t>‹#›</a:t>
            </a:fld>
            <a:endParaRPr lang="en-AU" dirty="0"/>
          </a:p>
        </p:txBody>
      </p:sp>
    </p:spTree>
    <p:extLst>
      <p:ext uri="{BB962C8B-B14F-4D97-AF65-F5344CB8AC3E}">
        <p14:creationId xmlns:p14="http://schemas.microsoft.com/office/powerpoint/2010/main" val="4052296130"/>
      </p:ext>
    </p:extLst>
  </p:cSld>
  <p:clrMap bg1="lt1" tx1="dk1" bg2="lt2" tx2="dk2" accent1="accent1" accent2="accent2" accent3="accent3" accent4="accent4" accent5="accent5" accent6="accent6" hlink="hlink" folHlink="folHlink"/>
  <p:hf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g"/><Relationship Id="rId7"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ndard Content Slide - 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6C51C0-B4B8-437C-887D-788882365E1D}"/>
              </a:ext>
            </a:extLst>
          </p:cNvPr>
          <p:cNvSpPr>
            <a:spLocks noGrp="1"/>
          </p:cNvSpPr>
          <p:nvPr>
            <p:ph idx="1"/>
          </p:nvPr>
        </p:nvSpPr>
        <p:spPr>
          <a:xfrm>
            <a:off x="628650" y="1264671"/>
            <a:ext cx="10934700" cy="4603878"/>
          </a:xfrm>
          <a:prstGeom prst="rect">
            <a:avLst/>
          </a:prstGeom>
        </p:spPr>
        <p:txBody>
          <a:bodyPr>
            <a:normAutofit/>
          </a:bodyPr>
          <a:lstStyle>
            <a:lvl1pPr>
              <a:defRPr sz="2800">
                <a:latin typeface="Arial" panose="020B0604020202020204" pitchFamily="34" charset="0"/>
                <a:cs typeface="Arial" panose="020B0604020202020204" pitchFamily="34" charset="0"/>
              </a:defRPr>
            </a:lvl1pPr>
            <a:lvl2pPr>
              <a:defRPr sz="2400">
                <a:latin typeface="Arial" panose="020B0604020202020204" pitchFamily="34" charset="0"/>
                <a:cs typeface="Arial" panose="020B0604020202020204" pitchFamily="34" charset="0"/>
              </a:defRPr>
            </a:lvl2pPr>
            <a:lvl3pPr>
              <a:defRPr sz="2000">
                <a:latin typeface="Arial" panose="020B0604020202020204" pitchFamily="34" charset="0"/>
                <a:cs typeface="Arial" panose="020B0604020202020204" pitchFamily="34" charset="0"/>
              </a:defRPr>
            </a:lvl3pPr>
            <a:lvl4pPr>
              <a:defRPr sz="1800">
                <a:latin typeface="Arial" panose="020B0604020202020204" pitchFamily="34" charset="0"/>
                <a:cs typeface="Arial" panose="020B0604020202020204" pitchFamily="34" charset="0"/>
              </a:defRPr>
            </a:lvl4pPr>
            <a:lvl5pPr>
              <a:defRPr sz="1800">
                <a:latin typeface="Arial" panose="020B0604020202020204" pitchFamily="34" charset="0"/>
                <a:cs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8" name="Title 1">
            <a:extLst>
              <a:ext uri="{FF2B5EF4-FFF2-40B4-BE49-F238E27FC236}">
                <a16:creationId xmlns:a16="http://schemas.microsoft.com/office/drawing/2014/main" id="{DE6A3945-5995-4DCC-BF15-9A1EB44E8594}"/>
              </a:ext>
            </a:extLst>
          </p:cNvPr>
          <p:cNvSpPr>
            <a:spLocks noGrp="1"/>
          </p:cNvSpPr>
          <p:nvPr>
            <p:ph type="title"/>
          </p:nvPr>
        </p:nvSpPr>
        <p:spPr>
          <a:xfrm>
            <a:off x="628650" y="365126"/>
            <a:ext cx="10934700" cy="885628"/>
          </a:xfrm>
          <a:prstGeom prst="rect">
            <a:avLst/>
          </a:prstGeom>
        </p:spPr>
        <p:txBody>
          <a:bodyPr>
            <a:normAutofit/>
          </a:bodyPr>
          <a:lstStyle>
            <a:lvl1pPr>
              <a:defRPr sz="3400">
                <a:solidFill>
                  <a:srgbClr val="991B1E"/>
                </a:solidFill>
                <a:latin typeface="Arial" panose="020B0604020202020204" pitchFamily="34" charset="0"/>
                <a:cs typeface="Arial" panose="020B0604020202020204" pitchFamily="34" charset="0"/>
              </a:defRPr>
            </a:lvl1pPr>
          </a:lstStyle>
          <a:p>
            <a:r>
              <a:rPr lang="en-US" dirty="0"/>
              <a:t>Click to edit Master title style</a:t>
            </a:r>
            <a:endParaRPr lang="en-AU" dirty="0"/>
          </a:p>
        </p:txBody>
      </p:sp>
      <p:grpSp>
        <p:nvGrpSpPr>
          <p:cNvPr id="16" name="Group 15">
            <a:extLst>
              <a:ext uri="{FF2B5EF4-FFF2-40B4-BE49-F238E27FC236}">
                <a16:creationId xmlns:a16="http://schemas.microsoft.com/office/drawing/2014/main" id="{8741056E-76A9-4288-AE98-B51912ABB289}"/>
              </a:ext>
            </a:extLst>
          </p:cNvPr>
          <p:cNvGrpSpPr/>
          <p:nvPr userDrawn="1"/>
        </p:nvGrpSpPr>
        <p:grpSpPr>
          <a:xfrm>
            <a:off x="9194035" y="6143147"/>
            <a:ext cx="2731999" cy="648653"/>
            <a:chOff x="8952495" y="6143147"/>
            <a:chExt cx="2731999" cy="648653"/>
          </a:xfrm>
        </p:grpSpPr>
        <p:pic>
          <p:nvPicPr>
            <p:cNvPr id="18" name="Picture 17">
              <a:extLst>
                <a:ext uri="{FF2B5EF4-FFF2-40B4-BE49-F238E27FC236}">
                  <a16:creationId xmlns:a16="http://schemas.microsoft.com/office/drawing/2014/main" id="{D0C4E77F-8DBA-4EF1-93F1-3ED715883A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7868" y="6322611"/>
              <a:ext cx="953738" cy="291465"/>
            </a:xfrm>
            <a:prstGeom prst="rect">
              <a:avLst/>
            </a:prstGeom>
          </p:spPr>
        </p:pic>
        <p:pic>
          <p:nvPicPr>
            <p:cNvPr id="19" name="Picture 18">
              <a:extLst>
                <a:ext uri="{FF2B5EF4-FFF2-40B4-BE49-F238E27FC236}">
                  <a16:creationId xmlns:a16="http://schemas.microsoft.com/office/drawing/2014/main" id="{C2A4D3E7-F4D6-4AA1-A902-FCC6A03B4E2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952495" y="6405708"/>
              <a:ext cx="584938" cy="194718"/>
            </a:xfrm>
            <a:prstGeom prst="rect">
              <a:avLst/>
            </a:prstGeom>
          </p:spPr>
        </p:pic>
        <p:pic>
          <p:nvPicPr>
            <p:cNvPr id="20" name="Picture 2">
              <a:extLst>
                <a:ext uri="{FF2B5EF4-FFF2-40B4-BE49-F238E27FC236}">
                  <a16:creationId xmlns:a16="http://schemas.microsoft.com/office/drawing/2014/main" id="{E0A62277-2839-4336-9296-18D6993BBE5B}"/>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1035841" y="6143147"/>
              <a:ext cx="648653" cy="648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4165573577"/>
      </p:ext>
    </p:extLst>
  </p:cSld>
  <p:clrMapOvr>
    <a:masterClrMapping/>
  </p:clrMapOvr>
  <p:extLst>
    <p:ext uri="{DCECCB84-F9BA-43D5-87BE-67443E8EF086}">
      <p15:sldGuideLst xmlns:p15="http://schemas.microsoft.com/office/powerpoint/2012/main">
        <p15:guide id="1" orient="horz" pos="3634">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E38EDBD-8778-4290-948E-0B339569329A}"/>
              </a:ext>
            </a:extLst>
          </p:cNvPr>
          <p:cNvSpPr>
            <a:spLocks noGrp="1"/>
          </p:cNvSpPr>
          <p:nvPr>
            <p:ph type="title" hasCustomPrompt="1"/>
          </p:nvPr>
        </p:nvSpPr>
        <p:spPr>
          <a:xfrm>
            <a:off x="838200" y="2822001"/>
            <a:ext cx="10515600" cy="1325563"/>
          </a:xfrm>
          <a:prstGeom prst="rect">
            <a:avLst/>
          </a:prstGeom>
        </p:spPr>
        <p:txBody>
          <a:bodyPr>
            <a:normAutofit/>
          </a:bodyPr>
          <a:lstStyle>
            <a:lvl1pPr>
              <a:defRPr sz="4000">
                <a:solidFill>
                  <a:schemeClr val="bg1"/>
                </a:solidFill>
                <a:latin typeface="Arial" panose="020B0604020202020204" pitchFamily="34" charset="0"/>
                <a:cs typeface="Arial" panose="020B0604020202020204" pitchFamily="34" charset="0"/>
              </a:defRPr>
            </a:lvl1pPr>
          </a:lstStyle>
          <a:p>
            <a:r>
              <a:rPr lang="en-US" dirty="0"/>
              <a:t>Title here</a:t>
            </a:r>
            <a:endParaRPr lang="en-AU" dirty="0"/>
          </a:p>
        </p:txBody>
      </p:sp>
      <p:sp>
        <p:nvSpPr>
          <p:cNvPr id="4" name="Rectangle 3">
            <a:extLst>
              <a:ext uri="{FF2B5EF4-FFF2-40B4-BE49-F238E27FC236}">
                <a16:creationId xmlns:a16="http://schemas.microsoft.com/office/drawing/2014/main" id="{68C31E7B-1933-4297-88DA-36C8230AD87E}"/>
              </a:ext>
            </a:extLst>
          </p:cNvPr>
          <p:cNvSpPr/>
          <p:nvPr userDrawn="1"/>
        </p:nvSpPr>
        <p:spPr>
          <a:xfrm>
            <a:off x="9735127" y="6642556"/>
            <a:ext cx="5486400" cy="215444"/>
          </a:xfrm>
          <a:prstGeom prst="rect">
            <a:avLst/>
          </a:prstGeom>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AU" sz="800" dirty="0">
                <a:solidFill>
                  <a:schemeClr val="bg1"/>
                </a:solidFill>
                <a:latin typeface="Arial" panose="020B0604020202020204" pitchFamily="34" charset="0"/>
                <a:cs typeface="Arial" panose="020B0604020202020204" pitchFamily="34" charset="0"/>
              </a:rPr>
              <a:t>© Findex Group Limited 2019. All rights reserved.</a:t>
            </a:r>
          </a:p>
        </p:txBody>
      </p:sp>
      <p:pic>
        <p:nvPicPr>
          <p:cNvPr id="5" name="Picture 4">
            <a:extLst>
              <a:ext uri="{FF2B5EF4-FFF2-40B4-BE49-F238E27FC236}">
                <a16:creationId xmlns:a16="http://schemas.microsoft.com/office/drawing/2014/main" id="{620B953B-586E-43AC-A271-75460CB5F62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567754" y="-47779"/>
            <a:ext cx="1056492" cy="1056492"/>
          </a:xfrm>
          <a:prstGeom prst="rect">
            <a:avLst/>
          </a:prstGeom>
        </p:spPr>
      </p:pic>
      <p:pic>
        <p:nvPicPr>
          <p:cNvPr id="6" name="Picture 5">
            <a:extLst>
              <a:ext uri="{FF2B5EF4-FFF2-40B4-BE49-F238E27FC236}">
                <a16:creationId xmlns:a16="http://schemas.microsoft.com/office/drawing/2014/main" id="{348B2C01-4E28-43CD-A700-BDAEBD3364E4}"/>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25729" b="12383"/>
          <a:stretch/>
        </p:blipFill>
        <p:spPr>
          <a:xfrm>
            <a:off x="1" y="991129"/>
            <a:ext cx="12191996" cy="4927071"/>
          </a:xfrm>
          <a:prstGeom prst="rect">
            <a:avLst/>
          </a:prstGeom>
          <a:solidFill>
            <a:schemeClr val="bg1"/>
          </a:solidFill>
        </p:spPr>
      </p:pic>
      <p:pic>
        <p:nvPicPr>
          <p:cNvPr id="10" name="Picture 9">
            <a:extLst>
              <a:ext uri="{FF2B5EF4-FFF2-40B4-BE49-F238E27FC236}">
                <a16:creationId xmlns:a16="http://schemas.microsoft.com/office/drawing/2014/main" id="{62A51124-5882-4BA2-91AA-3D45130BD8D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38200" y="6325878"/>
            <a:ext cx="951318" cy="316678"/>
          </a:xfrm>
          <a:prstGeom prst="rect">
            <a:avLst/>
          </a:prstGeom>
        </p:spPr>
      </p:pic>
      <p:pic>
        <p:nvPicPr>
          <p:cNvPr id="11" name="Graphic 10">
            <a:extLst>
              <a:ext uri="{FF2B5EF4-FFF2-40B4-BE49-F238E27FC236}">
                <a16:creationId xmlns:a16="http://schemas.microsoft.com/office/drawing/2014/main" id="{9E04E9B3-7DFA-491C-A714-D4089C2963E9}"/>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5472544" y="6224182"/>
            <a:ext cx="1246912" cy="395110"/>
          </a:xfrm>
          <a:prstGeom prst="rect">
            <a:avLst/>
          </a:prstGeom>
        </p:spPr>
      </p:pic>
      <p:pic>
        <p:nvPicPr>
          <p:cNvPr id="12" name="Picture 11">
            <a:extLst>
              <a:ext uri="{FF2B5EF4-FFF2-40B4-BE49-F238E27FC236}">
                <a16:creationId xmlns:a16="http://schemas.microsoft.com/office/drawing/2014/main" id="{ABB328C8-F32A-499B-AB65-CA66563F540B}"/>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0402482" y="6231280"/>
            <a:ext cx="1357838" cy="414958"/>
          </a:xfrm>
          <a:prstGeom prst="rect">
            <a:avLst/>
          </a:prstGeom>
        </p:spPr>
      </p:pic>
      <p:sp>
        <p:nvSpPr>
          <p:cNvPr id="13" name="Title 1">
            <a:extLst>
              <a:ext uri="{FF2B5EF4-FFF2-40B4-BE49-F238E27FC236}">
                <a16:creationId xmlns:a16="http://schemas.microsoft.com/office/drawing/2014/main" id="{D7681B70-FFD6-4442-9ED4-E9761DE8D874}"/>
              </a:ext>
            </a:extLst>
          </p:cNvPr>
          <p:cNvSpPr txBox="1">
            <a:spLocks/>
          </p:cNvSpPr>
          <p:nvPr userDrawn="1"/>
        </p:nvSpPr>
        <p:spPr>
          <a:xfrm>
            <a:off x="4" y="4555243"/>
            <a:ext cx="12209926" cy="1362956"/>
          </a:xfrm>
          <a:prstGeom prst="rect">
            <a:avLst/>
          </a:prstGeom>
          <a:solidFill>
            <a:schemeClr val="dk1">
              <a:alpha val="62000"/>
            </a:schemeClr>
          </a:solidFill>
          <a:ln>
            <a:noFill/>
          </a:ln>
        </p:spPr>
        <p:style>
          <a:lnRef idx="0">
            <a:scrgbClr r="0" g="0" b="0"/>
          </a:lnRef>
          <a:fillRef idx="0">
            <a:scrgbClr r="0" g="0" b="0"/>
          </a:fillRef>
          <a:effectRef idx="0">
            <a:scrgbClr r="0" g="0" b="0"/>
          </a:effectRef>
          <a:fontRef idx="minor">
            <a:schemeClr val="lt1"/>
          </a:fontRef>
        </p:style>
        <p:txBody>
          <a:bodyPr lIns="324000" tIns="72000"/>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AU" sz="2800" dirty="0">
                <a:effectLst/>
                <a:latin typeface="Calibri" panose="020F0502020204030204" pitchFamily="34" charset="0"/>
                <a:ea typeface="Calibri" panose="020F0502020204030204" pitchFamily="34" charset="0"/>
                <a:cs typeface="Times New Roman" panose="02020603050405020304" pitchFamily="18" charset="0"/>
              </a:rPr>
              <a:t>Tax Issues for Kiwis working, doing business or investing in Australia 2023</a:t>
            </a:r>
            <a:br>
              <a:rPr lang="en-US" sz="2800" dirty="0">
                <a:latin typeface="Arial" panose="020B0604020202020204" pitchFamily="34" charset="0"/>
                <a:cs typeface="Arial" panose="020B0604020202020204" pitchFamily="34" charset="0"/>
              </a:rPr>
            </a:br>
            <a:r>
              <a:rPr lang="en-AU" sz="1600" b="1" dirty="0">
                <a:latin typeface="Arial" panose="020B0604020202020204" pitchFamily="34" charset="0"/>
                <a:cs typeface="Arial" panose="020B0604020202020204" pitchFamily="34" charset="0"/>
              </a:rPr>
              <a:t>Alex Duonis,  </a:t>
            </a:r>
            <a:r>
              <a:rPr lang="en-US" sz="1600" dirty="0">
                <a:latin typeface="Arial" panose="020B0604020202020204" pitchFamily="34" charset="0"/>
                <a:cs typeface="Arial" panose="020B0604020202020204" pitchFamily="34" charset="0"/>
              </a:rPr>
              <a:t>Partner – Tax Advisory</a:t>
            </a:r>
            <a:r>
              <a:rPr lang="en-AU" sz="1600" dirty="0">
                <a:latin typeface="Arial" panose="020B0604020202020204" pitchFamily="34" charset="0"/>
                <a:cs typeface="Arial" panose="020B0604020202020204" pitchFamily="34" charset="0"/>
              </a:rPr>
              <a:t>,  Findex/Crowe</a:t>
            </a:r>
          </a:p>
          <a:p>
            <a:endParaRPr lang="en-AU" sz="1800" dirty="0">
              <a:latin typeface="Arial" panose="020B0604020202020204" pitchFamily="34" charset="0"/>
              <a:cs typeface="Arial" panose="020B0604020202020204" pitchFamily="34" charset="0"/>
            </a:endParaRPr>
          </a:p>
          <a:p>
            <a:r>
              <a:rPr lang="en-AU" sz="1400" dirty="0">
                <a:latin typeface="Arial" panose="020B0604020202020204" pitchFamily="34" charset="0"/>
                <a:cs typeface="Arial" panose="020B0604020202020204" pitchFamily="34" charset="0"/>
              </a:rPr>
              <a:t>08 February 2023</a:t>
            </a:r>
          </a:p>
          <a:p>
            <a:endParaRPr lang="en-AU" sz="1400" dirty="0">
              <a:latin typeface="Arial" panose="020B0604020202020204" pitchFamily="34" charset="0"/>
              <a:cs typeface="Arial" panose="020B0604020202020204" pitchFamily="34" charset="0"/>
            </a:endParaRPr>
          </a:p>
          <a:p>
            <a:endParaRPr lang="en-AU" sz="4400" dirty="0"/>
          </a:p>
          <a:p>
            <a:endParaRPr lang="en-AU" sz="4400" dirty="0"/>
          </a:p>
        </p:txBody>
      </p:sp>
    </p:spTree>
    <p:extLst>
      <p:ext uri="{BB962C8B-B14F-4D97-AF65-F5344CB8AC3E}">
        <p14:creationId xmlns:p14="http://schemas.microsoft.com/office/powerpoint/2010/main" val="32169035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5030084"/>
      </p:ext>
    </p:extLst>
  </p:cSld>
  <p:clrMap bg1="lt1" tx1="dk1" bg2="lt2" tx2="dk2" accent1="accent1" accent2="accent2" accent3="accent3" accent4="accent4" accent5="accent5" accent6="accent6" hlink="hlink" folHlink="folHlink"/>
  <p:sldLayoutIdLst>
    <p:sldLayoutId id="2147483665" r:id="rId1"/>
    <p:sldLayoutId id="2147483702"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hyperlink" Target="https://www.ato.gov.au/Individuals/Medicare-and-private-health-insurance/Medicare-levy/"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hyperlink" Target="https://www.ato.gov.au/Individuals/Medicare-and-private-health-insurance/Medicare-levy/"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FE311-1473-4B2B-889C-7F7CD6B2F617}"/>
              </a:ext>
            </a:extLst>
          </p:cNvPr>
          <p:cNvSpPr>
            <a:spLocks noGrp="1"/>
          </p:cNvSpPr>
          <p:nvPr>
            <p:ph type="title"/>
          </p:nvPr>
        </p:nvSpPr>
        <p:spPr>
          <a:xfrm>
            <a:off x="838200" y="1600027"/>
            <a:ext cx="10515600" cy="1325563"/>
          </a:xfrm>
        </p:spPr>
        <p:txBody>
          <a:bodyPr/>
          <a:lstStyle/>
          <a:p>
            <a:r>
              <a:rPr lang="en-US" dirty="0"/>
              <a:t>Kiwis working, doing business or investing in Australia</a:t>
            </a:r>
            <a:endParaRPr lang="en-AU" dirty="0"/>
          </a:p>
        </p:txBody>
      </p:sp>
    </p:spTree>
    <p:extLst>
      <p:ext uri="{BB962C8B-B14F-4D97-AF65-F5344CB8AC3E}">
        <p14:creationId xmlns:p14="http://schemas.microsoft.com/office/powerpoint/2010/main" val="2553664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BCA3495-3D29-417E-BD53-B98E33E44E2E}"/>
              </a:ext>
            </a:extLst>
          </p:cNvPr>
          <p:cNvSpPr>
            <a:spLocks noGrp="1"/>
          </p:cNvSpPr>
          <p:nvPr>
            <p:ph type="sldNum" sz="quarter" idx="4294967295"/>
          </p:nvPr>
        </p:nvSpPr>
        <p:spPr>
          <a:xfrm>
            <a:off x="0" y="0"/>
            <a:ext cx="0" cy="0"/>
          </a:xfrm>
        </p:spPr>
        <p:txBody>
          <a:bodyPr/>
          <a:lstStyle/>
          <a:p>
            <a:fld id="{012B57A3-472B-4DD1-82D5-6C079C044B56}" type="slidenum">
              <a:rPr lang="en-AU" smtClean="0"/>
              <a:pPr/>
              <a:t>2</a:t>
            </a:fld>
            <a:endParaRPr lang="en-AU" dirty="0"/>
          </a:p>
        </p:txBody>
      </p:sp>
      <p:sp>
        <p:nvSpPr>
          <p:cNvPr id="3" name="Title 1">
            <a:extLst>
              <a:ext uri="{FF2B5EF4-FFF2-40B4-BE49-F238E27FC236}">
                <a16:creationId xmlns:a16="http://schemas.microsoft.com/office/drawing/2014/main" id="{D5EF3539-D61B-4A45-8FA1-D1596D4B8E92}"/>
              </a:ext>
            </a:extLst>
          </p:cNvPr>
          <p:cNvSpPr txBox="1">
            <a:spLocks/>
          </p:cNvSpPr>
          <p:nvPr/>
        </p:nvSpPr>
        <p:spPr>
          <a:xfrm>
            <a:off x="478087" y="343095"/>
            <a:ext cx="7886700" cy="1203614"/>
          </a:xfrm>
          <a:prstGeom prst="rect">
            <a:avLst/>
          </a:prstGeom>
        </p:spPr>
        <p:txBody>
          <a:bodyPr>
            <a:noAutofit/>
          </a:bodyPr>
          <a:lstStyle>
            <a:lvl1pPr algn="l" defTabSz="914400" rtl="0" eaLnBrk="1" latinLnBrk="0" hangingPunct="1">
              <a:lnSpc>
                <a:spcPct val="90000"/>
              </a:lnSpc>
              <a:spcBef>
                <a:spcPct val="0"/>
              </a:spcBef>
              <a:buNone/>
              <a:defRPr sz="3000" kern="1200">
                <a:solidFill>
                  <a:schemeClr val="accent2"/>
                </a:solidFill>
                <a:latin typeface="Arial" panose="020B0604020202020204" pitchFamily="34" charset="0"/>
                <a:ea typeface="+mj-ea"/>
                <a:cs typeface="Arial" panose="020B0604020202020204" pitchFamily="34" charset="0"/>
              </a:defRPr>
            </a:lvl1pPr>
          </a:lstStyle>
          <a:p>
            <a:r>
              <a:rPr lang="en-AU" dirty="0">
                <a:solidFill>
                  <a:srgbClr val="991B1E"/>
                </a:solidFill>
              </a:rPr>
              <a:t>Disclaimer</a:t>
            </a:r>
            <a:endParaRPr lang="en-US" dirty="0">
              <a:solidFill>
                <a:srgbClr val="991B1E"/>
              </a:solidFill>
            </a:endParaRPr>
          </a:p>
        </p:txBody>
      </p:sp>
      <p:sp>
        <p:nvSpPr>
          <p:cNvPr id="4" name="Content Placeholder 2">
            <a:extLst>
              <a:ext uri="{FF2B5EF4-FFF2-40B4-BE49-F238E27FC236}">
                <a16:creationId xmlns:a16="http://schemas.microsoft.com/office/drawing/2014/main" id="{6D0A9A2D-89B2-4C5B-809E-16B375ECC1A9}"/>
              </a:ext>
            </a:extLst>
          </p:cNvPr>
          <p:cNvSpPr txBox="1">
            <a:spLocks/>
          </p:cNvSpPr>
          <p:nvPr/>
        </p:nvSpPr>
        <p:spPr>
          <a:xfrm>
            <a:off x="478087" y="1392726"/>
            <a:ext cx="11235826" cy="40725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AU" sz="1400" dirty="0"/>
              <a:t>Findex NZ Limited is owned by Findex Group Limited (Findex)</a:t>
            </a:r>
          </a:p>
          <a:p>
            <a:pPr marL="0" indent="0">
              <a:lnSpc>
                <a:spcPct val="100000"/>
              </a:lnSpc>
              <a:buNone/>
            </a:pPr>
            <a:r>
              <a:rPr lang="en-AU" sz="1400" dirty="0"/>
              <a:t>While all reasonable care is taken in the preparation of the material in this presentation, to the extent allowed by legislation Findex accept no liability whatsoever for reliance on it. All opinions, conclusions, forecasts or recommendations are reasonably held at the time of compilation but are subject to change without notice. Findex assumes no obligation to update this presentation after it has been issued. You should seek professional advice before acting on any material.</a:t>
            </a:r>
          </a:p>
          <a:p>
            <a:pPr marL="0" indent="0">
              <a:lnSpc>
                <a:spcPct val="100000"/>
              </a:lnSpc>
              <a:buNone/>
            </a:pPr>
            <a:r>
              <a:rPr lang="en-AU" sz="1400" dirty="0"/>
              <a:t>This document contains general information and is also not intended to constitute legal or taxation advice. If you need legal or taxation advice, we recommend you speak to a qualified adviser.</a:t>
            </a:r>
          </a:p>
          <a:p>
            <a:pPr marL="0" indent="0">
              <a:lnSpc>
                <a:spcPct val="100000"/>
              </a:lnSpc>
              <a:buNone/>
            </a:pPr>
            <a:r>
              <a:rPr lang="en-US" sz="1400" dirty="0"/>
              <a:t>The title ‘Partner’ conveys that the person is a senior member within their respective division, and is among the group of persons who hold an equity interest (shareholder) in its parent entity, Findex Group Limited. The only professional service offering which is conducted by a partnership is external audit, conducted via the Crowe Australasia external audit division and Unison SMSF Audit. All other professional services offered by Findex Group Limited are conducted by a privately owned organisation and/or its subsidiaries.</a:t>
            </a:r>
          </a:p>
          <a:p>
            <a:pPr marL="0" indent="0">
              <a:lnSpc>
                <a:spcPct val="100000"/>
              </a:lnSpc>
              <a:buNone/>
            </a:pPr>
            <a:r>
              <a:rPr lang="en-AU" sz="1400" dirty="0"/>
              <a:t>© Findex Group Limited 2024. All rights reserved.</a:t>
            </a:r>
          </a:p>
        </p:txBody>
      </p:sp>
    </p:spTree>
    <p:extLst>
      <p:ext uri="{BB962C8B-B14F-4D97-AF65-F5344CB8AC3E}">
        <p14:creationId xmlns:p14="http://schemas.microsoft.com/office/powerpoint/2010/main" val="3339188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p:txBody>
          <a:bodyPr/>
          <a:lstStyle/>
          <a:p>
            <a:r>
              <a:rPr lang="en-US" sz="2000" dirty="0"/>
              <a:t>And why does it matter?</a:t>
            </a:r>
          </a:p>
          <a:p>
            <a:pPr marL="0" indent="0">
              <a:buNone/>
            </a:pPr>
            <a:endParaRPr lang="en-US" dirty="0"/>
          </a:p>
          <a:p>
            <a:pPr marL="0" indent="0">
              <a:buNone/>
            </a:pPr>
            <a:endParaRPr lang="en-US" dirty="0"/>
          </a:p>
          <a:p>
            <a:endParaRPr lang="en-US"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fontScale="90000"/>
          </a:bodyPr>
          <a:lstStyle/>
          <a:p>
            <a:r>
              <a:rPr lang="en-US" dirty="0"/>
              <a:t>Australian Individuals-  Are you a Resident or Foreign Resident ?</a:t>
            </a:r>
            <a:endParaRPr lang="en-AU" dirty="0"/>
          </a:p>
        </p:txBody>
      </p:sp>
      <p:graphicFrame>
        <p:nvGraphicFramePr>
          <p:cNvPr id="2" name="Table 2">
            <a:extLst>
              <a:ext uri="{FF2B5EF4-FFF2-40B4-BE49-F238E27FC236}">
                <a16:creationId xmlns:a16="http://schemas.microsoft.com/office/drawing/2014/main" id="{5691C227-F9A2-4AB0-9241-CECB81D8750C}"/>
              </a:ext>
            </a:extLst>
          </p:cNvPr>
          <p:cNvGraphicFramePr>
            <a:graphicFrameLocks noGrp="1"/>
          </p:cNvGraphicFramePr>
          <p:nvPr>
            <p:extLst>
              <p:ext uri="{D42A27DB-BD31-4B8C-83A1-F6EECF244321}">
                <p14:modId xmlns:p14="http://schemas.microsoft.com/office/powerpoint/2010/main" val="168902384"/>
              </p:ext>
            </p:extLst>
          </p:nvPr>
        </p:nvGraphicFramePr>
        <p:xfrm>
          <a:off x="741463" y="2405743"/>
          <a:ext cx="8945876" cy="3027680"/>
        </p:xfrm>
        <a:graphic>
          <a:graphicData uri="http://schemas.openxmlformats.org/drawingml/2006/table">
            <a:tbl>
              <a:tblPr firstRow="1" bandRow="1">
                <a:tableStyleId>{5C22544A-7EE6-4342-B048-85BDC9FD1C3A}</a:tableStyleId>
              </a:tblPr>
              <a:tblGrid>
                <a:gridCol w="4472938">
                  <a:extLst>
                    <a:ext uri="{9D8B030D-6E8A-4147-A177-3AD203B41FA5}">
                      <a16:colId xmlns:a16="http://schemas.microsoft.com/office/drawing/2014/main" val="4160519069"/>
                    </a:ext>
                  </a:extLst>
                </a:gridCol>
                <a:gridCol w="4472938">
                  <a:extLst>
                    <a:ext uri="{9D8B030D-6E8A-4147-A177-3AD203B41FA5}">
                      <a16:colId xmlns:a16="http://schemas.microsoft.com/office/drawing/2014/main" val="1244150786"/>
                    </a:ext>
                  </a:extLst>
                </a:gridCol>
              </a:tblGrid>
              <a:tr h="331980">
                <a:tc>
                  <a:txBody>
                    <a:bodyPr/>
                    <a:lstStyle/>
                    <a:p>
                      <a:r>
                        <a:rPr lang="en-US" dirty="0"/>
                        <a:t>Australian Tax Resident</a:t>
                      </a:r>
                      <a:endParaRPr lang="en-AU" dirty="0"/>
                    </a:p>
                  </a:txBody>
                  <a:tcPr/>
                </a:tc>
                <a:tc>
                  <a:txBody>
                    <a:bodyPr/>
                    <a:lstStyle/>
                    <a:p>
                      <a:r>
                        <a:rPr lang="en-US" dirty="0"/>
                        <a:t>Foreign Resident</a:t>
                      </a:r>
                      <a:endParaRPr lang="en-AU" dirty="0"/>
                    </a:p>
                  </a:txBody>
                  <a:tcPr/>
                </a:tc>
                <a:extLst>
                  <a:ext uri="{0D108BD9-81ED-4DB2-BD59-A6C34878D82A}">
                    <a16:rowId xmlns:a16="http://schemas.microsoft.com/office/drawing/2014/main" val="826334199"/>
                  </a:ext>
                </a:extLst>
              </a:tr>
              <a:tr h="370840">
                <a:tc>
                  <a:txBody>
                    <a:bodyPr/>
                    <a:lstStyle/>
                    <a:p>
                      <a:r>
                        <a:rPr lang="en-US" dirty="0"/>
                        <a:t>Taxed on worldwide income</a:t>
                      </a:r>
                      <a:endParaRPr lang="en-AU" dirty="0"/>
                    </a:p>
                  </a:txBody>
                  <a:tcPr/>
                </a:tc>
                <a:tc>
                  <a:txBody>
                    <a:bodyPr/>
                    <a:lstStyle/>
                    <a:p>
                      <a:r>
                        <a:rPr lang="en-US" dirty="0"/>
                        <a:t>Taxed on Australian sourced income only</a:t>
                      </a:r>
                      <a:endParaRPr lang="en-AU" dirty="0"/>
                    </a:p>
                  </a:txBody>
                  <a:tcPr/>
                </a:tc>
                <a:extLst>
                  <a:ext uri="{0D108BD9-81ED-4DB2-BD59-A6C34878D82A}">
                    <a16:rowId xmlns:a16="http://schemas.microsoft.com/office/drawing/2014/main" val="2453534628"/>
                  </a:ext>
                </a:extLst>
              </a:tr>
              <a:tr h="370840">
                <a:tc>
                  <a:txBody>
                    <a:bodyPr/>
                    <a:lstStyle/>
                    <a:p>
                      <a:r>
                        <a:rPr lang="en-US" dirty="0"/>
                        <a:t>Lower marginal rates of tax (individuals)</a:t>
                      </a:r>
                      <a:endParaRPr lang="en-AU" dirty="0"/>
                    </a:p>
                  </a:txBody>
                  <a:tcPr/>
                </a:tc>
                <a:tc>
                  <a:txBody>
                    <a:bodyPr/>
                    <a:lstStyle/>
                    <a:p>
                      <a:r>
                        <a:rPr lang="en-US" dirty="0"/>
                        <a:t>Higher marginal rate of tax (individuals)</a:t>
                      </a:r>
                      <a:endParaRPr lang="en-AU" dirty="0"/>
                    </a:p>
                  </a:txBody>
                  <a:tcPr/>
                </a:tc>
                <a:extLst>
                  <a:ext uri="{0D108BD9-81ED-4DB2-BD59-A6C34878D82A}">
                    <a16:rowId xmlns:a16="http://schemas.microsoft.com/office/drawing/2014/main" val="1623435983"/>
                  </a:ext>
                </a:extLst>
              </a:tr>
              <a:tr h="370840">
                <a:tc>
                  <a:txBody>
                    <a:bodyPr/>
                    <a:lstStyle/>
                    <a:p>
                      <a:r>
                        <a:rPr lang="en-US" dirty="0"/>
                        <a:t>Subject to Medicare Levy (additional 2% tax)</a:t>
                      </a:r>
                      <a:endParaRPr lang="en-AU" dirty="0"/>
                    </a:p>
                  </a:txBody>
                  <a:tcPr/>
                </a:tc>
                <a:tc>
                  <a:txBody>
                    <a:bodyPr/>
                    <a:lstStyle/>
                    <a:p>
                      <a:r>
                        <a:rPr lang="en-US" dirty="0"/>
                        <a:t>Not liable for Medicare Levy</a:t>
                      </a:r>
                      <a:endParaRPr lang="en-AU" dirty="0"/>
                    </a:p>
                  </a:txBody>
                  <a:tcPr/>
                </a:tc>
                <a:extLst>
                  <a:ext uri="{0D108BD9-81ED-4DB2-BD59-A6C34878D82A}">
                    <a16:rowId xmlns:a16="http://schemas.microsoft.com/office/drawing/2014/main" val="957332942"/>
                  </a:ext>
                </a:extLst>
              </a:tr>
              <a:tr h="370840">
                <a:tc>
                  <a:txBody>
                    <a:bodyPr/>
                    <a:lstStyle/>
                    <a:p>
                      <a:r>
                        <a:rPr lang="en-US" dirty="0"/>
                        <a:t>Subject to CGT on worldwide assets</a:t>
                      </a:r>
                      <a:endParaRPr lang="en-AU" dirty="0"/>
                    </a:p>
                  </a:txBody>
                  <a:tcPr/>
                </a:tc>
                <a:tc>
                  <a:txBody>
                    <a:bodyPr/>
                    <a:lstStyle/>
                    <a:p>
                      <a:r>
                        <a:rPr lang="en-US" dirty="0"/>
                        <a:t>Only subject to CGT on “Taxable Australian Property”</a:t>
                      </a:r>
                      <a:endParaRPr lang="en-AU" dirty="0"/>
                    </a:p>
                  </a:txBody>
                  <a:tcPr/>
                </a:tc>
                <a:extLst>
                  <a:ext uri="{0D108BD9-81ED-4DB2-BD59-A6C34878D82A}">
                    <a16:rowId xmlns:a16="http://schemas.microsoft.com/office/drawing/2014/main" val="3370778792"/>
                  </a:ext>
                </a:extLst>
              </a:tr>
              <a:tr h="370840">
                <a:tc>
                  <a:txBody>
                    <a:bodyPr/>
                    <a:lstStyle/>
                    <a:p>
                      <a:r>
                        <a:rPr lang="en-US" dirty="0"/>
                        <a:t>Not subject to withholding tax on dividends, royalties and interest</a:t>
                      </a:r>
                      <a:endParaRPr lang="en-AU" dirty="0"/>
                    </a:p>
                  </a:txBody>
                  <a:tcPr/>
                </a:tc>
                <a:tc>
                  <a:txBody>
                    <a:bodyPr/>
                    <a:lstStyle/>
                    <a:p>
                      <a:r>
                        <a:rPr lang="en-US" dirty="0"/>
                        <a:t>Subject to withholding tax on dividends, royalties and interest</a:t>
                      </a:r>
                      <a:endParaRPr lang="en-AU" dirty="0"/>
                    </a:p>
                  </a:txBody>
                  <a:tcPr/>
                </a:tc>
                <a:extLst>
                  <a:ext uri="{0D108BD9-81ED-4DB2-BD59-A6C34878D82A}">
                    <a16:rowId xmlns:a16="http://schemas.microsoft.com/office/drawing/2014/main" val="635904738"/>
                  </a:ext>
                </a:extLst>
              </a:tr>
            </a:tbl>
          </a:graphicData>
        </a:graphic>
      </p:graphicFrame>
    </p:spTree>
    <p:extLst>
      <p:ext uri="{BB962C8B-B14F-4D97-AF65-F5344CB8AC3E}">
        <p14:creationId xmlns:p14="http://schemas.microsoft.com/office/powerpoint/2010/main" val="18197025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p:txBody>
          <a:bodyPr>
            <a:normAutofit/>
          </a:bodyPr>
          <a:lstStyle/>
          <a:p>
            <a:pPr marL="0" indent="0">
              <a:buNone/>
            </a:pPr>
            <a:endParaRPr lang="en-US" sz="2000" dirty="0"/>
          </a:p>
          <a:p>
            <a:endParaRPr lang="en-US" sz="2000" dirty="0"/>
          </a:p>
          <a:p>
            <a:endParaRPr lang="en-US" sz="2000" dirty="0"/>
          </a:p>
          <a:p>
            <a:endParaRPr lang="en-US" sz="20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lstStyle/>
          <a:p>
            <a:r>
              <a:rPr lang="en-US" dirty="0"/>
              <a:t>Individual marginal tax rates</a:t>
            </a:r>
            <a:endParaRPr lang="en-AU" dirty="0"/>
          </a:p>
        </p:txBody>
      </p:sp>
      <p:graphicFrame>
        <p:nvGraphicFramePr>
          <p:cNvPr id="2" name="Table 1">
            <a:extLst>
              <a:ext uri="{FF2B5EF4-FFF2-40B4-BE49-F238E27FC236}">
                <a16:creationId xmlns:a16="http://schemas.microsoft.com/office/drawing/2014/main" id="{FF7EDD66-1769-46A4-BCC2-CF3A95C49937}"/>
              </a:ext>
            </a:extLst>
          </p:cNvPr>
          <p:cNvGraphicFramePr>
            <a:graphicFrameLocks noGrp="1"/>
          </p:cNvGraphicFramePr>
          <p:nvPr>
            <p:extLst>
              <p:ext uri="{D42A27DB-BD31-4B8C-83A1-F6EECF244321}">
                <p14:modId xmlns:p14="http://schemas.microsoft.com/office/powerpoint/2010/main" val="1000853380"/>
              </p:ext>
            </p:extLst>
          </p:nvPr>
        </p:nvGraphicFramePr>
        <p:xfrm>
          <a:off x="838200" y="1238371"/>
          <a:ext cx="10297886" cy="3297669"/>
        </p:xfrm>
        <a:graphic>
          <a:graphicData uri="http://schemas.openxmlformats.org/drawingml/2006/table">
            <a:tbl>
              <a:tblPr/>
              <a:tblGrid>
                <a:gridCol w="3652157">
                  <a:extLst>
                    <a:ext uri="{9D8B030D-6E8A-4147-A177-3AD203B41FA5}">
                      <a16:colId xmlns:a16="http://schemas.microsoft.com/office/drawing/2014/main" val="414650106"/>
                    </a:ext>
                  </a:extLst>
                </a:gridCol>
                <a:gridCol w="6645729">
                  <a:extLst>
                    <a:ext uri="{9D8B030D-6E8A-4147-A177-3AD203B41FA5}">
                      <a16:colId xmlns:a16="http://schemas.microsoft.com/office/drawing/2014/main" val="1646912514"/>
                    </a:ext>
                  </a:extLst>
                </a:gridCol>
              </a:tblGrid>
              <a:tr h="0">
                <a:tc gridSpan="2">
                  <a:txBody>
                    <a:bodyPr/>
                    <a:lstStyle/>
                    <a:p>
                      <a:r>
                        <a:rPr lang="en-AU" dirty="0"/>
                        <a:t>Resident tax rates 2023–24</a:t>
                      </a:r>
                    </a:p>
                  </a:txBody>
                  <a:tcPr anchor="ctr">
                    <a:solidFill>
                      <a:srgbClr val="FFFFFF"/>
                    </a:solidFill>
                  </a:tcPr>
                </a:tc>
                <a:tc hMerge="1">
                  <a:txBody>
                    <a:bodyPr/>
                    <a:lstStyle/>
                    <a:p>
                      <a:endParaRPr lang="en-AU"/>
                    </a:p>
                  </a:txBody>
                  <a:tcPr/>
                </a:tc>
                <a:extLst>
                  <a:ext uri="{0D108BD9-81ED-4DB2-BD59-A6C34878D82A}">
                    <a16:rowId xmlns:a16="http://schemas.microsoft.com/office/drawing/2014/main" val="584396888"/>
                  </a:ext>
                </a:extLst>
              </a:tr>
              <a:tr h="359455">
                <a:tc>
                  <a:txBody>
                    <a:bodyPr/>
                    <a:lstStyle/>
                    <a:p>
                      <a:pPr algn="l" fontAlgn="ctr"/>
                      <a:r>
                        <a:rPr lang="en-AU" b="0" dirty="0">
                          <a:solidFill>
                            <a:srgbClr val="666666"/>
                          </a:solidFill>
                          <a:effectLst/>
                          <a:latin typeface="Swiss721BT-Bold"/>
                        </a:rPr>
                        <a:t>Taxable income</a:t>
                      </a:r>
                    </a:p>
                  </a:txBody>
                  <a:tcPr marL="76200" marR="76200" marT="76200" marB="762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B w="6350" cap="flat" cmpd="sng" algn="ctr">
                      <a:solidFill>
                        <a:srgbClr val="CCCCCC"/>
                      </a:solidFill>
                      <a:prstDash val="solid"/>
                      <a:round/>
                      <a:headEnd type="none" w="med" len="med"/>
                      <a:tailEnd type="none" w="med" len="med"/>
                    </a:lnB>
                    <a:solidFill>
                      <a:srgbClr val="DDE1E2"/>
                    </a:solidFill>
                  </a:tcPr>
                </a:tc>
                <a:tc>
                  <a:txBody>
                    <a:bodyPr/>
                    <a:lstStyle/>
                    <a:p>
                      <a:pPr algn="l" fontAlgn="ctr"/>
                      <a:r>
                        <a:rPr lang="en-AU" b="0" dirty="0">
                          <a:solidFill>
                            <a:srgbClr val="666666"/>
                          </a:solidFill>
                          <a:effectLst/>
                          <a:latin typeface="Swiss721BT-Bold"/>
                        </a:rPr>
                        <a:t>Tax on this income</a:t>
                      </a:r>
                    </a:p>
                  </a:txBody>
                  <a:tcPr marL="76200" marR="76200" marT="76200" marB="762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DE1E2"/>
                    </a:solidFill>
                  </a:tcPr>
                </a:tc>
                <a:extLst>
                  <a:ext uri="{0D108BD9-81ED-4DB2-BD59-A6C34878D82A}">
                    <a16:rowId xmlns:a16="http://schemas.microsoft.com/office/drawing/2014/main" val="2367670965"/>
                  </a:ext>
                </a:extLst>
              </a:tr>
              <a:tr h="359455">
                <a:tc>
                  <a:txBody>
                    <a:bodyPr/>
                    <a:lstStyle/>
                    <a:p>
                      <a:pPr fontAlgn="t"/>
                      <a:r>
                        <a:rPr lang="en-AU" b="0" dirty="0">
                          <a:solidFill>
                            <a:srgbClr val="666666"/>
                          </a:solidFill>
                          <a:effectLst/>
                          <a:latin typeface="Swiss721BT-Light"/>
                        </a:rPr>
                        <a:t>0 – $18,200</a:t>
                      </a:r>
                    </a:p>
                  </a:txBody>
                  <a:tcPr marL="76200" marR="76200" marT="76200" marB="762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fontAlgn="t"/>
                      <a:r>
                        <a:rPr lang="en-AU" b="0" dirty="0">
                          <a:solidFill>
                            <a:srgbClr val="666666"/>
                          </a:solidFill>
                          <a:effectLst/>
                          <a:latin typeface="Swiss721BT-Light"/>
                        </a:rPr>
                        <a:t>Nil</a:t>
                      </a:r>
                    </a:p>
                  </a:txBody>
                  <a:tcPr marL="76200" marR="76200" marT="76200" marB="762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099002625"/>
                  </a:ext>
                </a:extLst>
              </a:tr>
              <a:tr h="359455">
                <a:tc>
                  <a:txBody>
                    <a:bodyPr/>
                    <a:lstStyle/>
                    <a:p>
                      <a:pPr fontAlgn="t"/>
                      <a:r>
                        <a:rPr lang="en-AU" b="0" dirty="0">
                          <a:solidFill>
                            <a:srgbClr val="666666"/>
                          </a:solidFill>
                          <a:effectLst/>
                          <a:latin typeface="Swiss721BT-Light"/>
                        </a:rPr>
                        <a:t>$18,201 – $45,000</a:t>
                      </a:r>
                    </a:p>
                  </a:txBody>
                  <a:tcPr marL="76200" marR="76200" marT="76200" marB="762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fontAlgn="t"/>
                      <a:r>
                        <a:rPr lang="en-AU" b="0" dirty="0">
                          <a:solidFill>
                            <a:srgbClr val="666666"/>
                          </a:solidFill>
                          <a:effectLst/>
                          <a:latin typeface="Swiss721BT-Light"/>
                        </a:rPr>
                        <a:t>19 cents for each $1 over $18,200</a:t>
                      </a:r>
                    </a:p>
                  </a:txBody>
                  <a:tcPr marL="76200" marR="76200" marT="76200" marB="762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969027971"/>
                  </a:ext>
                </a:extLst>
              </a:tr>
              <a:tr h="550583">
                <a:tc>
                  <a:txBody>
                    <a:bodyPr/>
                    <a:lstStyle/>
                    <a:p>
                      <a:pPr fontAlgn="t"/>
                      <a:r>
                        <a:rPr lang="en-AU" b="0" dirty="0">
                          <a:solidFill>
                            <a:srgbClr val="666666"/>
                          </a:solidFill>
                          <a:effectLst/>
                          <a:latin typeface="Swiss721BT-Light"/>
                        </a:rPr>
                        <a:t>$45,001 – $120,000</a:t>
                      </a:r>
                    </a:p>
                  </a:txBody>
                  <a:tcPr marL="76200" marR="76200" marT="76200" marB="762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fontAlgn="t"/>
                      <a:r>
                        <a:rPr lang="en-AU" b="0" dirty="0">
                          <a:solidFill>
                            <a:srgbClr val="666666"/>
                          </a:solidFill>
                          <a:effectLst/>
                          <a:latin typeface="Swiss721BT-Light"/>
                        </a:rPr>
                        <a:t>$5,092 plus 32.5 cents for each $1 over $45,000</a:t>
                      </a:r>
                    </a:p>
                  </a:txBody>
                  <a:tcPr marL="76200" marR="76200" marT="76200" marB="762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954673363"/>
                  </a:ext>
                </a:extLst>
              </a:tr>
              <a:tr h="550583">
                <a:tc>
                  <a:txBody>
                    <a:bodyPr/>
                    <a:lstStyle/>
                    <a:p>
                      <a:pPr fontAlgn="t"/>
                      <a:r>
                        <a:rPr lang="en-AU" b="0" dirty="0">
                          <a:solidFill>
                            <a:srgbClr val="666666"/>
                          </a:solidFill>
                          <a:effectLst/>
                          <a:latin typeface="Swiss721BT-Light"/>
                        </a:rPr>
                        <a:t>$120,001 – $180,000</a:t>
                      </a:r>
                    </a:p>
                  </a:txBody>
                  <a:tcPr marL="76200" marR="76200" marT="76200" marB="762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fontAlgn="t"/>
                      <a:r>
                        <a:rPr lang="en-AU" b="0" dirty="0">
                          <a:solidFill>
                            <a:srgbClr val="666666"/>
                          </a:solidFill>
                          <a:effectLst/>
                          <a:latin typeface="Swiss721BT-Light"/>
                        </a:rPr>
                        <a:t>$29,467 plus 37 cents for each $1 over $120,000</a:t>
                      </a:r>
                    </a:p>
                  </a:txBody>
                  <a:tcPr marL="76200" marR="76200" marT="76200" marB="762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904106512"/>
                  </a:ext>
                </a:extLst>
              </a:tr>
              <a:tr h="550583">
                <a:tc>
                  <a:txBody>
                    <a:bodyPr/>
                    <a:lstStyle/>
                    <a:p>
                      <a:pPr fontAlgn="t"/>
                      <a:r>
                        <a:rPr lang="en-AU" b="0" dirty="0">
                          <a:solidFill>
                            <a:srgbClr val="666666"/>
                          </a:solidFill>
                          <a:effectLst/>
                          <a:latin typeface="Swiss721BT-Light"/>
                        </a:rPr>
                        <a:t>$180,001 and over</a:t>
                      </a:r>
                    </a:p>
                  </a:txBody>
                  <a:tcPr marL="76200" marR="76200" marT="76200" marB="762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fontAlgn="t"/>
                      <a:r>
                        <a:rPr lang="en-AU" b="0" dirty="0">
                          <a:solidFill>
                            <a:srgbClr val="666666"/>
                          </a:solidFill>
                          <a:effectLst/>
                          <a:latin typeface="Swiss721BT-Light"/>
                        </a:rPr>
                        <a:t>$51,667 plus 45 cents for each $1 over $180,000</a:t>
                      </a:r>
                    </a:p>
                  </a:txBody>
                  <a:tcPr marL="76200" marR="76200" marT="76200" marB="762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288486386"/>
                  </a:ext>
                </a:extLst>
              </a:tr>
            </a:tbl>
          </a:graphicData>
        </a:graphic>
      </p:graphicFrame>
      <p:sp>
        <p:nvSpPr>
          <p:cNvPr id="3" name="Rectangle 1">
            <a:extLst>
              <a:ext uri="{FF2B5EF4-FFF2-40B4-BE49-F238E27FC236}">
                <a16:creationId xmlns:a16="http://schemas.microsoft.com/office/drawing/2014/main" id="{E2F93570-C487-47C0-B562-CD024526AA31}"/>
              </a:ext>
            </a:extLst>
          </p:cNvPr>
          <p:cNvSpPr>
            <a:spLocks noChangeArrowheads="1"/>
          </p:cNvSpPr>
          <p:nvPr/>
        </p:nvSpPr>
        <p:spPr bwMode="auto">
          <a:xfrm>
            <a:off x="838200" y="4639275"/>
            <a:ext cx="8468770" cy="2923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666666"/>
                </a:solidFill>
                <a:effectLst/>
                <a:latin typeface="Swiss721BT-Light"/>
              </a:rPr>
              <a:t>The above rates </a:t>
            </a:r>
            <a:r>
              <a:rPr kumimoji="0" lang="en-US" altLang="en-US" sz="1300" b="0" i="0" u="none" strike="noStrike" cap="none" normalizeH="0" baseline="0" dirty="0">
                <a:ln>
                  <a:noFill/>
                </a:ln>
                <a:solidFill>
                  <a:srgbClr val="666666"/>
                </a:solidFill>
                <a:effectLst/>
                <a:latin typeface="Swiss721BT-Bold"/>
              </a:rPr>
              <a:t>do not</a:t>
            </a:r>
            <a:r>
              <a:rPr kumimoji="0" lang="en-US" altLang="en-US" sz="1300" b="0" i="0" u="none" strike="noStrike" cap="none" normalizeH="0" baseline="0" dirty="0">
                <a:ln>
                  <a:noFill/>
                </a:ln>
                <a:solidFill>
                  <a:srgbClr val="666666"/>
                </a:solidFill>
                <a:effectLst/>
                <a:latin typeface="Swiss721BT-Light"/>
              </a:rPr>
              <a:t> include the </a:t>
            </a:r>
            <a:r>
              <a:rPr kumimoji="0" lang="en-US" altLang="en-US" sz="1300" b="0" i="0" u="sng" strike="noStrike" cap="none" normalizeH="0" baseline="0" dirty="0">
                <a:ln>
                  <a:noFill/>
                </a:ln>
                <a:solidFill>
                  <a:srgbClr val="4365D9"/>
                </a:solidFill>
                <a:effectLst/>
                <a:latin typeface="Swiss721BT-Light"/>
                <a:hlinkClick r:id="rId2"/>
              </a:rPr>
              <a:t>Medicare levy</a:t>
            </a:r>
            <a:r>
              <a:rPr kumimoji="0" lang="en-US" altLang="en-US" sz="1300" b="0" i="0" u="none" strike="noStrike" cap="none" normalizeH="0" baseline="0" dirty="0">
                <a:ln>
                  <a:noFill/>
                </a:ln>
                <a:solidFill>
                  <a:srgbClr val="666666"/>
                </a:solidFill>
                <a:effectLst/>
                <a:latin typeface="Swiss721BT-Light"/>
              </a:rPr>
              <a:t> of 2%.</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67174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p:txBody>
          <a:bodyPr>
            <a:normAutofit/>
          </a:bodyPr>
          <a:lstStyle/>
          <a:p>
            <a:pPr marL="0" indent="0">
              <a:buNone/>
            </a:pPr>
            <a:endParaRPr lang="en-US" sz="2000" dirty="0"/>
          </a:p>
          <a:p>
            <a:endParaRPr lang="en-US" sz="2000" dirty="0"/>
          </a:p>
          <a:p>
            <a:endParaRPr lang="en-US" sz="2000" dirty="0"/>
          </a:p>
          <a:p>
            <a:endParaRPr lang="en-US" sz="20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fontScale="90000"/>
          </a:bodyPr>
          <a:lstStyle/>
          <a:p>
            <a:r>
              <a:rPr lang="en-US" dirty="0"/>
              <a:t>Individual marginal tax rates – Proposed “Stage 3 tax cuts”</a:t>
            </a:r>
            <a:endParaRPr lang="en-AU" dirty="0"/>
          </a:p>
        </p:txBody>
      </p:sp>
      <p:graphicFrame>
        <p:nvGraphicFramePr>
          <p:cNvPr id="2" name="Table 1">
            <a:extLst>
              <a:ext uri="{FF2B5EF4-FFF2-40B4-BE49-F238E27FC236}">
                <a16:creationId xmlns:a16="http://schemas.microsoft.com/office/drawing/2014/main" id="{FF7EDD66-1769-46A4-BCC2-CF3A95C49937}"/>
              </a:ext>
            </a:extLst>
          </p:cNvPr>
          <p:cNvGraphicFramePr>
            <a:graphicFrameLocks noGrp="1"/>
          </p:cNvGraphicFramePr>
          <p:nvPr>
            <p:extLst>
              <p:ext uri="{D42A27DB-BD31-4B8C-83A1-F6EECF244321}">
                <p14:modId xmlns:p14="http://schemas.microsoft.com/office/powerpoint/2010/main" val="1486452060"/>
              </p:ext>
            </p:extLst>
          </p:nvPr>
        </p:nvGraphicFramePr>
        <p:xfrm>
          <a:off x="838200" y="1238371"/>
          <a:ext cx="10297886" cy="3448126"/>
        </p:xfrm>
        <a:graphic>
          <a:graphicData uri="http://schemas.openxmlformats.org/drawingml/2006/table">
            <a:tbl>
              <a:tblPr/>
              <a:tblGrid>
                <a:gridCol w="3849210">
                  <a:extLst>
                    <a:ext uri="{9D8B030D-6E8A-4147-A177-3AD203B41FA5}">
                      <a16:colId xmlns:a16="http://schemas.microsoft.com/office/drawing/2014/main" val="414650106"/>
                    </a:ext>
                  </a:extLst>
                </a:gridCol>
                <a:gridCol w="6448676">
                  <a:extLst>
                    <a:ext uri="{9D8B030D-6E8A-4147-A177-3AD203B41FA5}">
                      <a16:colId xmlns:a16="http://schemas.microsoft.com/office/drawing/2014/main" val="1646912514"/>
                    </a:ext>
                  </a:extLst>
                </a:gridCol>
              </a:tblGrid>
              <a:tr h="0">
                <a:tc gridSpan="2">
                  <a:txBody>
                    <a:bodyPr/>
                    <a:lstStyle/>
                    <a:p>
                      <a:r>
                        <a:rPr lang="en-AU" dirty="0"/>
                        <a:t>Resident tax rates 2024–25</a:t>
                      </a:r>
                    </a:p>
                  </a:txBody>
                  <a:tcPr anchor="ctr">
                    <a:solidFill>
                      <a:srgbClr val="FFFFFF"/>
                    </a:solidFill>
                  </a:tcPr>
                </a:tc>
                <a:tc hMerge="1">
                  <a:txBody>
                    <a:bodyPr/>
                    <a:lstStyle/>
                    <a:p>
                      <a:endParaRPr lang="en-AU"/>
                    </a:p>
                  </a:txBody>
                  <a:tcPr/>
                </a:tc>
                <a:extLst>
                  <a:ext uri="{0D108BD9-81ED-4DB2-BD59-A6C34878D82A}">
                    <a16:rowId xmlns:a16="http://schemas.microsoft.com/office/drawing/2014/main" val="584396888"/>
                  </a:ext>
                </a:extLst>
              </a:tr>
              <a:tr h="359455">
                <a:tc>
                  <a:txBody>
                    <a:bodyPr/>
                    <a:lstStyle/>
                    <a:p>
                      <a:pPr algn="l" fontAlgn="ctr"/>
                      <a:r>
                        <a:rPr lang="en-AU" b="0" dirty="0">
                          <a:solidFill>
                            <a:srgbClr val="666666"/>
                          </a:solidFill>
                          <a:effectLst/>
                          <a:latin typeface="Swiss721BT-Bold"/>
                        </a:rPr>
                        <a:t>Taxable income</a:t>
                      </a:r>
                    </a:p>
                  </a:txBody>
                  <a:tcPr marL="76200" marR="76200" marT="76200" marB="762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B w="6350" cap="flat" cmpd="sng" algn="ctr">
                      <a:solidFill>
                        <a:srgbClr val="CCCCCC"/>
                      </a:solidFill>
                      <a:prstDash val="solid"/>
                      <a:round/>
                      <a:headEnd type="none" w="med" len="med"/>
                      <a:tailEnd type="none" w="med" len="med"/>
                    </a:lnB>
                    <a:solidFill>
                      <a:srgbClr val="DDE1E2"/>
                    </a:solidFill>
                  </a:tcPr>
                </a:tc>
                <a:tc>
                  <a:txBody>
                    <a:bodyPr/>
                    <a:lstStyle/>
                    <a:p>
                      <a:pPr algn="l" fontAlgn="ctr"/>
                      <a:r>
                        <a:rPr lang="en-AU" b="0" dirty="0">
                          <a:solidFill>
                            <a:srgbClr val="666666"/>
                          </a:solidFill>
                          <a:effectLst/>
                          <a:latin typeface="Swiss721BT-Bold"/>
                        </a:rPr>
                        <a:t>Tax on this income</a:t>
                      </a:r>
                    </a:p>
                  </a:txBody>
                  <a:tcPr marL="76200" marR="76200" marT="76200" marB="762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DE1E2"/>
                    </a:solidFill>
                  </a:tcPr>
                </a:tc>
                <a:extLst>
                  <a:ext uri="{0D108BD9-81ED-4DB2-BD59-A6C34878D82A}">
                    <a16:rowId xmlns:a16="http://schemas.microsoft.com/office/drawing/2014/main" val="2367670965"/>
                  </a:ext>
                </a:extLst>
              </a:tr>
              <a:tr h="359455">
                <a:tc>
                  <a:txBody>
                    <a:bodyPr/>
                    <a:lstStyle/>
                    <a:p>
                      <a:pPr fontAlgn="t"/>
                      <a:r>
                        <a:rPr lang="en-AU" b="0" dirty="0">
                          <a:solidFill>
                            <a:srgbClr val="666666"/>
                          </a:solidFill>
                          <a:effectLst/>
                          <a:latin typeface="Swiss721BT-Light"/>
                        </a:rPr>
                        <a:t>0 – $18,200</a:t>
                      </a:r>
                    </a:p>
                  </a:txBody>
                  <a:tcPr marL="76200" marR="76200" marT="76200" marB="762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fontAlgn="t"/>
                      <a:r>
                        <a:rPr lang="en-AU" b="0" dirty="0">
                          <a:solidFill>
                            <a:srgbClr val="666666"/>
                          </a:solidFill>
                          <a:effectLst/>
                          <a:latin typeface="Swiss721BT-Light"/>
                        </a:rPr>
                        <a:t>Nil</a:t>
                      </a:r>
                    </a:p>
                  </a:txBody>
                  <a:tcPr marL="76200" marR="76200" marT="76200" marB="762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099002625"/>
                  </a:ext>
                </a:extLst>
              </a:tr>
              <a:tr h="359455">
                <a:tc>
                  <a:txBody>
                    <a:bodyPr/>
                    <a:lstStyle/>
                    <a:p>
                      <a:pPr fontAlgn="t"/>
                      <a:r>
                        <a:rPr lang="en-AU" b="0" dirty="0">
                          <a:solidFill>
                            <a:srgbClr val="666666"/>
                          </a:solidFill>
                          <a:effectLst/>
                          <a:latin typeface="Swiss721BT-Light"/>
                        </a:rPr>
                        <a:t>$18,201 – $45,000</a:t>
                      </a:r>
                    </a:p>
                  </a:txBody>
                  <a:tcPr marL="76200" marR="76200" marT="76200" marB="762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fontAlgn="t"/>
                      <a:r>
                        <a:rPr lang="en-AU" b="0" strike="sngStrike" baseline="0" dirty="0">
                          <a:solidFill>
                            <a:srgbClr val="666666"/>
                          </a:solidFill>
                          <a:effectLst/>
                          <a:latin typeface="Swiss721BT-Light"/>
                        </a:rPr>
                        <a:t>19 </a:t>
                      </a:r>
                      <a:r>
                        <a:rPr lang="en-AU" b="0" dirty="0">
                          <a:solidFill>
                            <a:srgbClr val="666666"/>
                          </a:solidFill>
                          <a:effectLst/>
                          <a:latin typeface="Swiss721BT-Light"/>
                        </a:rPr>
                        <a:t>16 cents for each $1 over $18,200</a:t>
                      </a:r>
                    </a:p>
                  </a:txBody>
                  <a:tcPr marL="76200" marR="76200" marT="76200" marB="762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969027971"/>
                  </a:ext>
                </a:extLst>
              </a:tr>
              <a:tr h="550583">
                <a:tc>
                  <a:txBody>
                    <a:bodyPr/>
                    <a:lstStyle/>
                    <a:p>
                      <a:pPr fontAlgn="t"/>
                      <a:r>
                        <a:rPr lang="en-AU" b="0" dirty="0">
                          <a:solidFill>
                            <a:srgbClr val="666666"/>
                          </a:solidFill>
                          <a:effectLst/>
                          <a:latin typeface="Swiss721BT-Light"/>
                        </a:rPr>
                        <a:t>$45,001 – </a:t>
                      </a:r>
                      <a:r>
                        <a:rPr lang="en-AU" b="0" strike="sngStrike" baseline="0" dirty="0">
                          <a:solidFill>
                            <a:srgbClr val="666666"/>
                          </a:solidFill>
                          <a:effectLst/>
                          <a:latin typeface="Swiss721BT-Light"/>
                        </a:rPr>
                        <a:t>$120,000 </a:t>
                      </a:r>
                      <a:r>
                        <a:rPr lang="en-AU" b="0" dirty="0">
                          <a:solidFill>
                            <a:srgbClr val="666666"/>
                          </a:solidFill>
                          <a:effectLst/>
                          <a:latin typeface="Swiss721BT-Light"/>
                        </a:rPr>
                        <a:t>$135,000</a:t>
                      </a:r>
                    </a:p>
                  </a:txBody>
                  <a:tcPr marL="76200" marR="76200" marT="76200" marB="762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fontAlgn="t"/>
                      <a:r>
                        <a:rPr lang="en-AU" b="0" strike="sngStrike" baseline="0" dirty="0">
                          <a:solidFill>
                            <a:srgbClr val="666666"/>
                          </a:solidFill>
                          <a:effectLst/>
                          <a:latin typeface="Swiss721BT-Light"/>
                        </a:rPr>
                        <a:t>$5,092 </a:t>
                      </a:r>
                      <a:r>
                        <a:rPr lang="en-AU" b="0" strike="noStrike" baseline="0" dirty="0">
                          <a:solidFill>
                            <a:srgbClr val="666666"/>
                          </a:solidFill>
                          <a:effectLst/>
                          <a:latin typeface="Swiss721BT-Light"/>
                        </a:rPr>
                        <a:t>$4,288 plus</a:t>
                      </a:r>
                      <a:r>
                        <a:rPr lang="en-AU" b="0" dirty="0">
                          <a:solidFill>
                            <a:srgbClr val="666666"/>
                          </a:solidFill>
                          <a:effectLst/>
                          <a:latin typeface="Swiss721BT-Light"/>
                        </a:rPr>
                        <a:t> </a:t>
                      </a:r>
                      <a:r>
                        <a:rPr lang="en-AU" b="0" strike="sngStrike" baseline="0" dirty="0">
                          <a:solidFill>
                            <a:srgbClr val="666666"/>
                          </a:solidFill>
                          <a:effectLst/>
                          <a:latin typeface="Swiss721BT-Light"/>
                        </a:rPr>
                        <a:t>32.5 </a:t>
                      </a:r>
                      <a:r>
                        <a:rPr lang="en-AU" b="0" dirty="0">
                          <a:solidFill>
                            <a:srgbClr val="666666"/>
                          </a:solidFill>
                          <a:effectLst/>
                          <a:latin typeface="Swiss721BT-Light"/>
                        </a:rPr>
                        <a:t>30 cents for each $1 over $45,000</a:t>
                      </a:r>
                    </a:p>
                  </a:txBody>
                  <a:tcPr marL="76200" marR="76200" marT="76200" marB="762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954673363"/>
                  </a:ext>
                </a:extLst>
              </a:tr>
              <a:tr h="550583">
                <a:tc>
                  <a:txBody>
                    <a:bodyPr/>
                    <a:lstStyle/>
                    <a:p>
                      <a:pPr fontAlgn="t"/>
                      <a:r>
                        <a:rPr lang="en-AU" b="0" strike="sngStrike" baseline="0" dirty="0">
                          <a:solidFill>
                            <a:srgbClr val="666666"/>
                          </a:solidFill>
                          <a:effectLst/>
                          <a:latin typeface="Swiss721BT-Light"/>
                        </a:rPr>
                        <a:t>$120,001 </a:t>
                      </a:r>
                      <a:r>
                        <a:rPr lang="en-AU" b="0" dirty="0">
                          <a:solidFill>
                            <a:srgbClr val="666666"/>
                          </a:solidFill>
                          <a:effectLst/>
                          <a:latin typeface="Swiss721BT-Light"/>
                        </a:rPr>
                        <a:t>$135,000 – </a:t>
                      </a:r>
                      <a:r>
                        <a:rPr lang="en-AU" b="0" strike="sngStrike" baseline="0" dirty="0">
                          <a:solidFill>
                            <a:srgbClr val="666666"/>
                          </a:solidFill>
                          <a:effectLst/>
                          <a:latin typeface="Swiss721BT-Light"/>
                        </a:rPr>
                        <a:t>$180,000 </a:t>
                      </a:r>
                      <a:r>
                        <a:rPr lang="en-AU" b="0" dirty="0">
                          <a:solidFill>
                            <a:srgbClr val="666666"/>
                          </a:solidFill>
                          <a:effectLst/>
                          <a:latin typeface="Swiss721BT-Light"/>
                        </a:rPr>
                        <a:t>$190,000</a:t>
                      </a:r>
                    </a:p>
                  </a:txBody>
                  <a:tcPr marL="76200" marR="76200" marT="76200" marB="762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fontAlgn="t"/>
                      <a:r>
                        <a:rPr lang="en-AU" b="0" strike="sngStrike" baseline="0" dirty="0">
                          <a:solidFill>
                            <a:srgbClr val="666666"/>
                          </a:solidFill>
                          <a:effectLst/>
                          <a:latin typeface="Swiss721BT-Light"/>
                        </a:rPr>
                        <a:t>$29,467 </a:t>
                      </a:r>
                      <a:r>
                        <a:rPr lang="en-AU" b="0" dirty="0">
                          <a:solidFill>
                            <a:srgbClr val="666666"/>
                          </a:solidFill>
                          <a:effectLst/>
                          <a:latin typeface="Swiss721BT-Light"/>
                        </a:rPr>
                        <a:t>$31,388 plus 37 cents for each $1 over </a:t>
                      </a:r>
                      <a:r>
                        <a:rPr lang="en-AU" b="0" strike="sngStrike" baseline="0" dirty="0">
                          <a:solidFill>
                            <a:srgbClr val="666666"/>
                          </a:solidFill>
                          <a:effectLst/>
                          <a:latin typeface="Swiss721BT-Light"/>
                        </a:rPr>
                        <a:t>$120,000 </a:t>
                      </a:r>
                      <a:r>
                        <a:rPr lang="en-AU" b="0" dirty="0">
                          <a:solidFill>
                            <a:srgbClr val="666666"/>
                          </a:solidFill>
                          <a:effectLst/>
                          <a:latin typeface="Swiss721BT-Light"/>
                        </a:rPr>
                        <a:t>$135,000</a:t>
                      </a:r>
                    </a:p>
                  </a:txBody>
                  <a:tcPr marL="76200" marR="76200" marT="76200" marB="762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904106512"/>
                  </a:ext>
                </a:extLst>
              </a:tr>
              <a:tr h="550583">
                <a:tc>
                  <a:txBody>
                    <a:bodyPr/>
                    <a:lstStyle/>
                    <a:p>
                      <a:pPr fontAlgn="t"/>
                      <a:r>
                        <a:rPr lang="en-AU" b="0" strike="sngStrike" baseline="0" dirty="0">
                          <a:solidFill>
                            <a:srgbClr val="666666"/>
                          </a:solidFill>
                          <a:effectLst/>
                          <a:latin typeface="Swiss721BT-Light"/>
                        </a:rPr>
                        <a:t>$180,001 </a:t>
                      </a:r>
                      <a:r>
                        <a:rPr lang="en-AU" b="0" dirty="0">
                          <a:solidFill>
                            <a:srgbClr val="666666"/>
                          </a:solidFill>
                          <a:effectLst/>
                          <a:latin typeface="Swiss721BT-Light"/>
                        </a:rPr>
                        <a:t>$190,001 and over</a:t>
                      </a:r>
                    </a:p>
                  </a:txBody>
                  <a:tcPr marL="76200" marR="76200" marT="76200" marB="762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fontAlgn="t"/>
                      <a:r>
                        <a:rPr lang="en-AU" b="0" strike="sngStrike" baseline="0" dirty="0">
                          <a:solidFill>
                            <a:srgbClr val="666666"/>
                          </a:solidFill>
                          <a:effectLst/>
                          <a:latin typeface="Swiss721BT-Light"/>
                        </a:rPr>
                        <a:t>$51,667 </a:t>
                      </a:r>
                      <a:r>
                        <a:rPr lang="en-AU" b="0" dirty="0">
                          <a:solidFill>
                            <a:srgbClr val="666666"/>
                          </a:solidFill>
                          <a:effectLst/>
                          <a:latin typeface="Swiss721BT-Light"/>
                        </a:rPr>
                        <a:t>$51,638 plus 45 cents for each $1 over </a:t>
                      </a:r>
                      <a:r>
                        <a:rPr lang="en-AU" b="0" strike="sngStrike" baseline="0" dirty="0">
                          <a:solidFill>
                            <a:srgbClr val="666666"/>
                          </a:solidFill>
                          <a:effectLst/>
                          <a:latin typeface="Swiss721BT-Light"/>
                        </a:rPr>
                        <a:t>$180,000 </a:t>
                      </a:r>
                      <a:r>
                        <a:rPr lang="en-AU" b="0" dirty="0">
                          <a:solidFill>
                            <a:srgbClr val="666666"/>
                          </a:solidFill>
                          <a:effectLst/>
                          <a:latin typeface="Swiss721BT-Light"/>
                        </a:rPr>
                        <a:t>$190,000</a:t>
                      </a:r>
                    </a:p>
                  </a:txBody>
                  <a:tcPr marL="76200" marR="76200" marT="76200" marB="762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288486386"/>
                  </a:ext>
                </a:extLst>
              </a:tr>
            </a:tbl>
          </a:graphicData>
        </a:graphic>
      </p:graphicFrame>
      <p:sp>
        <p:nvSpPr>
          <p:cNvPr id="3" name="Rectangle 1">
            <a:extLst>
              <a:ext uri="{FF2B5EF4-FFF2-40B4-BE49-F238E27FC236}">
                <a16:creationId xmlns:a16="http://schemas.microsoft.com/office/drawing/2014/main" id="{E2F93570-C487-47C0-B562-CD024526AA31}"/>
              </a:ext>
            </a:extLst>
          </p:cNvPr>
          <p:cNvSpPr>
            <a:spLocks noChangeArrowheads="1"/>
          </p:cNvSpPr>
          <p:nvPr/>
        </p:nvSpPr>
        <p:spPr bwMode="auto">
          <a:xfrm>
            <a:off x="838200" y="4639275"/>
            <a:ext cx="8468770" cy="2923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666666"/>
                </a:solidFill>
                <a:effectLst/>
                <a:latin typeface="Swiss721BT-Light"/>
              </a:rPr>
              <a:t>The above rates </a:t>
            </a:r>
            <a:r>
              <a:rPr kumimoji="0" lang="en-US" altLang="en-US" sz="1300" b="0" i="0" u="none" strike="noStrike" cap="none" normalizeH="0" baseline="0" dirty="0">
                <a:ln>
                  <a:noFill/>
                </a:ln>
                <a:solidFill>
                  <a:srgbClr val="666666"/>
                </a:solidFill>
                <a:effectLst/>
                <a:latin typeface="Swiss721BT-Bold"/>
              </a:rPr>
              <a:t>do not</a:t>
            </a:r>
            <a:r>
              <a:rPr kumimoji="0" lang="en-US" altLang="en-US" sz="1300" b="0" i="0" u="none" strike="noStrike" cap="none" normalizeH="0" baseline="0" dirty="0">
                <a:ln>
                  <a:noFill/>
                </a:ln>
                <a:solidFill>
                  <a:srgbClr val="666666"/>
                </a:solidFill>
                <a:effectLst/>
                <a:latin typeface="Swiss721BT-Light"/>
              </a:rPr>
              <a:t> include the </a:t>
            </a:r>
            <a:r>
              <a:rPr kumimoji="0" lang="en-US" altLang="en-US" sz="1300" b="0" i="0" u="sng" strike="noStrike" cap="none" normalizeH="0" baseline="0" dirty="0">
                <a:ln>
                  <a:noFill/>
                </a:ln>
                <a:solidFill>
                  <a:srgbClr val="4365D9"/>
                </a:solidFill>
                <a:effectLst/>
                <a:latin typeface="Swiss721BT-Light"/>
                <a:hlinkClick r:id="rId2"/>
              </a:rPr>
              <a:t>Medicare levy</a:t>
            </a:r>
            <a:r>
              <a:rPr kumimoji="0" lang="en-US" altLang="en-US" sz="1300" b="0" i="0" u="none" strike="noStrike" cap="none" normalizeH="0" baseline="0" dirty="0">
                <a:ln>
                  <a:noFill/>
                </a:ln>
                <a:solidFill>
                  <a:srgbClr val="666666"/>
                </a:solidFill>
                <a:effectLst/>
                <a:latin typeface="Swiss721BT-Light"/>
              </a:rPr>
              <a:t> of 2%.</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439975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0C91CFF6-1161-496E-91FF-7D54F4593A78}"/>
              </a:ext>
            </a:extLst>
          </p:cNvPr>
          <p:cNvGraphicFramePr>
            <a:graphicFrameLocks noGrp="1"/>
          </p:cNvGraphicFramePr>
          <p:nvPr>
            <p:ph idx="1"/>
            <p:extLst>
              <p:ext uri="{D42A27DB-BD31-4B8C-83A1-F6EECF244321}">
                <p14:modId xmlns:p14="http://schemas.microsoft.com/office/powerpoint/2010/main" val="801528886"/>
              </p:ext>
            </p:extLst>
          </p:nvPr>
        </p:nvGraphicFramePr>
        <p:xfrm>
          <a:off x="727363" y="1250754"/>
          <a:ext cx="10515600" cy="2072640"/>
        </p:xfrm>
        <a:graphic>
          <a:graphicData uri="http://schemas.openxmlformats.org/drawingml/2006/table">
            <a:tbl>
              <a:tblPr/>
              <a:tblGrid>
                <a:gridCol w="4029694">
                  <a:extLst>
                    <a:ext uri="{9D8B030D-6E8A-4147-A177-3AD203B41FA5}">
                      <a16:colId xmlns:a16="http://schemas.microsoft.com/office/drawing/2014/main" val="3275817329"/>
                    </a:ext>
                  </a:extLst>
                </a:gridCol>
                <a:gridCol w="6485906">
                  <a:extLst>
                    <a:ext uri="{9D8B030D-6E8A-4147-A177-3AD203B41FA5}">
                      <a16:colId xmlns:a16="http://schemas.microsoft.com/office/drawing/2014/main" val="3226090033"/>
                    </a:ext>
                  </a:extLst>
                </a:gridCol>
              </a:tblGrid>
              <a:tr h="0">
                <a:tc gridSpan="2">
                  <a:txBody>
                    <a:bodyPr/>
                    <a:lstStyle/>
                    <a:p>
                      <a:r>
                        <a:rPr lang="en-AU" dirty="0"/>
                        <a:t>Foreign resident tax rates 2023–24</a:t>
                      </a:r>
                    </a:p>
                  </a:txBody>
                  <a:tcPr anchor="ctr">
                    <a:solidFill>
                      <a:srgbClr val="FFFFFF"/>
                    </a:solidFill>
                  </a:tcPr>
                </a:tc>
                <a:tc hMerge="1">
                  <a:txBody>
                    <a:bodyPr/>
                    <a:lstStyle/>
                    <a:p>
                      <a:endParaRPr lang="en-AU"/>
                    </a:p>
                  </a:txBody>
                  <a:tcPr/>
                </a:tc>
                <a:extLst>
                  <a:ext uri="{0D108BD9-81ED-4DB2-BD59-A6C34878D82A}">
                    <a16:rowId xmlns:a16="http://schemas.microsoft.com/office/drawing/2014/main" val="695231673"/>
                  </a:ext>
                </a:extLst>
              </a:tr>
              <a:tr h="0">
                <a:tc>
                  <a:txBody>
                    <a:bodyPr/>
                    <a:lstStyle/>
                    <a:p>
                      <a:pPr algn="l" fontAlgn="ctr"/>
                      <a:r>
                        <a:rPr lang="en-AU" b="0" dirty="0">
                          <a:solidFill>
                            <a:srgbClr val="666666"/>
                          </a:solidFill>
                          <a:effectLst/>
                          <a:latin typeface="Swiss721BT-Bold"/>
                        </a:rPr>
                        <a:t>Taxable income</a:t>
                      </a:r>
                    </a:p>
                  </a:txBody>
                  <a:tcPr marL="76200" marR="76200" marT="76200" marB="762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B w="6350" cap="flat" cmpd="sng" algn="ctr">
                      <a:solidFill>
                        <a:srgbClr val="CCCCCC"/>
                      </a:solidFill>
                      <a:prstDash val="solid"/>
                      <a:round/>
                      <a:headEnd type="none" w="med" len="med"/>
                      <a:tailEnd type="none" w="med" len="med"/>
                    </a:lnB>
                    <a:solidFill>
                      <a:srgbClr val="DDE1E2"/>
                    </a:solidFill>
                  </a:tcPr>
                </a:tc>
                <a:tc>
                  <a:txBody>
                    <a:bodyPr/>
                    <a:lstStyle/>
                    <a:p>
                      <a:pPr algn="l" fontAlgn="ctr"/>
                      <a:r>
                        <a:rPr lang="en-AU" b="0" dirty="0">
                          <a:solidFill>
                            <a:srgbClr val="666666"/>
                          </a:solidFill>
                          <a:effectLst/>
                          <a:latin typeface="Swiss721BT-Bold"/>
                        </a:rPr>
                        <a:t>Tax on this income</a:t>
                      </a:r>
                    </a:p>
                  </a:txBody>
                  <a:tcPr marL="76200" marR="76200" marT="76200" marB="762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DE1E2"/>
                    </a:solidFill>
                  </a:tcPr>
                </a:tc>
                <a:extLst>
                  <a:ext uri="{0D108BD9-81ED-4DB2-BD59-A6C34878D82A}">
                    <a16:rowId xmlns:a16="http://schemas.microsoft.com/office/drawing/2014/main" val="3661626476"/>
                  </a:ext>
                </a:extLst>
              </a:tr>
              <a:tr h="0">
                <a:tc>
                  <a:txBody>
                    <a:bodyPr/>
                    <a:lstStyle/>
                    <a:p>
                      <a:pPr fontAlgn="t"/>
                      <a:r>
                        <a:rPr lang="en-AU" b="0" dirty="0">
                          <a:solidFill>
                            <a:srgbClr val="666666"/>
                          </a:solidFill>
                          <a:effectLst/>
                          <a:latin typeface="Swiss721BT-Light"/>
                        </a:rPr>
                        <a:t>0 – $120,000</a:t>
                      </a:r>
                    </a:p>
                  </a:txBody>
                  <a:tcPr marL="76200" marR="76200" marT="76200" marB="762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fontAlgn="t"/>
                      <a:r>
                        <a:rPr lang="en-AU" b="0" dirty="0">
                          <a:solidFill>
                            <a:srgbClr val="666666"/>
                          </a:solidFill>
                          <a:effectLst/>
                          <a:latin typeface="Swiss721BT-Light"/>
                        </a:rPr>
                        <a:t>32.5 cents for each $1</a:t>
                      </a:r>
                    </a:p>
                  </a:txBody>
                  <a:tcPr marL="76200" marR="76200" marT="76200" marB="762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743003274"/>
                  </a:ext>
                </a:extLst>
              </a:tr>
              <a:tr h="0">
                <a:tc>
                  <a:txBody>
                    <a:bodyPr/>
                    <a:lstStyle/>
                    <a:p>
                      <a:pPr fontAlgn="t"/>
                      <a:r>
                        <a:rPr lang="en-AU" b="0" dirty="0">
                          <a:solidFill>
                            <a:srgbClr val="666666"/>
                          </a:solidFill>
                          <a:effectLst/>
                          <a:latin typeface="Swiss721BT-Light"/>
                        </a:rPr>
                        <a:t>$120,001 – $180,000</a:t>
                      </a:r>
                    </a:p>
                  </a:txBody>
                  <a:tcPr marL="76200" marR="76200" marT="76200" marB="762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fontAlgn="t"/>
                      <a:r>
                        <a:rPr lang="en-AU" b="0" dirty="0">
                          <a:solidFill>
                            <a:srgbClr val="666666"/>
                          </a:solidFill>
                          <a:effectLst/>
                          <a:latin typeface="Swiss721BT-Light"/>
                        </a:rPr>
                        <a:t>$39,000 plus 37 cents for each $1 over $120,000</a:t>
                      </a:r>
                    </a:p>
                  </a:txBody>
                  <a:tcPr marL="76200" marR="76200" marT="76200" marB="762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669018913"/>
                  </a:ext>
                </a:extLst>
              </a:tr>
              <a:tr h="0">
                <a:tc>
                  <a:txBody>
                    <a:bodyPr/>
                    <a:lstStyle/>
                    <a:p>
                      <a:pPr fontAlgn="t"/>
                      <a:r>
                        <a:rPr lang="en-AU" b="0" dirty="0">
                          <a:solidFill>
                            <a:srgbClr val="666666"/>
                          </a:solidFill>
                          <a:effectLst/>
                          <a:latin typeface="Swiss721BT-Light"/>
                        </a:rPr>
                        <a:t>$180,001 and over</a:t>
                      </a:r>
                    </a:p>
                  </a:txBody>
                  <a:tcPr marL="76200" marR="76200" marT="76200" marB="762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fontAlgn="t"/>
                      <a:r>
                        <a:rPr lang="en-AU" b="0" dirty="0">
                          <a:solidFill>
                            <a:srgbClr val="666666"/>
                          </a:solidFill>
                          <a:effectLst/>
                          <a:latin typeface="Swiss721BT-Light"/>
                        </a:rPr>
                        <a:t>$61,200 plus 45 cents for each $1 over $180,000</a:t>
                      </a:r>
                    </a:p>
                  </a:txBody>
                  <a:tcPr marL="76200" marR="76200" marT="76200" marB="762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024954352"/>
                  </a:ext>
                </a:extLst>
              </a:tr>
            </a:tbl>
          </a:graphicData>
        </a:graphic>
      </p:graphicFrame>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lstStyle/>
          <a:p>
            <a:r>
              <a:rPr lang="en-US" dirty="0"/>
              <a:t>Individual Marginal Tax Rates</a:t>
            </a:r>
            <a:endParaRPr lang="en-AU" dirty="0"/>
          </a:p>
        </p:txBody>
      </p:sp>
      <p:sp>
        <p:nvSpPr>
          <p:cNvPr id="3" name="Rectangle 1">
            <a:extLst>
              <a:ext uri="{FF2B5EF4-FFF2-40B4-BE49-F238E27FC236}">
                <a16:creationId xmlns:a16="http://schemas.microsoft.com/office/drawing/2014/main" id="{025900C7-0C16-43A4-8452-2B1597AA31CE}"/>
              </a:ext>
            </a:extLst>
          </p:cNvPr>
          <p:cNvSpPr>
            <a:spLocks noChangeArrowheads="1"/>
          </p:cNvSpPr>
          <p:nvPr/>
        </p:nvSpPr>
        <p:spPr bwMode="auto">
          <a:xfrm>
            <a:off x="-110837" y="-128003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566148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lstStyle/>
          <a:p>
            <a:r>
              <a:rPr lang="en-US" dirty="0"/>
              <a:t>Individual Marginal Tax Rates</a:t>
            </a:r>
            <a:endParaRPr lang="en-AU" dirty="0"/>
          </a:p>
        </p:txBody>
      </p:sp>
      <p:sp>
        <p:nvSpPr>
          <p:cNvPr id="3" name="Rectangle 1">
            <a:extLst>
              <a:ext uri="{FF2B5EF4-FFF2-40B4-BE49-F238E27FC236}">
                <a16:creationId xmlns:a16="http://schemas.microsoft.com/office/drawing/2014/main" id="{025900C7-0C16-43A4-8452-2B1597AA31CE}"/>
              </a:ext>
            </a:extLst>
          </p:cNvPr>
          <p:cNvSpPr>
            <a:spLocks noChangeArrowheads="1"/>
          </p:cNvSpPr>
          <p:nvPr/>
        </p:nvSpPr>
        <p:spPr bwMode="auto">
          <a:xfrm>
            <a:off x="-110837" y="-128003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7" name="Content Placeholder 6">
            <a:extLst>
              <a:ext uri="{FF2B5EF4-FFF2-40B4-BE49-F238E27FC236}">
                <a16:creationId xmlns:a16="http://schemas.microsoft.com/office/drawing/2014/main" id="{906AB1E5-A6E3-4055-8022-F67C3358A56E}"/>
              </a:ext>
            </a:extLst>
          </p:cNvPr>
          <p:cNvGraphicFramePr>
            <a:graphicFrameLocks noGrp="1"/>
          </p:cNvGraphicFramePr>
          <p:nvPr>
            <p:ph idx="1"/>
            <p:extLst>
              <p:ext uri="{D42A27DB-BD31-4B8C-83A1-F6EECF244321}">
                <p14:modId xmlns:p14="http://schemas.microsoft.com/office/powerpoint/2010/main" val="1814878176"/>
              </p:ext>
            </p:extLst>
          </p:nvPr>
        </p:nvGraphicFramePr>
        <p:xfrm>
          <a:off x="727363" y="1250754"/>
          <a:ext cx="10515600" cy="2545400"/>
        </p:xfrm>
        <a:graphic>
          <a:graphicData uri="http://schemas.openxmlformats.org/drawingml/2006/table">
            <a:tbl>
              <a:tblPr/>
              <a:tblGrid>
                <a:gridCol w="4297024">
                  <a:extLst>
                    <a:ext uri="{9D8B030D-6E8A-4147-A177-3AD203B41FA5}">
                      <a16:colId xmlns:a16="http://schemas.microsoft.com/office/drawing/2014/main" val="3443937453"/>
                    </a:ext>
                  </a:extLst>
                </a:gridCol>
                <a:gridCol w="6218576">
                  <a:extLst>
                    <a:ext uri="{9D8B030D-6E8A-4147-A177-3AD203B41FA5}">
                      <a16:colId xmlns:a16="http://schemas.microsoft.com/office/drawing/2014/main" val="76297425"/>
                    </a:ext>
                  </a:extLst>
                </a:gridCol>
              </a:tblGrid>
              <a:tr h="411800">
                <a:tc gridSpan="2">
                  <a:txBody>
                    <a:bodyPr/>
                    <a:lstStyle/>
                    <a:p>
                      <a:r>
                        <a:rPr lang="en-AU" dirty="0"/>
                        <a:t>Working holiday maker tax rates 2023–2</a:t>
                      </a:r>
                    </a:p>
                  </a:txBody>
                  <a:tcPr anchor="ctr">
                    <a:solidFill>
                      <a:srgbClr val="FFFFFF"/>
                    </a:solidFill>
                  </a:tcPr>
                </a:tc>
                <a:tc hMerge="1">
                  <a:txBody>
                    <a:bodyPr/>
                    <a:lstStyle/>
                    <a:p>
                      <a:endParaRPr lang="en-AU"/>
                    </a:p>
                  </a:txBody>
                  <a:tcPr/>
                </a:tc>
                <a:extLst>
                  <a:ext uri="{0D108BD9-81ED-4DB2-BD59-A6C34878D82A}">
                    <a16:rowId xmlns:a16="http://schemas.microsoft.com/office/drawing/2014/main" val="3866840109"/>
                  </a:ext>
                </a:extLst>
              </a:tr>
              <a:tr h="0">
                <a:tc>
                  <a:txBody>
                    <a:bodyPr/>
                    <a:lstStyle/>
                    <a:p>
                      <a:pPr algn="l" fontAlgn="ctr"/>
                      <a:r>
                        <a:rPr lang="en-AU" b="0" dirty="0">
                          <a:solidFill>
                            <a:srgbClr val="666666"/>
                          </a:solidFill>
                          <a:effectLst/>
                          <a:latin typeface="Swiss721BT-Bold"/>
                        </a:rPr>
                        <a:t>Taxable income</a:t>
                      </a:r>
                    </a:p>
                  </a:txBody>
                  <a:tcPr marL="76200" marR="76200" marT="76200" marB="762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B w="6350" cap="flat" cmpd="sng" algn="ctr">
                      <a:solidFill>
                        <a:srgbClr val="CCCCCC"/>
                      </a:solidFill>
                      <a:prstDash val="solid"/>
                      <a:round/>
                      <a:headEnd type="none" w="med" len="med"/>
                      <a:tailEnd type="none" w="med" len="med"/>
                    </a:lnB>
                    <a:solidFill>
                      <a:srgbClr val="DDE1E2"/>
                    </a:solidFill>
                  </a:tcPr>
                </a:tc>
                <a:tc>
                  <a:txBody>
                    <a:bodyPr/>
                    <a:lstStyle/>
                    <a:p>
                      <a:pPr algn="l" fontAlgn="ctr"/>
                      <a:r>
                        <a:rPr lang="en-AU" b="0" dirty="0">
                          <a:solidFill>
                            <a:srgbClr val="666666"/>
                          </a:solidFill>
                          <a:effectLst/>
                          <a:latin typeface="Swiss721BT-Bold"/>
                        </a:rPr>
                        <a:t>Tax on this income</a:t>
                      </a:r>
                    </a:p>
                  </a:txBody>
                  <a:tcPr marL="76200" marR="76200" marT="76200" marB="762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DE1E2"/>
                    </a:solidFill>
                  </a:tcPr>
                </a:tc>
                <a:extLst>
                  <a:ext uri="{0D108BD9-81ED-4DB2-BD59-A6C34878D82A}">
                    <a16:rowId xmlns:a16="http://schemas.microsoft.com/office/drawing/2014/main" val="1963915692"/>
                  </a:ext>
                </a:extLst>
              </a:tr>
              <a:tr h="0">
                <a:tc>
                  <a:txBody>
                    <a:bodyPr/>
                    <a:lstStyle/>
                    <a:p>
                      <a:pPr fontAlgn="t"/>
                      <a:r>
                        <a:rPr lang="en-AU" b="0" dirty="0">
                          <a:solidFill>
                            <a:srgbClr val="666666"/>
                          </a:solidFill>
                          <a:effectLst/>
                          <a:latin typeface="Swiss721BT-Light"/>
                        </a:rPr>
                        <a:t>0 – $45,000</a:t>
                      </a:r>
                    </a:p>
                  </a:txBody>
                  <a:tcPr marL="76200" marR="76200" marT="76200" marB="762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fontAlgn="t"/>
                      <a:r>
                        <a:rPr lang="en-AU" b="0" dirty="0">
                          <a:solidFill>
                            <a:srgbClr val="666666"/>
                          </a:solidFill>
                          <a:effectLst/>
                          <a:latin typeface="Swiss721BT-Light"/>
                        </a:rPr>
                        <a:t>15%</a:t>
                      </a:r>
                    </a:p>
                  </a:txBody>
                  <a:tcPr marL="76200" marR="76200" marT="76200" marB="762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618173136"/>
                  </a:ext>
                </a:extLst>
              </a:tr>
              <a:tr h="0">
                <a:tc>
                  <a:txBody>
                    <a:bodyPr/>
                    <a:lstStyle/>
                    <a:p>
                      <a:pPr fontAlgn="t"/>
                      <a:r>
                        <a:rPr lang="en-AU" b="0" dirty="0">
                          <a:solidFill>
                            <a:srgbClr val="666666"/>
                          </a:solidFill>
                          <a:effectLst/>
                          <a:latin typeface="Swiss721BT-Light"/>
                        </a:rPr>
                        <a:t>$45,001 – $120,000</a:t>
                      </a:r>
                    </a:p>
                  </a:txBody>
                  <a:tcPr marL="76200" marR="76200" marT="76200" marB="762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fontAlgn="t"/>
                      <a:r>
                        <a:rPr lang="en-AU" b="0" dirty="0">
                          <a:solidFill>
                            <a:srgbClr val="666666"/>
                          </a:solidFill>
                          <a:effectLst/>
                          <a:latin typeface="Swiss721BT-Light"/>
                        </a:rPr>
                        <a:t>$6,750 plus 32.5 cents for each $1 over $45,000</a:t>
                      </a:r>
                    </a:p>
                  </a:txBody>
                  <a:tcPr marL="76200" marR="76200" marT="76200" marB="762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132949016"/>
                  </a:ext>
                </a:extLst>
              </a:tr>
              <a:tr h="0">
                <a:tc>
                  <a:txBody>
                    <a:bodyPr/>
                    <a:lstStyle/>
                    <a:p>
                      <a:pPr fontAlgn="t"/>
                      <a:r>
                        <a:rPr lang="en-AU" b="0" dirty="0">
                          <a:solidFill>
                            <a:srgbClr val="666666"/>
                          </a:solidFill>
                          <a:effectLst/>
                          <a:latin typeface="Swiss721BT-Light"/>
                        </a:rPr>
                        <a:t>$120,001 – $180,000</a:t>
                      </a:r>
                    </a:p>
                  </a:txBody>
                  <a:tcPr marL="76200" marR="76200" marT="76200" marB="762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fontAlgn="t"/>
                      <a:r>
                        <a:rPr lang="en-AU" b="0" dirty="0">
                          <a:solidFill>
                            <a:srgbClr val="666666"/>
                          </a:solidFill>
                          <a:effectLst/>
                          <a:latin typeface="Swiss721BT-Light"/>
                        </a:rPr>
                        <a:t>$31,125 plus 37 cents for each $1 over $120,000</a:t>
                      </a:r>
                    </a:p>
                  </a:txBody>
                  <a:tcPr marL="76200" marR="76200" marT="76200" marB="762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695530313"/>
                  </a:ext>
                </a:extLst>
              </a:tr>
              <a:tr h="0">
                <a:tc>
                  <a:txBody>
                    <a:bodyPr/>
                    <a:lstStyle/>
                    <a:p>
                      <a:pPr fontAlgn="t"/>
                      <a:r>
                        <a:rPr lang="en-AU" b="0" dirty="0">
                          <a:solidFill>
                            <a:srgbClr val="666666"/>
                          </a:solidFill>
                          <a:effectLst/>
                          <a:latin typeface="Swiss721BT-Light"/>
                        </a:rPr>
                        <a:t>$180,001 and over</a:t>
                      </a:r>
                    </a:p>
                  </a:txBody>
                  <a:tcPr marL="76200" marR="76200" marT="76200" marB="762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fontAlgn="t"/>
                      <a:r>
                        <a:rPr lang="en-AU" b="0" dirty="0">
                          <a:solidFill>
                            <a:srgbClr val="666666"/>
                          </a:solidFill>
                          <a:effectLst/>
                          <a:latin typeface="Swiss721BT-Light"/>
                        </a:rPr>
                        <a:t>$53,325 plus 45 cents for each $1 over $180,000</a:t>
                      </a:r>
                    </a:p>
                  </a:txBody>
                  <a:tcPr marL="76200" marR="76200" marT="76200" marB="762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731665281"/>
                  </a:ext>
                </a:extLst>
              </a:tr>
            </a:tbl>
          </a:graphicData>
        </a:graphic>
      </p:graphicFrame>
      <p:sp>
        <p:nvSpPr>
          <p:cNvPr id="10" name="TextBox 9">
            <a:extLst>
              <a:ext uri="{FF2B5EF4-FFF2-40B4-BE49-F238E27FC236}">
                <a16:creationId xmlns:a16="http://schemas.microsoft.com/office/drawing/2014/main" id="{28E53929-4B0D-450E-BCD0-6C4D6F9B1EA4}"/>
              </a:ext>
            </a:extLst>
          </p:cNvPr>
          <p:cNvSpPr txBox="1"/>
          <p:nvPr/>
        </p:nvSpPr>
        <p:spPr>
          <a:xfrm>
            <a:off x="628650" y="4220117"/>
            <a:ext cx="6097604" cy="923330"/>
          </a:xfrm>
          <a:prstGeom prst="rect">
            <a:avLst/>
          </a:prstGeom>
          <a:noFill/>
        </p:spPr>
        <p:txBody>
          <a:bodyPr wrap="square">
            <a:spAutoFit/>
          </a:bodyPr>
          <a:lstStyle/>
          <a:p>
            <a:pPr algn="l"/>
            <a:r>
              <a:rPr lang="en-AU" b="0" i="0" dirty="0">
                <a:solidFill>
                  <a:srgbClr val="666666"/>
                </a:solidFill>
                <a:effectLst/>
                <a:latin typeface="Swiss721BT-Light"/>
              </a:rPr>
              <a:t>You are a working holiday maker if you have a visa subclass:</a:t>
            </a:r>
          </a:p>
          <a:p>
            <a:pPr algn="l">
              <a:buFont typeface="Arial" panose="020B0604020202020204" pitchFamily="34" charset="0"/>
              <a:buChar char="•"/>
            </a:pPr>
            <a:r>
              <a:rPr lang="en-AU" b="0" i="0" dirty="0">
                <a:solidFill>
                  <a:srgbClr val="666666"/>
                </a:solidFill>
                <a:effectLst/>
                <a:latin typeface="Swiss721BT-Light"/>
              </a:rPr>
              <a:t>417 (Working Holiday)</a:t>
            </a:r>
          </a:p>
          <a:p>
            <a:pPr algn="l">
              <a:buFont typeface="Arial" panose="020B0604020202020204" pitchFamily="34" charset="0"/>
              <a:buChar char="•"/>
            </a:pPr>
            <a:r>
              <a:rPr lang="en-AU" b="0" i="0" dirty="0">
                <a:solidFill>
                  <a:srgbClr val="666666"/>
                </a:solidFill>
                <a:effectLst/>
                <a:latin typeface="Swiss721BT-Light"/>
              </a:rPr>
              <a:t>462 (Work and Holiday).</a:t>
            </a:r>
          </a:p>
        </p:txBody>
      </p:sp>
    </p:spTree>
    <p:extLst>
      <p:ext uri="{BB962C8B-B14F-4D97-AF65-F5344CB8AC3E}">
        <p14:creationId xmlns:p14="http://schemas.microsoft.com/office/powerpoint/2010/main" val="28278626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a:xfrm>
            <a:off x="628650" y="1264671"/>
            <a:ext cx="10934700" cy="4924094"/>
          </a:xfrm>
        </p:spPr>
        <p:txBody>
          <a:bodyPr>
            <a:normAutofit lnSpcReduction="10000"/>
          </a:bodyPr>
          <a:lstStyle/>
          <a:p>
            <a:r>
              <a:rPr lang="en-US" sz="2000" dirty="0"/>
              <a:t>3 Basic Tests:</a:t>
            </a:r>
          </a:p>
          <a:p>
            <a:pPr marL="0" indent="0">
              <a:buNone/>
            </a:pPr>
            <a:endParaRPr lang="en-US" sz="2000" dirty="0"/>
          </a:p>
          <a:p>
            <a:pPr lvl="1"/>
            <a:r>
              <a:rPr lang="en-US" sz="2000" dirty="0"/>
              <a:t>Test 1  -   Resides under “Ordinary Concepts” test</a:t>
            </a:r>
          </a:p>
          <a:p>
            <a:pPr marL="457200" lvl="1" indent="0">
              <a:buNone/>
            </a:pPr>
            <a:endParaRPr lang="en-US" sz="2000" dirty="0"/>
          </a:p>
          <a:p>
            <a:pPr lvl="1"/>
            <a:r>
              <a:rPr lang="en-US" sz="2000" dirty="0"/>
              <a:t>Test 2-    “Domicile test” </a:t>
            </a:r>
            <a:endParaRPr lang="en-US" sz="1700" dirty="0"/>
          </a:p>
          <a:p>
            <a:pPr lvl="2"/>
            <a:endParaRPr lang="en-US" sz="1700" dirty="0"/>
          </a:p>
          <a:p>
            <a:pPr lvl="1"/>
            <a:r>
              <a:rPr lang="en-US" sz="2000" dirty="0"/>
              <a:t>Test 3-   “183 day” test</a:t>
            </a:r>
          </a:p>
          <a:p>
            <a:pPr marL="457200" lvl="1" indent="0">
              <a:buNone/>
            </a:pPr>
            <a:endParaRPr lang="en-US" sz="2000" dirty="0"/>
          </a:p>
          <a:p>
            <a:pPr marL="457200" lvl="1" indent="0">
              <a:buNone/>
            </a:pPr>
            <a:r>
              <a:rPr lang="en-US" sz="2000" i="1" dirty="0"/>
              <a:t> Note: No “bright line test” of days in Aus per se.</a:t>
            </a:r>
          </a:p>
          <a:p>
            <a:pPr marL="457200" lvl="1" indent="0">
              <a:buNone/>
            </a:pPr>
            <a:endParaRPr lang="en-US" sz="2000" i="1" dirty="0"/>
          </a:p>
          <a:p>
            <a:r>
              <a:rPr lang="en-US" sz="2000" dirty="0"/>
              <a:t>Individual is tax resident if any </a:t>
            </a:r>
            <a:r>
              <a:rPr lang="en-US" sz="2000" u="sng" dirty="0"/>
              <a:t>one</a:t>
            </a:r>
            <a:r>
              <a:rPr lang="en-US" sz="2000" dirty="0"/>
              <a:t> of the three tests is passed.</a:t>
            </a:r>
          </a:p>
          <a:p>
            <a:r>
              <a:rPr lang="en-US" sz="2000" dirty="0"/>
              <a:t>Residency can change – needs to be assessed each year </a:t>
            </a:r>
          </a:p>
          <a:p>
            <a:r>
              <a:rPr lang="en-US" sz="2000" dirty="0"/>
              <a:t>Can be resident for whole or part of year</a:t>
            </a:r>
          </a:p>
          <a:p>
            <a:r>
              <a:rPr lang="en-US" sz="2000" dirty="0"/>
              <a:t>Self assessment applies </a:t>
            </a:r>
          </a:p>
          <a:p>
            <a:endParaRPr lang="en-US"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lstStyle/>
          <a:p>
            <a:r>
              <a:rPr lang="en-US" dirty="0"/>
              <a:t>Australian Tax Residency Definition for Individuals</a:t>
            </a:r>
            <a:endParaRPr lang="en-AU" dirty="0"/>
          </a:p>
        </p:txBody>
      </p:sp>
    </p:spTree>
    <p:extLst>
      <p:ext uri="{BB962C8B-B14F-4D97-AF65-F5344CB8AC3E}">
        <p14:creationId xmlns:p14="http://schemas.microsoft.com/office/powerpoint/2010/main" val="2518238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p:txBody>
          <a:bodyPr/>
          <a:lstStyle/>
          <a:p>
            <a:endParaRPr lang="en-US" dirty="0"/>
          </a:p>
          <a:p>
            <a:r>
              <a:rPr lang="en-US" sz="2000" dirty="0"/>
              <a:t>This test simply considers whether someone “resides” in Australia under ordinary concepts.</a:t>
            </a:r>
          </a:p>
          <a:p>
            <a:r>
              <a:rPr lang="en-US" sz="2000" dirty="0"/>
              <a:t>“Resides” is not legislatively defined</a:t>
            </a:r>
          </a:p>
          <a:p>
            <a:r>
              <a:rPr lang="en-US" sz="2000" dirty="0"/>
              <a:t>Resides generally understood to mean to “dwell permanently” in contrast to temporarily and casually.</a:t>
            </a:r>
          </a:p>
          <a:p>
            <a:r>
              <a:rPr lang="en-US" sz="2000" dirty="0"/>
              <a:t>Looks at persons </a:t>
            </a:r>
            <a:r>
              <a:rPr lang="en-US" sz="2000" b="1" dirty="0"/>
              <a:t>presence</a:t>
            </a:r>
            <a:r>
              <a:rPr lang="en-US" sz="2000" dirty="0"/>
              <a:t> and </a:t>
            </a:r>
            <a:r>
              <a:rPr lang="en-US" sz="2000" b="1" dirty="0"/>
              <a:t>connection</a:t>
            </a:r>
            <a:r>
              <a:rPr lang="en-US" sz="2000" dirty="0"/>
              <a:t> to Australia.</a:t>
            </a:r>
          </a:p>
          <a:p>
            <a:r>
              <a:rPr lang="en-US" sz="2000" dirty="0"/>
              <a:t>All facts and circumstances are relevant</a:t>
            </a:r>
          </a:p>
          <a:p>
            <a:pPr marL="0" indent="0">
              <a:buNone/>
            </a:pPr>
            <a:endParaRPr lang="en-US" sz="24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fontScale="90000"/>
          </a:bodyPr>
          <a:lstStyle/>
          <a:p>
            <a:r>
              <a:rPr lang="en-US" dirty="0"/>
              <a:t>Individual Residency- Test 1 “Resides under Ordinary Concepts”</a:t>
            </a:r>
            <a:endParaRPr lang="en-AU" dirty="0"/>
          </a:p>
        </p:txBody>
      </p:sp>
    </p:spTree>
    <p:extLst>
      <p:ext uri="{BB962C8B-B14F-4D97-AF65-F5344CB8AC3E}">
        <p14:creationId xmlns:p14="http://schemas.microsoft.com/office/powerpoint/2010/main" val="19669773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p:txBody>
          <a:bodyPr/>
          <a:lstStyle/>
          <a:p>
            <a:endParaRPr lang="en-US" dirty="0"/>
          </a:p>
          <a:p>
            <a:r>
              <a:rPr lang="en-US" sz="2000" b="1" dirty="0"/>
              <a:t>Common factors to consider:</a:t>
            </a:r>
          </a:p>
          <a:p>
            <a:pPr lvl="1"/>
            <a:r>
              <a:rPr lang="en-US" sz="2000" dirty="0"/>
              <a:t>Period of presence in Australia</a:t>
            </a:r>
          </a:p>
          <a:p>
            <a:pPr lvl="2"/>
            <a:r>
              <a:rPr lang="en-US" sz="1600" dirty="0"/>
              <a:t>General 6-month rule of thumb  TD 2022/D2</a:t>
            </a:r>
          </a:p>
          <a:p>
            <a:pPr lvl="1"/>
            <a:r>
              <a:rPr lang="en-US" sz="2000" dirty="0"/>
              <a:t>Intention or purpose of presence</a:t>
            </a:r>
          </a:p>
          <a:p>
            <a:pPr lvl="2"/>
            <a:r>
              <a:rPr lang="en-US" sz="1600" dirty="0"/>
              <a:t>Long-term employment v Holiday</a:t>
            </a:r>
          </a:p>
          <a:p>
            <a:pPr lvl="1"/>
            <a:r>
              <a:rPr lang="en-US" sz="2000" dirty="0"/>
              <a:t>Family, business or employment ties</a:t>
            </a:r>
          </a:p>
          <a:p>
            <a:pPr lvl="1"/>
            <a:r>
              <a:rPr lang="en-US" sz="2000" dirty="0"/>
              <a:t>Maintenance and location of assets</a:t>
            </a:r>
          </a:p>
          <a:p>
            <a:pPr lvl="1"/>
            <a:r>
              <a:rPr lang="en-US" sz="2000" dirty="0"/>
              <a:t>Social and living arrangements</a:t>
            </a:r>
          </a:p>
          <a:p>
            <a:pPr lvl="2"/>
            <a:r>
              <a:rPr lang="en-US" sz="1600" dirty="0"/>
              <a:t>Buying a property or entering into long term lease</a:t>
            </a:r>
          </a:p>
          <a:p>
            <a:pPr lvl="2"/>
            <a:r>
              <a:rPr lang="en-US" sz="1600" dirty="0"/>
              <a:t>Joining clubs or community organisations</a:t>
            </a:r>
          </a:p>
          <a:p>
            <a:pPr lvl="2"/>
            <a:r>
              <a:rPr lang="en-US" sz="1600" dirty="0"/>
              <a:t>Enrolling children in schools</a:t>
            </a:r>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fontScale="90000"/>
          </a:bodyPr>
          <a:lstStyle/>
          <a:p>
            <a:r>
              <a:rPr lang="en-US" dirty="0"/>
              <a:t>Individual Residency- Test 1 “Resides under Ordinary Concepts”</a:t>
            </a:r>
            <a:endParaRPr lang="en-AU" dirty="0"/>
          </a:p>
        </p:txBody>
      </p:sp>
    </p:spTree>
    <p:extLst>
      <p:ext uri="{BB962C8B-B14F-4D97-AF65-F5344CB8AC3E}">
        <p14:creationId xmlns:p14="http://schemas.microsoft.com/office/powerpoint/2010/main" val="2105624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p:txBody>
          <a:bodyPr>
            <a:normAutofit/>
          </a:bodyPr>
          <a:lstStyle/>
          <a:p>
            <a:endParaRPr lang="en-US" dirty="0"/>
          </a:p>
          <a:p>
            <a:r>
              <a:rPr lang="en-US" sz="2200" dirty="0"/>
              <a:t>Australian resident if persons “domicile” is Australian, unless the Commissioner satisfied that the person’s place of abode is outside of Australia</a:t>
            </a:r>
          </a:p>
          <a:p>
            <a:r>
              <a:rPr lang="en-US" sz="2200" dirty="0"/>
              <a:t>More relevant test for people who have been living in Australia, but who have departed Australia</a:t>
            </a:r>
          </a:p>
          <a:p>
            <a:r>
              <a:rPr lang="en-US" sz="2200" dirty="0"/>
              <a:t>Australian domicile:  </a:t>
            </a:r>
          </a:p>
          <a:p>
            <a:pPr lvl="1"/>
            <a:r>
              <a:rPr lang="en-US" sz="1800" dirty="0"/>
              <a:t>Legal concept</a:t>
            </a:r>
          </a:p>
          <a:p>
            <a:pPr lvl="2"/>
            <a:r>
              <a:rPr lang="en-US" sz="1800" dirty="0"/>
              <a:t>Domicile of Origin  (attributed at birth)</a:t>
            </a:r>
          </a:p>
          <a:p>
            <a:pPr lvl="2"/>
            <a:r>
              <a:rPr lang="en-US" sz="1800" dirty="0"/>
              <a:t>Domicile of dependence (relevant to persons who lack legal capacity themselves)</a:t>
            </a:r>
          </a:p>
          <a:p>
            <a:pPr lvl="2"/>
            <a:r>
              <a:rPr lang="en-US" sz="1800" dirty="0"/>
              <a:t>Domicile of Choice</a:t>
            </a:r>
          </a:p>
          <a:p>
            <a:r>
              <a:rPr lang="en-US" sz="2000" dirty="0"/>
              <a:t>Permanent place of abode overseas does not need to be everlasting or forever – to be contrasted with temporary or transitory)</a:t>
            </a:r>
          </a:p>
          <a:p>
            <a:pPr lvl="1"/>
            <a:r>
              <a:rPr lang="en-US" sz="1800" dirty="0"/>
              <a:t>ATO rule of thumb – 2 years overseas generally taken to be “permanent”  :TR 2022/D2</a:t>
            </a:r>
          </a:p>
          <a:p>
            <a:endParaRPr lang="en-US" sz="24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a:bodyPr>
          <a:lstStyle/>
          <a:p>
            <a:r>
              <a:rPr lang="en-US" dirty="0"/>
              <a:t>Individual Residency- Test 2 “Domicile”</a:t>
            </a:r>
            <a:endParaRPr lang="en-AU" dirty="0"/>
          </a:p>
        </p:txBody>
      </p:sp>
    </p:spTree>
    <p:extLst>
      <p:ext uri="{BB962C8B-B14F-4D97-AF65-F5344CB8AC3E}">
        <p14:creationId xmlns:p14="http://schemas.microsoft.com/office/powerpoint/2010/main" val="1093580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p:txBody>
          <a:bodyPr>
            <a:normAutofit/>
          </a:bodyPr>
          <a:lstStyle/>
          <a:p>
            <a:pPr marL="0" indent="0">
              <a:buNone/>
            </a:pPr>
            <a:endParaRPr lang="en-US" dirty="0"/>
          </a:p>
          <a:p>
            <a:r>
              <a:rPr lang="en-US" sz="2000" dirty="0"/>
              <a:t>Australian resident is person has been in Australia continuously or intermittently , during more than one half of income year, unless the Commissioner is satisfied that:</a:t>
            </a:r>
          </a:p>
          <a:p>
            <a:pPr marL="0" indent="0">
              <a:buNone/>
            </a:pPr>
            <a:endParaRPr lang="en-US" sz="2000" dirty="0"/>
          </a:p>
          <a:p>
            <a:pPr lvl="1"/>
            <a:r>
              <a:rPr lang="en-US" sz="1800" dirty="0"/>
              <a:t>Person’s usual place of abode is outside Australia AND</a:t>
            </a:r>
          </a:p>
          <a:p>
            <a:pPr lvl="1"/>
            <a:r>
              <a:rPr lang="en-US" sz="1800" dirty="0"/>
              <a:t>Person does not intend to take up residency in Australia</a:t>
            </a:r>
          </a:p>
          <a:p>
            <a:pPr marL="457200" lvl="1" indent="0">
              <a:buNone/>
            </a:pPr>
            <a:r>
              <a:rPr lang="en-US" sz="1800" dirty="0"/>
              <a:t> </a:t>
            </a:r>
          </a:p>
          <a:p>
            <a:r>
              <a:rPr lang="en-US" sz="2000" dirty="0"/>
              <a:t>More relevant test for inbounds, who may not be residing here under normal concepts </a:t>
            </a:r>
          </a:p>
          <a:p>
            <a:r>
              <a:rPr lang="en-US" sz="2000" dirty="0"/>
              <a:t>May capture people in Australia for a prolonged period unless they are really just “visitors”.</a:t>
            </a:r>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a:bodyPr>
          <a:lstStyle/>
          <a:p>
            <a:r>
              <a:rPr lang="en-US" dirty="0"/>
              <a:t>Individual Residency- Test 3 “183 Day test”</a:t>
            </a:r>
            <a:endParaRPr lang="en-AU" dirty="0"/>
          </a:p>
        </p:txBody>
      </p:sp>
    </p:spTree>
    <p:extLst>
      <p:ext uri="{BB962C8B-B14F-4D97-AF65-F5344CB8AC3E}">
        <p14:creationId xmlns:p14="http://schemas.microsoft.com/office/powerpoint/2010/main" val="12784821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p:txBody>
          <a:bodyPr>
            <a:normAutofit/>
          </a:bodyPr>
          <a:lstStyle/>
          <a:p>
            <a:pPr marL="0" indent="0">
              <a:buNone/>
            </a:pPr>
            <a:endParaRPr lang="en-US" sz="2000" dirty="0"/>
          </a:p>
          <a:p>
            <a:r>
              <a:rPr lang="en-US" sz="2000" dirty="0"/>
              <a:t>Temporary resident for tax purposes:</a:t>
            </a:r>
          </a:p>
          <a:p>
            <a:pPr lvl="1"/>
            <a:r>
              <a:rPr lang="en-US" sz="1800" dirty="0"/>
              <a:t>A person in Australia under a temporary entry visa if neither they or their spouse is an Australian resident for migration purposes  (e.g. an Australian citizen or the holder of permanent residency)</a:t>
            </a:r>
          </a:p>
          <a:p>
            <a:r>
              <a:rPr lang="en-US" sz="2000" dirty="0"/>
              <a:t>Only subject to income tax on their Australian sourced income and worldwide employment income</a:t>
            </a:r>
          </a:p>
          <a:p>
            <a:r>
              <a:rPr lang="en-US" sz="2000" dirty="0"/>
              <a:t>Only subject to CGT on the sale of “taxable Australian property”</a:t>
            </a:r>
          </a:p>
          <a:p>
            <a:r>
              <a:rPr lang="en-US" sz="2000" dirty="0"/>
              <a:t>Application to Kiwis:</a:t>
            </a:r>
          </a:p>
          <a:p>
            <a:pPr lvl="1"/>
            <a:r>
              <a:rPr lang="en-US" sz="1800" dirty="0"/>
              <a:t>NZ citizens entering Australia generally enter under a Special Category Visa that allows them to live and work in Australia indefinitely is accepted by the ATO as a temporary entry visa   TD 2012/18  </a:t>
            </a:r>
          </a:p>
          <a:p>
            <a:pPr marL="0" indent="0">
              <a:buNone/>
            </a:pPr>
            <a:r>
              <a:rPr lang="en-US" sz="2000" b="1" dirty="0">
                <a:highlight>
                  <a:srgbClr val="FFFF00"/>
                </a:highlight>
              </a:rPr>
              <a:t>PRACTICE POINT :  </a:t>
            </a:r>
            <a:r>
              <a:rPr lang="en-US" sz="2000" dirty="0">
                <a:highlight>
                  <a:srgbClr val="FFFF00"/>
                </a:highlight>
              </a:rPr>
              <a:t>In many cases Kiwis relocating to Australia may be tax advantaged by not taking up Australian citizenship or permanent residence -  AND DON’T MARRY AN AUSSIE!</a:t>
            </a:r>
          </a:p>
          <a:p>
            <a:pPr marL="914400" lvl="2" indent="0">
              <a:buNone/>
            </a:pPr>
            <a:endParaRPr lang="en-US" sz="1200" dirty="0"/>
          </a:p>
          <a:p>
            <a:pPr lvl="2"/>
            <a:endParaRPr lang="en-US" sz="800" dirty="0"/>
          </a:p>
          <a:p>
            <a:endParaRPr lang="en-US" sz="2000" dirty="0"/>
          </a:p>
          <a:p>
            <a:endParaRPr lang="en-US" sz="20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a:bodyPr>
          <a:lstStyle/>
          <a:p>
            <a:r>
              <a:rPr lang="en-US" dirty="0"/>
              <a:t>Modified taxing rules for “Temporary Residents”</a:t>
            </a:r>
            <a:endParaRPr lang="en-AU" dirty="0"/>
          </a:p>
        </p:txBody>
      </p:sp>
    </p:spTree>
    <p:extLst>
      <p:ext uri="{BB962C8B-B14F-4D97-AF65-F5344CB8AC3E}">
        <p14:creationId xmlns:p14="http://schemas.microsoft.com/office/powerpoint/2010/main" val="34466499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p:txBody>
          <a:bodyPr/>
          <a:lstStyle/>
          <a:p>
            <a:endParaRPr lang="en-US" dirty="0"/>
          </a:p>
          <a:p>
            <a:r>
              <a:rPr lang="en-US" sz="2000" dirty="0"/>
              <a:t>Taxable Australian property is limited to:</a:t>
            </a:r>
          </a:p>
          <a:p>
            <a:pPr marL="0" indent="0">
              <a:buNone/>
            </a:pPr>
            <a:endParaRPr lang="en-US" sz="2000" dirty="0"/>
          </a:p>
          <a:p>
            <a:pPr lvl="1">
              <a:buFont typeface="Wingdings" panose="05000000000000000000" pitchFamily="2" charset="2"/>
              <a:buChar char="Ø"/>
            </a:pPr>
            <a:r>
              <a:rPr lang="en-US" sz="2000" dirty="0"/>
              <a:t>Real property (land and buildings) located in Australia</a:t>
            </a:r>
          </a:p>
          <a:p>
            <a:pPr marL="457200" lvl="1" indent="0">
              <a:buNone/>
            </a:pPr>
            <a:endParaRPr lang="en-US" sz="2000" dirty="0"/>
          </a:p>
          <a:p>
            <a:pPr lvl="1">
              <a:buFont typeface="Wingdings" panose="05000000000000000000" pitchFamily="2" charset="2"/>
              <a:buChar char="Ø"/>
            </a:pPr>
            <a:r>
              <a:rPr lang="en-US" sz="2000" dirty="0"/>
              <a:t>An indirect interest in Australian real property   (</a:t>
            </a:r>
            <a:r>
              <a:rPr lang="en-US" sz="2000" i="1" dirty="0"/>
              <a:t>requires a more than 10% interest AND majority of assets in entity to be business real property)</a:t>
            </a:r>
          </a:p>
          <a:p>
            <a:pPr marL="457200" lvl="1" indent="0">
              <a:buNone/>
            </a:pPr>
            <a:endParaRPr lang="en-US" sz="2000" dirty="0"/>
          </a:p>
          <a:p>
            <a:pPr lvl="1">
              <a:buFont typeface="Wingdings" panose="05000000000000000000" pitchFamily="2" charset="2"/>
              <a:buChar char="Ø"/>
            </a:pPr>
            <a:r>
              <a:rPr lang="en-US" sz="2000" dirty="0"/>
              <a:t>A business asset of a PE in Australia</a:t>
            </a:r>
            <a:br>
              <a:rPr lang="en-US" sz="2000" dirty="0"/>
            </a:br>
            <a:endParaRPr lang="en-US" sz="2000" dirty="0"/>
          </a:p>
          <a:p>
            <a:pPr lvl="1">
              <a:buFont typeface="Wingdings" panose="05000000000000000000" pitchFamily="2" charset="2"/>
              <a:buChar char="Ø"/>
            </a:pPr>
            <a:r>
              <a:rPr lang="en-US" sz="2000" dirty="0"/>
              <a:t>An option or right to acquire of the above</a:t>
            </a:r>
          </a:p>
          <a:p>
            <a:pPr marL="0" indent="0">
              <a:buNone/>
            </a:pPr>
            <a:endParaRPr lang="en-US" sz="2000" dirty="0"/>
          </a:p>
          <a:p>
            <a:pPr lvl="1"/>
            <a:endParaRPr lang="en-US" sz="2000" dirty="0"/>
          </a:p>
          <a:p>
            <a:pPr lvl="1"/>
            <a:endParaRPr lang="en-US" sz="2000" dirty="0"/>
          </a:p>
          <a:p>
            <a:pPr marL="457200" lvl="1" indent="0">
              <a:buNone/>
            </a:pPr>
            <a:endParaRPr lang="en-US" sz="2000" dirty="0"/>
          </a:p>
          <a:p>
            <a:pPr lvl="1"/>
            <a:endParaRPr lang="en-US" sz="2000" dirty="0"/>
          </a:p>
          <a:p>
            <a:pPr lvl="1"/>
            <a:endParaRPr lang="en-US"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a:bodyPr>
          <a:lstStyle/>
          <a:p>
            <a:r>
              <a:rPr lang="en-US" dirty="0"/>
              <a:t>CGT- What is taxable Australian property?</a:t>
            </a:r>
            <a:endParaRPr lang="en-AU" dirty="0"/>
          </a:p>
        </p:txBody>
      </p:sp>
    </p:spTree>
    <p:extLst>
      <p:ext uri="{BB962C8B-B14F-4D97-AF65-F5344CB8AC3E}">
        <p14:creationId xmlns:p14="http://schemas.microsoft.com/office/powerpoint/2010/main" val="3541957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a:xfrm>
            <a:off x="628650" y="1219200"/>
            <a:ext cx="10934700" cy="4662601"/>
          </a:xfrm>
        </p:spPr>
        <p:txBody>
          <a:bodyPr>
            <a:normAutofit/>
          </a:bodyPr>
          <a:lstStyle/>
          <a:p>
            <a:r>
              <a:rPr lang="en-US" sz="2000" dirty="0"/>
              <a:t>Kiwis commencing full Australian tax residency:</a:t>
            </a:r>
          </a:p>
          <a:p>
            <a:pPr lvl="1"/>
            <a:r>
              <a:rPr lang="en-US" sz="2000" dirty="0"/>
              <a:t>become potentially subject to Australian CGT on worldwide CGT assets</a:t>
            </a:r>
          </a:p>
          <a:p>
            <a:pPr lvl="1"/>
            <a:r>
              <a:rPr lang="en-US" sz="2000" dirty="0"/>
              <a:t>are deemed to acquire those CGT assets at market value when tax residency commences.</a:t>
            </a:r>
          </a:p>
          <a:p>
            <a:pPr marL="457200" lvl="1" indent="0">
              <a:buNone/>
            </a:pPr>
            <a:endParaRPr lang="en-US" dirty="0"/>
          </a:p>
          <a:p>
            <a:pPr marL="457200" lvl="1" indent="0">
              <a:buNone/>
            </a:pPr>
            <a:endParaRPr lang="en-US" sz="16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a:xfrm>
            <a:off x="628650" y="116637"/>
            <a:ext cx="10934700" cy="885628"/>
          </a:xfrm>
        </p:spPr>
        <p:txBody>
          <a:bodyPr>
            <a:normAutofit fontScale="90000"/>
          </a:bodyPr>
          <a:lstStyle/>
          <a:p>
            <a:r>
              <a:rPr lang="en-US" dirty="0"/>
              <a:t>Individual CGT Considerations-  commencing Australian tax residency</a:t>
            </a:r>
            <a:br>
              <a:rPr lang="en-US" sz="2200" dirty="0"/>
            </a:br>
            <a:br>
              <a:rPr lang="en-US" sz="2200" dirty="0"/>
            </a:br>
            <a:br>
              <a:rPr lang="en-US" sz="2200" dirty="0"/>
            </a:br>
            <a:br>
              <a:rPr lang="en-US" sz="2200" dirty="0"/>
            </a:br>
            <a:br>
              <a:rPr lang="en-US" sz="2200" dirty="0"/>
            </a:br>
            <a:br>
              <a:rPr lang="en-US" sz="2200" dirty="0"/>
            </a:br>
            <a:br>
              <a:rPr lang="en-US" sz="2200" dirty="0"/>
            </a:br>
            <a:br>
              <a:rPr lang="en-US" sz="2200" dirty="0"/>
            </a:br>
            <a:br>
              <a:rPr lang="en-US" sz="2200" dirty="0"/>
            </a:br>
            <a:br>
              <a:rPr lang="en-US" sz="2200" dirty="0"/>
            </a:br>
            <a:br>
              <a:rPr lang="en-US" sz="2200" dirty="0"/>
            </a:br>
            <a:br>
              <a:rPr lang="en-US" sz="2200" dirty="0"/>
            </a:br>
            <a:endParaRPr lang="en-AU" sz="2200" dirty="0"/>
          </a:p>
        </p:txBody>
      </p:sp>
    </p:spTree>
    <p:extLst>
      <p:ext uri="{BB962C8B-B14F-4D97-AF65-F5344CB8AC3E}">
        <p14:creationId xmlns:p14="http://schemas.microsoft.com/office/powerpoint/2010/main" val="4632205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a:xfrm>
            <a:off x="628650" y="1264670"/>
            <a:ext cx="10934700" cy="4963851"/>
          </a:xfrm>
        </p:spPr>
        <p:txBody>
          <a:bodyPr>
            <a:normAutofit fontScale="92500" lnSpcReduction="20000"/>
          </a:bodyPr>
          <a:lstStyle/>
          <a:p>
            <a:pPr marL="457200" lvl="1" indent="0">
              <a:buNone/>
            </a:pPr>
            <a:endParaRPr lang="en-US" sz="1600" dirty="0"/>
          </a:p>
          <a:p>
            <a:r>
              <a:rPr lang="en-US" sz="2000" dirty="0"/>
              <a:t>Important to consider “flow-on” CGT impact on connected entities of a person who commences Australian tax residency:</a:t>
            </a:r>
          </a:p>
          <a:p>
            <a:r>
              <a:rPr lang="en-US" sz="2000" dirty="0"/>
              <a:t>Trusts:</a:t>
            </a:r>
          </a:p>
          <a:p>
            <a:endParaRPr lang="en-US" sz="2000" dirty="0"/>
          </a:p>
          <a:p>
            <a:pPr lvl="1"/>
            <a:r>
              <a:rPr lang="en-US" sz="2000" u="sng" dirty="0"/>
              <a:t>Non-unit Trusts</a:t>
            </a:r>
            <a:r>
              <a:rPr lang="en-US" sz="2000" dirty="0"/>
              <a:t>:  A trust is considered an Australian resident trust for CGT purposes for an income year if at any time during the year at least one trustee is Australian tax resident OR central management and control is in Australia;</a:t>
            </a:r>
          </a:p>
          <a:p>
            <a:pPr marL="457200" lvl="1" indent="0">
              <a:buNone/>
            </a:pPr>
            <a:endParaRPr lang="en-US" sz="2000" dirty="0"/>
          </a:p>
          <a:p>
            <a:pPr lvl="1"/>
            <a:r>
              <a:rPr lang="en-US" sz="2000" u="sng" dirty="0"/>
              <a:t>Unit Trusts:</a:t>
            </a:r>
            <a:r>
              <a:rPr lang="en-US" sz="2000" dirty="0"/>
              <a:t> will be considered Australian resident trust for CGT purposes for an income year if:</a:t>
            </a:r>
          </a:p>
          <a:p>
            <a:pPr lvl="2"/>
            <a:r>
              <a:rPr lang="en-US" dirty="0"/>
              <a:t>there is property of the trust situated in Australia OR is carries on a business in Australia; and also</a:t>
            </a:r>
          </a:p>
          <a:p>
            <a:pPr lvl="2"/>
            <a:endParaRPr lang="en-US" dirty="0"/>
          </a:p>
          <a:p>
            <a:pPr lvl="2"/>
            <a:r>
              <a:rPr lang="en-US" dirty="0"/>
              <a:t>the central management and control of the trust is in Australia or Australian residents hold more than 50% of the beneficial interest in the income or property of the trust.</a:t>
            </a:r>
          </a:p>
          <a:p>
            <a:pPr marL="914400" lvl="2" indent="0">
              <a:buNone/>
            </a:pPr>
            <a:endParaRPr lang="en-US" dirty="0"/>
          </a:p>
          <a:p>
            <a:pPr>
              <a:buFont typeface="Wingdings" panose="05000000000000000000" pitchFamily="2" charset="2"/>
              <a:buChar char="v"/>
            </a:pPr>
            <a:r>
              <a:rPr lang="en-US" sz="1600" b="1" i="1" dirty="0"/>
              <a:t> </a:t>
            </a:r>
            <a:r>
              <a:rPr lang="en-US" sz="2200" b="1" i="1" dirty="0"/>
              <a:t>When a trust entity commences being Australian resident it also becomes subject to Australian CGT on its worldwide CGT assets</a:t>
            </a:r>
            <a:endParaRPr lang="en-US" sz="2200" b="1" dirty="0"/>
          </a:p>
          <a:p>
            <a:pPr lvl="1"/>
            <a:endParaRPr lang="en-US" sz="1600" dirty="0"/>
          </a:p>
          <a:p>
            <a:pPr lvl="1"/>
            <a:endParaRPr lang="en-US" sz="16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fontScale="90000"/>
          </a:bodyPr>
          <a:lstStyle/>
          <a:p>
            <a:r>
              <a:rPr lang="en-US" dirty="0"/>
              <a:t>CGT Considerations for connected entities-  Trusts commencing Australian tax residency</a:t>
            </a:r>
            <a:endParaRPr lang="en-AU" dirty="0"/>
          </a:p>
        </p:txBody>
      </p:sp>
    </p:spTree>
    <p:extLst>
      <p:ext uri="{BB962C8B-B14F-4D97-AF65-F5344CB8AC3E}">
        <p14:creationId xmlns:p14="http://schemas.microsoft.com/office/powerpoint/2010/main" val="26993684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p:txBody>
          <a:bodyPr>
            <a:normAutofit fontScale="55000" lnSpcReduction="20000"/>
          </a:bodyPr>
          <a:lstStyle/>
          <a:p>
            <a:pPr marL="457200" lvl="1" indent="0">
              <a:buNone/>
            </a:pPr>
            <a:endParaRPr lang="en-US" sz="1600" dirty="0"/>
          </a:p>
          <a:p>
            <a:r>
              <a:rPr lang="en-US" sz="2900" dirty="0"/>
              <a:t>Companies:</a:t>
            </a:r>
          </a:p>
          <a:p>
            <a:pPr lvl="1"/>
            <a:endParaRPr lang="en-US" sz="2300" dirty="0"/>
          </a:p>
          <a:p>
            <a:pPr lvl="1"/>
            <a:r>
              <a:rPr lang="en-US" sz="3300" dirty="0"/>
              <a:t>A company is Australian resident if either it is incorporated in Australia, or if </a:t>
            </a:r>
            <a:r>
              <a:rPr lang="en-US" sz="3300" u="sng" dirty="0"/>
              <a:t>not</a:t>
            </a:r>
            <a:r>
              <a:rPr lang="en-US" sz="3300" dirty="0"/>
              <a:t> incorporated in Australia it carries on business in Australia AND has either:</a:t>
            </a:r>
          </a:p>
          <a:p>
            <a:pPr lvl="2"/>
            <a:r>
              <a:rPr lang="en-US" sz="3300" dirty="0"/>
              <a:t> is central management and control in Australia OR </a:t>
            </a:r>
          </a:p>
          <a:p>
            <a:pPr lvl="2"/>
            <a:r>
              <a:rPr lang="en-US" sz="3300" dirty="0"/>
              <a:t> its voting power controlled by shareholders who are residents of Australia.</a:t>
            </a:r>
          </a:p>
          <a:p>
            <a:pPr lvl="1"/>
            <a:endParaRPr lang="en-US" sz="3300" dirty="0"/>
          </a:p>
          <a:p>
            <a:pPr lvl="1"/>
            <a:r>
              <a:rPr lang="en-US" sz="3300" dirty="0"/>
              <a:t>Bywater High Court Case:  2016:   location of central management and control is factually part of carrying on business.  i.e. can be an Australian resident company where key high-level decision is exercised from person(s) in Australia,  despite business or investment activities only taking place entirely offshore.</a:t>
            </a:r>
          </a:p>
          <a:p>
            <a:pPr marL="457200" lvl="1" indent="0">
              <a:buNone/>
            </a:pPr>
            <a:endParaRPr lang="en-US" sz="3300" dirty="0"/>
          </a:p>
          <a:p>
            <a:pPr lvl="1"/>
            <a:r>
              <a:rPr lang="en-US" sz="3300" dirty="0"/>
              <a:t>A government proposal exists to amend the corporate tax residency definition for companies to require a “significant economic connection with Australia”.  Introduced in 2020/21 budget but not yet legislated.</a:t>
            </a:r>
          </a:p>
          <a:p>
            <a:pPr marL="457200" lvl="1" indent="0">
              <a:buNone/>
            </a:pPr>
            <a:endParaRPr lang="en-US" sz="2000" dirty="0"/>
          </a:p>
          <a:p>
            <a:pPr lvl="1"/>
            <a:endParaRPr lang="en-US" sz="2900" dirty="0"/>
          </a:p>
          <a:p>
            <a:pPr>
              <a:buFont typeface="Wingdings" panose="05000000000000000000" pitchFamily="2" charset="2"/>
              <a:buChar char="v"/>
            </a:pPr>
            <a:r>
              <a:rPr lang="en-US" sz="2900" b="1" i="1" dirty="0"/>
              <a:t> If a non-Australian incorporated company becomes an Australian tax resident if is subject to income tax on its worldwide income, and Australian CGT on worldwide CGT assets.  </a:t>
            </a:r>
          </a:p>
          <a:p>
            <a:pPr lvl="1"/>
            <a:endParaRPr lang="en-US" sz="1600" dirty="0"/>
          </a:p>
          <a:p>
            <a:pPr lvl="1"/>
            <a:endParaRPr lang="en-US" sz="16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fontScale="90000"/>
          </a:bodyPr>
          <a:lstStyle/>
          <a:p>
            <a:r>
              <a:rPr lang="en-US" dirty="0"/>
              <a:t>CGT Considerations for connected entities-  Companies commencing Australian tax residency</a:t>
            </a:r>
            <a:endParaRPr lang="en-AU" dirty="0"/>
          </a:p>
        </p:txBody>
      </p:sp>
    </p:spTree>
    <p:extLst>
      <p:ext uri="{BB962C8B-B14F-4D97-AF65-F5344CB8AC3E}">
        <p14:creationId xmlns:p14="http://schemas.microsoft.com/office/powerpoint/2010/main" val="39821097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p:txBody>
          <a:bodyPr>
            <a:normAutofit lnSpcReduction="10000"/>
          </a:bodyPr>
          <a:lstStyle/>
          <a:p>
            <a:pPr marL="457200" lvl="1" indent="0">
              <a:buNone/>
            </a:pPr>
            <a:endParaRPr lang="en-US" sz="1600" dirty="0"/>
          </a:p>
          <a:p>
            <a:r>
              <a:rPr lang="en-US" sz="2200" dirty="0"/>
              <a:t>50% “CGT discount” generally applies to individuals or trusts that sell CGT assets after an ownership period of 12 months or more.</a:t>
            </a:r>
          </a:p>
          <a:p>
            <a:r>
              <a:rPr lang="en-US" sz="2200" dirty="0"/>
              <a:t>Prior to May 2012:</a:t>
            </a:r>
          </a:p>
          <a:p>
            <a:pPr lvl="1"/>
            <a:r>
              <a:rPr lang="en-US" sz="1800" dirty="0"/>
              <a:t>this was both fully available to Australian tax residents and foreign tax residents.</a:t>
            </a:r>
          </a:p>
          <a:p>
            <a:r>
              <a:rPr lang="en-US" sz="2200" dirty="0"/>
              <a:t>Post May 2012:</a:t>
            </a:r>
          </a:p>
          <a:p>
            <a:pPr lvl="1"/>
            <a:r>
              <a:rPr lang="en-US" sz="1800" dirty="0"/>
              <a:t> it is only available to Australian tax residents  (i.e. not foreign tax residents or temporary residents).</a:t>
            </a:r>
          </a:p>
          <a:p>
            <a:r>
              <a:rPr lang="en-US" sz="2200" dirty="0"/>
              <a:t>Apportionment relief applies for:</a:t>
            </a:r>
          </a:p>
          <a:p>
            <a:pPr lvl="1"/>
            <a:r>
              <a:rPr lang="en-US" sz="2000" dirty="0"/>
              <a:t>component of discount gain that accrued up to May 2012 for assets held since before that date.</a:t>
            </a:r>
          </a:p>
          <a:p>
            <a:pPr lvl="1"/>
            <a:r>
              <a:rPr lang="en-US" sz="2000" dirty="0"/>
              <a:t>periods of Australian tax residency post May 2012 </a:t>
            </a:r>
          </a:p>
          <a:p>
            <a:pPr lvl="1"/>
            <a:endParaRPr lang="en-US" sz="1600" dirty="0"/>
          </a:p>
          <a:p>
            <a:pPr marL="0" indent="0">
              <a:buNone/>
            </a:pPr>
            <a:r>
              <a:rPr lang="en-US" sz="2000" b="1" dirty="0">
                <a:highlight>
                  <a:srgbClr val="FFFF00"/>
                </a:highlight>
              </a:rPr>
              <a:t>PRACTICE POINT:   </a:t>
            </a:r>
            <a:r>
              <a:rPr lang="en-US" sz="2000" dirty="0">
                <a:highlight>
                  <a:srgbClr val="FFFF00"/>
                </a:highlight>
              </a:rPr>
              <a:t>Kiwis investing in Australian real property will not generally benefit from the CGT discount going forward.</a:t>
            </a:r>
          </a:p>
          <a:p>
            <a:pPr lvl="1"/>
            <a:endParaRPr lang="en-US" sz="16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a:bodyPr>
          <a:lstStyle/>
          <a:p>
            <a:r>
              <a:rPr lang="en-US" dirty="0"/>
              <a:t>CGT Discount </a:t>
            </a:r>
            <a:endParaRPr lang="en-AU" dirty="0"/>
          </a:p>
        </p:txBody>
      </p:sp>
    </p:spTree>
    <p:extLst>
      <p:ext uri="{BB962C8B-B14F-4D97-AF65-F5344CB8AC3E}">
        <p14:creationId xmlns:p14="http://schemas.microsoft.com/office/powerpoint/2010/main" val="42802826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p:txBody>
          <a:bodyPr>
            <a:normAutofit lnSpcReduction="10000"/>
          </a:bodyPr>
          <a:lstStyle/>
          <a:p>
            <a:pPr marL="457200" lvl="1" indent="0">
              <a:buNone/>
            </a:pPr>
            <a:endParaRPr lang="en-US" sz="1600" dirty="0"/>
          </a:p>
          <a:p>
            <a:r>
              <a:rPr lang="en-US" sz="2000" dirty="0"/>
              <a:t>Individuals can disregard capital gains on the sale of their main residence </a:t>
            </a:r>
          </a:p>
          <a:p>
            <a:r>
              <a:rPr lang="en-US" sz="2000" dirty="0"/>
              <a:t>To establish a home as a “main residence” an individual must factually live in the home for a sufficient period of time:</a:t>
            </a:r>
          </a:p>
          <a:p>
            <a:r>
              <a:rPr lang="en-US" sz="2000" dirty="0"/>
              <a:t>A home can continue to qualify as a main residence during periods of absence.</a:t>
            </a:r>
          </a:p>
          <a:p>
            <a:pPr lvl="1"/>
            <a:r>
              <a:rPr lang="en-US" sz="1800" dirty="0"/>
              <a:t>Up to 6 years is rented</a:t>
            </a:r>
          </a:p>
          <a:p>
            <a:pPr lvl="1"/>
            <a:r>
              <a:rPr lang="en-US" sz="1800" dirty="0"/>
              <a:t>Indefinitely if not rented.</a:t>
            </a:r>
          </a:p>
          <a:p>
            <a:r>
              <a:rPr lang="en-US" sz="2000" dirty="0"/>
              <a:t>From 1 July 2020 this CGT concession is no longer available to foreign residents.  (exceptions for sales due to certain life events such as death or marriage breakdown)</a:t>
            </a:r>
          </a:p>
          <a:p>
            <a:pPr marL="0" indent="0">
              <a:buNone/>
            </a:pPr>
            <a:r>
              <a:rPr lang="en-US" sz="2000" dirty="0"/>
              <a:t>   </a:t>
            </a:r>
          </a:p>
          <a:p>
            <a:pPr marL="0" indent="0">
              <a:buNone/>
            </a:pPr>
            <a:r>
              <a:rPr lang="en-US" sz="2000" b="1" dirty="0">
                <a:highlight>
                  <a:srgbClr val="FFFF00"/>
                </a:highlight>
              </a:rPr>
              <a:t>PRACTICE POINT</a:t>
            </a:r>
            <a:r>
              <a:rPr lang="en-US" sz="2000" dirty="0">
                <a:highlight>
                  <a:srgbClr val="FFFF00"/>
                </a:highlight>
              </a:rPr>
              <a:t>:   Non-Australian tax resident Kiwis who own a home in Australia that they previously lived in as their main residence cannot claim the CGT main exemption post 1 July 2020. The position may be different if they return to Australia and commence Australian tax residency again before selling the home.   </a:t>
            </a:r>
            <a:endParaRPr lang="en-US" sz="20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fontScale="90000"/>
          </a:bodyPr>
          <a:lstStyle/>
          <a:p>
            <a:r>
              <a:rPr lang="en-US" dirty="0"/>
              <a:t>CGT main residence exemption now only available to Australian tax residents</a:t>
            </a:r>
            <a:endParaRPr lang="en-AU" dirty="0"/>
          </a:p>
        </p:txBody>
      </p:sp>
    </p:spTree>
    <p:extLst>
      <p:ext uri="{BB962C8B-B14F-4D97-AF65-F5344CB8AC3E}">
        <p14:creationId xmlns:p14="http://schemas.microsoft.com/office/powerpoint/2010/main" val="9205179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p:txBody>
          <a:bodyPr>
            <a:normAutofit/>
          </a:bodyPr>
          <a:lstStyle/>
          <a:p>
            <a:pPr marL="457200" lvl="1" indent="0">
              <a:buNone/>
            </a:pPr>
            <a:endParaRPr lang="en-US" sz="1600" dirty="0"/>
          </a:p>
          <a:p>
            <a:endParaRPr lang="en-US" sz="16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a:bodyPr>
          <a:lstStyle/>
          <a:p>
            <a:r>
              <a:rPr lang="en-US" dirty="0"/>
              <a:t>Foreign Resident CGT withholding</a:t>
            </a:r>
            <a:endParaRPr lang="en-AU" dirty="0"/>
          </a:p>
        </p:txBody>
      </p:sp>
      <p:sp>
        <p:nvSpPr>
          <p:cNvPr id="6" name="Content Placeholder 2">
            <a:extLst>
              <a:ext uri="{FF2B5EF4-FFF2-40B4-BE49-F238E27FC236}">
                <a16:creationId xmlns:a16="http://schemas.microsoft.com/office/drawing/2014/main" id="{25FE29A4-01C1-45F5-94B5-1BC48B448607}"/>
              </a:ext>
            </a:extLst>
          </p:cNvPr>
          <p:cNvSpPr txBox="1">
            <a:spLocks/>
          </p:cNvSpPr>
          <p:nvPr/>
        </p:nvSpPr>
        <p:spPr>
          <a:xfrm>
            <a:off x="152401" y="1533228"/>
            <a:ext cx="10036628" cy="4603877"/>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200" dirty="0"/>
              <a:t>Applies from </a:t>
            </a:r>
            <a:r>
              <a:rPr lang="en-AU" sz="2200" b="1" dirty="0"/>
              <a:t>1 July 2016</a:t>
            </a:r>
          </a:p>
          <a:p>
            <a:r>
              <a:rPr lang="en-AU" sz="2200" dirty="0"/>
              <a:t>To assist collection of CGT liabilities if non-resident sells residential or commercial real property in Australia for ≥ $750k AUD </a:t>
            </a:r>
          </a:p>
          <a:p>
            <a:pPr marL="457200" lvl="1" indent="0">
              <a:buFont typeface="Arial" panose="020B0604020202020204" pitchFamily="34" charset="0"/>
              <a:buNone/>
            </a:pPr>
            <a:endParaRPr lang="en-AU" sz="500" dirty="0"/>
          </a:p>
          <a:p>
            <a:pPr lvl="1"/>
            <a:r>
              <a:rPr lang="en-AU" sz="2000" dirty="0"/>
              <a:t>Imposes a 12.5% withholding tax on foreign vendor </a:t>
            </a:r>
          </a:p>
          <a:p>
            <a:pPr lvl="1"/>
            <a:endParaRPr lang="en-AU" sz="2000" dirty="0"/>
          </a:p>
          <a:p>
            <a:pPr lvl="1"/>
            <a:r>
              <a:rPr lang="en-AU" sz="2000" dirty="0"/>
              <a:t>Purchaser pays:</a:t>
            </a:r>
          </a:p>
          <a:p>
            <a:pPr lvl="2"/>
            <a:r>
              <a:rPr lang="en-AU" dirty="0"/>
              <a:t>87.5% of purchase price to vendor</a:t>
            </a:r>
          </a:p>
          <a:p>
            <a:pPr lvl="2"/>
            <a:r>
              <a:rPr lang="en-AU" dirty="0"/>
              <a:t>12.5% of purchase price to ATO</a:t>
            </a:r>
          </a:p>
          <a:p>
            <a:pPr lvl="2"/>
            <a:endParaRPr lang="en-AU" sz="2200" dirty="0"/>
          </a:p>
          <a:p>
            <a:pPr lvl="1"/>
            <a:r>
              <a:rPr lang="en-AU" sz="2200" dirty="0"/>
              <a:t>Foreign resident vendor then required to lodge ITR and can claim &amp; pay tax on capital gain.  They can then claim a tax credit for the withholding amount</a:t>
            </a:r>
          </a:p>
          <a:p>
            <a:r>
              <a:rPr lang="en-AU" sz="2200" dirty="0"/>
              <a:t>In some cases, a foreign resident vendor can apply to the ATO for a variation of the withholding amount.</a:t>
            </a:r>
          </a:p>
          <a:p>
            <a:r>
              <a:rPr lang="en-AU" sz="2200" dirty="0"/>
              <a:t>Penalty on failure to withhold is equal to amount not withheld.</a:t>
            </a:r>
          </a:p>
          <a:p>
            <a:pPr lvl="1"/>
            <a:endParaRPr lang="en-AU" sz="2000" dirty="0"/>
          </a:p>
        </p:txBody>
      </p:sp>
    </p:spTree>
    <p:extLst>
      <p:ext uri="{BB962C8B-B14F-4D97-AF65-F5344CB8AC3E}">
        <p14:creationId xmlns:p14="http://schemas.microsoft.com/office/powerpoint/2010/main" val="17668520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p:txBody>
          <a:bodyPr>
            <a:normAutofit lnSpcReduction="10000"/>
          </a:bodyPr>
          <a:lstStyle/>
          <a:p>
            <a:endParaRPr lang="en-US" dirty="0"/>
          </a:p>
          <a:p>
            <a:r>
              <a:rPr lang="en-US" sz="2000" dirty="0"/>
              <a:t>Australia will tax an Australian resident on distributions of income or capital gains from a foreign trust of accumulated income (even if income was derived by the foreign trust at a time when the beneficiary was not an Australian tax resident).</a:t>
            </a:r>
          </a:p>
          <a:p>
            <a:r>
              <a:rPr lang="en-US" sz="2000" dirty="0"/>
              <a:t>Impacted trusts will include discretionary trusts, fixed trusts or deceased estates.</a:t>
            </a:r>
          </a:p>
          <a:p>
            <a:r>
              <a:rPr lang="en-US" sz="2000" dirty="0"/>
              <a:t>Exception where the distribution is attributable to “trust corpus”.</a:t>
            </a:r>
          </a:p>
          <a:p>
            <a:r>
              <a:rPr lang="en-US" sz="2000" dirty="0"/>
              <a:t>Exemptions may apply to Australian beneficiaries who meet the definition of a “temporary resident”</a:t>
            </a:r>
          </a:p>
          <a:p>
            <a:r>
              <a:rPr lang="en-US" sz="2000" dirty="0"/>
              <a:t>Area of ATO focus</a:t>
            </a:r>
          </a:p>
          <a:p>
            <a:endParaRPr lang="en-US" sz="2000" dirty="0"/>
          </a:p>
          <a:p>
            <a:pPr marL="0" indent="0">
              <a:buNone/>
            </a:pPr>
            <a:r>
              <a:rPr lang="en-US" sz="2000" b="1" dirty="0">
                <a:highlight>
                  <a:srgbClr val="FFFF00"/>
                </a:highlight>
              </a:rPr>
              <a:t>PRACTICE POINT</a:t>
            </a:r>
            <a:r>
              <a:rPr lang="en-US" sz="2000" dirty="0">
                <a:highlight>
                  <a:srgbClr val="FFFF00"/>
                </a:highlight>
              </a:rPr>
              <a:t>:  Trustees of NZ trusts should seek Australian tax advice when contemplating making distributions of accumulated income or gains to Australian resident beneficiaries.</a:t>
            </a:r>
            <a:endParaRPr lang="en-US" sz="2000" dirty="0"/>
          </a:p>
          <a:p>
            <a:pPr marL="0" indent="0">
              <a:buNone/>
            </a:pPr>
            <a:endParaRPr lang="en-US" sz="2000" dirty="0"/>
          </a:p>
          <a:p>
            <a:endParaRPr lang="en-US" sz="2000" dirty="0"/>
          </a:p>
          <a:p>
            <a:pPr marL="0" indent="0">
              <a:buNone/>
            </a:pPr>
            <a:endParaRPr lang="en-US" sz="2400" i="1" dirty="0"/>
          </a:p>
          <a:p>
            <a:pPr marL="0" indent="0">
              <a:buNone/>
            </a:pPr>
            <a:endParaRPr lang="en-US" dirty="0"/>
          </a:p>
          <a:p>
            <a:pPr marL="514350" indent="-514350">
              <a:buFont typeface="+mj-lt"/>
              <a:buAutoNum type="arabicPeriod"/>
            </a:pPr>
            <a:endParaRPr lang="en-US"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fontScale="90000"/>
          </a:bodyPr>
          <a:lstStyle/>
          <a:p>
            <a:r>
              <a:rPr lang="en-US" dirty="0"/>
              <a:t>99B- taxation of foreign trust distributions to Australian residents</a:t>
            </a:r>
            <a:endParaRPr lang="en-AU" dirty="0"/>
          </a:p>
        </p:txBody>
      </p:sp>
    </p:spTree>
    <p:extLst>
      <p:ext uri="{BB962C8B-B14F-4D97-AF65-F5344CB8AC3E}">
        <p14:creationId xmlns:p14="http://schemas.microsoft.com/office/powerpoint/2010/main" val="9428367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p:txBody>
          <a:bodyPr>
            <a:normAutofit/>
          </a:bodyPr>
          <a:lstStyle/>
          <a:p>
            <a:endParaRPr lang="en-US" dirty="0"/>
          </a:p>
          <a:p>
            <a:r>
              <a:rPr lang="en-US" sz="2000" dirty="0"/>
              <a:t>An individual or a trustee of a foreign trust for CGT purposes who is a foreign resident is not subject to Australian CGT on the direct sale of CGT assets that are </a:t>
            </a:r>
            <a:r>
              <a:rPr lang="en-US" sz="2000" u="sng" dirty="0"/>
              <a:t>not</a:t>
            </a:r>
            <a:r>
              <a:rPr lang="en-US" sz="2000" dirty="0"/>
              <a:t> Taxable Australian Property (TAP)  (section 855-40)</a:t>
            </a:r>
          </a:p>
          <a:p>
            <a:r>
              <a:rPr lang="en-US" sz="2000" dirty="0"/>
              <a:t>However, this exemption does </a:t>
            </a:r>
            <a:r>
              <a:rPr lang="en-US" sz="2000" u="sng" dirty="0"/>
              <a:t>not </a:t>
            </a:r>
            <a:r>
              <a:rPr lang="en-US" sz="2000" dirty="0"/>
              <a:t>apply to capital gains on the sale of non-TAP assets made by an Australian resident discretionary trust that are distributed to a foreign resident or temporary resident.   </a:t>
            </a:r>
            <a:r>
              <a:rPr lang="en-US" sz="2000" i="1" dirty="0"/>
              <a:t>Greensill case   &amp; TD 2019/D6</a:t>
            </a:r>
          </a:p>
          <a:p>
            <a:r>
              <a:rPr lang="en-US" sz="2000" dirty="0"/>
              <a:t>A specific CGT exemption only applies to capital gains on non- TAP assets made by fixed trusts that flow through to an individual non-resident or temporary resident.</a:t>
            </a:r>
          </a:p>
          <a:p>
            <a:pPr marL="0" indent="0">
              <a:buNone/>
            </a:pPr>
            <a:r>
              <a:rPr lang="en-US" sz="2000" dirty="0"/>
              <a:t>  </a:t>
            </a:r>
          </a:p>
          <a:p>
            <a:endParaRPr lang="en-US" sz="2400" i="1" dirty="0"/>
          </a:p>
          <a:p>
            <a:pPr marL="0" indent="0">
              <a:buNone/>
            </a:pPr>
            <a:endParaRPr lang="en-US" dirty="0"/>
          </a:p>
          <a:p>
            <a:pPr marL="514350" indent="-514350">
              <a:buFont typeface="+mj-lt"/>
              <a:buAutoNum type="arabicPeriod"/>
            </a:pPr>
            <a:endParaRPr lang="en-US"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fontScale="90000"/>
          </a:bodyPr>
          <a:lstStyle/>
          <a:p>
            <a:r>
              <a:rPr lang="en-US" dirty="0"/>
              <a:t>Australian resident discretionary trusts and distributions of capital gains to foreign or temporary residents</a:t>
            </a:r>
            <a:endParaRPr lang="en-AU" dirty="0"/>
          </a:p>
        </p:txBody>
      </p:sp>
    </p:spTree>
    <p:extLst>
      <p:ext uri="{BB962C8B-B14F-4D97-AF65-F5344CB8AC3E}">
        <p14:creationId xmlns:p14="http://schemas.microsoft.com/office/powerpoint/2010/main" val="13244944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p:txBody>
          <a:bodyPr>
            <a:normAutofit/>
          </a:bodyPr>
          <a:lstStyle/>
          <a:p>
            <a:endParaRPr lang="en-US" dirty="0"/>
          </a:p>
          <a:p>
            <a:pPr marL="0" indent="0">
              <a:buNone/>
            </a:pPr>
            <a:endParaRPr lang="en-US" sz="2000" dirty="0"/>
          </a:p>
          <a:p>
            <a:endParaRPr lang="en-US" sz="2400" i="1" dirty="0"/>
          </a:p>
          <a:p>
            <a:pPr marL="0" indent="0">
              <a:buNone/>
            </a:pPr>
            <a:endParaRPr lang="en-US" dirty="0"/>
          </a:p>
          <a:p>
            <a:pPr marL="514350" indent="-514350">
              <a:buFont typeface="+mj-lt"/>
              <a:buAutoNum type="arabicPeriod"/>
            </a:pPr>
            <a:endParaRPr lang="en-US"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fontScale="90000"/>
          </a:bodyPr>
          <a:lstStyle/>
          <a:p>
            <a:r>
              <a:rPr lang="en-US" dirty="0"/>
              <a:t>Australian resident discretionary trusts and distributions of capital gains to foreign or temporary residents</a:t>
            </a:r>
            <a:endParaRPr lang="en-AU" dirty="0"/>
          </a:p>
        </p:txBody>
      </p:sp>
      <p:graphicFrame>
        <p:nvGraphicFramePr>
          <p:cNvPr id="2" name="Table 2">
            <a:extLst>
              <a:ext uri="{FF2B5EF4-FFF2-40B4-BE49-F238E27FC236}">
                <a16:creationId xmlns:a16="http://schemas.microsoft.com/office/drawing/2014/main" id="{AD310093-3358-4968-A50F-F85374ECBE22}"/>
              </a:ext>
            </a:extLst>
          </p:cNvPr>
          <p:cNvGraphicFramePr>
            <a:graphicFrameLocks noGrp="1"/>
          </p:cNvGraphicFramePr>
          <p:nvPr>
            <p:extLst>
              <p:ext uri="{D42A27DB-BD31-4B8C-83A1-F6EECF244321}">
                <p14:modId xmlns:p14="http://schemas.microsoft.com/office/powerpoint/2010/main" val="364367349"/>
              </p:ext>
            </p:extLst>
          </p:nvPr>
        </p:nvGraphicFramePr>
        <p:xfrm>
          <a:off x="809592" y="1674795"/>
          <a:ext cx="9585692" cy="3931920"/>
        </p:xfrm>
        <a:graphic>
          <a:graphicData uri="http://schemas.openxmlformats.org/drawingml/2006/table">
            <a:tbl>
              <a:tblPr firstRow="1" bandRow="1">
                <a:tableStyleId>{5C22544A-7EE6-4342-B048-85BDC9FD1C3A}</a:tableStyleId>
              </a:tblPr>
              <a:tblGrid>
                <a:gridCol w="9585692">
                  <a:extLst>
                    <a:ext uri="{9D8B030D-6E8A-4147-A177-3AD203B41FA5}">
                      <a16:colId xmlns:a16="http://schemas.microsoft.com/office/drawing/2014/main" val="3736386509"/>
                    </a:ext>
                  </a:extLst>
                </a:gridCol>
              </a:tblGrid>
              <a:tr h="3301465">
                <a:tc>
                  <a:txBody>
                    <a:bodyPr/>
                    <a:lstStyle/>
                    <a:p>
                      <a:r>
                        <a:rPr lang="en-US" u="sng" dirty="0"/>
                        <a:t>Example:</a:t>
                      </a:r>
                    </a:p>
                    <a:p>
                      <a:endParaRPr lang="en-US" u="sng" dirty="0"/>
                    </a:p>
                    <a:p>
                      <a:endParaRPr lang="en-AU" dirty="0"/>
                    </a:p>
                    <a:p>
                      <a:r>
                        <a:rPr lang="en-AU" dirty="0"/>
                        <a:t>The Green &amp; Gold Trust is an Australian resident discretionary trust for CGT purposes that invests in Australian listed shares.  In 2024 it makes a $100,000 capital gain on the sale of part of its share portfolio.  The trustee resolves to make Peter who lives in NZ and is not an Australian tax resident entitled to the capital gains income.  </a:t>
                      </a:r>
                    </a:p>
                    <a:p>
                      <a:endParaRPr lang="en-AU" dirty="0"/>
                    </a:p>
                    <a:p>
                      <a:r>
                        <a:rPr lang="en-AU" dirty="0"/>
                        <a:t>Peter is subject to Australian CGT on the full amount of the capital gain.</a:t>
                      </a:r>
                    </a:p>
                    <a:p>
                      <a:endParaRPr lang="en-AU" dirty="0"/>
                    </a:p>
                    <a:p>
                      <a:r>
                        <a:rPr lang="en-AU" i="1" u="none" dirty="0"/>
                        <a:t>Note: the result</a:t>
                      </a:r>
                      <a:r>
                        <a:rPr lang="en-AU" i="1" dirty="0"/>
                        <a:t> would be different if Peter owned the shares directly, or the trust foreign trust for CGT purposes, or was a fixed trust.</a:t>
                      </a:r>
                    </a:p>
                    <a:p>
                      <a:endParaRPr lang="en-AU" dirty="0"/>
                    </a:p>
                    <a:p>
                      <a:endParaRPr lang="en-AU" dirty="0"/>
                    </a:p>
                  </a:txBody>
                  <a:tcPr/>
                </a:tc>
                <a:extLst>
                  <a:ext uri="{0D108BD9-81ED-4DB2-BD59-A6C34878D82A}">
                    <a16:rowId xmlns:a16="http://schemas.microsoft.com/office/drawing/2014/main" val="2675254685"/>
                  </a:ext>
                </a:extLst>
              </a:tr>
            </a:tbl>
          </a:graphicData>
        </a:graphic>
      </p:graphicFrame>
      <p:sp>
        <p:nvSpPr>
          <p:cNvPr id="6" name="TextBox 5">
            <a:extLst>
              <a:ext uri="{FF2B5EF4-FFF2-40B4-BE49-F238E27FC236}">
                <a16:creationId xmlns:a16="http://schemas.microsoft.com/office/drawing/2014/main" id="{CB2FBEFF-2C3A-4F79-809F-9DDCE55B8D33}"/>
              </a:ext>
            </a:extLst>
          </p:cNvPr>
          <p:cNvSpPr txBox="1"/>
          <p:nvPr/>
        </p:nvSpPr>
        <p:spPr>
          <a:xfrm>
            <a:off x="809592" y="5693673"/>
            <a:ext cx="9585692" cy="646331"/>
          </a:xfrm>
          <a:prstGeom prst="rect">
            <a:avLst/>
          </a:prstGeom>
          <a:noFill/>
        </p:spPr>
        <p:txBody>
          <a:bodyPr wrap="square">
            <a:spAutoFit/>
          </a:bodyPr>
          <a:lstStyle/>
          <a:p>
            <a:pPr marL="0" indent="0">
              <a:buNone/>
            </a:pPr>
            <a:r>
              <a:rPr lang="en-US" sz="1800" b="1" dirty="0">
                <a:highlight>
                  <a:srgbClr val="FFFF00"/>
                </a:highlight>
              </a:rPr>
              <a:t>PRACTICE POINT</a:t>
            </a:r>
            <a:r>
              <a:rPr lang="en-US" sz="1800" dirty="0">
                <a:highlight>
                  <a:srgbClr val="FFFF00"/>
                </a:highlight>
              </a:rPr>
              <a:t>:  Kiwis can unnecessary be exposed to Australian CGT by investing and deriving gains via Australian resident discretionary trusts.  </a:t>
            </a:r>
            <a:endParaRPr lang="en-US" sz="1400" dirty="0"/>
          </a:p>
        </p:txBody>
      </p:sp>
    </p:spTree>
    <p:extLst>
      <p:ext uri="{BB962C8B-B14F-4D97-AF65-F5344CB8AC3E}">
        <p14:creationId xmlns:p14="http://schemas.microsoft.com/office/powerpoint/2010/main" val="9220873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a:xfrm>
            <a:off x="628650" y="1264670"/>
            <a:ext cx="10934700" cy="4990355"/>
          </a:xfrm>
        </p:spPr>
        <p:txBody>
          <a:bodyPr>
            <a:normAutofit fontScale="92500" lnSpcReduction="10000"/>
          </a:bodyPr>
          <a:lstStyle/>
          <a:p>
            <a:endParaRPr lang="en-US" dirty="0"/>
          </a:p>
          <a:p>
            <a:r>
              <a:rPr lang="en-US" sz="2000" dirty="0"/>
              <a:t>Kiwis who invest in Australian residential property may be subject to additional state taxes if they are considered “foreign persons” under the relevant sate tax legislation.  </a:t>
            </a:r>
          </a:p>
          <a:p>
            <a:r>
              <a:rPr lang="en-US" sz="2000" dirty="0"/>
              <a:t>Normally the case unless they are an Australian citizen, permanent resident, or a temporary resident.</a:t>
            </a:r>
          </a:p>
          <a:p>
            <a:r>
              <a:rPr lang="en-US" sz="2000" dirty="0"/>
              <a:t>Also applies to residential property purchased or held through a trust or company</a:t>
            </a:r>
          </a:p>
          <a:p>
            <a:r>
              <a:rPr lang="en-US" sz="2000" dirty="0"/>
              <a:t>Rules are different in each state / territory.  Victoria for example</a:t>
            </a: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sz="1800" b="1" dirty="0">
                <a:highlight>
                  <a:srgbClr val="FFFF00"/>
                </a:highlight>
              </a:rPr>
              <a:t>Practice Point: </a:t>
            </a:r>
            <a:r>
              <a:rPr lang="en-US" sz="1800" dirty="0">
                <a:highlight>
                  <a:srgbClr val="FFFF00"/>
                </a:highlight>
              </a:rPr>
              <a:t>Kiwis wanting to invest in Australian residential property may need to factor in these state surcharges to determine whether the investment is commercially viable.</a:t>
            </a:r>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fontScale="90000"/>
          </a:bodyPr>
          <a:lstStyle/>
          <a:p>
            <a:r>
              <a:rPr lang="en-US" dirty="0"/>
              <a:t>Additional state taxes for Kiwis investing in Australian residential property</a:t>
            </a:r>
            <a:endParaRPr lang="en-AU" dirty="0"/>
          </a:p>
        </p:txBody>
      </p:sp>
      <p:graphicFrame>
        <p:nvGraphicFramePr>
          <p:cNvPr id="2" name="Table 2">
            <a:extLst>
              <a:ext uri="{FF2B5EF4-FFF2-40B4-BE49-F238E27FC236}">
                <a16:creationId xmlns:a16="http://schemas.microsoft.com/office/drawing/2014/main" id="{27C582C9-8F78-4E8A-A2F8-E2D60F3A6352}"/>
              </a:ext>
            </a:extLst>
          </p:cNvPr>
          <p:cNvGraphicFramePr>
            <a:graphicFrameLocks noGrp="1"/>
          </p:cNvGraphicFramePr>
          <p:nvPr>
            <p:extLst>
              <p:ext uri="{D42A27DB-BD31-4B8C-83A1-F6EECF244321}">
                <p14:modId xmlns:p14="http://schemas.microsoft.com/office/powerpoint/2010/main" val="1604411835"/>
              </p:ext>
            </p:extLst>
          </p:nvPr>
        </p:nvGraphicFramePr>
        <p:xfrm>
          <a:off x="1444858" y="3566610"/>
          <a:ext cx="7391133" cy="1554480"/>
        </p:xfrm>
        <a:graphic>
          <a:graphicData uri="http://schemas.openxmlformats.org/drawingml/2006/table">
            <a:tbl>
              <a:tblPr firstRow="1" bandRow="1">
                <a:tableStyleId>{5C22544A-7EE6-4342-B048-85BDC9FD1C3A}</a:tableStyleId>
              </a:tblPr>
              <a:tblGrid>
                <a:gridCol w="2463711">
                  <a:extLst>
                    <a:ext uri="{9D8B030D-6E8A-4147-A177-3AD203B41FA5}">
                      <a16:colId xmlns:a16="http://schemas.microsoft.com/office/drawing/2014/main" val="2026158570"/>
                    </a:ext>
                  </a:extLst>
                </a:gridCol>
                <a:gridCol w="2463711">
                  <a:extLst>
                    <a:ext uri="{9D8B030D-6E8A-4147-A177-3AD203B41FA5}">
                      <a16:colId xmlns:a16="http://schemas.microsoft.com/office/drawing/2014/main" val="1271369187"/>
                    </a:ext>
                  </a:extLst>
                </a:gridCol>
                <a:gridCol w="2463711">
                  <a:extLst>
                    <a:ext uri="{9D8B030D-6E8A-4147-A177-3AD203B41FA5}">
                      <a16:colId xmlns:a16="http://schemas.microsoft.com/office/drawing/2014/main" val="1086696443"/>
                    </a:ext>
                  </a:extLst>
                </a:gridCol>
              </a:tblGrid>
              <a:tr h="370840">
                <a:tc>
                  <a:txBody>
                    <a:bodyPr/>
                    <a:lstStyle/>
                    <a:p>
                      <a:endParaRPr lang="en-AU" sz="1400" dirty="0"/>
                    </a:p>
                  </a:txBody>
                  <a:tcPr/>
                </a:tc>
                <a:tc>
                  <a:txBody>
                    <a:bodyPr/>
                    <a:lstStyle/>
                    <a:p>
                      <a:r>
                        <a:rPr lang="en-US" sz="1400" dirty="0"/>
                        <a:t>Duty payable on purchase of residential property</a:t>
                      </a:r>
                      <a:endParaRPr lang="en-AU" sz="1400" dirty="0"/>
                    </a:p>
                  </a:txBody>
                  <a:tcPr/>
                </a:tc>
                <a:tc>
                  <a:txBody>
                    <a:bodyPr/>
                    <a:lstStyle/>
                    <a:p>
                      <a:r>
                        <a:rPr lang="en-US" sz="1400" dirty="0"/>
                        <a:t>Annual land tax</a:t>
                      </a:r>
                      <a:endParaRPr lang="en-AU" sz="1400" dirty="0"/>
                    </a:p>
                  </a:txBody>
                  <a:tcPr/>
                </a:tc>
                <a:extLst>
                  <a:ext uri="{0D108BD9-81ED-4DB2-BD59-A6C34878D82A}">
                    <a16:rowId xmlns:a16="http://schemas.microsoft.com/office/drawing/2014/main" val="3362023137"/>
                  </a:ext>
                </a:extLst>
              </a:tr>
              <a:tr h="370840">
                <a:tc>
                  <a:txBody>
                    <a:bodyPr/>
                    <a:lstStyle/>
                    <a:p>
                      <a:r>
                        <a:rPr lang="en-US" sz="1400" dirty="0"/>
                        <a:t>Australian person</a:t>
                      </a:r>
                      <a:endParaRPr lang="en-AU" sz="1400" dirty="0"/>
                    </a:p>
                  </a:txBody>
                  <a:tcPr/>
                </a:tc>
                <a:tc>
                  <a:txBody>
                    <a:bodyPr/>
                    <a:lstStyle/>
                    <a:p>
                      <a:r>
                        <a:rPr lang="en-US" sz="1400" dirty="0"/>
                        <a:t>Typically around 6% of purchase price</a:t>
                      </a:r>
                      <a:endParaRPr lang="en-AU" sz="1400" dirty="0"/>
                    </a:p>
                  </a:txBody>
                  <a:tcPr/>
                </a:tc>
                <a:tc>
                  <a:txBody>
                    <a:bodyPr/>
                    <a:lstStyle/>
                    <a:p>
                      <a:r>
                        <a:rPr lang="en-US" sz="1400" dirty="0"/>
                        <a:t>Typically around 0.5% to 2.55%</a:t>
                      </a:r>
                      <a:endParaRPr lang="en-AU" sz="1400" dirty="0"/>
                    </a:p>
                  </a:txBody>
                  <a:tcPr/>
                </a:tc>
                <a:extLst>
                  <a:ext uri="{0D108BD9-81ED-4DB2-BD59-A6C34878D82A}">
                    <a16:rowId xmlns:a16="http://schemas.microsoft.com/office/drawing/2014/main" val="110171201"/>
                  </a:ext>
                </a:extLst>
              </a:tr>
              <a:tr h="370840">
                <a:tc>
                  <a:txBody>
                    <a:bodyPr/>
                    <a:lstStyle/>
                    <a:p>
                      <a:r>
                        <a:rPr lang="en-US" sz="1400" dirty="0"/>
                        <a:t>Foreign person</a:t>
                      </a:r>
                      <a:endParaRPr lang="en-AU" sz="1400" dirty="0"/>
                    </a:p>
                  </a:txBody>
                  <a:tcPr/>
                </a:tc>
                <a:tc>
                  <a:txBody>
                    <a:bodyPr/>
                    <a:lstStyle/>
                    <a:p>
                      <a:r>
                        <a:rPr lang="en-US" sz="1400" dirty="0"/>
                        <a:t>As above,  plus an 8% surcharge</a:t>
                      </a:r>
                      <a:endParaRPr lang="en-AU" sz="1400" dirty="0"/>
                    </a:p>
                  </a:txBody>
                  <a:tcPr/>
                </a:tc>
                <a:tc>
                  <a:txBody>
                    <a:bodyPr/>
                    <a:lstStyle/>
                    <a:p>
                      <a:r>
                        <a:rPr lang="en-US" sz="1400" dirty="0"/>
                        <a:t>As above, plus a 1.5% surcharge</a:t>
                      </a:r>
                      <a:endParaRPr lang="en-AU" sz="1400" dirty="0"/>
                    </a:p>
                  </a:txBody>
                  <a:tcPr/>
                </a:tc>
                <a:extLst>
                  <a:ext uri="{0D108BD9-81ED-4DB2-BD59-A6C34878D82A}">
                    <a16:rowId xmlns:a16="http://schemas.microsoft.com/office/drawing/2014/main" val="4203056396"/>
                  </a:ext>
                </a:extLst>
              </a:tr>
            </a:tbl>
          </a:graphicData>
        </a:graphic>
      </p:graphicFrame>
    </p:spTree>
    <p:extLst>
      <p:ext uri="{BB962C8B-B14F-4D97-AF65-F5344CB8AC3E}">
        <p14:creationId xmlns:p14="http://schemas.microsoft.com/office/powerpoint/2010/main" val="7884810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p:txBody>
          <a:bodyPr/>
          <a:lstStyle/>
          <a:p>
            <a:endParaRPr lang="en-US" dirty="0"/>
          </a:p>
          <a:p>
            <a:r>
              <a:rPr lang="en-US" sz="2000" dirty="0"/>
              <a:t>Most common Australian business or investment structures:</a:t>
            </a:r>
          </a:p>
          <a:p>
            <a:pPr marL="514350" indent="-514350">
              <a:buFont typeface="+mj-lt"/>
              <a:buAutoNum type="arabicPeriod"/>
            </a:pPr>
            <a:r>
              <a:rPr lang="en-US" sz="2000" dirty="0"/>
              <a:t>Sole Trader/ Investor</a:t>
            </a:r>
          </a:p>
          <a:p>
            <a:pPr marL="514350" indent="-514350">
              <a:buFont typeface="+mj-lt"/>
              <a:buAutoNum type="arabicPeriod"/>
            </a:pPr>
            <a:r>
              <a:rPr lang="en-US" sz="2000" dirty="0"/>
              <a:t>Companies</a:t>
            </a:r>
          </a:p>
          <a:p>
            <a:pPr marL="514350" indent="-514350">
              <a:buFont typeface="+mj-lt"/>
              <a:buAutoNum type="arabicPeriod"/>
            </a:pPr>
            <a:r>
              <a:rPr lang="en-US" sz="2000" dirty="0"/>
              <a:t>Fixed Trusts</a:t>
            </a:r>
          </a:p>
          <a:p>
            <a:pPr marL="514350" indent="-514350">
              <a:buFont typeface="+mj-lt"/>
              <a:buAutoNum type="arabicPeriod"/>
            </a:pPr>
            <a:r>
              <a:rPr lang="en-US" sz="2000" dirty="0"/>
              <a:t>Discretionary Trusts  </a:t>
            </a:r>
          </a:p>
          <a:p>
            <a:pPr marL="514350" indent="-514350">
              <a:buFont typeface="+mj-lt"/>
              <a:buAutoNum type="arabicPeriod"/>
            </a:pPr>
            <a:r>
              <a:rPr lang="en-US" sz="2000" dirty="0"/>
              <a:t>Partnerships (can be partnership of any above types of entities)</a:t>
            </a:r>
          </a:p>
          <a:p>
            <a:pPr marL="514350" indent="-514350">
              <a:buFont typeface="+mj-lt"/>
              <a:buAutoNum type="arabicPeriod"/>
            </a:pPr>
            <a:r>
              <a:rPr lang="en-US" sz="2000" dirty="0"/>
              <a:t>Some combination of above</a:t>
            </a:r>
          </a:p>
          <a:p>
            <a:pPr marL="0" indent="0">
              <a:buNone/>
            </a:pPr>
            <a:endParaRPr lang="en-US" dirty="0"/>
          </a:p>
          <a:p>
            <a:pPr marL="514350" indent="-514350">
              <a:buFont typeface="+mj-lt"/>
              <a:buAutoNum type="arabicPeriod"/>
            </a:pPr>
            <a:endParaRPr lang="en-US" dirty="0"/>
          </a:p>
          <a:p>
            <a:pPr marL="514350" indent="-514350">
              <a:buFont typeface="+mj-lt"/>
              <a:buAutoNum type="arabicPeriod"/>
            </a:pPr>
            <a:endParaRPr lang="en-US"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a:bodyPr>
          <a:lstStyle/>
          <a:p>
            <a:r>
              <a:rPr lang="en-US" dirty="0"/>
              <a:t>Common Australian business &amp; Investment Structures</a:t>
            </a:r>
            <a:endParaRPr lang="en-AU" dirty="0"/>
          </a:p>
        </p:txBody>
      </p:sp>
    </p:spTree>
    <p:extLst>
      <p:ext uri="{BB962C8B-B14F-4D97-AF65-F5344CB8AC3E}">
        <p14:creationId xmlns:p14="http://schemas.microsoft.com/office/powerpoint/2010/main" val="26560931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a:xfrm>
            <a:off x="628650" y="940340"/>
            <a:ext cx="10934700" cy="4928209"/>
          </a:xfrm>
        </p:spPr>
        <p:txBody>
          <a:bodyPr>
            <a:normAutofit/>
          </a:bodyPr>
          <a:lstStyle/>
          <a:p>
            <a:pPr marL="0" indent="0">
              <a:buNone/>
            </a:pPr>
            <a:r>
              <a:rPr lang="en-US" sz="2000" dirty="0"/>
              <a:t>Entity comparison</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514350" indent="-514350">
              <a:buFont typeface="+mj-lt"/>
              <a:buAutoNum type="arabicPeriod"/>
            </a:pPr>
            <a:endParaRPr lang="en-US"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a:bodyPr>
          <a:lstStyle/>
          <a:p>
            <a:r>
              <a:rPr lang="en-US" dirty="0"/>
              <a:t>Common Australian business &amp; Investment Structures</a:t>
            </a:r>
            <a:endParaRPr lang="en-AU" dirty="0"/>
          </a:p>
        </p:txBody>
      </p:sp>
      <p:graphicFrame>
        <p:nvGraphicFramePr>
          <p:cNvPr id="2" name="Table 2">
            <a:extLst>
              <a:ext uri="{FF2B5EF4-FFF2-40B4-BE49-F238E27FC236}">
                <a16:creationId xmlns:a16="http://schemas.microsoft.com/office/drawing/2014/main" id="{0F7D4F75-46D8-4D7C-86B7-31E6F88D2543}"/>
              </a:ext>
            </a:extLst>
          </p:cNvPr>
          <p:cNvGraphicFramePr>
            <a:graphicFrameLocks noGrp="1"/>
          </p:cNvGraphicFramePr>
          <p:nvPr>
            <p:extLst>
              <p:ext uri="{D42A27DB-BD31-4B8C-83A1-F6EECF244321}">
                <p14:modId xmlns:p14="http://schemas.microsoft.com/office/powerpoint/2010/main" val="1718663290"/>
              </p:ext>
            </p:extLst>
          </p:nvPr>
        </p:nvGraphicFramePr>
        <p:xfrm>
          <a:off x="628650" y="1261973"/>
          <a:ext cx="11128849" cy="5048021"/>
        </p:xfrm>
        <a:graphic>
          <a:graphicData uri="http://schemas.openxmlformats.org/drawingml/2006/table">
            <a:tbl>
              <a:tblPr firstRow="1" bandRow="1">
                <a:tableStyleId>{5C22544A-7EE6-4342-B048-85BDC9FD1C3A}</a:tableStyleId>
              </a:tblPr>
              <a:tblGrid>
                <a:gridCol w="2388461">
                  <a:extLst>
                    <a:ext uri="{9D8B030D-6E8A-4147-A177-3AD203B41FA5}">
                      <a16:colId xmlns:a16="http://schemas.microsoft.com/office/drawing/2014/main" val="3837582298"/>
                    </a:ext>
                  </a:extLst>
                </a:gridCol>
                <a:gridCol w="2816726">
                  <a:extLst>
                    <a:ext uri="{9D8B030D-6E8A-4147-A177-3AD203B41FA5}">
                      <a16:colId xmlns:a16="http://schemas.microsoft.com/office/drawing/2014/main" val="1757895344"/>
                    </a:ext>
                  </a:extLst>
                </a:gridCol>
                <a:gridCol w="3322497">
                  <a:extLst>
                    <a:ext uri="{9D8B030D-6E8A-4147-A177-3AD203B41FA5}">
                      <a16:colId xmlns:a16="http://schemas.microsoft.com/office/drawing/2014/main" val="2259009734"/>
                    </a:ext>
                  </a:extLst>
                </a:gridCol>
                <a:gridCol w="2601165">
                  <a:extLst>
                    <a:ext uri="{9D8B030D-6E8A-4147-A177-3AD203B41FA5}">
                      <a16:colId xmlns:a16="http://schemas.microsoft.com/office/drawing/2014/main" val="2234453571"/>
                    </a:ext>
                  </a:extLst>
                </a:gridCol>
              </a:tblGrid>
              <a:tr h="800027">
                <a:tc>
                  <a:txBody>
                    <a:bodyPr/>
                    <a:lstStyle/>
                    <a:p>
                      <a:endParaRPr lang="en-AU" dirty="0"/>
                    </a:p>
                  </a:txBody>
                  <a:tcPr/>
                </a:tc>
                <a:tc>
                  <a:txBody>
                    <a:bodyPr/>
                    <a:lstStyle/>
                    <a:p>
                      <a:r>
                        <a:rPr lang="en-US" dirty="0"/>
                        <a:t>Sole Trader/ Investor</a:t>
                      </a:r>
                      <a:endParaRPr lang="en-AU" dirty="0"/>
                    </a:p>
                  </a:txBody>
                  <a:tcPr/>
                </a:tc>
                <a:tc>
                  <a:txBody>
                    <a:bodyPr/>
                    <a:lstStyle/>
                    <a:p>
                      <a:r>
                        <a:rPr lang="en-US" dirty="0"/>
                        <a:t>Company</a:t>
                      </a:r>
                      <a:endParaRPr lang="en-AU" dirty="0"/>
                    </a:p>
                  </a:txBody>
                  <a:tcPr/>
                </a:tc>
                <a:tc>
                  <a:txBody>
                    <a:bodyPr/>
                    <a:lstStyle/>
                    <a:p>
                      <a:r>
                        <a:rPr lang="en-US" dirty="0"/>
                        <a:t>Fixed Trusts &amp; Discretionary Trusts</a:t>
                      </a:r>
                      <a:endParaRPr lang="en-AU" dirty="0"/>
                    </a:p>
                  </a:txBody>
                  <a:tcPr/>
                </a:tc>
                <a:extLst>
                  <a:ext uri="{0D108BD9-81ED-4DB2-BD59-A6C34878D82A}">
                    <a16:rowId xmlns:a16="http://schemas.microsoft.com/office/drawing/2014/main" val="138028792"/>
                  </a:ext>
                </a:extLst>
              </a:tr>
              <a:tr h="557983">
                <a:tc>
                  <a:txBody>
                    <a:bodyPr/>
                    <a:lstStyle/>
                    <a:p>
                      <a:r>
                        <a:rPr lang="en-US" sz="1200" b="1" dirty="0"/>
                        <a:t>Simplicity to establish and operate</a:t>
                      </a:r>
                      <a:endParaRPr lang="en-AU" sz="1200" b="1" dirty="0"/>
                    </a:p>
                  </a:txBody>
                  <a:tcPr/>
                </a:tc>
                <a:tc>
                  <a:txBody>
                    <a:bodyPr/>
                    <a:lstStyle/>
                    <a:p>
                      <a:r>
                        <a:rPr lang="en-US" sz="1200" dirty="0"/>
                        <a:t>Most simple</a:t>
                      </a:r>
                      <a:endParaRPr lang="en-AU" sz="1200" dirty="0"/>
                    </a:p>
                  </a:txBody>
                  <a:tcPr/>
                </a:tc>
                <a:tc>
                  <a:txBody>
                    <a:bodyPr/>
                    <a:lstStyle/>
                    <a:p>
                      <a:pPr marL="171450" indent="-171450">
                        <a:buFont typeface="Arial" panose="020B0604020202020204" pitchFamily="34" charset="0"/>
                        <a:buChar char="•"/>
                      </a:pPr>
                      <a:r>
                        <a:rPr lang="en-US" sz="1200" dirty="0"/>
                        <a:t>Straightforward to understand</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Allows easy transfer of equity</a:t>
                      </a:r>
                      <a:endParaRPr lang="en-AU" sz="1200" dirty="0"/>
                    </a:p>
                  </a:txBody>
                  <a:tcPr/>
                </a:tc>
                <a:tc>
                  <a:txBody>
                    <a:bodyPr/>
                    <a:lstStyle/>
                    <a:p>
                      <a:pPr marL="171450" indent="-171450">
                        <a:buFont typeface="Arial" panose="020B0604020202020204" pitchFamily="34" charset="0"/>
                        <a:buChar char="•"/>
                      </a:pPr>
                      <a:r>
                        <a:rPr lang="en-US" sz="1200" dirty="0"/>
                        <a:t>Can be difficult to understand</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Can be difficult to transmit equity interests</a:t>
                      </a:r>
                    </a:p>
                  </a:txBody>
                  <a:tcPr/>
                </a:tc>
                <a:extLst>
                  <a:ext uri="{0D108BD9-81ED-4DB2-BD59-A6C34878D82A}">
                    <a16:rowId xmlns:a16="http://schemas.microsoft.com/office/drawing/2014/main" val="1283627016"/>
                  </a:ext>
                </a:extLst>
              </a:tr>
              <a:tr h="973898">
                <a:tc>
                  <a:txBody>
                    <a:bodyPr/>
                    <a:lstStyle/>
                    <a:p>
                      <a:r>
                        <a:rPr lang="en-US" sz="1200" b="1" dirty="0"/>
                        <a:t>Legal protection</a:t>
                      </a:r>
                      <a:endParaRPr lang="en-AU" sz="1200" b="1" dirty="0"/>
                    </a:p>
                  </a:txBody>
                  <a:tcPr/>
                </a:tc>
                <a:tc>
                  <a:txBody>
                    <a:bodyPr/>
                    <a:lstStyle/>
                    <a:p>
                      <a:r>
                        <a:rPr lang="en-US" sz="1200" dirty="0"/>
                        <a:t>Nil</a:t>
                      </a:r>
                      <a:endParaRPr lang="en-AU" sz="1200" dirty="0"/>
                    </a:p>
                  </a:txBody>
                  <a:tcPr/>
                </a:tc>
                <a:tc>
                  <a:txBody>
                    <a:bodyPr/>
                    <a:lstStyle/>
                    <a:p>
                      <a:r>
                        <a:rPr lang="en-US" sz="1200" dirty="0"/>
                        <a:t>Separate legal identity</a:t>
                      </a:r>
                      <a:endParaRPr lang="en-AU" sz="1200" dirty="0"/>
                    </a:p>
                  </a:txBody>
                  <a:tcPr/>
                </a:tc>
                <a:tc>
                  <a:txBody>
                    <a:bodyPr/>
                    <a:lstStyle/>
                    <a:p>
                      <a:pPr marL="171450" indent="-171450">
                        <a:buFont typeface="Arial" panose="020B0604020202020204" pitchFamily="34" charset="0"/>
                        <a:buChar char="•"/>
                      </a:pPr>
                      <a:r>
                        <a:rPr lang="en-US" sz="1200" dirty="0"/>
                        <a:t>Trustee holds legal title to property and incurs liabilities.</a:t>
                      </a:r>
                    </a:p>
                    <a:p>
                      <a:pPr marL="0" indent="0">
                        <a:buFont typeface="Arial" panose="020B0604020202020204" pitchFamily="34" charset="0"/>
                        <a:buNone/>
                      </a:pPr>
                      <a:endParaRPr lang="en-US" sz="1200" dirty="0"/>
                    </a:p>
                    <a:p>
                      <a:pPr marL="171450" indent="-171450">
                        <a:buFont typeface="Arial" panose="020B0604020202020204" pitchFamily="34" charset="0"/>
                        <a:buChar char="•"/>
                      </a:pPr>
                      <a:r>
                        <a:rPr lang="en-US" sz="1200" dirty="0"/>
                        <a:t>Trustee can be company entity to mitigate risk</a:t>
                      </a:r>
                      <a:endParaRPr lang="en-AU" sz="1200" dirty="0"/>
                    </a:p>
                  </a:txBody>
                  <a:tcPr/>
                </a:tc>
                <a:extLst>
                  <a:ext uri="{0D108BD9-81ED-4DB2-BD59-A6C34878D82A}">
                    <a16:rowId xmlns:a16="http://schemas.microsoft.com/office/drawing/2014/main" val="1489571748"/>
                  </a:ext>
                </a:extLst>
              </a:tr>
              <a:tr h="1596234">
                <a:tc>
                  <a:txBody>
                    <a:bodyPr/>
                    <a:lstStyle/>
                    <a:p>
                      <a:r>
                        <a:rPr lang="en-US" sz="1200" b="1" dirty="0"/>
                        <a:t>Tax Features</a:t>
                      </a:r>
                      <a:endParaRPr lang="en-AU" sz="1200" b="1" dirty="0"/>
                    </a:p>
                  </a:txBody>
                  <a:tcPr/>
                </a:tc>
                <a:tc>
                  <a:txBody>
                    <a:bodyPr/>
                    <a:lstStyle/>
                    <a:p>
                      <a:pPr marL="171450" indent="-171450">
                        <a:buFont typeface="Arial" panose="020B0604020202020204" pitchFamily="34" charset="0"/>
                        <a:buChar char="•"/>
                      </a:pPr>
                      <a:r>
                        <a:rPr lang="en-US" sz="1200" dirty="0"/>
                        <a:t>Individual taxed direct</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Top rate of tax is 47% </a:t>
                      </a:r>
                      <a:endParaRPr lang="en-AU" sz="1200" dirty="0"/>
                    </a:p>
                  </a:txBody>
                  <a:tcPr/>
                </a:tc>
                <a:tc>
                  <a:txBody>
                    <a:bodyPr/>
                    <a:lstStyle/>
                    <a:p>
                      <a:pPr marL="171450" indent="-171450">
                        <a:buFont typeface="Arial" panose="020B0604020202020204" pitchFamily="34" charset="0"/>
                        <a:buChar char="•"/>
                      </a:pPr>
                      <a:r>
                        <a:rPr lang="en-US" sz="1200" dirty="0"/>
                        <a:t>Concessional tax rates.</a:t>
                      </a:r>
                    </a:p>
                    <a:p>
                      <a:pPr lvl="1"/>
                      <a:r>
                        <a:rPr lang="en-AU" sz="1200" dirty="0"/>
                        <a:t>- 30% non-base rate entities</a:t>
                      </a:r>
                    </a:p>
                    <a:p>
                      <a:pPr lvl="1"/>
                      <a:r>
                        <a:rPr lang="en-AU" sz="1200" dirty="0"/>
                        <a:t>- 25% base rate entities</a:t>
                      </a:r>
                    </a:p>
                    <a:p>
                      <a:endParaRPr lang="en-AU" sz="1200" dirty="0"/>
                    </a:p>
                    <a:p>
                      <a:pPr marL="171450" indent="-171450">
                        <a:buFont typeface="Arial" panose="020B0604020202020204" pitchFamily="34" charset="0"/>
                        <a:buChar char="•"/>
                      </a:pPr>
                      <a:r>
                        <a:rPr lang="en-AU" sz="1200" dirty="0"/>
                        <a:t>Dividend imputation  -  </a:t>
                      </a:r>
                      <a:r>
                        <a:rPr lang="en-AU" sz="1200" i="1" dirty="0"/>
                        <a:t>benefits to Australian shareholders</a:t>
                      </a:r>
                    </a:p>
                    <a:p>
                      <a:pPr marL="0" indent="0">
                        <a:buFont typeface="Arial" panose="020B0604020202020204" pitchFamily="34" charset="0"/>
                        <a:buNone/>
                      </a:pPr>
                      <a:endParaRPr lang="en-AU" sz="1200" i="1" dirty="0"/>
                    </a:p>
                    <a:p>
                      <a:pPr marL="171450" indent="-171450">
                        <a:buFont typeface="Arial" panose="020B0604020202020204" pitchFamily="34" charset="0"/>
                        <a:buChar char="•"/>
                      </a:pPr>
                      <a:r>
                        <a:rPr lang="en-AU" sz="1200" i="0" dirty="0"/>
                        <a:t>No CGT discount</a:t>
                      </a:r>
                    </a:p>
                  </a:txBody>
                  <a:tcPr/>
                </a:tc>
                <a:tc>
                  <a:txBody>
                    <a:bodyPr/>
                    <a:lstStyle/>
                    <a:p>
                      <a:pPr marL="171450" indent="-171450">
                        <a:buFont typeface="Arial" panose="020B0604020202020204" pitchFamily="34" charset="0"/>
                        <a:buChar char="•"/>
                      </a:pPr>
                      <a:r>
                        <a:rPr lang="en-US" sz="1200" dirty="0"/>
                        <a:t>Flow through taxation to beneficiaries</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CGT Discount </a:t>
                      </a:r>
                    </a:p>
                    <a:p>
                      <a:pPr marL="171450" indent="-171450">
                        <a:buFont typeface="Arial" panose="020B0604020202020204" pitchFamily="34" charset="0"/>
                        <a:buChar char="•"/>
                      </a:pPr>
                      <a:endParaRPr lang="en-AU" sz="1200" dirty="0"/>
                    </a:p>
                  </a:txBody>
                  <a:tcPr/>
                </a:tc>
                <a:extLst>
                  <a:ext uri="{0D108BD9-81ED-4DB2-BD59-A6C34878D82A}">
                    <a16:rowId xmlns:a16="http://schemas.microsoft.com/office/drawing/2014/main" val="2534496530"/>
                  </a:ext>
                </a:extLst>
              </a:tr>
              <a:tr h="796825">
                <a:tc>
                  <a:txBody>
                    <a:bodyPr/>
                    <a:lstStyle/>
                    <a:p>
                      <a:r>
                        <a:rPr lang="en-US" sz="1200" b="1" dirty="0"/>
                        <a:t>Regulatory Considerations</a:t>
                      </a:r>
                      <a:endParaRPr lang="en-AU" sz="1200" b="1" dirty="0"/>
                    </a:p>
                  </a:txBody>
                  <a:tcPr/>
                </a:tc>
                <a:tc>
                  <a:txBody>
                    <a:bodyPr/>
                    <a:lstStyle/>
                    <a:p>
                      <a:r>
                        <a:rPr lang="en-US" sz="1200" dirty="0"/>
                        <a:t>Generally nil</a:t>
                      </a:r>
                      <a:endParaRPr lang="en-AU" sz="1200" dirty="0"/>
                    </a:p>
                  </a:txBody>
                  <a:tcPr/>
                </a:tc>
                <a:tc>
                  <a:txBody>
                    <a:bodyPr/>
                    <a:lstStyle/>
                    <a:p>
                      <a:pPr marL="171450" indent="-171450">
                        <a:buFont typeface="Arial" panose="020B0604020202020204" pitchFamily="34" charset="0"/>
                        <a:buChar char="•"/>
                      </a:pPr>
                      <a:r>
                        <a:rPr lang="en-US" sz="1200" dirty="0"/>
                        <a:t>Requires ASIC registration</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Larger companies require audited accounts be prepared and lodged</a:t>
                      </a:r>
                      <a:endParaRPr lang="en-AU" sz="1200" dirty="0"/>
                    </a:p>
                  </a:txBody>
                  <a:tcPr/>
                </a:tc>
                <a:tc>
                  <a:txBody>
                    <a:bodyPr/>
                    <a:lstStyle/>
                    <a:p>
                      <a:pPr marL="171450" indent="-171450">
                        <a:buFont typeface="Arial" panose="020B0604020202020204" pitchFamily="34" charset="0"/>
                        <a:buChar char="•"/>
                      </a:pPr>
                      <a:r>
                        <a:rPr lang="en-US" sz="1200" dirty="0"/>
                        <a:t>Generally less regulation.</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State jurisdiction may require deed stamping</a:t>
                      </a:r>
                      <a:endParaRPr lang="en-AU" sz="1200" dirty="0"/>
                    </a:p>
                  </a:txBody>
                  <a:tcPr/>
                </a:tc>
                <a:extLst>
                  <a:ext uri="{0D108BD9-81ED-4DB2-BD59-A6C34878D82A}">
                    <a16:rowId xmlns:a16="http://schemas.microsoft.com/office/drawing/2014/main" val="1237161060"/>
                  </a:ext>
                </a:extLst>
              </a:tr>
            </a:tbl>
          </a:graphicData>
        </a:graphic>
      </p:graphicFrame>
    </p:spTree>
    <p:extLst>
      <p:ext uri="{BB962C8B-B14F-4D97-AF65-F5344CB8AC3E}">
        <p14:creationId xmlns:p14="http://schemas.microsoft.com/office/powerpoint/2010/main" val="28418552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p:txBody>
          <a:bodyPr/>
          <a:lstStyle/>
          <a:p>
            <a:pPr marL="0" indent="0">
              <a:buNone/>
            </a:pPr>
            <a:r>
              <a:rPr lang="en-US" sz="2000" b="1" dirty="0"/>
              <a:t>Dual Tax Rates</a:t>
            </a:r>
          </a:p>
          <a:p>
            <a:r>
              <a:rPr lang="en-US" sz="2000" dirty="0"/>
              <a:t>Australia has dual company tax rate system:</a:t>
            </a:r>
          </a:p>
          <a:p>
            <a:pPr lvl="1"/>
            <a:r>
              <a:rPr lang="en-US" sz="1800" dirty="0"/>
              <a:t>Base rate Entities-  25% from 2021/22  (previously 27.5% in 2017-18 to 2019-20, and 26% in 2020-21)</a:t>
            </a:r>
          </a:p>
          <a:p>
            <a:pPr lvl="1"/>
            <a:r>
              <a:rPr lang="en-US" sz="1800" dirty="0"/>
              <a:t>Other – 30%</a:t>
            </a:r>
          </a:p>
          <a:p>
            <a:pPr marL="457200" lvl="1" indent="0">
              <a:buNone/>
            </a:pPr>
            <a:endParaRPr lang="en-US" dirty="0"/>
          </a:p>
          <a:p>
            <a:r>
              <a:rPr lang="en-US" sz="2000" dirty="0"/>
              <a:t>Base rate entity qualification:</a:t>
            </a:r>
          </a:p>
          <a:p>
            <a:pPr lvl="1"/>
            <a:r>
              <a:rPr lang="en-US" sz="1800" dirty="0"/>
              <a:t>Company’s aggregated turnover is less than aggregated turnover threshold for the income year -  $50 million from the 2018-2019 income year.   AND</a:t>
            </a:r>
          </a:p>
          <a:p>
            <a:pPr lvl="1"/>
            <a:r>
              <a:rPr lang="en-US" sz="1800" dirty="0"/>
              <a:t>80% or less of assessable income is “base rate entity passive income” (broadly, dividends, interest, net capital gains, certain trust distributions).</a:t>
            </a:r>
          </a:p>
          <a:p>
            <a:pPr marL="0" indent="0">
              <a:buNone/>
            </a:pPr>
            <a:r>
              <a:rPr lang="en-US" sz="2400" dirty="0"/>
              <a:t>	</a:t>
            </a:r>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a:bodyPr>
          <a:lstStyle/>
          <a:p>
            <a:r>
              <a:rPr lang="en-US" dirty="0"/>
              <a:t>Company Taxation- Australia</a:t>
            </a:r>
            <a:endParaRPr lang="en-AU" dirty="0"/>
          </a:p>
        </p:txBody>
      </p:sp>
    </p:spTree>
    <p:extLst>
      <p:ext uri="{BB962C8B-B14F-4D97-AF65-F5344CB8AC3E}">
        <p14:creationId xmlns:p14="http://schemas.microsoft.com/office/powerpoint/2010/main" val="39426790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a:xfrm>
            <a:off x="628650" y="1264670"/>
            <a:ext cx="10934700" cy="4828121"/>
          </a:xfrm>
        </p:spPr>
        <p:txBody>
          <a:bodyPr>
            <a:normAutofit/>
          </a:bodyPr>
          <a:lstStyle/>
          <a:p>
            <a:pPr marL="0" indent="0">
              <a:buNone/>
            </a:pPr>
            <a:r>
              <a:rPr lang="en-US" sz="2000" b="1" dirty="0"/>
              <a:t>Imputation system</a:t>
            </a:r>
          </a:p>
          <a:p>
            <a:r>
              <a:rPr lang="en-US" sz="1800" dirty="0"/>
              <a:t>Company tax paid can be allocated to shareholders as a “franking credit”</a:t>
            </a:r>
          </a:p>
          <a:p>
            <a:r>
              <a:rPr lang="en-US" sz="1800" dirty="0"/>
              <a:t>Australian resident shareholders includes both the net dividend amount and franking credit amount in their assessable income. They claim a credit for the franking credit amount.</a:t>
            </a: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a:bodyPr>
          <a:lstStyle/>
          <a:p>
            <a:r>
              <a:rPr lang="en-US" dirty="0"/>
              <a:t>Company Taxation- Australia</a:t>
            </a:r>
            <a:endParaRPr lang="en-AU" dirty="0"/>
          </a:p>
        </p:txBody>
      </p:sp>
      <p:sp>
        <p:nvSpPr>
          <p:cNvPr id="6" name="TextBox 5">
            <a:extLst>
              <a:ext uri="{FF2B5EF4-FFF2-40B4-BE49-F238E27FC236}">
                <a16:creationId xmlns:a16="http://schemas.microsoft.com/office/drawing/2014/main" id="{696B9E36-ADCA-420F-B5C0-59AA2024AED7}"/>
              </a:ext>
            </a:extLst>
          </p:cNvPr>
          <p:cNvSpPr txBox="1"/>
          <p:nvPr/>
        </p:nvSpPr>
        <p:spPr>
          <a:xfrm>
            <a:off x="947228" y="3429000"/>
            <a:ext cx="10297543" cy="2308324"/>
          </a:xfrm>
          <a:prstGeom prst="rect">
            <a:avLst/>
          </a:prstGeom>
          <a:noFill/>
          <a:ln>
            <a:solidFill>
              <a:schemeClr val="accent1"/>
            </a:solidFill>
          </a:ln>
        </p:spPr>
        <p:txBody>
          <a:bodyPr wrap="square" rtlCol="0">
            <a:spAutoFit/>
          </a:bodyPr>
          <a:lstStyle/>
          <a:p>
            <a:r>
              <a:rPr lang="en-US" sz="1600" i="1" dirty="0"/>
              <a:t>Example:</a:t>
            </a:r>
          </a:p>
          <a:p>
            <a:endParaRPr lang="en-US" sz="1600" i="1" dirty="0"/>
          </a:p>
          <a:p>
            <a:pPr marL="285750" indent="-285750">
              <a:buFontTx/>
              <a:buChar char="-"/>
            </a:pPr>
            <a:r>
              <a:rPr lang="en-US" sz="1600" i="1" dirty="0"/>
              <a:t>Aus Co. Pty Ltd is an Australian resident private company</a:t>
            </a:r>
          </a:p>
          <a:p>
            <a:pPr marL="285750" indent="-285750">
              <a:buFontTx/>
              <a:buChar char="-"/>
            </a:pPr>
            <a:r>
              <a:rPr lang="en-US" sz="1600" i="1" dirty="0"/>
              <a:t>It is not a base rate entity</a:t>
            </a:r>
          </a:p>
          <a:p>
            <a:pPr marL="285750" indent="-285750">
              <a:buFontTx/>
              <a:buChar char="-"/>
            </a:pPr>
            <a:r>
              <a:rPr lang="en-US" sz="1600" i="1" dirty="0"/>
              <a:t>It  pays a $70 fully franked dividend to its Australian tax resident shareholder Mick.</a:t>
            </a:r>
          </a:p>
          <a:p>
            <a:pPr marL="285750" indent="-285750">
              <a:buFontTx/>
              <a:buChar char="-"/>
            </a:pPr>
            <a:endParaRPr lang="en-US" sz="1600" i="1" dirty="0"/>
          </a:p>
          <a:p>
            <a:r>
              <a:rPr lang="en-US" sz="1600" i="1" dirty="0"/>
              <a:t>Mick includes $100 in his assessable income in respect of the dividend,  being the net dividend amount of $70 plus the franking credit of $30.  He pays tax at his applicable marginal rate on $100 and is entitled to a tax offset for the $30 franking credit. </a:t>
            </a:r>
          </a:p>
        </p:txBody>
      </p:sp>
    </p:spTree>
    <p:extLst>
      <p:ext uri="{BB962C8B-B14F-4D97-AF65-F5344CB8AC3E}">
        <p14:creationId xmlns:p14="http://schemas.microsoft.com/office/powerpoint/2010/main" val="12840851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a:xfrm>
            <a:off x="628650" y="1264670"/>
            <a:ext cx="10934700" cy="4828121"/>
          </a:xfrm>
        </p:spPr>
        <p:txBody>
          <a:bodyPr>
            <a:normAutofit/>
          </a:bodyPr>
          <a:lstStyle/>
          <a:p>
            <a:pPr marL="0" indent="0">
              <a:buNone/>
            </a:pPr>
            <a:r>
              <a:rPr lang="en-US" sz="2400" b="1" dirty="0"/>
              <a:t>Imputation system</a:t>
            </a:r>
          </a:p>
          <a:p>
            <a:r>
              <a:rPr lang="en-US" sz="1800" dirty="0"/>
              <a:t>No further Australian taxes apply to payments of franked dividends to foreign residents, although they cannot benefit from franking credits. </a:t>
            </a:r>
          </a:p>
          <a:p>
            <a:r>
              <a:rPr lang="en-US" sz="1800" dirty="0"/>
              <a:t>Unfranked dividends subject to withholding tax</a:t>
            </a:r>
          </a:p>
          <a:p>
            <a:r>
              <a:rPr lang="en-US" sz="1800" u="sng" dirty="0"/>
              <a:t>Note</a:t>
            </a:r>
            <a:r>
              <a:rPr lang="en-US" sz="1800" dirty="0"/>
              <a:t> – Australia and NZ have in place special Trans-Tasman imputation rules whereby a company resident in one country that pays income tax on the other country can pass on imputation benefits to tax residents in the other country.</a:t>
            </a:r>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a:bodyPr>
          <a:lstStyle/>
          <a:p>
            <a:r>
              <a:rPr lang="en-US" dirty="0"/>
              <a:t>Company Taxation- Australia</a:t>
            </a:r>
            <a:endParaRPr lang="en-AU" dirty="0"/>
          </a:p>
        </p:txBody>
      </p:sp>
    </p:spTree>
    <p:extLst>
      <p:ext uri="{BB962C8B-B14F-4D97-AF65-F5344CB8AC3E}">
        <p14:creationId xmlns:p14="http://schemas.microsoft.com/office/powerpoint/2010/main" val="11806741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p:txBody>
          <a:bodyPr>
            <a:normAutofit/>
          </a:bodyPr>
          <a:lstStyle/>
          <a:p>
            <a:r>
              <a:rPr lang="en-US" sz="2000" dirty="0"/>
              <a:t>Trust income generally taxed on look-through basis in Australia</a:t>
            </a:r>
          </a:p>
          <a:p>
            <a:pPr lvl="1"/>
            <a:r>
              <a:rPr lang="en-US" sz="2000" dirty="0"/>
              <a:t>Each income year a beneficiary presently entitled to trust income  (i.e. trust accounting income) assessed on their share of net income (i.e. taxable income)</a:t>
            </a:r>
          </a:p>
          <a:p>
            <a:r>
              <a:rPr lang="en-US" sz="2000" dirty="0"/>
              <a:t>Annual trust income that is not distributed is taxed to the trustee at penalty rate of 47%</a:t>
            </a:r>
          </a:p>
          <a:p>
            <a:r>
              <a:rPr lang="en-US" sz="2000" dirty="0"/>
              <a:t>Does not require trust to be resident</a:t>
            </a:r>
          </a:p>
          <a:p>
            <a:r>
              <a:rPr lang="en-US" sz="2000" dirty="0"/>
              <a:t>Trustee is assessed in first instance where beneficiary is a foreign resident at year end   (at non-resident marginal rates)</a:t>
            </a:r>
          </a:p>
          <a:p>
            <a:r>
              <a:rPr lang="en-US" sz="2000" dirty="0"/>
              <a:t>Exemption for foreign sourced income earned for period when a beneficiary was a foreign resident.</a:t>
            </a:r>
          </a:p>
          <a:p>
            <a:r>
              <a:rPr lang="en-US" sz="2000" dirty="0"/>
              <a:t>Tax assessed to trustee in relation to a foreign resident beneficiary is not a final tax.  Beneficiary is required to lodge a return, pay tax and can claims a tax credit for tax paid by the trustee. </a:t>
            </a:r>
          </a:p>
          <a:p>
            <a:pPr marL="0" indent="0">
              <a:buNone/>
            </a:pPr>
            <a:r>
              <a:rPr lang="en-US" sz="2400" dirty="0"/>
              <a:t>	</a:t>
            </a:r>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a:bodyPr>
          <a:lstStyle/>
          <a:p>
            <a:r>
              <a:rPr lang="en-US" dirty="0"/>
              <a:t>Trust Taxation - Australia</a:t>
            </a:r>
            <a:endParaRPr lang="en-AU" dirty="0"/>
          </a:p>
        </p:txBody>
      </p:sp>
    </p:spTree>
    <p:extLst>
      <p:ext uri="{BB962C8B-B14F-4D97-AF65-F5344CB8AC3E}">
        <p14:creationId xmlns:p14="http://schemas.microsoft.com/office/powerpoint/2010/main" val="27802506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8060FF-42B3-461E-B1D6-D584FB22774A}"/>
              </a:ext>
            </a:extLst>
          </p:cNvPr>
          <p:cNvSpPr>
            <a:spLocks noGrp="1"/>
          </p:cNvSpPr>
          <p:nvPr>
            <p:ph idx="1"/>
          </p:nvPr>
        </p:nvSpPr>
        <p:spPr>
          <a:xfrm>
            <a:off x="628650" y="1264670"/>
            <a:ext cx="10934700" cy="4982125"/>
          </a:xfrm>
        </p:spPr>
        <p:txBody>
          <a:bodyPr>
            <a:normAutofit fontScale="47500" lnSpcReduction="20000"/>
          </a:bodyPr>
          <a:lstStyle/>
          <a:p>
            <a:endParaRPr lang="en-US" dirty="0"/>
          </a:p>
          <a:p>
            <a:r>
              <a:rPr lang="en-US" sz="4200" dirty="0"/>
              <a:t>GST </a:t>
            </a:r>
          </a:p>
          <a:p>
            <a:pPr lvl="1"/>
            <a:r>
              <a:rPr lang="en-US" sz="3800" dirty="0"/>
              <a:t>10% indirect, broad based consumption tax</a:t>
            </a:r>
          </a:p>
          <a:p>
            <a:pPr lvl="1"/>
            <a:r>
              <a:rPr lang="en-US" sz="3800" dirty="0"/>
              <a:t>Generally requires a connection with supply to Australia</a:t>
            </a:r>
          </a:p>
          <a:p>
            <a:pPr lvl="1"/>
            <a:r>
              <a:rPr lang="en-US" sz="3800" dirty="0"/>
              <a:t>Can apply to foreign resident importers of goods or services</a:t>
            </a:r>
          </a:p>
          <a:p>
            <a:pPr lvl="1"/>
            <a:r>
              <a:rPr lang="en-US" sz="3800" dirty="0"/>
              <a:t>Compulsory GST registration if turnover is &gt; $75,000 AUD per annum</a:t>
            </a:r>
          </a:p>
          <a:p>
            <a:pPr lvl="1"/>
            <a:r>
              <a:rPr lang="en-US" sz="3800" dirty="0"/>
              <a:t>Can voluntarily register if annual turnover is &lt; $75,000 AUD</a:t>
            </a:r>
          </a:p>
          <a:p>
            <a:pPr lvl="1"/>
            <a:r>
              <a:rPr lang="en-US" sz="3800" dirty="0"/>
              <a:t>Monthly, or quarterly ATO reporting required through Business Activity Statements (BASs)</a:t>
            </a:r>
          </a:p>
          <a:p>
            <a:r>
              <a:rPr lang="en-US" sz="4200" dirty="0"/>
              <a:t>FBT</a:t>
            </a:r>
          </a:p>
          <a:p>
            <a:pPr lvl="1"/>
            <a:r>
              <a:rPr lang="en-US" sz="3800" dirty="0"/>
              <a:t>Employer tax on “Fringe benefits” (i.e. non cash benefits) provided to employees in respect of employment</a:t>
            </a:r>
          </a:p>
          <a:p>
            <a:pPr lvl="1"/>
            <a:r>
              <a:rPr lang="en-US" sz="3800" dirty="0"/>
              <a:t>Top marginal tax rate applies (currently 47%)</a:t>
            </a:r>
          </a:p>
          <a:p>
            <a:pPr lvl="1"/>
            <a:r>
              <a:rPr lang="en-US" sz="3800" dirty="0"/>
              <a:t>Annual FBT return required-  FBT year runs 1 April to 31 March</a:t>
            </a:r>
          </a:p>
          <a:p>
            <a:r>
              <a:rPr lang="en-US" sz="4200" dirty="0"/>
              <a:t>Superannuation</a:t>
            </a:r>
          </a:p>
          <a:p>
            <a:pPr lvl="1"/>
            <a:r>
              <a:rPr lang="en-US" sz="3800" dirty="0"/>
              <a:t>Employers must generally must contribute 11 % of earnings of employees working in Australia  into a complying Australian superannuation.</a:t>
            </a:r>
          </a:p>
          <a:p>
            <a:pPr lvl="1"/>
            <a:r>
              <a:rPr lang="en-US" sz="3800" dirty="0"/>
              <a:t>Australian superannuation earned by persons whilst visiting Australia on a temporary visa can be accessed on their departure subject to a final tax.</a:t>
            </a:r>
          </a:p>
          <a:p>
            <a:pPr lvl="1"/>
            <a:endParaRPr lang="en-US" dirty="0"/>
          </a:p>
          <a:p>
            <a:endParaRPr lang="en-US" dirty="0"/>
          </a:p>
        </p:txBody>
      </p:sp>
      <p:sp>
        <p:nvSpPr>
          <p:cNvPr id="4" name="Title 3">
            <a:extLst>
              <a:ext uri="{FF2B5EF4-FFF2-40B4-BE49-F238E27FC236}">
                <a16:creationId xmlns:a16="http://schemas.microsoft.com/office/drawing/2014/main" id="{2E3FF8C0-E639-4F69-898D-3B8BB48CED48}"/>
              </a:ext>
            </a:extLst>
          </p:cNvPr>
          <p:cNvSpPr>
            <a:spLocks noGrp="1"/>
          </p:cNvSpPr>
          <p:nvPr>
            <p:ph type="title"/>
          </p:nvPr>
        </p:nvSpPr>
        <p:spPr/>
        <p:txBody>
          <a:bodyPr>
            <a:normAutofit/>
          </a:bodyPr>
          <a:lstStyle/>
          <a:p>
            <a:r>
              <a:rPr lang="en-US" dirty="0"/>
              <a:t>Other Australian business taxes to consider</a:t>
            </a:r>
            <a:endParaRPr lang="en-AU" dirty="0"/>
          </a:p>
        </p:txBody>
      </p:sp>
    </p:spTree>
    <p:extLst>
      <p:ext uri="{BB962C8B-B14F-4D97-AF65-F5344CB8AC3E}">
        <p14:creationId xmlns:p14="http://schemas.microsoft.com/office/powerpoint/2010/main" val="29531778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181D4-BFF2-481C-A92B-0DCABE0AB67E}"/>
              </a:ext>
            </a:extLst>
          </p:cNvPr>
          <p:cNvSpPr>
            <a:spLocks noGrp="1"/>
          </p:cNvSpPr>
          <p:nvPr>
            <p:ph type="title"/>
          </p:nvPr>
        </p:nvSpPr>
        <p:spPr/>
        <p:txBody>
          <a:bodyPr/>
          <a:lstStyle/>
          <a:p>
            <a:r>
              <a:rPr lang="en-NZ" dirty="0">
                <a:solidFill>
                  <a:srgbClr val="991B1E"/>
                </a:solidFill>
              </a:rPr>
              <a:t>Questions?</a:t>
            </a:r>
          </a:p>
        </p:txBody>
      </p:sp>
      <p:sp>
        <p:nvSpPr>
          <p:cNvPr id="3" name="Content Placeholder 2">
            <a:extLst>
              <a:ext uri="{FF2B5EF4-FFF2-40B4-BE49-F238E27FC236}">
                <a16:creationId xmlns:a16="http://schemas.microsoft.com/office/drawing/2014/main" id="{4A254D6D-B794-4AAA-B2A9-6F868DF39356}"/>
              </a:ext>
            </a:extLst>
          </p:cNvPr>
          <p:cNvSpPr>
            <a:spLocks noGrp="1"/>
          </p:cNvSpPr>
          <p:nvPr>
            <p:ph idx="1"/>
          </p:nvPr>
        </p:nvSpPr>
        <p:spPr/>
        <p:txBody>
          <a:bodyPr/>
          <a:lstStyle/>
          <a:p>
            <a:endParaRPr lang="en-NZ" dirty="0"/>
          </a:p>
        </p:txBody>
      </p:sp>
      <p:sp>
        <p:nvSpPr>
          <p:cNvPr id="4" name="Slide Number Placeholder 3">
            <a:extLst>
              <a:ext uri="{FF2B5EF4-FFF2-40B4-BE49-F238E27FC236}">
                <a16:creationId xmlns:a16="http://schemas.microsoft.com/office/drawing/2014/main" id="{60755AC1-F3FB-4730-8270-5ABB3D1374F3}"/>
              </a:ext>
            </a:extLst>
          </p:cNvPr>
          <p:cNvSpPr>
            <a:spLocks noGrp="1"/>
          </p:cNvSpPr>
          <p:nvPr>
            <p:ph type="sldNum" sz="quarter" idx="12"/>
          </p:nvPr>
        </p:nvSpPr>
        <p:spPr/>
        <p:txBody>
          <a:bodyPr/>
          <a:lstStyle/>
          <a:p>
            <a:fld id="{CAD51933-07E1-4905-B968-DCAF78F9F0C2}" type="slidenum">
              <a:rPr lang="en-NZ" smtClean="0"/>
              <a:t>32</a:t>
            </a:fld>
            <a:endParaRPr lang="en-NZ" dirty="0"/>
          </a:p>
        </p:txBody>
      </p:sp>
      <p:grpSp>
        <p:nvGrpSpPr>
          <p:cNvPr id="5" name="Group 4">
            <a:extLst>
              <a:ext uri="{FF2B5EF4-FFF2-40B4-BE49-F238E27FC236}">
                <a16:creationId xmlns:a16="http://schemas.microsoft.com/office/drawing/2014/main" id="{1D8DC00F-062B-4D80-B54A-FF3DF286A3F2}"/>
              </a:ext>
            </a:extLst>
          </p:cNvPr>
          <p:cNvGrpSpPr/>
          <p:nvPr/>
        </p:nvGrpSpPr>
        <p:grpSpPr>
          <a:xfrm>
            <a:off x="2434355" y="1346039"/>
            <a:ext cx="7416800" cy="3384550"/>
            <a:chOff x="684213" y="1844675"/>
            <a:chExt cx="7416800" cy="3384550"/>
          </a:xfrm>
        </p:grpSpPr>
        <p:sp>
          <p:nvSpPr>
            <p:cNvPr id="6" name="Oval Callout 9">
              <a:extLst>
                <a:ext uri="{FF2B5EF4-FFF2-40B4-BE49-F238E27FC236}">
                  <a16:creationId xmlns:a16="http://schemas.microsoft.com/office/drawing/2014/main" id="{B955B7AE-76DF-47E4-B00D-DEEBD3D17FA6}"/>
                </a:ext>
              </a:extLst>
            </p:cNvPr>
            <p:cNvSpPr>
              <a:spLocks noChangeArrowheads="1"/>
            </p:cNvSpPr>
            <p:nvPr/>
          </p:nvSpPr>
          <p:spPr bwMode="auto">
            <a:xfrm>
              <a:off x="1042988" y="3933825"/>
              <a:ext cx="4105275" cy="1295400"/>
            </a:xfrm>
            <a:prstGeom prst="wedgeEllipseCallout">
              <a:avLst>
                <a:gd name="adj1" fmla="val -28694"/>
                <a:gd name="adj2" fmla="val 83759"/>
              </a:avLst>
            </a:prstGeom>
            <a:solidFill>
              <a:schemeClr val="bg1"/>
            </a:solidFill>
            <a:ln w="9525" algn="ctr">
              <a:solidFill>
                <a:srgbClr val="28343D"/>
              </a:solidFill>
              <a:round/>
              <a:headEnd/>
              <a:tailEnd/>
            </a:ln>
          </p:spPr>
          <p:txBody>
            <a:bodyPr wrap="none" anchor="ctr"/>
            <a:lstStyle>
              <a:lvl1pPr>
                <a:spcBef>
                  <a:spcPct val="20000"/>
                </a:spcBef>
                <a:buClr>
                  <a:srgbClr val="7891B0"/>
                </a:buClr>
                <a:buFont typeface="Arial" panose="020B0604020202020204" pitchFamily="34" charset="0"/>
                <a:buChar char="•"/>
                <a:defRPr sz="2800">
                  <a:solidFill>
                    <a:srgbClr val="000000"/>
                  </a:solidFill>
                  <a:latin typeface="Arial Narrow" panose="020B0606020202030204" pitchFamily="34" charset="0"/>
                </a:defRPr>
              </a:lvl1pPr>
              <a:lvl2pPr marL="742950" indent="-285750">
                <a:spcBef>
                  <a:spcPct val="20000"/>
                </a:spcBef>
                <a:buClr>
                  <a:srgbClr val="7891B0"/>
                </a:buClr>
                <a:buFont typeface="Arial" panose="020B0604020202020204" pitchFamily="34" charset="0"/>
                <a:buChar char="•"/>
                <a:defRPr sz="2800">
                  <a:solidFill>
                    <a:srgbClr val="000000"/>
                  </a:solidFill>
                  <a:latin typeface="Arial Narrow" panose="020B0606020202030204" pitchFamily="34" charset="0"/>
                </a:defRPr>
              </a:lvl2pPr>
              <a:lvl3pPr marL="1143000" indent="-228600">
                <a:spcBef>
                  <a:spcPct val="20000"/>
                </a:spcBef>
                <a:buClr>
                  <a:srgbClr val="7891B0"/>
                </a:buClr>
                <a:buFont typeface="Arial" panose="020B0604020202020204" pitchFamily="34" charset="0"/>
                <a:buChar char="•"/>
                <a:defRPr sz="2400">
                  <a:solidFill>
                    <a:srgbClr val="000000"/>
                  </a:solidFill>
                  <a:latin typeface="Arial Narrow" panose="020B0606020202030204" pitchFamily="34" charset="0"/>
                </a:defRPr>
              </a:lvl3pPr>
              <a:lvl4pPr marL="1600200" indent="-228600">
                <a:spcBef>
                  <a:spcPct val="20000"/>
                </a:spcBef>
                <a:buClr>
                  <a:srgbClr val="7891B0"/>
                </a:buClr>
                <a:buFont typeface="Arial" panose="020B0604020202020204" pitchFamily="34" charset="0"/>
                <a:buChar char="•"/>
                <a:defRPr sz="2000">
                  <a:solidFill>
                    <a:srgbClr val="000000"/>
                  </a:solidFill>
                  <a:latin typeface="Arial Narrow" panose="020B0606020202030204" pitchFamily="34" charset="0"/>
                </a:defRPr>
              </a:lvl4pPr>
              <a:lvl5pPr marL="2057400" indent="-228600">
                <a:spcBef>
                  <a:spcPct val="20000"/>
                </a:spcBef>
                <a:buClr>
                  <a:srgbClr val="7891B0"/>
                </a:buClr>
                <a:buFont typeface="Arial" panose="020B0604020202020204" pitchFamily="34" charset="0"/>
                <a:buChar char="•"/>
                <a:defRPr sz="2000">
                  <a:solidFill>
                    <a:srgbClr val="000000"/>
                  </a:solidFill>
                  <a:latin typeface="Arial Narrow" panose="020B0606020202030204" pitchFamily="34" charset="0"/>
                </a:defRPr>
              </a:lvl5pPr>
              <a:lvl6pPr marL="2514600" indent="-228600" eaLnBrk="0" fontAlgn="base" hangingPunct="0">
                <a:spcBef>
                  <a:spcPct val="20000"/>
                </a:spcBef>
                <a:spcAft>
                  <a:spcPct val="0"/>
                </a:spcAft>
                <a:buClr>
                  <a:srgbClr val="7891B0"/>
                </a:buClr>
                <a:buFont typeface="Arial" panose="020B0604020202020204" pitchFamily="34" charset="0"/>
                <a:buChar char="•"/>
                <a:defRPr sz="2000">
                  <a:solidFill>
                    <a:srgbClr val="000000"/>
                  </a:solidFill>
                  <a:latin typeface="Arial Narrow" panose="020B0606020202030204" pitchFamily="34" charset="0"/>
                </a:defRPr>
              </a:lvl6pPr>
              <a:lvl7pPr marL="2971800" indent="-228600" eaLnBrk="0" fontAlgn="base" hangingPunct="0">
                <a:spcBef>
                  <a:spcPct val="20000"/>
                </a:spcBef>
                <a:spcAft>
                  <a:spcPct val="0"/>
                </a:spcAft>
                <a:buClr>
                  <a:srgbClr val="7891B0"/>
                </a:buClr>
                <a:buFont typeface="Arial" panose="020B0604020202020204" pitchFamily="34" charset="0"/>
                <a:buChar char="•"/>
                <a:defRPr sz="2000">
                  <a:solidFill>
                    <a:srgbClr val="000000"/>
                  </a:solidFill>
                  <a:latin typeface="Arial Narrow" panose="020B0606020202030204" pitchFamily="34" charset="0"/>
                </a:defRPr>
              </a:lvl7pPr>
              <a:lvl8pPr marL="3429000" indent="-228600" eaLnBrk="0" fontAlgn="base" hangingPunct="0">
                <a:spcBef>
                  <a:spcPct val="20000"/>
                </a:spcBef>
                <a:spcAft>
                  <a:spcPct val="0"/>
                </a:spcAft>
                <a:buClr>
                  <a:srgbClr val="7891B0"/>
                </a:buClr>
                <a:buFont typeface="Arial" panose="020B0604020202020204" pitchFamily="34" charset="0"/>
                <a:buChar char="•"/>
                <a:defRPr sz="2000">
                  <a:solidFill>
                    <a:srgbClr val="000000"/>
                  </a:solidFill>
                  <a:latin typeface="Arial Narrow" panose="020B0606020202030204" pitchFamily="34" charset="0"/>
                </a:defRPr>
              </a:lvl8pPr>
              <a:lvl9pPr marL="3886200" indent="-228600" eaLnBrk="0" fontAlgn="base" hangingPunct="0">
                <a:spcBef>
                  <a:spcPct val="20000"/>
                </a:spcBef>
                <a:spcAft>
                  <a:spcPct val="0"/>
                </a:spcAft>
                <a:buClr>
                  <a:srgbClr val="7891B0"/>
                </a:buClr>
                <a:buFont typeface="Arial" panose="020B0604020202020204" pitchFamily="34" charset="0"/>
                <a:buChar char="•"/>
                <a:defRPr sz="2000">
                  <a:solidFill>
                    <a:srgbClr val="000000"/>
                  </a:solidFill>
                  <a:latin typeface="Arial Narrow" panose="020B0606020202030204" pitchFamily="34" charset="0"/>
                </a:defRPr>
              </a:lvl9pPr>
            </a:lstStyle>
            <a:p>
              <a:pPr algn="ctr">
                <a:lnSpc>
                  <a:spcPts val="7000"/>
                </a:lnSpc>
                <a:spcBef>
                  <a:spcPct val="0"/>
                </a:spcBef>
                <a:buClrTx/>
                <a:buNone/>
              </a:pPr>
              <a:r>
                <a:rPr lang="en-US" altLang="en-US" sz="6000" dirty="0">
                  <a:solidFill>
                    <a:srgbClr val="991B1E"/>
                  </a:solidFill>
                  <a:latin typeface="Arial" panose="020B0604020202020204" pitchFamily="34" charset="0"/>
                </a:rPr>
                <a:t>say</a:t>
              </a:r>
              <a:endParaRPr lang="en-NZ" altLang="en-US" sz="8000" dirty="0">
                <a:solidFill>
                  <a:srgbClr val="991B1E"/>
                </a:solidFill>
                <a:latin typeface="Arial" panose="020B0604020202020204" pitchFamily="34" charset="0"/>
              </a:endParaRPr>
            </a:p>
          </p:txBody>
        </p:sp>
        <p:sp>
          <p:nvSpPr>
            <p:cNvPr id="7" name="Oval Callout 8">
              <a:extLst>
                <a:ext uri="{FF2B5EF4-FFF2-40B4-BE49-F238E27FC236}">
                  <a16:creationId xmlns:a16="http://schemas.microsoft.com/office/drawing/2014/main" id="{289FC94C-CE5F-485C-BF11-F1241ADDC7D9}"/>
                </a:ext>
              </a:extLst>
            </p:cNvPr>
            <p:cNvSpPr>
              <a:spLocks noChangeArrowheads="1"/>
            </p:cNvSpPr>
            <p:nvPr/>
          </p:nvSpPr>
          <p:spPr bwMode="auto">
            <a:xfrm>
              <a:off x="3708400" y="2997200"/>
              <a:ext cx="4392613" cy="1655763"/>
            </a:xfrm>
            <a:prstGeom prst="wedgeEllipseCallout">
              <a:avLst>
                <a:gd name="adj1" fmla="val 26583"/>
                <a:gd name="adj2" fmla="val 72616"/>
              </a:avLst>
            </a:prstGeom>
            <a:solidFill>
              <a:schemeClr val="bg1"/>
            </a:solidFill>
            <a:ln w="9525" algn="ctr">
              <a:solidFill>
                <a:srgbClr val="28343D"/>
              </a:solidFill>
              <a:round/>
              <a:headEnd/>
              <a:tailEnd/>
            </a:ln>
          </p:spPr>
          <p:txBody>
            <a:bodyPr wrap="none" anchor="ctr"/>
            <a:lstStyle>
              <a:lvl1pPr>
                <a:spcBef>
                  <a:spcPct val="20000"/>
                </a:spcBef>
                <a:buClr>
                  <a:srgbClr val="7891B0"/>
                </a:buClr>
                <a:buFont typeface="Arial" panose="020B0604020202020204" pitchFamily="34" charset="0"/>
                <a:buChar char="•"/>
                <a:defRPr sz="2800">
                  <a:solidFill>
                    <a:srgbClr val="000000"/>
                  </a:solidFill>
                  <a:latin typeface="Arial Narrow" panose="020B0606020202030204" pitchFamily="34" charset="0"/>
                </a:defRPr>
              </a:lvl1pPr>
              <a:lvl2pPr marL="742950" indent="-285750">
                <a:spcBef>
                  <a:spcPct val="20000"/>
                </a:spcBef>
                <a:buClr>
                  <a:srgbClr val="7891B0"/>
                </a:buClr>
                <a:buFont typeface="Arial" panose="020B0604020202020204" pitchFamily="34" charset="0"/>
                <a:buChar char="•"/>
                <a:defRPr sz="2800">
                  <a:solidFill>
                    <a:srgbClr val="000000"/>
                  </a:solidFill>
                  <a:latin typeface="Arial Narrow" panose="020B0606020202030204" pitchFamily="34" charset="0"/>
                </a:defRPr>
              </a:lvl2pPr>
              <a:lvl3pPr marL="1143000" indent="-228600">
                <a:spcBef>
                  <a:spcPct val="20000"/>
                </a:spcBef>
                <a:buClr>
                  <a:srgbClr val="7891B0"/>
                </a:buClr>
                <a:buFont typeface="Arial" panose="020B0604020202020204" pitchFamily="34" charset="0"/>
                <a:buChar char="•"/>
                <a:defRPr sz="2400">
                  <a:solidFill>
                    <a:srgbClr val="000000"/>
                  </a:solidFill>
                  <a:latin typeface="Arial Narrow" panose="020B0606020202030204" pitchFamily="34" charset="0"/>
                </a:defRPr>
              </a:lvl3pPr>
              <a:lvl4pPr marL="1600200" indent="-228600">
                <a:spcBef>
                  <a:spcPct val="20000"/>
                </a:spcBef>
                <a:buClr>
                  <a:srgbClr val="7891B0"/>
                </a:buClr>
                <a:buFont typeface="Arial" panose="020B0604020202020204" pitchFamily="34" charset="0"/>
                <a:buChar char="•"/>
                <a:defRPr sz="2000">
                  <a:solidFill>
                    <a:srgbClr val="000000"/>
                  </a:solidFill>
                  <a:latin typeface="Arial Narrow" panose="020B0606020202030204" pitchFamily="34" charset="0"/>
                </a:defRPr>
              </a:lvl4pPr>
              <a:lvl5pPr marL="2057400" indent="-228600">
                <a:spcBef>
                  <a:spcPct val="20000"/>
                </a:spcBef>
                <a:buClr>
                  <a:srgbClr val="7891B0"/>
                </a:buClr>
                <a:buFont typeface="Arial" panose="020B0604020202020204" pitchFamily="34" charset="0"/>
                <a:buChar char="•"/>
                <a:defRPr sz="2000">
                  <a:solidFill>
                    <a:srgbClr val="000000"/>
                  </a:solidFill>
                  <a:latin typeface="Arial Narrow" panose="020B0606020202030204" pitchFamily="34" charset="0"/>
                </a:defRPr>
              </a:lvl5pPr>
              <a:lvl6pPr marL="2514600" indent="-228600" eaLnBrk="0" fontAlgn="base" hangingPunct="0">
                <a:spcBef>
                  <a:spcPct val="20000"/>
                </a:spcBef>
                <a:spcAft>
                  <a:spcPct val="0"/>
                </a:spcAft>
                <a:buClr>
                  <a:srgbClr val="7891B0"/>
                </a:buClr>
                <a:buFont typeface="Arial" panose="020B0604020202020204" pitchFamily="34" charset="0"/>
                <a:buChar char="•"/>
                <a:defRPr sz="2000">
                  <a:solidFill>
                    <a:srgbClr val="000000"/>
                  </a:solidFill>
                  <a:latin typeface="Arial Narrow" panose="020B0606020202030204" pitchFamily="34" charset="0"/>
                </a:defRPr>
              </a:lvl6pPr>
              <a:lvl7pPr marL="2971800" indent="-228600" eaLnBrk="0" fontAlgn="base" hangingPunct="0">
                <a:spcBef>
                  <a:spcPct val="20000"/>
                </a:spcBef>
                <a:spcAft>
                  <a:spcPct val="0"/>
                </a:spcAft>
                <a:buClr>
                  <a:srgbClr val="7891B0"/>
                </a:buClr>
                <a:buFont typeface="Arial" panose="020B0604020202020204" pitchFamily="34" charset="0"/>
                <a:buChar char="•"/>
                <a:defRPr sz="2000">
                  <a:solidFill>
                    <a:srgbClr val="000000"/>
                  </a:solidFill>
                  <a:latin typeface="Arial Narrow" panose="020B0606020202030204" pitchFamily="34" charset="0"/>
                </a:defRPr>
              </a:lvl7pPr>
              <a:lvl8pPr marL="3429000" indent="-228600" eaLnBrk="0" fontAlgn="base" hangingPunct="0">
                <a:spcBef>
                  <a:spcPct val="20000"/>
                </a:spcBef>
                <a:spcAft>
                  <a:spcPct val="0"/>
                </a:spcAft>
                <a:buClr>
                  <a:srgbClr val="7891B0"/>
                </a:buClr>
                <a:buFont typeface="Arial" panose="020B0604020202020204" pitchFamily="34" charset="0"/>
                <a:buChar char="•"/>
                <a:defRPr sz="2000">
                  <a:solidFill>
                    <a:srgbClr val="000000"/>
                  </a:solidFill>
                  <a:latin typeface="Arial Narrow" panose="020B0606020202030204" pitchFamily="34" charset="0"/>
                </a:defRPr>
              </a:lvl8pPr>
              <a:lvl9pPr marL="3886200" indent="-228600" eaLnBrk="0" fontAlgn="base" hangingPunct="0">
                <a:spcBef>
                  <a:spcPct val="20000"/>
                </a:spcBef>
                <a:spcAft>
                  <a:spcPct val="0"/>
                </a:spcAft>
                <a:buClr>
                  <a:srgbClr val="7891B0"/>
                </a:buClr>
                <a:buFont typeface="Arial" panose="020B0604020202020204" pitchFamily="34" charset="0"/>
                <a:buChar char="•"/>
                <a:defRPr sz="2000">
                  <a:solidFill>
                    <a:srgbClr val="000000"/>
                  </a:solidFill>
                  <a:latin typeface="Arial Narrow" panose="020B0606020202030204" pitchFamily="34" charset="0"/>
                </a:defRPr>
              </a:lvl9pPr>
            </a:lstStyle>
            <a:p>
              <a:pPr algn="ctr">
                <a:lnSpc>
                  <a:spcPts val="6000"/>
                </a:lnSpc>
                <a:spcBef>
                  <a:spcPct val="0"/>
                </a:spcBef>
                <a:buClrTx/>
                <a:buNone/>
              </a:pPr>
              <a:r>
                <a:rPr lang="en-US" altLang="en-US" sz="6000" dirty="0">
                  <a:solidFill>
                    <a:srgbClr val="991B1E"/>
                  </a:solidFill>
                  <a:latin typeface="Arial" panose="020B0604020202020204" pitchFamily="34" charset="0"/>
                </a:rPr>
                <a:t>your</a:t>
              </a:r>
              <a:endParaRPr lang="en-NZ" altLang="en-US" sz="8000" dirty="0">
                <a:solidFill>
                  <a:srgbClr val="991B1E"/>
                </a:solidFill>
                <a:latin typeface="Arial" panose="020B0604020202020204" pitchFamily="34" charset="0"/>
              </a:endParaRPr>
            </a:p>
          </p:txBody>
        </p:sp>
        <p:sp>
          <p:nvSpPr>
            <p:cNvPr id="8" name="Oval Callout 7">
              <a:extLst>
                <a:ext uri="{FF2B5EF4-FFF2-40B4-BE49-F238E27FC236}">
                  <a16:creationId xmlns:a16="http://schemas.microsoft.com/office/drawing/2014/main" id="{A6E0BDC0-8A63-4F2E-A6B1-B27909FDD920}"/>
                </a:ext>
              </a:extLst>
            </p:cNvPr>
            <p:cNvSpPr>
              <a:spLocks noChangeArrowheads="1"/>
            </p:cNvSpPr>
            <p:nvPr/>
          </p:nvSpPr>
          <p:spPr bwMode="auto">
            <a:xfrm>
              <a:off x="684213" y="1844675"/>
              <a:ext cx="4248150" cy="1728788"/>
            </a:xfrm>
            <a:prstGeom prst="wedgeEllipseCallout">
              <a:avLst>
                <a:gd name="adj1" fmla="val -39912"/>
                <a:gd name="adj2" fmla="val 67394"/>
              </a:avLst>
            </a:prstGeom>
            <a:solidFill>
              <a:schemeClr val="bg1"/>
            </a:solidFill>
            <a:ln w="9525" algn="ctr">
              <a:solidFill>
                <a:srgbClr val="28343D"/>
              </a:solidFill>
              <a:round/>
              <a:headEnd/>
              <a:tailEnd/>
            </a:ln>
          </p:spPr>
          <p:txBody>
            <a:bodyPr wrap="none" anchor="ctr"/>
            <a:lstStyle>
              <a:lvl1pPr>
                <a:spcBef>
                  <a:spcPct val="20000"/>
                </a:spcBef>
                <a:buClr>
                  <a:srgbClr val="7891B0"/>
                </a:buClr>
                <a:buFont typeface="Arial" panose="020B0604020202020204" pitchFamily="34" charset="0"/>
                <a:buChar char="•"/>
                <a:defRPr sz="2800">
                  <a:solidFill>
                    <a:srgbClr val="000000"/>
                  </a:solidFill>
                  <a:latin typeface="Arial Narrow" panose="020B0606020202030204" pitchFamily="34" charset="0"/>
                </a:defRPr>
              </a:lvl1pPr>
              <a:lvl2pPr marL="742950" indent="-285750">
                <a:spcBef>
                  <a:spcPct val="20000"/>
                </a:spcBef>
                <a:buClr>
                  <a:srgbClr val="7891B0"/>
                </a:buClr>
                <a:buFont typeface="Arial" panose="020B0604020202020204" pitchFamily="34" charset="0"/>
                <a:buChar char="•"/>
                <a:defRPr sz="2800">
                  <a:solidFill>
                    <a:srgbClr val="000000"/>
                  </a:solidFill>
                  <a:latin typeface="Arial Narrow" panose="020B0606020202030204" pitchFamily="34" charset="0"/>
                </a:defRPr>
              </a:lvl2pPr>
              <a:lvl3pPr marL="1143000" indent="-228600">
                <a:spcBef>
                  <a:spcPct val="20000"/>
                </a:spcBef>
                <a:buClr>
                  <a:srgbClr val="7891B0"/>
                </a:buClr>
                <a:buFont typeface="Arial" panose="020B0604020202020204" pitchFamily="34" charset="0"/>
                <a:buChar char="•"/>
                <a:defRPr sz="2400">
                  <a:solidFill>
                    <a:srgbClr val="000000"/>
                  </a:solidFill>
                  <a:latin typeface="Arial Narrow" panose="020B0606020202030204" pitchFamily="34" charset="0"/>
                </a:defRPr>
              </a:lvl3pPr>
              <a:lvl4pPr marL="1600200" indent="-228600">
                <a:spcBef>
                  <a:spcPct val="20000"/>
                </a:spcBef>
                <a:buClr>
                  <a:srgbClr val="7891B0"/>
                </a:buClr>
                <a:buFont typeface="Arial" panose="020B0604020202020204" pitchFamily="34" charset="0"/>
                <a:buChar char="•"/>
                <a:defRPr sz="2000">
                  <a:solidFill>
                    <a:srgbClr val="000000"/>
                  </a:solidFill>
                  <a:latin typeface="Arial Narrow" panose="020B0606020202030204" pitchFamily="34" charset="0"/>
                </a:defRPr>
              </a:lvl4pPr>
              <a:lvl5pPr marL="2057400" indent="-228600">
                <a:spcBef>
                  <a:spcPct val="20000"/>
                </a:spcBef>
                <a:buClr>
                  <a:srgbClr val="7891B0"/>
                </a:buClr>
                <a:buFont typeface="Arial" panose="020B0604020202020204" pitchFamily="34" charset="0"/>
                <a:buChar char="•"/>
                <a:defRPr sz="2000">
                  <a:solidFill>
                    <a:srgbClr val="000000"/>
                  </a:solidFill>
                  <a:latin typeface="Arial Narrow" panose="020B0606020202030204" pitchFamily="34" charset="0"/>
                </a:defRPr>
              </a:lvl5pPr>
              <a:lvl6pPr marL="2514600" indent="-228600" eaLnBrk="0" fontAlgn="base" hangingPunct="0">
                <a:spcBef>
                  <a:spcPct val="20000"/>
                </a:spcBef>
                <a:spcAft>
                  <a:spcPct val="0"/>
                </a:spcAft>
                <a:buClr>
                  <a:srgbClr val="7891B0"/>
                </a:buClr>
                <a:buFont typeface="Arial" panose="020B0604020202020204" pitchFamily="34" charset="0"/>
                <a:buChar char="•"/>
                <a:defRPr sz="2000">
                  <a:solidFill>
                    <a:srgbClr val="000000"/>
                  </a:solidFill>
                  <a:latin typeface="Arial Narrow" panose="020B0606020202030204" pitchFamily="34" charset="0"/>
                </a:defRPr>
              </a:lvl6pPr>
              <a:lvl7pPr marL="2971800" indent="-228600" eaLnBrk="0" fontAlgn="base" hangingPunct="0">
                <a:spcBef>
                  <a:spcPct val="20000"/>
                </a:spcBef>
                <a:spcAft>
                  <a:spcPct val="0"/>
                </a:spcAft>
                <a:buClr>
                  <a:srgbClr val="7891B0"/>
                </a:buClr>
                <a:buFont typeface="Arial" panose="020B0604020202020204" pitchFamily="34" charset="0"/>
                <a:buChar char="•"/>
                <a:defRPr sz="2000">
                  <a:solidFill>
                    <a:srgbClr val="000000"/>
                  </a:solidFill>
                  <a:latin typeface="Arial Narrow" panose="020B0606020202030204" pitchFamily="34" charset="0"/>
                </a:defRPr>
              </a:lvl7pPr>
              <a:lvl8pPr marL="3429000" indent="-228600" eaLnBrk="0" fontAlgn="base" hangingPunct="0">
                <a:spcBef>
                  <a:spcPct val="20000"/>
                </a:spcBef>
                <a:spcAft>
                  <a:spcPct val="0"/>
                </a:spcAft>
                <a:buClr>
                  <a:srgbClr val="7891B0"/>
                </a:buClr>
                <a:buFont typeface="Arial" panose="020B0604020202020204" pitchFamily="34" charset="0"/>
                <a:buChar char="•"/>
                <a:defRPr sz="2000">
                  <a:solidFill>
                    <a:srgbClr val="000000"/>
                  </a:solidFill>
                  <a:latin typeface="Arial Narrow" panose="020B0606020202030204" pitchFamily="34" charset="0"/>
                </a:defRPr>
              </a:lvl8pPr>
              <a:lvl9pPr marL="3886200" indent="-228600" eaLnBrk="0" fontAlgn="base" hangingPunct="0">
                <a:spcBef>
                  <a:spcPct val="20000"/>
                </a:spcBef>
                <a:spcAft>
                  <a:spcPct val="0"/>
                </a:spcAft>
                <a:buClr>
                  <a:srgbClr val="7891B0"/>
                </a:buClr>
                <a:buFont typeface="Arial" panose="020B0604020202020204" pitchFamily="34" charset="0"/>
                <a:buChar char="•"/>
                <a:defRPr sz="2000">
                  <a:solidFill>
                    <a:srgbClr val="000000"/>
                  </a:solidFill>
                  <a:latin typeface="Arial Narrow" panose="020B0606020202030204" pitchFamily="34" charset="0"/>
                </a:defRPr>
              </a:lvl9pPr>
            </a:lstStyle>
            <a:p>
              <a:pPr algn="ctr">
                <a:spcBef>
                  <a:spcPct val="0"/>
                </a:spcBef>
                <a:buClrTx/>
                <a:buFontTx/>
                <a:buNone/>
              </a:pPr>
              <a:r>
                <a:rPr lang="en-US" altLang="en-US" sz="6000" dirty="0">
                  <a:solidFill>
                    <a:srgbClr val="991B1E"/>
                  </a:solidFill>
                  <a:latin typeface="Arial" panose="020B0604020202020204" pitchFamily="34" charset="0"/>
                </a:rPr>
                <a:t>Have</a:t>
              </a:r>
              <a:endParaRPr lang="en-NZ" altLang="en-US" sz="8000" dirty="0">
                <a:solidFill>
                  <a:srgbClr val="991B1E"/>
                </a:solidFill>
                <a:latin typeface="Arial" panose="020B0604020202020204" pitchFamily="34" charset="0"/>
              </a:endParaRPr>
            </a:p>
          </p:txBody>
        </p:sp>
      </p:grpSp>
    </p:spTree>
    <p:extLst>
      <p:ext uri="{BB962C8B-B14F-4D97-AF65-F5344CB8AC3E}">
        <p14:creationId xmlns:p14="http://schemas.microsoft.com/office/powerpoint/2010/main" val="1674287705"/>
      </p:ext>
    </p:extLst>
  </p:cSld>
  <p:clrMapOvr>
    <a:masterClrMapping/>
  </p:clrMapOvr>
</p:sld>
</file>

<file path=ppt/theme/theme1.xml><?xml version="1.0" encoding="utf-8"?>
<a:theme xmlns:a="http://schemas.openxmlformats.org/drawingml/2006/main" name="Office Theme">
  <a:themeElements>
    <a:clrScheme name="Findex Secondary V1">
      <a:dk1>
        <a:srgbClr val="1B1F22"/>
      </a:dk1>
      <a:lt1>
        <a:srgbClr val="F2F5F6"/>
      </a:lt1>
      <a:dk2>
        <a:srgbClr val="1B1F22"/>
      </a:dk2>
      <a:lt2>
        <a:srgbClr val="FFFFFF"/>
      </a:lt2>
      <a:accent1>
        <a:srgbClr val="D43D27"/>
      </a:accent1>
      <a:accent2>
        <a:srgbClr val="7AC144"/>
      </a:accent2>
      <a:accent3>
        <a:srgbClr val="5DABDF"/>
      </a:accent3>
      <a:accent4>
        <a:srgbClr val="BFBFBF"/>
      </a:accent4>
      <a:accent5>
        <a:srgbClr val="7DABB1"/>
      </a:accent5>
      <a:accent6>
        <a:srgbClr val="1D656F"/>
      </a:accent6>
      <a:hlink>
        <a:srgbClr val="D43D27"/>
      </a:hlink>
      <a:folHlink>
        <a:srgbClr val="BAC3C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2484</TotalTime>
  <Words>3509</Words>
  <Application>Microsoft Office PowerPoint</Application>
  <PresentationFormat>Widescreen</PresentationFormat>
  <Paragraphs>400</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Swiss721BT-Bold</vt:lpstr>
      <vt:lpstr>Swiss721BT-Light</vt:lpstr>
      <vt:lpstr>Wingdings</vt:lpstr>
      <vt:lpstr>Office Theme</vt:lpstr>
      <vt:lpstr>Kiwis working, doing business or investing in Australia</vt:lpstr>
      <vt:lpstr>PowerPoint Presentation</vt:lpstr>
      <vt:lpstr>Australian Individuals-  Are you a Resident or Foreign Resident ?</vt:lpstr>
      <vt:lpstr>Individual marginal tax rates</vt:lpstr>
      <vt:lpstr>Individual marginal tax rates – Proposed “Stage 3 tax cuts”</vt:lpstr>
      <vt:lpstr>Individual Marginal Tax Rates</vt:lpstr>
      <vt:lpstr>Individual Marginal Tax Rates</vt:lpstr>
      <vt:lpstr>Australian Tax Residency Definition for Individuals</vt:lpstr>
      <vt:lpstr>Individual Residency- Test 1 “Resides under Ordinary Concepts”</vt:lpstr>
      <vt:lpstr>Individual Residency- Test 1 “Resides under Ordinary Concepts”</vt:lpstr>
      <vt:lpstr>Individual Residency- Test 2 “Domicile”</vt:lpstr>
      <vt:lpstr>Individual Residency- Test 3 “183 Day test”</vt:lpstr>
      <vt:lpstr>Modified taxing rules for “Temporary Residents”</vt:lpstr>
      <vt:lpstr>CGT- What is taxable Australian property?</vt:lpstr>
      <vt:lpstr>Individual CGT Considerations-  commencing Australian tax residency            </vt:lpstr>
      <vt:lpstr>CGT Considerations for connected entities-  Trusts commencing Australian tax residency</vt:lpstr>
      <vt:lpstr>CGT Considerations for connected entities-  Companies commencing Australian tax residency</vt:lpstr>
      <vt:lpstr>CGT Discount </vt:lpstr>
      <vt:lpstr>CGT main residence exemption now only available to Australian tax residents</vt:lpstr>
      <vt:lpstr>Foreign Resident CGT withholding</vt:lpstr>
      <vt:lpstr>99B- taxation of foreign trust distributions to Australian residents</vt:lpstr>
      <vt:lpstr>Australian resident discretionary trusts and distributions of capital gains to foreign or temporary residents</vt:lpstr>
      <vt:lpstr>Australian resident discretionary trusts and distributions of capital gains to foreign or temporary residents</vt:lpstr>
      <vt:lpstr>Additional state taxes for Kiwis investing in Australian residential property</vt:lpstr>
      <vt:lpstr>Common Australian business &amp; Investment Structures</vt:lpstr>
      <vt:lpstr>Common Australian business &amp; Investment Structures</vt:lpstr>
      <vt:lpstr>Company Taxation- Australia</vt:lpstr>
      <vt:lpstr>Company Taxation- Australia</vt:lpstr>
      <vt:lpstr>Company Taxation- Australia</vt:lpstr>
      <vt:lpstr>Trust Taxation - Australia</vt:lpstr>
      <vt:lpstr>Other Australian business taxes to consider</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Laura Swain</dc:creator>
  <cp:lastModifiedBy>Alex Duonis</cp:lastModifiedBy>
  <cp:revision>53</cp:revision>
  <cp:lastPrinted>2023-02-07T00:36:46Z</cp:lastPrinted>
  <dcterms:created xsi:type="dcterms:W3CDTF">2019-03-07T05:10:11Z</dcterms:created>
  <dcterms:modified xsi:type="dcterms:W3CDTF">2024-02-19T01:45:44Z</dcterms:modified>
</cp:coreProperties>
</file>