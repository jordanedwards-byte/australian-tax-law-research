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2"/>
    <p:sldId id="281" r:id="rId3"/>
    <p:sldId id="286" r:id="rId4"/>
    <p:sldId id="288" r:id="rId5"/>
    <p:sldId id="296" r:id="rId6"/>
    <p:sldId id="287" r:id="rId7"/>
    <p:sldId id="301" r:id="rId8"/>
    <p:sldId id="309" r:id="rId9"/>
    <p:sldId id="310" r:id="rId10"/>
    <p:sldId id="300" r:id="rId11"/>
    <p:sldId id="299" r:id="rId12"/>
    <p:sldId id="302" r:id="rId13"/>
    <p:sldId id="338" r:id="rId14"/>
    <p:sldId id="312" r:id="rId15"/>
    <p:sldId id="311" r:id="rId16"/>
    <p:sldId id="303" r:id="rId17"/>
    <p:sldId id="304" r:id="rId18"/>
    <p:sldId id="305" r:id="rId19"/>
    <p:sldId id="306" r:id="rId20"/>
    <p:sldId id="307" r:id="rId21"/>
    <p:sldId id="297" r:id="rId22"/>
    <p:sldId id="293" r:id="rId23"/>
    <p:sldId id="313" r:id="rId24"/>
    <p:sldId id="315" r:id="rId25"/>
    <p:sldId id="316" r:id="rId26"/>
    <p:sldId id="337" r:id="rId27"/>
    <p:sldId id="328" r:id="rId28"/>
    <p:sldId id="289" r:id="rId29"/>
    <p:sldId id="285" r:id="rId30"/>
  </p:sldIdLst>
  <p:sldSz cx="9144000" cy="6858000" type="screen4x3"/>
  <p:notesSz cx="6858000" cy="9144000"/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 indent="2286000">
      <a:defRPr>
        <a:latin typeface="Arial"/>
        <a:ea typeface="Arial"/>
        <a:cs typeface="Arial"/>
        <a:sym typeface="Arial"/>
      </a:defRPr>
    </a:lvl6pPr>
    <a:lvl7pPr indent="2743200">
      <a:defRPr>
        <a:latin typeface="Arial"/>
        <a:ea typeface="Arial"/>
        <a:cs typeface="Arial"/>
        <a:sym typeface="Arial"/>
      </a:defRPr>
    </a:lvl7pPr>
    <a:lvl8pPr indent="3200400">
      <a:defRPr>
        <a:latin typeface="Arial"/>
        <a:ea typeface="Arial"/>
        <a:cs typeface="Arial"/>
        <a:sym typeface="Arial"/>
      </a:defRPr>
    </a:lvl8pPr>
    <a:lvl9pPr indent="3657600">
      <a:defRPr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rdan Edwards" initials="JE" lastIdx="1" clrIdx="0">
    <p:extLst>
      <p:ext uri="{19B8F6BF-5375-455C-9EA6-DF929625EA0E}">
        <p15:presenceInfo xmlns:p15="http://schemas.microsoft.com/office/powerpoint/2012/main" userId="S::jedwards@lbwca.com.au::556faaa3-011b-4041-abb5-25e04ae82b1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BE0E3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BE0E3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BBE0E3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CCCD9"/>
          </a:solidFill>
        </a:fill>
      </a:tcStyle>
    </a:wholeTbl>
    <a:band2H>
      <a:tcTxStyle/>
      <a:tcStyle>
        <a:tcBdr/>
        <a:fill>
          <a:solidFill>
            <a:srgbClr val="E7E7ED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D2D8A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D2D8A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D2D8A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BE0E3"/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BBE0E3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6" autoAdjust="0"/>
    <p:restoredTop sz="74662" autoAdjust="0"/>
  </p:normalViewPr>
  <p:slideViewPr>
    <p:cSldViewPr snapToGrid="0">
      <p:cViewPr varScale="1">
        <p:scale>
          <a:sx n="83" d="100"/>
          <a:sy n="83" d="100"/>
        </p:scale>
        <p:origin x="2982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18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84609124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A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52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5316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83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2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812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094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490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31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033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151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05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17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816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350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515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716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7897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3304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7375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4921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974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498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5829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4660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167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688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093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BW-LOGO-CYAN-GRE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088600" y="1529085"/>
            <a:ext cx="6966800" cy="379983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LUS-GRAPHIC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880690" y="-316492"/>
            <a:ext cx="5273152" cy="2813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xfrm>
            <a:off x="685800" y="2792313"/>
            <a:ext cx="7772400" cy="2928144"/>
          </a:xfrm>
          <a:prstGeom prst="rect">
            <a:avLst/>
          </a:prstGeom>
        </p:spPr>
        <p:txBody>
          <a:bodyPr/>
          <a:lstStyle>
            <a:lvl1pPr algn="ctr">
              <a:lnSpc>
                <a:spcPct val="80000"/>
              </a:lnSpc>
              <a:defRPr sz="7000" spc="-70"/>
            </a:lvl1pPr>
          </a:lstStyle>
          <a:p>
            <a:pPr lvl="0">
              <a:defRPr sz="1800" b="0" spc="0">
                <a:solidFill>
                  <a:srgbClr val="000000"/>
                </a:solidFill>
              </a:defRPr>
            </a:pPr>
            <a:r>
              <a:rPr sz="7000" b="1" spc="-70">
                <a:solidFill>
                  <a:srgbClr val="0E9ED7"/>
                </a:solidFill>
              </a:rPr>
              <a:t>Title Text</a:t>
            </a:r>
          </a:p>
        </p:txBody>
      </p:sp>
      <p:pic>
        <p:nvPicPr>
          <p:cNvPr id="11" name="LBW-LOGO-CYAN-GREY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39300" y="386085"/>
            <a:ext cx="2675176" cy="1459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PLUS-GRAPHIC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880690" y="-316492"/>
            <a:ext cx="5273152" cy="2813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400" b="1">
                <a:solidFill>
                  <a:srgbClr val="0E9ED7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508000" indent="-254000">
              <a:spcBef>
                <a:spcPts val="600"/>
              </a:spcBef>
              <a:buChar char="•"/>
            </a:lvl2pPr>
            <a:lvl3pPr marL="762000" indent="-254000">
              <a:spcBef>
                <a:spcPts val="600"/>
              </a:spcBef>
              <a:buChar char="-"/>
            </a:lvl3pPr>
            <a:lvl4pPr marL="1016000" indent="-254000">
              <a:spcBef>
                <a:spcPts val="600"/>
              </a:spcBef>
              <a:buChar char="-"/>
            </a:lvl4pPr>
            <a:lvl5pPr marL="1270000" indent="-254000">
              <a:spcBef>
                <a:spcPts val="600"/>
              </a:spcBef>
              <a:buChar char="-"/>
            </a:lvl5pPr>
          </a:lstStyle>
          <a:p>
            <a:pPr lvl="0">
              <a:defRPr sz="1800"/>
            </a:pPr>
            <a:r>
              <a:rPr sz="2600"/>
              <a:t>Body Level One</a:t>
            </a:r>
          </a:p>
          <a:p>
            <a:pPr lvl="1">
              <a:defRPr sz="1800"/>
            </a:pPr>
            <a:r>
              <a:rPr sz="2600"/>
              <a:t>Body Level Two</a:t>
            </a:r>
          </a:p>
          <a:p>
            <a:pPr lvl="2">
              <a:defRPr sz="1800"/>
            </a:pPr>
            <a:r>
              <a:rPr sz="2600"/>
              <a:t>Body Level Three</a:t>
            </a:r>
          </a:p>
          <a:p>
            <a:pPr lvl="3">
              <a:defRPr sz="1800"/>
            </a:pPr>
            <a:r>
              <a:rPr sz="2600"/>
              <a:t>Body Level Four</a:t>
            </a:r>
          </a:p>
          <a:p>
            <a:pPr lvl="4">
              <a:defRPr sz="1800"/>
            </a:pPr>
            <a:r>
              <a:rPr sz="2600"/>
              <a:t>Body Level Five</a:t>
            </a:r>
          </a:p>
        </p:txBody>
      </p:sp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LUS-GRAPHIC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3880690" y="-1559852"/>
            <a:ext cx="5273152" cy="28136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Shape 3"/>
          <p:cNvSpPr>
            <a:spLocks noGrp="1"/>
          </p:cNvSpPr>
          <p:nvPr>
            <p:ph type="title"/>
          </p:nvPr>
        </p:nvSpPr>
        <p:spPr>
          <a:xfrm>
            <a:off x="763587" y="1373832"/>
            <a:ext cx="7616826" cy="634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400" b="1">
                <a:solidFill>
                  <a:srgbClr val="0E9ED7"/>
                </a:solidFill>
              </a:rPr>
              <a:t>Title Text</a:t>
            </a:r>
          </a:p>
        </p:txBody>
      </p:sp>
      <p:sp>
        <p:nvSpPr>
          <p:cNvPr id="4" name="Shape 4"/>
          <p:cNvSpPr>
            <a:spLocks noGrp="1"/>
          </p:cNvSpPr>
          <p:nvPr>
            <p:ph type="body" idx="1"/>
          </p:nvPr>
        </p:nvSpPr>
        <p:spPr>
          <a:xfrm>
            <a:off x="761206" y="2158587"/>
            <a:ext cx="7621588" cy="44438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2pPr marL="508000" indent="-254000">
              <a:spcBef>
                <a:spcPts val="600"/>
              </a:spcBef>
              <a:buChar char="•"/>
            </a:lvl2pPr>
            <a:lvl3pPr marL="762000" indent="-254000">
              <a:spcBef>
                <a:spcPts val="600"/>
              </a:spcBef>
              <a:buChar char="-"/>
            </a:lvl3pPr>
            <a:lvl4pPr marL="1016000" indent="-254000">
              <a:spcBef>
                <a:spcPts val="600"/>
              </a:spcBef>
              <a:buChar char="-"/>
            </a:lvl4pPr>
            <a:lvl5pPr marL="1270000" indent="-254000">
              <a:spcBef>
                <a:spcPts val="600"/>
              </a:spcBef>
              <a:buChar char="-"/>
            </a:lvl5pPr>
          </a:lstStyle>
          <a:p>
            <a:pPr lvl="0">
              <a:defRPr sz="1800"/>
            </a:pPr>
            <a:r>
              <a:rPr sz="2600"/>
              <a:t>Body Level One</a:t>
            </a:r>
          </a:p>
          <a:p>
            <a:pPr lvl="1">
              <a:defRPr sz="1800"/>
            </a:pPr>
            <a:r>
              <a:rPr sz="2600"/>
              <a:t>Body Level Two</a:t>
            </a:r>
          </a:p>
          <a:p>
            <a:pPr lvl="2">
              <a:defRPr sz="1800"/>
            </a:pPr>
            <a:r>
              <a:rPr sz="2600"/>
              <a:t>Body Level Three</a:t>
            </a:r>
          </a:p>
          <a:p>
            <a:pPr lvl="3">
              <a:defRPr sz="1800"/>
            </a:pPr>
            <a:r>
              <a:rPr sz="2600"/>
              <a:t>Body Level Four</a:t>
            </a:r>
          </a:p>
          <a:p>
            <a:pPr lvl="4">
              <a:defRPr sz="1800"/>
            </a:pPr>
            <a:r>
              <a:rPr sz="2600"/>
              <a:t>Body Level Five</a:t>
            </a:r>
          </a:p>
        </p:txBody>
      </p:sp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6763317" y="6443974"/>
            <a:ext cx="2133601" cy="22698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r">
              <a:defRPr sz="1000"/>
            </a:lvl1pPr>
          </a:lstStyle>
          <a:p>
            <a:pPr lvl="0"/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1pPr>
      <a:lvl2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2pPr>
      <a:lvl3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3pPr>
      <a:lvl4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4pPr>
      <a:lvl5pPr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5pPr>
      <a:lvl6pPr indent="4572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6pPr>
      <a:lvl7pPr indent="9144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7pPr>
      <a:lvl8pPr indent="13716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8pPr>
      <a:lvl9pPr indent="1828800">
        <a:defRPr sz="3400" b="1">
          <a:solidFill>
            <a:srgbClr val="0E9ED7"/>
          </a:solidFill>
          <a:latin typeface="Arial"/>
          <a:ea typeface="Arial"/>
          <a:cs typeface="Arial"/>
          <a:sym typeface="Arial"/>
        </a:defRPr>
      </a:lvl9pPr>
    </p:titleStyle>
    <p:bodyStyle>
      <a:lvl1pPr>
        <a:spcBef>
          <a:spcPts val="800"/>
        </a:spcBef>
        <a:defRPr sz="2600">
          <a:latin typeface="Arial"/>
          <a:ea typeface="Arial"/>
          <a:cs typeface="Arial"/>
          <a:sym typeface="Arial"/>
        </a:defRPr>
      </a:lvl1pPr>
      <a:lvl2pPr marL="722539" indent="-265339">
        <a:spcBef>
          <a:spcPts val="800"/>
        </a:spcBef>
        <a:buSzPct val="100000"/>
        <a:buChar char="–"/>
        <a:defRPr sz="2600">
          <a:latin typeface="Arial"/>
          <a:ea typeface="Arial"/>
          <a:cs typeface="Arial"/>
          <a:sym typeface="Arial"/>
        </a:defRPr>
      </a:lvl2pPr>
      <a:lvl3pPr marL="1162050" indent="-247650">
        <a:spcBef>
          <a:spcPts val="800"/>
        </a:spcBef>
        <a:buSzPct val="100000"/>
        <a:buChar char="•"/>
        <a:defRPr sz="2600">
          <a:latin typeface="Arial"/>
          <a:ea typeface="Arial"/>
          <a:cs typeface="Arial"/>
          <a:sym typeface="Arial"/>
        </a:defRPr>
      </a:lvl3pPr>
      <a:lvl4pPr marL="1668779" indent="-297179">
        <a:spcBef>
          <a:spcPts val="800"/>
        </a:spcBef>
        <a:buSzPct val="100000"/>
        <a:buChar char="–"/>
        <a:defRPr sz="2600">
          <a:latin typeface="Arial"/>
          <a:ea typeface="Arial"/>
          <a:cs typeface="Arial"/>
          <a:sym typeface="Arial"/>
        </a:defRPr>
      </a:lvl4pPr>
      <a:lvl5pPr marL="21259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5pPr>
      <a:lvl6pPr marL="25831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6pPr>
      <a:lvl7pPr marL="30403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7pPr>
      <a:lvl8pPr marL="34975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8pPr>
      <a:lvl9pPr marL="3954779" indent="-297179">
        <a:spcBef>
          <a:spcPts val="800"/>
        </a:spcBef>
        <a:buSzPct val="100000"/>
        <a:buChar char="»"/>
        <a:defRPr sz="2600">
          <a:latin typeface="Arial"/>
          <a:ea typeface="Arial"/>
          <a:cs typeface="Arial"/>
          <a:sym typeface="Arial"/>
        </a:defRPr>
      </a:lvl9pPr>
    </p:bodyStyle>
    <p:otherStyle>
      <a:lvl1pPr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indent="22860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indent="27432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indent="32004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indent="3657600" algn="r">
        <a:defRPr sz="10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AU" sz="7200" dirty="0">
                <a:latin typeface="Calibri" panose="020F0502020204030204" pitchFamily="34" charset="0"/>
                <a:cs typeface="Calibri" panose="020F0502020204030204" pitchFamily="34" charset="0"/>
              </a:rPr>
              <a:t>Capital Gains Tax</a:t>
            </a:r>
            <a:endParaRPr sz="7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61206" y="1016481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a capital gain (loss)?	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61206" y="2027957"/>
            <a:ext cx="7621588" cy="4443810"/>
          </a:xfrm>
        </p:spPr>
        <p:txBody>
          <a:bodyPr/>
          <a:lstStyle/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If you sell a capital asset, such as real estate or shares, you usually make a capital gain or a capital loss (subject to exceptions).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				1) Gain			2) Loss</a:t>
            </a: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Sale price			$520,000		$300,000</a:t>
            </a: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Less: purchase price		</a:t>
            </a:r>
            <a:r>
              <a:rPr lang="en-AU" sz="1800" u="sng" dirty="0">
                <a:latin typeface="Arial" panose="020B0604020202020204" pitchFamily="34" charset="0"/>
                <a:cs typeface="Arial" panose="020B0604020202020204" pitchFamily="34" charset="0"/>
              </a:rPr>
              <a:t>$300,000</a:t>
            </a: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AU" sz="1800" u="sng" dirty="0">
                <a:latin typeface="Arial" panose="020B0604020202020204" pitchFamily="34" charset="0"/>
                <a:cs typeface="Arial" panose="020B0604020202020204" pitchFamily="34" charset="0"/>
              </a:rPr>
              <a:t>$400,000</a:t>
            </a: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Capital gain / loss			$220,000		($100,000)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dirty="0"/>
          </a:p>
          <a:p>
            <a:endParaRPr lang="en-AU" dirty="0"/>
          </a:p>
          <a:p>
            <a:endParaRPr lang="en-AU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33739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Who does it apply to?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2"/>
            <a:ext cx="7809588" cy="4794874"/>
          </a:xfrm>
        </p:spPr>
        <p:txBody>
          <a:bodyPr/>
          <a:lstStyle/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If you’re an Australian resident, CGT applies to your assets anywhere in the world.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Foreign residents make a capital gain or loss if a CGT event happens to an asset that is 'taxable Australian property.’</a:t>
            </a:r>
          </a:p>
        </p:txBody>
      </p:sp>
    </p:spTree>
    <p:extLst>
      <p:ext uri="{BB962C8B-B14F-4D97-AF65-F5344CB8AC3E}">
        <p14:creationId xmlns:p14="http://schemas.microsoft.com/office/powerpoint/2010/main" val="237788099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 CGT Assets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2"/>
            <a:ext cx="7809588" cy="4794874"/>
          </a:xfrm>
        </p:spPr>
        <p:txBody>
          <a:bodyPr/>
          <a:lstStyle/>
          <a:p>
            <a:pPr marL="342900" indent="-342900">
              <a:buFontTx/>
              <a:buChar char="-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Property</a:t>
            </a:r>
          </a:p>
          <a:p>
            <a:pPr marL="342900" indent="-342900">
              <a:buFontTx/>
              <a:buChar char="-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Shares</a:t>
            </a:r>
          </a:p>
          <a:p>
            <a:pPr marL="342900" indent="-342900">
              <a:buFontTx/>
              <a:buChar char="-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Leases</a:t>
            </a:r>
          </a:p>
          <a:p>
            <a:pPr marL="342900" indent="-342900">
              <a:buFontTx/>
              <a:buChar char="-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Goodwill</a:t>
            </a:r>
          </a:p>
          <a:p>
            <a:pPr marL="342900" indent="-342900">
              <a:buFontTx/>
              <a:buChar char="-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Personal use assets purchased for more than $10,000</a:t>
            </a:r>
          </a:p>
          <a:p>
            <a:pPr marL="342900" indent="-342900">
              <a:buFontTx/>
              <a:buChar char="-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Collectables (such as jewellery, antiques, and artwork)</a:t>
            </a:r>
          </a:p>
          <a:p>
            <a:endParaRPr lang="en-AU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60047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Question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2"/>
            <a:ext cx="7809588" cy="4794874"/>
          </a:xfrm>
        </p:spPr>
        <p:txBody>
          <a:bodyPr/>
          <a:lstStyle/>
          <a:p>
            <a:r>
              <a:rPr lang="en-AU" sz="1800" dirty="0"/>
              <a:t>Are the following CGT assets or personal use assets:</a:t>
            </a:r>
          </a:p>
          <a:p>
            <a:endParaRPr lang="en-AU" sz="1800" dirty="0"/>
          </a:p>
          <a:p>
            <a:r>
              <a:rPr lang="en-AU" sz="1800" dirty="0"/>
              <a:t>1. An engagement ring which cost $5,000? </a:t>
            </a:r>
          </a:p>
          <a:p>
            <a:r>
              <a:rPr lang="en-AU" sz="1800" i="1" dirty="0">
                <a:solidFill>
                  <a:srgbClr val="FF0000"/>
                </a:solidFill>
              </a:rPr>
              <a:t>Personal use – used or kept for personal use (less than $10K)</a:t>
            </a:r>
            <a:endParaRPr lang="en-AU" sz="1800" dirty="0">
              <a:solidFill>
                <a:srgbClr val="FF0000"/>
              </a:solidFill>
            </a:endParaRPr>
          </a:p>
          <a:p>
            <a:r>
              <a:rPr lang="en-AU" sz="1800" dirty="0"/>
              <a:t>2. A second-hand car purchased for $2,000? </a:t>
            </a:r>
          </a:p>
          <a:p>
            <a:r>
              <a:rPr lang="en-AU" sz="1800" i="1" dirty="0">
                <a:solidFill>
                  <a:srgbClr val="FF0000"/>
                </a:solidFill>
              </a:rPr>
              <a:t>Personal use -</a:t>
            </a:r>
            <a:r>
              <a:rPr lang="en-AU" sz="1800" dirty="0"/>
              <a:t> </a:t>
            </a:r>
            <a:r>
              <a:rPr lang="en-AU" sz="1800" i="1" dirty="0">
                <a:solidFill>
                  <a:srgbClr val="FF0000"/>
                </a:solidFill>
              </a:rPr>
              <a:t>Gains and losses from cars are exempt</a:t>
            </a:r>
          </a:p>
          <a:p>
            <a:r>
              <a:rPr lang="en-AU" sz="1800" dirty="0"/>
              <a:t>3. Shares in BHP? </a:t>
            </a:r>
            <a:endParaRPr lang="en-AU" sz="1800" dirty="0">
              <a:solidFill>
                <a:srgbClr val="FF0000"/>
              </a:solidFill>
            </a:endParaRPr>
          </a:p>
          <a:p>
            <a:r>
              <a:rPr lang="en-AU" sz="1800" i="1" dirty="0">
                <a:solidFill>
                  <a:srgbClr val="FF0000"/>
                </a:solidFill>
              </a:rPr>
              <a:t>CGT asset</a:t>
            </a:r>
            <a:endParaRPr lang="en-AU" sz="1800" dirty="0">
              <a:solidFill>
                <a:srgbClr val="FF0000"/>
              </a:solidFill>
            </a:endParaRPr>
          </a:p>
          <a:p>
            <a:r>
              <a:rPr lang="en-AU" sz="1800" dirty="0"/>
              <a:t>4. Your home? </a:t>
            </a:r>
            <a:endParaRPr lang="en-AU" sz="1800" dirty="0">
              <a:solidFill>
                <a:srgbClr val="FF0000"/>
              </a:solidFill>
            </a:endParaRPr>
          </a:p>
          <a:p>
            <a:r>
              <a:rPr lang="en-AU" sz="1800" i="1" dirty="0">
                <a:solidFill>
                  <a:srgbClr val="FF0000"/>
                </a:solidFill>
              </a:rPr>
              <a:t>CGT asset (but exempt under main residence exemption)</a:t>
            </a:r>
            <a:endParaRPr lang="en-AU" sz="1800" dirty="0">
              <a:solidFill>
                <a:srgbClr val="FF0000"/>
              </a:solidFill>
            </a:endParaRPr>
          </a:p>
          <a:p>
            <a:r>
              <a:rPr lang="en-AU" sz="1800" dirty="0"/>
              <a:t>5. A holiday house at Torquay? </a:t>
            </a:r>
            <a:endParaRPr lang="en-AU" sz="1800" dirty="0">
              <a:solidFill>
                <a:srgbClr val="FF0000"/>
              </a:solidFill>
            </a:endParaRPr>
          </a:p>
          <a:p>
            <a:r>
              <a:rPr lang="en-AU" sz="1800" i="1" dirty="0">
                <a:solidFill>
                  <a:srgbClr val="FF0000"/>
                </a:solidFill>
              </a:rPr>
              <a:t>CGT asset</a:t>
            </a:r>
            <a:endParaRPr lang="en-AU" sz="1800" dirty="0">
              <a:solidFill>
                <a:srgbClr val="FF0000"/>
              </a:solidFill>
            </a:endParaRPr>
          </a:p>
          <a:p>
            <a:endParaRPr lang="en-AU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9215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of the event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1"/>
            <a:ext cx="7809588" cy="5172437"/>
          </a:xfrm>
        </p:spPr>
        <p:txBody>
          <a:bodyPr/>
          <a:lstStyle/>
          <a:p>
            <a:r>
              <a:rPr lang="en-AU" sz="1800" b="1" dirty="0"/>
              <a:t>Contract date </a:t>
            </a:r>
            <a:r>
              <a:rPr lang="en-AU" sz="1800" b="1" u="sng" dirty="0"/>
              <a:t>not</a:t>
            </a:r>
            <a:r>
              <a:rPr lang="en-AU" sz="1800" b="1" dirty="0"/>
              <a:t> settlement date</a:t>
            </a:r>
          </a:p>
          <a:p>
            <a:r>
              <a:rPr lang="en-AU" sz="1800" dirty="0"/>
              <a:t>If you sign a contract to sell an investment property in June 2019, and settle in August 2019, you need to report the capital gain or loss in your 2018–19 tax return.</a:t>
            </a:r>
          </a:p>
          <a:p>
            <a:endParaRPr lang="en-AU" sz="1800" dirty="0"/>
          </a:p>
          <a:p>
            <a:endParaRPr lang="en-AU" sz="1800" dirty="0"/>
          </a:p>
          <a:p>
            <a:endParaRPr lang="en-AU" sz="1800" b="1" dirty="0"/>
          </a:p>
          <a:p>
            <a:endParaRPr lang="en-AU" sz="1800" b="1" dirty="0"/>
          </a:p>
          <a:p>
            <a:endParaRPr lang="en-AU" sz="1800" b="1" dirty="0"/>
          </a:p>
          <a:p>
            <a:r>
              <a:rPr lang="en-AU" sz="1800" b="1" dirty="0"/>
              <a:t>Pre CGT Exemption: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1800" dirty="0"/>
              <a:t>On or before 20 September 1985 = CGT exempt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1800" dirty="0"/>
              <a:t>After 20 September 1985 =  Subject to CGT (unless otherwise excluded)</a:t>
            </a:r>
          </a:p>
          <a:p>
            <a:endParaRPr lang="en-AU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A6D45A-9E0D-44B5-9934-CE4BE32CED2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011" y="2890004"/>
            <a:ext cx="6171051" cy="189220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735249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2117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687" y="1489858"/>
            <a:ext cx="6238875" cy="4495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97684" y="6486172"/>
            <a:ext cx="2303838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AU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Arial"/>
              </a:rPr>
              <a:t>Source: CA Program Study Guide– Tax</a:t>
            </a:r>
            <a:r>
              <a:rPr lang="en-AU" sz="800" dirty="0">
                <a:solidFill>
                  <a:srgbClr val="000000"/>
                </a:solidFill>
              </a:rPr>
              <a:t>: Unit 4</a:t>
            </a:r>
            <a:endParaRPr kumimoji="0" lang="en-AU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086627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CGT Events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207" y="1933575"/>
            <a:ext cx="7927856" cy="301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6557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" y="395287"/>
            <a:ext cx="7896225" cy="60674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20080" y="6642558"/>
            <a:ext cx="2303838" cy="21544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AU" sz="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sym typeface="Arial"/>
              </a:rPr>
              <a:t>Source: CA Program Study Guide– Tax</a:t>
            </a:r>
            <a:r>
              <a:rPr lang="en-AU" sz="800" dirty="0">
                <a:solidFill>
                  <a:srgbClr val="000000"/>
                </a:solidFill>
              </a:rPr>
              <a:t>: Unit 4</a:t>
            </a:r>
            <a:endParaRPr kumimoji="0" lang="en-AU" sz="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82387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4791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 Base Elements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r>
              <a:rPr lang="en-AU" sz="1800" b="1" dirty="0"/>
              <a:t>Element 1:</a:t>
            </a:r>
            <a:r>
              <a:rPr lang="en-AU" sz="1800" dirty="0"/>
              <a:t> </a:t>
            </a:r>
            <a:r>
              <a:rPr lang="en-AU" sz="1800" b="1" dirty="0"/>
              <a:t>Money</a:t>
            </a:r>
            <a:r>
              <a:rPr lang="en-AU" sz="1800" dirty="0"/>
              <a:t> </a:t>
            </a:r>
            <a:r>
              <a:rPr lang="en-AU" sz="1800" b="1" dirty="0"/>
              <a:t>or value of property given for acquisition </a:t>
            </a: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Money paid (or required to be paid) for the asset and the market value of property given (or required to be given) to acquire the asset.</a:t>
            </a: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b="1" dirty="0"/>
              <a:t>Element 2:</a:t>
            </a:r>
            <a:r>
              <a:rPr lang="en-AU" sz="1800" dirty="0"/>
              <a:t> </a:t>
            </a:r>
            <a:r>
              <a:rPr lang="en-AU" sz="1800" b="1" dirty="0"/>
              <a:t>Incidental costs related to acquisition or disposal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Remuneration for legal advisor, accountant, valuer or auctioneer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Cost of transfer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Stamp duties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Marketing and advertising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Valuations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Search fees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Conveyancing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Borrowing expenses (not apportioned)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Termination or exit fees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1613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 Base Elements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r>
              <a:rPr lang="en-AU" sz="1800" b="1" dirty="0">
                <a:latin typeface="Arial" panose="020B0604020202020204" pitchFamily="34" charset="0"/>
                <a:cs typeface="Arial" panose="020B0604020202020204" pitchFamily="34" charset="0"/>
              </a:rPr>
              <a:t>Element 3: Costs of ownership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You don't include these costs if you acquired the asset </a:t>
            </a:r>
            <a:r>
              <a:rPr lang="en-GB" sz="1800" u="sng" dirty="0">
                <a:latin typeface="Arial" panose="020B0604020202020204" pitchFamily="34" charset="0"/>
                <a:cs typeface="Arial" panose="020B0604020202020204" pitchFamily="34" charset="0"/>
              </a:rPr>
              <a:t>before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 21 August 1991.</a:t>
            </a: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costs of owning an asset include rates, land taxes, repairs and insurance premiums. You also include any non-deductible interest on loans used to finance: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The acquisition of a CGT asset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Capital expenditure to increase an asset’s value.</a:t>
            </a:r>
          </a:p>
          <a:p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You can’t: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Include these costs in the cost base of collectables or personal use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Index these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Use them to work out a capital loss.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31363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 Base Elements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r>
              <a:rPr lang="en-AU" sz="1800" b="1" dirty="0">
                <a:latin typeface="Arial" panose="020B0604020202020204" pitchFamily="34" charset="0"/>
                <a:cs typeface="Arial" panose="020B0604020202020204" pitchFamily="34" charset="0"/>
              </a:rPr>
              <a:t>Element 4: Capital expenses relating to the asset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Expense to increase or preserve asset’s value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Expense to install or move the asset</a:t>
            </a:r>
          </a:p>
          <a:p>
            <a:pPr lvl="0"/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Does not include costs related to goodwill</a:t>
            </a:r>
          </a:p>
          <a:p>
            <a:pPr lvl="0"/>
            <a:r>
              <a:rPr lang="en-AU" sz="1800" b="1" dirty="0">
                <a:latin typeface="Arial" panose="020B0604020202020204" pitchFamily="34" charset="0"/>
                <a:cs typeface="Arial" panose="020B0604020202020204" pitchFamily="34" charset="0"/>
              </a:rPr>
              <a:t>E.g. </a:t>
            </a: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Expenses for renovating a house would fall under this element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b="1" dirty="0">
                <a:latin typeface="Arial" panose="020B0604020202020204" pitchFamily="34" charset="0"/>
                <a:cs typeface="Arial" panose="020B0604020202020204" pitchFamily="34" charset="0"/>
              </a:rPr>
              <a:t>Element 5: Capital expenses relating to title/ ownership of the asset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Preserving the assets title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AU" sz="1800" dirty="0"/>
              <a:t>May arise where you litigate to reinforce your title. </a:t>
            </a:r>
          </a:p>
          <a:p>
            <a:pPr marL="793750" lvl="1" indent="-285750">
              <a:buFont typeface="Courier New" panose="02070309020205020404" pitchFamily="49" charset="0"/>
              <a:buChar char="o"/>
            </a:pPr>
            <a:r>
              <a:rPr lang="en-AU" sz="1800" b="1" dirty="0"/>
              <a:t>E.g. </a:t>
            </a:r>
            <a:r>
              <a:rPr lang="en-AU" sz="1800" dirty="0"/>
              <a:t>Litigation regarding adverse possession or land boundary disputes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26808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Scenario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r>
              <a:rPr lang="en-AU" sz="1800" dirty="0"/>
              <a:t>Frank has recently sold his beach house at Lorne. The beach house was acquired on 1 July 2015 for $600,000 and rented to tenants for the first two years. </a:t>
            </a:r>
          </a:p>
          <a:p>
            <a:endParaRPr lang="en-AU" sz="1800" dirty="0"/>
          </a:p>
          <a:p>
            <a:r>
              <a:rPr lang="en-AU" sz="1800" dirty="0"/>
              <a:t>From 1 July 2017 to the date of sale (30 June 2020), the property was used solely by Frank and his family for private use. </a:t>
            </a:r>
          </a:p>
          <a:p>
            <a:endParaRPr lang="en-AU" sz="1800" dirty="0"/>
          </a:p>
          <a:p>
            <a:r>
              <a:rPr lang="en-AU" sz="1800" dirty="0"/>
              <a:t>Frank has asked you to calculate the capital gain or loss on the sale of the beach house. </a:t>
            </a:r>
          </a:p>
          <a:p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86400149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Scenario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r>
              <a:rPr lang="en-AU" sz="1800" b="1" dirty="0"/>
              <a:t>What cost base elements do the below examples fall into:</a:t>
            </a:r>
          </a:p>
          <a:p>
            <a:r>
              <a:rPr lang="en-AU" sz="1400" dirty="0"/>
              <a:t>1. Purchase price: $600,000?  </a:t>
            </a:r>
          </a:p>
          <a:p>
            <a:r>
              <a:rPr lang="en-AU" sz="1400" dirty="0">
                <a:solidFill>
                  <a:srgbClr val="FF0000"/>
                </a:solidFill>
              </a:rPr>
              <a:t>Element 1: Money given for acquisition </a:t>
            </a:r>
          </a:p>
          <a:p>
            <a:r>
              <a:rPr lang="en-AU" sz="1400" dirty="0"/>
              <a:t>2. Stamp duty paid to the Victorian Government: $80,000? </a:t>
            </a:r>
          </a:p>
          <a:p>
            <a:r>
              <a:rPr lang="en-AU" sz="1400" dirty="0">
                <a:solidFill>
                  <a:srgbClr val="FF0000"/>
                </a:solidFill>
              </a:rPr>
              <a:t>Element 2: Incidental costs related to acquisition or disposal</a:t>
            </a:r>
            <a:endParaRPr lang="en-AU" sz="1400" dirty="0"/>
          </a:p>
          <a:p>
            <a:r>
              <a:rPr lang="en-AU" sz="1400" dirty="0"/>
              <a:t>3. Repairs (which were not expensed): $6,600? </a:t>
            </a:r>
          </a:p>
          <a:p>
            <a:r>
              <a:rPr lang="en-A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 4: Capital expenses relating to the asset</a:t>
            </a:r>
            <a:endParaRPr lang="en-AU" sz="1400" dirty="0">
              <a:solidFill>
                <a:srgbClr val="FF0000"/>
              </a:solidFill>
            </a:endParaRPr>
          </a:p>
          <a:p>
            <a:r>
              <a:rPr lang="en-AU" sz="1400" dirty="0"/>
              <a:t>4. Legal fees relating to 2018 boundary dispute with neighbour: $4,000? </a:t>
            </a:r>
          </a:p>
          <a:p>
            <a:r>
              <a:rPr lang="en-A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 5: Capital expenses relating to title/ ownership of the asset</a:t>
            </a:r>
            <a:endParaRPr lang="en-AU" sz="1400" dirty="0">
              <a:solidFill>
                <a:srgbClr val="FF0000"/>
              </a:solidFill>
            </a:endParaRPr>
          </a:p>
          <a:p>
            <a:r>
              <a:rPr lang="en-AU" sz="1400" dirty="0"/>
              <a:t>5. Land tax: $6,000 (deducted in 2017 tax return)? </a:t>
            </a:r>
          </a:p>
          <a:p>
            <a:r>
              <a:rPr lang="en-AU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form part of the cost base</a:t>
            </a:r>
            <a:endParaRPr lang="en-AU" sz="1400" dirty="0">
              <a:solidFill>
                <a:srgbClr val="FF0000"/>
              </a:solidFill>
            </a:endParaRPr>
          </a:p>
          <a:p>
            <a:r>
              <a:rPr lang="en-AU" sz="1400" dirty="0"/>
              <a:t>6. Agent’s commission: $30,000? </a:t>
            </a:r>
          </a:p>
          <a:p>
            <a:r>
              <a:rPr lang="en-AU" sz="1400" dirty="0">
                <a:solidFill>
                  <a:srgbClr val="FF0000"/>
                </a:solidFill>
              </a:rPr>
              <a:t>Element 2: Incidental costs related to acquisition or disposal</a:t>
            </a:r>
            <a:endParaRPr lang="en-AU" sz="1400" dirty="0"/>
          </a:p>
          <a:p>
            <a:r>
              <a:rPr lang="en-AU" sz="1400" dirty="0"/>
              <a:t>7. Fine imposed by Surf Coast Shire for erecting illegal ‘For Sale’ signs (breach of </a:t>
            </a:r>
            <a:r>
              <a:rPr lang="en-AU" sz="1400" i="1" dirty="0"/>
              <a:t>Local Government Act 1989</a:t>
            </a:r>
            <a:r>
              <a:rPr lang="en-AU" sz="1400" dirty="0"/>
              <a:t>): $300? </a:t>
            </a:r>
          </a:p>
          <a:p>
            <a:r>
              <a:rPr lang="en-AU" sz="1400" dirty="0">
                <a:solidFill>
                  <a:srgbClr val="FF0000"/>
                </a:solidFill>
              </a:rPr>
              <a:t>Does not form part of the cost base</a:t>
            </a:r>
          </a:p>
          <a:p>
            <a:endParaRPr lang="en-AU" sz="1800" dirty="0"/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7719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Cost Base Elements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19079-312A-4A4B-9A7A-C95E76B4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81" y="1222884"/>
            <a:ext cx="69246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21133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Modifications to capital gains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AU" sz="1800" dirty="0"/>
              <a:t>Market value substitution rule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1800" dirty="0"/>
              <a:t>Apportionment rule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1800" dirty="0"/>
              <a:t>Non-receipt rule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1800" dirty="0"/>
              <a:t>Repaid rule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1800" dirty="0"/>
              <a:t>Assumption of liability rule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AU" sz="1800" dirty="0"/>
              <a:t>Misappropriation rule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102229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“Market value” Modification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pPr lvl="0"/>
            <a:r>
              <a:rPr lang="en-AU" sz="1800" dirty="0"/>
              <a:t>Applies when the taxpayer:</a:t>
            </a:r>
          </a:p>
          <a:p>
            <a:pPr lvl="1"/>
            <a:r>
              <a:rPr lang="en-AU" sz="1800" dirty="0"/>
              <a:t>Receives no capital proceeds;</a:t>
            </a:r>
          </a:p>
          <a:p>
            <a:pPr lvl="1"/>
            <a:r>
              <a:rPr lang="en-AU" sz="1800" dirty="0"/>
              <a:t>Some or all capital proceeds cannot be valued; or</a:t>
            </a:r>
          </a:p>
          <a:p>
            <a:pPr lvl="1"/>
            <a:r>
              <a:rPr lang="en-AU" sz="1800" dirty="0"/>
              <a:t>Did not deal at ‘arm’s length’ with the other entity.</a:t>
            </a:r>
          </a:p>
          <a:p>
            <a:pPr lvl="0"/>
            <a:endParaRPr lang="en-AU" sz="1800" dirty="0"/>
          </a:p>
          <a:p>
            <a:pPr lvl="0"/>
            <a:r>
              <a:rPr lang="en-AU" sz="1800" dirty="0"/>
              <a:t>Capital proceeds are deemed to be the market value.</a:t>
            </a:r>
            <a:r>
              <a:rPr lang="en-AU" sz="1800" b="1" i="1" dirty="0"/>
              <a:t> </a:t>
            </a:r>
          </a:p>
          <a:p>
            <a:pPr lvl="0"/>
            <a:endParaRPr lang="en-AU" sz="1800" b="1" i="1" dirty="0"/>
          </a:p>
          <a:p>
            <a:pPr lvl="0"/>
            <a:r>
              <a:rPr lang="en-AU" sz="1800" b="1" i="1" dirty="0"/>
              <a:t>‘Arms-length’</a:t>
            </a:r>
            <a:r>
              <a:rPr lang="en-AU" sz="1800" b="1" dirty="0"/>
              <a:t>: </a:t>
            </a:r>
            <a:r>
              <a:rPr lang="en-AU" sz="1800" dirty="0"/>
              <a:t>an unrealistic value for purchase normally because of the relationship (e.g. Candice sold me her house for $10 because we’re friends). </a:t>
            </a:r>
          </a:p>
          <a:p>
            <a:pPr lvl="0"/>
            <a:endParaRPr lang="en-AU" sz="1800" b="1" dirty="0"/>
          </a:p>
          <a:p>
            <a:pPr lvl="0"/>
            <a:r>
              <a:rPr lang="en-AU" sz="1800" b="1" dirty="0"/>
              <a:t>Would the reasonable person consider the sale at arm’s length?</a:t>
            </a:r>
            <a:endParaRPr lang="en-AU" sz="1800" dirty="0"/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501677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Apportionment Modification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568934"/>
          </a:xfrm>
        </p:spPr>
        <p:txBody>
          <a:bodyPr/>
          <a:lstStyle/>
          <a:p>
            <a:pPr lvl="0"/>
            <a:r>
              <a:rPr lang="en-AU" sz="1800" dirty="0"/>
              <a:t>When a single proceed is the total of two or more events, the proceeds must be apportioned between those events.</a:t>
            </a:r>
          </a:p>
          <a:p>
            <a:pPr lvl="0"/>
            <a:endParaRPr lang="en-AU" sz="1800" dirty="0"/>
          </a:p>
          <a:p>
            <a:pPr lvl="0"/>
            <a:r>
              <a:rPr lang="en-AU" sz="1800" b="1" dirty="0"/>
              <a:t>E.g. </a:t>
            </a:r>
            <a:r>
              <a:rPr lang="en-AU" sz="1800" dirty="0"/>
              <a:t>A lump sum of $800,000 for the sale of house and a yacht, these will need to be apportioned to determine the value of each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29ABB-A338-4659-941A-1E15B31FE7EB}"/>
              </a:ext>
            </a:extLst>
          </p:cNvPr>
          <p:cNvPicPr/>
          <p:nvPr/>
        </p:nvPicPr>
        <p:blipFill rotWithShape="1">
          <a:blip r:embed="rId3"/>
          <a:srcRect l="20192" t="55630" r="18876" b="4309"/>
          <a:stretch/>
        </p:blipFill>
        <p:spPr bwMode="auto">
          <a:xfrm>
            <a:off x="895626" y="2974697"/>
            <a:ext cx="6971985" cy="36589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5657127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Non-receipt Rule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296204"/>
          </a:xfrm>
        </p:spPr>
        <p:txBody>
          <a:bodyPr/>
          <a:lstStyle/>
          <a:p>
            <a:r>
              <a:rPr lang="en-AU" sz="1800" dirty="0"/>
              <a:t>Allows the Capital Proceeds to be reduced by any amount that you have not received and will not receive after all reasonable attempts have been made to get it.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800" dirty="0"/>
          </a:p>
          <a:p>
            <a:r>
              <a:rPr lang="en-AU" sz="1800" dirty="0"/>
              <a:t>Capital proceeds are reduced to the extent the taxpayer has to repay capital proceeds already received.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2"/>
          <p:cNvSpPr txBox="1">
            <a:spLocks/>
          </p:cNvSpPr>
          <p:nvPr/>
        </p:nvSpPr>
        <p:spPr>
          <a:xfrm>
            <a:off x="573206" y="2937343"/>
            <a:ext cx="7616826" cy="634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1pPr>
            <a:lvl2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2pPr>
            <a:lvl3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3pPr>
            <a:lvl4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4pPr>
            <a:lvl5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4572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9144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3716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Repaid Rule</a:t>
            </a:r>
          </a:p>
        </p:txBody>
      </p:sp>
    </p:spTree>
    <p:extLst>
      <p:ext uri="{BB962C8B-B14F-4D97-AF65-F5344CB8AC3E}">
        <p14:creationId xmlns:p14="http://schemas.microsoft.com/office/powerpoint/2010/main" val="38729406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10666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5. Assumption of Liability Rule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256996"/>
            <a:ext cx="7809588" cy="5296204"/>
          </a:xfrm>
        </p:spPr>
        <p:txBody>
          <a:bodyPr/>
          <a:lstStyle/>
          <a:p>
            <a:pPr lvl="0"/>
            <a:r>
              <a:rPr lang="en-AU" sz="1800" dirty="0"/>
              <a:t>Capital proceeds are increased if another entity assumes liability in connection with the CGT event. </a:t>
            </a:r>
          </a:p>
          <a:p>
            <a:pPr lvl="0"/>
            <a:endParaRPr lang="en-AU" sz="1800" dirty="0"/>
          </a:p>
          <a:p>
            <a:pPr lvl="0"/>
            <a:r>
              <a:rPr lang="en-AU" sz="1800" b="1" dirty="0"/>
              <a:t>E.g. </a:t>
            </a:r>
            <a:r>
              <a:rPr lang="en-AU" sz="1800" dirty="0"/>
              <a:t>John sells apartment. The purchaser paid him $250,000 and took over $50,000 debt. </a:t>
            </a:r>
          </a:p>
          <a:p>
            <a:pPr lvl="0"/>
            <a:r>
              <a:rPr lang="en-AU" sz="1800" dirty="0"/>
              <a:t>Capital proceeds will equal $300,000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AU" sz="1800" dirty="0"/>
              <a:t>Allows you to reduce capital proceeds by any amount misappropriated by an </a:t>
            </a:r>
            <a:r>
              <a:rPr lang="en-AU" sz="1800" b="1" dirty="0"/>
              <a:t>employee or agent</a:t>
            </a:r>
            <a:r>
              <a:rPr lang="en-AU" sz="1800" dirty="0"/>
              <a:t>. </a:t>
            </a:r>
          </a:p>
          <a:p>
            <a:pPr lvl="0"/>
            <a:endParaRPr lang="en-AU" sz="1800" dirty="0"/>
          </a:p>
          <a:p>
            <a:pPr lvl="0"/>
            <a:r>
              <a:rPr lang="en-AU" sz="1800" b="1" dirty="0"/>
              <a:t>E.g. </a:t>
            </a:r>
            <a:r>
              <a:rPr lang="en-AU" sz="1800" dirty="0"/>
              <a:t>Real estate agent takes the 10% deposit from a house sale, this 10% will be deducted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573206" y="3587886"/>
            <a:ext cx="7616826" cy="634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1pPr>
            <a:lvl2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2pPr>
            <a:lvl3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3pPr>
            <a:lvl4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4pPr>
            <a:lvl5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4572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9144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3716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6. Misappropriation Rule</a:t>
            </a:r>
          </a:p>
        </p:txBody>
      </p:sp>
    </p:spTree>
    <p:extLst>
      <p:ext uri="{BB962C8B-B14F-4D97-AF65-F5344CB8AC3E}">
        <p14:creationId xmlns:p14="http://schemas.microsoft.com/office/powerpoint/2010/main" val="18164104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Exempt Assets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2"/>
            <a:ext cx="7809588" cy="4794874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Cars and motorcycles - (s 118-5)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Personal use assets - (s 109-20)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Assets used to produce exempt income - (s 118-12(1))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Shares in a pooled development fund - (s 118-13)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Investments made in start-up companies - (</a:t>
            </a:r>
            <a:r>
              <a:rPr lang="en-AU" sz="1800" dirty="0" err="1"/>
              <a:t>Subdiv</a:t>
            </a:r>
            <a:r>
              <a:rPr lang="en-AU" sz="1800" dirty="0"/>
              <a:t> 360-A)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Depreciating assets - (s 118-24(1))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Trading stock - (s 118-25)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Personal compensation – (s 118-37(1)(a) &amp; (b)) 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AU" sz="1800" dirty="0"/>
              <a:t>Personal wrong, injury or illness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Private lease ending – (s 118-40)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AU" sz="1800" dirty="0"/>
              <a:t>Gambling and competitions with prizes – (s 118-37(1)(c))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682150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60507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Exemptions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170660"/>
            <a:ext cx="7809588" cy="479487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Main residence exemption;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50% discount (if held for 12 months or more);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15-year exemption;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50% active asset exemption;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Retirement exemption; and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Rollover; and</a:t>
            </a:r>
          </a:p>
          <a:p>
            <a:pPr marL="965200" lvl="1" indent="-457200">
              <a:buFont typeface="Courier New" panose="02070309020205020404" pitchFamily="49" charset="0"/>
              <a:buChar char="o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Small business restructure rollover (accessible for businesses with 10M or less turnover);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2"/>
          <p:cNvSpPr txBox="1">
            <a:spLocks/>
          </p:cNvSpPr>
          <p:nvPr/>
        </p:nvSpPr>
        <p:spPr>
          <a:xfrm>
            <a:off x="573206" y="2794577"/>
            <a:ext cx="7616826" cy="6344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/>
          <a:lstStyle>
            <a:lvl1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1pPr>
            <a:lvl2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2pPr>
            <a:lvl3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3pPr>
            <a:lvl4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4pPr>
            <a:lvl5pPr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4572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9144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13716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1828800">
              <a:defRPr sz="3400" b="1">
                <a:solidFill>
                  <a:srgbClr val="0E9ED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SBE Concessions</a:t>
            </a:r>
          </a:p>
        </p:txBody>
      </p:sp>
    </p:spTree>
    <p:extLst>
      <p:ext uri="{BB962C8B-B14F-4D97-AF65-F5344CB8AC3E}">
        <p14:creationId xmlns:p14="http://schemas.microsoft.com/office/powerpoint/2010/main" val="121148382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60507"/>
            <a:ext cx="7616826" cy="634423"/>
          </a:xfrm>
        </p:spPr>
        <p:txBody>
          <a:bodyPr/>
          <a:lstStyle/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residence exemption</a:t>
            </a:r>
            <a:endParaRPr 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170660"/>
            <a:ext cx="7809588" cy="4794874"/>
          </a:xfrm>
        </p:spPr>
        <p:txBody>
          <a:bodyPr/>
          <a:lstStyle/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Any capital gain or capital loss that an individual taxpayer makes from a CGT event happening in relation to a dwelling (or interest in a dwelling) that is the person’s main residence is disregarded.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 dwelling includes a unit of accommodation that is: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 building or is contained in a building, and consists wholly or mainly of residential accommodation; 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 caravan, houseboat or other mobile home,</a:t>
            </a:r>
          </a:p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and any land immediately under the unit of accommodation (s 118-115).</a:t>
            </a:r>
          </a:p>
          <a:p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MRE applies </a:t>
            </a:r>
            <a:r>
              <a:rPr lang="en-AU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</a:t>
            </a:r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an </a:t>
            </a:r>
            <a:r>
              <a:rPr lang="en-AU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 or individuals </a:t>
            </a:r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make the capital gain. For example, the exemption cannot apply to a residence that is owned by a family trust even if the family occupies it as their main residence. </a:t>
            </a:r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70233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60507"/>
            <a:ext cx="7616826" cy="634423"/>
          </a:xfrm>
        </p:spPr>
        <p:txBody>
          <a:bodyPr/>
          <a:lstStyle/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 residence exemption</a:t>
            </a:r>
            <a:endParaRPr 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170660"/>
            <a:ext cx="7809588" cy="4794874"/>
          </a:xfrm>
        </p:spPr>
        <p:txBody>
          <a:bodyPr/>
          <a:lstStyle/>
          <a:p>
            <a:r>
              <a:rPr lang="en-AU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Adjacent land</a:t>
            </a:r>
          </a:p>
          <a:p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 CGT event also happens to land adjacent to a dwelling (or part of the dwelling), that is also used primarily for private or domestic purposes, the exemption will apply to a total of two hectares of land. That includes the land on which the dwelling is built. A taxpayer can choose the two hectares to which the MRE applies. Refer to </a:t>
            </a:r>
            <a:r>
              <a:rPr lang="en-AU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TD 1999/67 </a:t>
            </a:r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examples. </a:t>
            </a:r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557454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560507"/>
            <a:ext cx="7616826" cy="634423"/>
          </a:xfrm>
        </p:spPr>
        <p:txBody>
          <a:bodyPr/>
          <a:lstStyle/>
          <a:p>
            <a:r>
              <a:rPr lang="en-AU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Changing main residences</a:t>
            </a:r>
            <a:endParaRPr lang="en-US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170660"/>
            <a:ext cx="7809588" cy="4794874"/>
          </a:xfrm>
        </p:spPr>
        <p:txBody>
          <a:bodyPr/>
          <a:lstStyle/>
          <a:p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 taxpayer acquires a dwelling that is to become a main residence, and already has a main residence, both residences can benefit from the exemption for the shorter of: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six months (ending when the CGT event happened to the existing residence); 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period from the acquisition of the new residence to the CGT event happening to the existing residence. </a:t>
            </a:r>
          </a:p>
          <a:p>
            <a:endParaRPr lang="en-AU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However, this exemption is only available if the existing main residence was the main residence for </a:t>
            </a:r>
            <a:r>
              <a:rPr lang="en-AU" sz="1800" b="1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three months in the 12 months prior to the CGT event</a:t>
            </a:r>
            <a:r>
              <a:rPr lang="en-AU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provided that it was not used to produce assessable income in that 12-month period when it was not the main residence</a:t>
            </a:r>
            <a:r>
              <a:rPr lang="en-AU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.</a:t>
            </a:r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39731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115748"/>
            <a:ext cx="5306733" cy="1279460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Scrip-for-scrip (Takeovers and Mergers)	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395207"/>
            <a:ext cx="7809588" cy="4794874"/>
          </a:xfrm>
        </p:spPr>
        <p:txBody>
          <a:bodyPr numCol="1"/>
          <a:lstStyle/>
          <a:p>
            <a:r>
              <a:rPr lang="en-AU" sz="1800" dirty="0"/>
              <a:t>If a company in which you own shares is taken over or merges with another company, you may have a capital gains tax (CGT) obligation.</a:t>
            </a:r>
          </a:p>
          <a:p>
            <a:endParaRPr lang="en-AU" sz="1800" dirty="0"/>
          </a:p>
          <a:p>
            <a:r>
              <a:rPr lang="en-AU" sz="1800" dirty="0"/>
              <a:t>When a company launches a takeover bid by buying shares in the market, they offer money in return for shares. If a company launches an off-market takeover bid, they don’t always offer cash in return for shares – they can either offer money or scrip (shares), or a combination of these.</a:t>
            </a:r>
          </a:p>
          <a:p>
            <a:endParaRPr lang="en-AU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1800" dirty="0"/>
              <a:t>When you receive shares, you may be able to defer paying capital gains tax until a later CGT event happens (however the cost base will carry forward from the original company’s shares). </a:t>
            </a:r>
          </a:p>
          <a:p>
            <a:endParaRPr lang="en-AU" sz="1800" dirty="0"/>
          </a:p>
          <a:p>
            <a:r>
              <a:rPr lang="en-AU" sz="1800" dirty="0"/>
              <a:t>You can choose not to apply this rollover. The rollover does not apply where a capital loss would arise. </a:t>
            </a:r>
          </a:p>
          <a:p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40236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Indexation - Eligibility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2"/>
            <a:ext cx="7809588" cy="479487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 capital gains tax (CGT) event happened to an asset you acquired </a:t>
            </a:r>
            <a:r>
              <a:rPr lang="en-AU" sz="1800" b="1" dirty="0">
                <a:latin typeface="Arial" panose="020B0604020202020204" pitchFamily="34" charset="0"/>
                <a:cs typeface="Arial" panose="020B0604020202020204" pitchFamily="34" charset="0"/>
              </a:rPr>
              <a:t>before 11.45am (EST) on 21 September 1999</a:t>
            </a: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;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You owned the asset for 12 months or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If you're a company and the capital gain meets the above conditions, you must use the indexation method to calculate the capital gain.</a:t>
            </a:r>
          </a:p>
        </p:txBody>
      </p:sp>
    </p:spTree>
    <p:extLst>
      <p:ext uri="{BB962C8B-B14F-4D97-AF65-F5344CB8AC3E}">
        <p14:creationId xmlns:p14="http://schemas.microsoft.com/office/powerpoint/2010/main" val="246535692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3206" y="783934"/>
            <a:ext cx="7616826" cy="63442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Record keeping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573206" y="1512142"/>
            <a:ext cx="7809588" cy="4794874"/>
          </a:xfrm>
        </p:spPr>
        <p:txBody>
          <a:bodyPr/>
          <a:lstStyle/>
          <a:p>
            <a:pPr lvl="0"/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What needs to be recorded: 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All transactions effecting CGT events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Date of acquisition and disposal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Each cost base element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Consideration on disposal</a:t>
            </a:r>
          </a:p>
          <a:p>
            <a:pPr marL="457200" lvl="0" indent="-457200">
              <a:buFont typeface="Wingdings" panose="05000000000000000000" pitchFamily="2" charset="2"/>
              <a:buChar char="q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Parties to the transaction</a:t>
            </a:r>
          </a:p>
          <a:p>
            <a:pPr lvl="0"/>
            <a:endParaRPr lang="en-AU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Retain records for 5 years after disposal</a:t>
            </a:r>
          </a:p>
        </p:txBody>
      </p:sp>
    </p:spTree>
    <p:extLst>
      <p:ext uri="{BB962C8B-B14F-4D97-AF65-F5344CB8AC3E}">
        <p14:creationId xmlns:p14="http://schemas.microsoft.com/office/powerpoint/2010/main" val="3743876377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90600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BBE0E3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BBE0E3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BBE0E3"/>
          </a:solidFill>
          <a:prstDash val="solid"/>
          <a:bevel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BBE0E3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1055</TotalTime>
  <Words>1922</Words>
  <Application>Microsoft Office PowerPoint</Application>
  <PresentationFormat>On-screen Show (4:3)</PresentationFormat>
  <Paragraphs>218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Helvetica Neue</vt:lpstr>
      <vt:lpstr>Wingdings</vt:lpstr>
      <vt:lpstr>Default</vt:lpstr>
      <vt:lpstr>Capital Gains Tax</vt:lpstr>
      <vt:lpstr>What is a capital gain (loss)? </vt:lpstr>
      <vt:lpstr>Who does it apply to?</vt:lpstr>
      <vt:lpstr>Common CGT Assets</vt:lpstr>
      <vt:lpstr>Question</vt:lpstr>
      <vt:lpstr>Time of the event</vt:lpstr>
      <vt:lpstr>Methodology</vt:lpstr>
      <vt:lpstr>CGT Events</vt:lpstr>
      <vt:lpstr>PowerPoint Presentation</vt:lpstr>
      <vt:lpstr>Cost Base Elements</vt:lpstr>
      <vt:lpstr>Cost Base Elements</vt:lpstr>
      <vt:lpstr>Cost Base Elements</vt:lpstr>
      <vt:lpstr>Scenario</vt:lpstr>
      <vt:lpstr>Scenario</vt:lpstr>
      <vt:lpstr>Cost Base Elements</vt:lpstr>
      <vt:lpstr>Modifications to capital gains</vt:lpstr>
      <vt:lpstr>1. “Market value” Modification</vt:lpstr>
      <vt:lpstr>2. Apportionment Modification</vt:lpstr>
      <vt:lpstr>3. Non-receipt Rule</vt:lpstr>
      <vt:lpstr>5. Assumption of Liability Rule</vt:lpstr>
      <vt:lpstr>Exempt Assets </vt:lpstr>
      <vt:lpstr>Exemptions</vt:lpstr>
      <vt:lpstr>Main residence exemption</vt:lpstr>
      <vt:lpstr>Main residence exemption</vt:lpstr>
      <vt:lpstr>Changing main residences</vt:lpstr>
      <vt:lpstr>Scrip-for-scrip (Takeovers and Mergers) </vt:lpstr>
      <vt:lpstr>Indexation - Eligibility</vt:lpstr>
      <vt:lpstr>Record keeping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Kristy Court</dc:creator>
  <cp:lastModifiedBy>Jordan Edwards</cp:lastModifiedBy>
  <cp:revision>129</cp:revision>
  <dcterms:modified xsi:type="dcterms:W3CDTF">2021-01-20T04:43:40Z</dcterms:modified>
</cp:coreProperties>
</file>